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8b2da24-2079-4479-ea61-5c031f1cfa9f}">
          <p14:sldIdLst>
            <p14:sldId id="256"/>
            <p14:sldId id="257"/>
          </p14:sldIdLst>
        </p14:section>
        <p14:section name="This week" id="{0acde866-d4ee-a546-a1a3-b9856c618e8c}">
          <p14:sldIdLst>
            <p14:sldId id="258"/>
          </p14:sldIdLst>
        </p14:section>
        <p14:section name="Lessons" id="{b253f167-a318-dd42-cc3a-92a59c802951}">
          <p14:sldIdLst>
            <p14:sldId id="259"/>
            <p14:sldId id="260"/>
            <p14:sldId id="261"/>
            <p14:sldId id="262"/>
          </p14:sldIdLst>
        </p14:section>
        <p14:section name="This week's work" id="{1bceb1d2-c2e8-9465-e0f8-e57cea0e8677}">
          <p14:sldIdLst>
            <p14:sldId id="263"/>
            <p14:sldId id="264"/>
          </p14:sldIdLst>
        </p14:section>
        <p14:section name="Discussion" id="{2d819931-fd54-0efc-320e-e3919f17a4ef}">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and welcome to Module 9: Think It Through.
This week is about pausing on purpose: noticing the thinking traps everyone falls into, using a simple four-question check for decisions, and drafting your first STAR(T) story.
The owl brought a lantern. Some thinking is easier with a little light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Welcome back from spring break. Quick check-in: Module 8 submissions, the extra credit schedule, and registration.
From here on, the STAR(T) Stories are the throughline. Consider showing the capstone overview deck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notice your thinking traps, use the 4C Check, draft your first STAR(T) story, and practice in the AI Chat.
Three skills, with Critical &amp; Creative Thinking as the Skill Spotlight.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week's Skill Spotlight is #2, Critical &amp; Creative Thinking.
It isn't overthinking or arguing. It's pausing on purpose before you react, decide, or assume. Much of the stress in decisions is really confusion about what you're deciding.
Left: where most students start. You describe a problem using whatever information you happen to have, and don't always notice how your own perspective shapes it. Right: where you're headed. You figure out what's really going on with relevant information, seek out other perspectives, and name what matters to reach a clear conclusion.
It shows up in everyday decisions, in news and social media, and in your STAR(T)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9.2 frames critical thinking as four habits: curiosity, clarity, checking, and calm decisions. Lesson 9.3 is about what gets in the way.
Assumptions are the invisible fill-in-the-blank. Biases are the lens that colors your thinking: confirmation bias, familiarity bias, the halo effect, and negativity bias.
And thought traps are the quicksand: jumping to conclusions, all-or-nothing thinking, overgeneralizing, mind reading, and catastrophizing.
Everyone falls into these. The skill is noticing.
Mile Marker #9, Question 1 asks which trap or bias feels most like you, with a real example, and a better question to ask yourself next time.
Ask: which of these did you fall into this week? Model one of your own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4C Check is a simple tool for better decisions, and it's a Trail Tool students can fill in.
Clarity: what am I really deciding? Strong feelings blur the question. "Do I hate this class, or am I just overwhelmed this week?"
Context: what matters most here?
Credibility: what do I know, and what am I assuming?
Consequences: what might happen next, and is that what I want?
The AI Chat, Think It Through, has students practice the 4C Check on a real decision with Coach Pathfinder.
Try it live: ask for a low-stakes decision someone in the room is facing and walk it through the four 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thinking behind a good decision also makes a story worth telling. This is the first STAR(T) draft.
Thought traps sneak into drafts. "We" instead of "I." All-or-nothing results. Picking a story because it sounds impressive instead of because it's true. And a vague Transfer.
Run the draft through the 4C Check. Clarity: what story am I actually telling? Context: what mattered most? Credibility: is this accurate, or did I round up? Consequences: so what? What does it mean going forward?
That last one is the Transfer, and it's the part of the story an interviewer cares about most.
Mile Marker #9 is this draft. Students can use it as one of their four capstone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The AI Chat, Think It Through, is a Socratic conversation with Coach Pathfinder where students apply the 4C Check to a real decision.
Mile Marker #9 is in two parts: name your thinking pattern, then write and check your first STAR(T) draft.
In-person sections: today's attendance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#9 has four questions.
One: which thinking trap or bias feels most like you, a real example, and a better question to ask next time.
Two: one real experience, written with all five STAR(T) steps.
Three: reread the draft with the 4C Check and say what you changed.
Four: which of the 10 Essential Skills the story shows, and why. It's a best guess for now.
It's AI-supported: AI can ask questions about the draft, but the story has to be the student's own. If a student mentions other people, they don't need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discussion, built from the AI Chat. It's a warm-up for the chat.
Pairs for three minutes. Model it with a low-stakes decision of your own first.
Ask a few pairs what changed when they separated what they know from what they're assuming. That's Credibility, and it's usually the turning point.
For online recordings: pose the questions as a lead-in to the AI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9</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Think It Through: Critical Thinking + STAR(T)</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Pause on purpose, then tell it well.</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Welcome back from spring break. Pack up Module 8, then look ahead to Module 9.</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9 work is due Monday by 11:59 PM Central.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9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Think it through</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Bra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Notice your thinking traps</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ListChecks">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Use the 4C Check</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PencilLin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Draft your first STAR(T) story</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Bot">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Practice in the AI Chat</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788920"/>
            <a:ext cx="731520" cy="731520"/>
          </a:xfrm>
          <a:prstGeom prst="rect">
            <a:avLst/>
          </a:prstGeom>
        </p:spPr>
      </p:pic>
      <p:sp>
        <p:nvSpPr>
          <p:cNvPr id="19" name="Text 12"/>
          <p:cNvSpPr txBox="1"/>
          <p:nvPr/>
        </p:nvSpPr>
        <p:spPr>
          <a:xfrm>
            <a:off x="9098280" y="27432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#1 </a:t>
            </a:r>
            <a:pPr indent="0" marL="0">
              <a:buNone/>
            </a:pPr>
            <a:r>
              <a:rPr lang="en-US" sz="2000" dirty="0">
                <a:solidFill>
                  <a:schemeClr val="tx1"/>
                </a:solidFill>
              </a:rPr>
              <a:t>Communication</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703320"/>
            <a:ext cx="731520" cy="731520"/>
          </a:xfrm>
          <a:prstGeom prst="rect">
            <a:avLst/>
          </a:prstGeom>
        </p:spPr>
      </p:pic>
      <p:sp>
        <p:nvSpPr>
          <p:cNvPr id="21" name="Text 13"/>
          <p:cNvSpPr txBox="1"/>
          <p:nvPr/>
        </p:nvSpPr>
        <p:spPr>
          <a:xfrm>
            <a:off x="9098280" y="36576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#2 </a:t>
            </a:r>
            <a:pPr indent="0" marL="0">
              <a:buNone/>
            </a:pPr>
            <a:r>
              <a:rPr lang="en-US" sz="2000" dirty="0">
                <a:solidFill>
                  <a:schemeClr val="tx1"/>
                </a:solidFill>
              </a:rPr>
              <a:t>Critical &amp; Creative Thinking</a:t>
            </a:r>
            <a:endParaRPr lang="en-US" sz="2000" dirty="0"/>
          </a:p>
        </p:txBody>
      </p:sp>
      <p:pic>
        <p:nvPicPr>
          <p:cNvPr id="22" name="Decorative: skill coin">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83880" y="4617720"/>
            <a:ext cx="731520" cy="731520"/>
          </a:xfrm>
          <a:prstGeom prst="rect">
            <a:avLst/>
          </a:prstGeom>
        </p:spPr>
      </p:pic>
      <p:sp>
        <p:nvSpPr>
          <p:cNvPr id="23" name="Text 14"/>
          <p:cNvSpPr txBox="1"/>
          <p:nvPr/>
        </p:nvSpPr>
        <p:spPr>
          <a:xfrm>
            <a:off x="9098280" y="45720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#9 </a:t>
            </a:r>
            <a:pPr indent="0" marL="0">
              <a:buNone/>
            </a:pPr>
            <a:r>
              <a:rPr lang="en-US" sz="2000" dirty="0">
                <a:solidFill>
                  <a:schemeClr val="tx1"/>
                </a:solidFill>
              </a:rPr>
              <a:t>Knowledge Application</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9.1 · SKILL SPOTLIGHT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Critical &amp; Creative Thinking</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920240"/>
            <a:ext cx="1188720" cy="1188720"/>
          </a:xfrm>
          <a:prstGeom prst="rect">
            <a:avLst/>
          </a:prstGeom>
        </p:spPr>
      </p:pic>
      <p:sp>
        <p:nvSpPr>
          <p:cNvPr id="5" name="Text 2"/>
          <p:cNvSpPr txBox="1"/>
          <p:nvPr/>
        </p:nvSpPr>
        <p:spPr>
          <a:xfrm>
            <a:off x="2011680" y="1965960"/>
            <a:ext cx="9601200" cy="1097280"/>
          </a:xfrm>
          <a:prstGeom prst="rect">
            <a:avLst/>
          </a:prstGeom>
          <a:noFill/>
          <a:ln/>
        </p:spPr>
        <p:txBody>
          <a:bodyPr wrap="square" lIns="0" tIns="0" rIns="0" bIns="0" rtlCol="0" anchor="ctr"/>
          <a:lstStyle/>
          <a:p>
            <a:pPr indent="0" marL="0">
              <a:buNone/>
            </a:pPr>
            <a:r>
              <a:rPr lang="en-US" sz="2600" dirty="0">
                <a:solidFill>
                  <a:schemeClr val="tx1"/>
                </a:solidFill>
              </a:rPr>
              <a:t>Pausing on purpose before you react, decide, or assume.</a:t>
            </a:r>
            <a:endParaRPr lang="en-US" sz="2600" dirty="0"/>
          </a:p>
        </p:txBody>
      </p:sp>
      <p:sp>
        <p:nvSpPr>
          <p:cNvPr id="6" name="Decorative: benchmark card">
            <a:extLst>
              <a:ext uri="{C183D7F6-B498-43B3-948B-1728B52AA6E4}">
                <adec:decorative xmlns:adec="http://schemas.microsoft.com/office/drawing/2017/decorative" val="1"/>
              </a:ext>
            </a:extLst>
          </p:cNvPr>
          <p:cNvSpPr/>
          <p:nvPr/>
        </p:nvSpPr>
        <p:spPr>
          <a:xfrm>
            <a:off x="548640" y="3429000"/>
            <a:ext cx="509000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3703320"/>
            <a:ext cx="4449928" cy="2057400"/>
          </a:xfrm>
          <a:prstGeom prst="rect">
            <a:avLst/>
          </a:prstGeom>
          <a:noFill/>
          <a:ln/>
        </p:spPr>
        <p:txBody>
          <a:bodyPr wrap="square" lIns="0" tIns="0" rIns="0" bIns="0" rtlCol="0" anchor="t"/>
          <a:lstStyle/>
          <a:p>
            <a:pPr indent="0" marL="0">
              <a:buNone/>
            </a:pPr>
            <a:r>
              <a:rPr lang="en-US" sz="2000" b="1" spc="200" kern="0" dirty="0">
                <a:solidFill>
                  <a:schemeClr val="accent4"/>
                </a:solidFill>
              </a:rPr>
              <a:t>WHERE YOU START</a:t>
            </a:r>
            <a:endParaRPr lang="en-US" sz="2400" dirty="0"/>
          </a:p>
          <a:p>
            <a:pPr indent="0" marL="0">
              <a:buNone/>
            </a:pPr>
            <a:r>
              <a:rPr lang="en-US" sz="2400" dirty="0">
                <a:solidFill>
                  <a:schemeClr val="tx1"/>
                </a:solidFill>
              </a:rPr>
              <a:t>You describe a problem using whatever information you happen to have.</a:t>
            </a:r>
            <a:endParaRPr lang="en-US" sz="2400" dirty="0"/>
          </a:p>
        </p:txBody>
      </p:sp>
      <p:pic>
        <p:nvPicPr>
          <p:cNvPr id="8" name="Decorative: 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21528" y="4411980"/>
            <a:ext cx="548640" cy="548640"/>
          </a:xfrm>
          <a:prstGeom prst="rect">
            <a:avLst/>
          </a:prstGeom>
        </p:spPr>
      </p:pic>
      <p:sp>
        <p:nvSpPr>
          <p:cNvPr id="9" name="Decorative: milestone card">
            <a:extLst>
              <a:ext uri="{C183D7F6-B498-43B3-948B-1728B52AA6E4}">
                <adec:decorative xmlns:adec="http://schemas.microsoft.com/office/drawing/2017/decorative" val="1"/>
              </a:ext>
            </a:extLst>
          </p:cNvPr>
          <p:cNvSpPr/>
          <p:nvPr/>
        </p:nvSpPr>
        <p:spPr>
          <a:xfrm>
            <a:off x="6553048" y="3429000"/>
            <a:ext cx="5090008" cy="2514600"/>
          </a:xfrm>
          <a:prstGeom prst="roundRect">
            <a:avLst>
              <a:gd name="adj" fmla="val 436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73088" y="3703320"/>
            <a:ext cx="4449928" cy="2057400"/>
          </a:xfrm>
          <a:prstGeom prst="rect">
            <a:avLst/>
          </a:prstGeom>
          <a:noFill/>
          <a:ln/>
        </p:spPr>
        <p:txBody>
          <a:bodyPr wrap="square" lIns="0" tIns="0" rIns="0" bIns="0" rtlCol="0" anchor="t"/>
          <a:lstStyle/>
          <a:p>
            <a:pPr indent="0" marL="0">
              <a:buNone/>
            </a:pPr>
            <a:r>
              <a:rPr lang="en-US" sz="2000" b="1" spc="200" kern="0" dirty="0">
                <a:solidFill>
                  <a:srgbClr val="7A5500"/>
                </a:solidFill>
              </a:rPr>
              <a:t>WHERE YOU'RE HEADED</a:t>
            </a:r>
            <a:endParaRPr lang="en-US" sz="2400" dirty="0"/>
          </a:p>
          <a:p>
            <a:pPr indent="0" marL="0">
              <a:buNone/>
            </a:pPr>
            <a:r>
              <a:rPr lang="en-US" sz="2400" dirty="0">
                <a:solidFill>
                  <a:schemeClr val="tx1"/>
                </a:solidFill>
              </a:rPr>
              <a:t>You find what's really going on, weigh other perspectives, and reach a clear, informed conclusion.</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9.3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Spot the thought traps</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783080"/>
            <a:ext cx="548640" cy="548640"/>
          </a:xfrm>
          <a:prstGeom prst="ellipse">
            <a:avLst/>
          </a:prstGeom>
          <a:solidFill>
            <a:srgbClr val="00467F"/>
          </a:solidFill>
          <a:ln w="12700">
            <a:solidFill>
              <a:srgbClr val="00467F"/>
            </a:solidFill>
            <a:prstDash val="solid"/>
          </a:ln>
        </p:spPr>
      </p:sp>
      <p:pic>
        <p:nvPicPr>
          <p:cNvPr id="5" name="Decorative: LuZap">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1" y="1903781"/>
            <a:ext cx="307238" cy="307238"/>
          </a:xfrm>
          <a:prstGeom prst="rect">
            <a:avLst/>
          </a:prstGeom>
        </p:spPr>
      </p:pic>
      <p:sp>
        <p:nvSpPr>
          <p:cNvPr id="6" name="Text 3"/>
          <p:cNvSpPr txBox="1"/>
          <p:nvPr/>
        </p:nvSpPr>
        <p:spPr>
          <a:xfrm>
            <a:off x="1325880" y="178308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Jumping to conclusions</a:t>
            </a:r>
            <a:pPr indent="0" marL="0">
              <a:buNone/>
            </a:pPr>
            <a:r>
              <a:rPr lang="en-US" sz="2400" dirty="0">
                <a:solidFill>
                  <a:schemeClr val="tx1"/>
                </a:solidFill>
              </a:rPr>
              <a:t>: deciding before the facts are in</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441448"/>
            <a:ext cx="548640" cy="548640"/>
          </a:xfrm>
          <a:prstGeom prst="ellipse">
            <a:avLst/>
          </a:prstGeom>
          <a:solidFill>
            <a:srgbClr val="00467F"/>
          </a:solidFill>
          <a:ln w="12700">
            <a:solidFill>
              <a:srgbClr val="00467F"/>
            </a:solidFill>
            <a:prstDash val="solid"/>
          </a:ln>
        </p:spPr>
      </p:sp>
      <p:pic>
        <p:nvPicPr>
          <p:cNvPr id="8" name="Decorative: LuToggleLeft">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2562149"/>
            <a:ext cx="307238" cy="307238"/>
          </a:xfrm>
          <a:prstGeom prst="rect">
            <a:avLst/>
          </a:prstGeom>
        </p:spPr>
      </p:pic>
      <p:sp>
        <p:nvSpPr>
          <p:cNvPr id="9" name="Text 5"/>
          <p:cNvSpPr txBox="1"/>
          <p:nvPr/>
        </p:nvSpPr>
        <p:spPr>
          <a:xfrm>
            <a:off x="1325880" y="2441448"/>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All-or-nothing thinking</a:t>
            </a:r>
            <a:pPr indent="0" marL="0">
              <a:buNone/>
            </a:pPr>
            <a:r>
              <a:rPr lang="en-US" sz="2400" dirty="0">
                <a:solidFill>
                  <a:schemeClr val="tx1"/>
                </a:solidFill>
              </a:rPr>
              <a:t>: perfect or a failure, nothing between</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099816"/>
            <a:ext cx="548640" cy="548640"/>
          </a:xfrm>
          <a:prstGeom prst="ellipse">
            <a:avLst/>
          </a:prstGeom>
          <a:solidFill>
            <a:srgbClr val="00467F"/>
          </a:solidFill>
          <a:ln w="12700">
            <a:solidFill>
              <a:srgbClr val="00467F"/>
            </a:solidFill>
            <a:prstDash val="solid"/>
          </a:ln>
        </p:spPr>
      </p:sp>
      <p:pic>
        <p:nvPicPr>
          <p:cNvPr id="11" name="Decorative: LuRepeat">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220517"/>
            <a:ext cx="307238" cy="307238"/>
          </a:xfrm>
          <a:prstGeom prst="rect">
            <a:avLst/>
          </a:prstGeom>
        </p:spPr>
      </p:pic>
      <p:sp>
        <p:nvSpPr>
          <p:cNvPr id="12" name="Text 7"/>
          <p:cNvSpPr txBox="1"/>
          <p:nvPr/>
        </p:nvSpPr>
        <p:spPr>
          <a:xfrm>
            <a:off x="1325880" y="3099816"/>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Overgeneralizing</a:t>
            </a:r>
            <a:pPr indent="0" marL="0">
              <a:buNone/>
            </a:pPr>
            <a:r>
              <a:rPr lang="en-US" sz="2400" dirty="0">
                <a:solidFill>
                  <a:schemeClr val="tx1"/>
                </a:solidFill>
              </a:rPr>
              <a:t>: one bad moment becomes "always"</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3758184"/>
            <a:ext cx="548640" cy="548640"/>
          </a:xfrm>
          <a:prstGeom prst="ellipse">
            <a:avLst/>
          </a:prstGeom>
          <a:solidFill>
            <a:srgbClr val="00467F"/>
          </a:solidFill>
          <a:ln w="12700">
            <a:solidFill>
              <a:srgbClr val="00467F"/>
            </a:solidFill>
            <a:prstDash val="solid"/>
          </a:ln>
        </p:spPr>
      </p:sp>
      <p:pic>
        <p:nvPicPr>
          <p:cNvPr id="14" name="Decorative: LuEye">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3878885"/>
            <a:ext cx="307238" cy="307238"/>
          </a:xfrm>
          <a:prstGeom prst="rect">
            <a:avLst/>
          </a:prstGeom>
        </p:spPr>
      </p:pic>
      <p:sp>
        <p:nvSpPr>
          <p:cNvPr id="15" name="Text 9"/>
          <p:cNvSpPr txBox="1"/>
          <p:nvPr/>
        </p:nvSpPr>
        <p:spPr>
          <a:xfrm>
            <a:off x="1325880" y="3758184"/>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Mind reading</a:t>
            </a:r>
            <a:pPr indent="0" marL="0">
              <a:buNone/>
            </a:pPr>
            <a:r>
              <a:rPr lang="en-US" sz="2400" dirty="0">
                <a:solidFill>
                  <a:schemeClr val="tx1"/>
                </a:solidFill>
              </a:rPr>
              <a:t>: assuming you know what others think</a:t>
            </a:r>
            <a:endParaRPr lang="en-US" sz="2400" dirty="0"/>
          </a:p>
        </p:txBody>
      </p:sp>
      <p:sp>
        <p:nvSpPr>
          <p:cNvPr id="16" name="Decorative: icon circle">
            <a:extLst>
              <a:ext uri="{C183D7F6-B498-43B3-948B-1728B52AA6E4}">
                <adec:decorative xmlns:adec="http://schemas.microsoft.com/office/drawing/2017/decorative" val="1"/>
              </a:ext>
            </a:extLst>
          </p:cNvPr>
          <p:cNvSpPr/>
          <p:nvPr/>
        </p:nvSpPr>
        <p:spPr>
          <a:xfrm>
            <a:off x="548640" y="4416552"/>
            <a:ext cx="548640" cy="548640"/>
          </a:xfrm>
          <a:prstGeom prst="ellipse">
            <a:avLst/>
          </a:prstGeom>
          <a:solidFill>
            <a:srgbClr val="00467F"/>
          </a:solidFill>
          <a:ln w="12700">
            <a:solidFill>
              <a:srgbClr val="00467F"/>
            </a:solidFill>
            <a:prstDash val="solid"/>
          </a:ln>
        </p:spPr>
      </p:sp>
      <p:pic>
        <p:nvPicPr>
          <p:cNvPr id="17" name="Decorative: LuCloudLightning">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4537253"/>
            <a:ext cx="307238" cy="307238"/>
          </a:xfrm>
          <a:prstGeom prst="rect">
            <a:avLst/>
          </a:prstGeom>
        </p:spPr>
      </p:pic>
      <p:sp>
        <p:nvSpPr>
          <p:cNvPr id="18" name="Text 11"/>
          <p:cNvSpPr txBox="1"/>
          <p:nvPr/>
        </p:nvSpPr>
        <p:spPr>
          <a:xfrm>
            <a:off x="1325880" y="4416552"/>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Catastrophizing</a:t>
            </a:r>
            <a:pPr indent="0" marL="0">
              <a:buNone/>
            </a:pPr>
            <a:r>
              <a:rPr lang="en-US" sz="2400" dirty="0">
                <a:solidFill>
                  <a:schemeClr val="tx1"/>
                </a:solidFill>
              </a:rPr>
              <a:t>: jumping to the worst case</a:t>
            </a:r>
            <a:endParaRPr lang="en-US" sz="2400" dirty="0"/>
          </a:p>
        </p:txBody>
      </p:sp>
      <p:sp>
        <p:nvSpPr>
          <p:cNvPr id="19" name="Decorative: callout">
            <a:extLst>
              <a:ext uri="{C183D7F6-B498-43B3-948B-1728B52AA6E4}">
                <adec:decorative xmlns:adec="http://schemas.microsoft.com/office/drawing/2017/decorative" val="1"/>
              </a:ext>
            </a:extLst>
          </p:cNvPr>
          <p:cNvSpPr/>
          <p:nvPr/>
        </p:nvSpPr>
        <p:spPr>
          <a:xfrm>
            <a:off x="548640" y="525780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0" name="Text 13"/>
          <p:cNvSpPr txBox="1"/>
          <p:nvPr/>
        </p:nvSpPr>
        <p:spPr>
          <a:xfrm>
            <a:off x="868680" y="536752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Biases color the lens too: confirmation, familiarity, the halo effect, and negativity.</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9.4 · TRAIL TOOL</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The 4C Check</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288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03120"/>
            <a:ext cx="685800" cy="685800"/>
          </a:xfrm>
          <a:prstGeom prst="ellipse">
            <a:avLst/>
          </a:prstGeom>
          <a:solidFill>
            <a:srgbClr val="00467F"/>
          </a:solidFill>
          <a:ln w="12700">
            <a:solidFill>
              <a:srgbClr val="00467F"/>
            </a:solidFill>
            <a:prstDash val="solid"/>
          </a:ln>
        </p:spPr>
      </p:sp>
      <p:pic>
        <p:nvPicPr>
          <p:cNvPr id="6" name="Decorative: LuFocus">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53996"/>
            <a:ext cx="384048" cy="384048"/>
          </a:xfrm>
          <a:prstGeom prst="rect">
            <a:avLst/>
          </a:prstGeom>
        </p:spPr>
      </p:pic>
      <p:sp>
        <p:nvSpPr>
          <p:cNvPr id="7" name="Text 4"/>
          <p:cNvSpPr txBox="1"/>
          <p:nvPr/>
        </p:nvSpPr>
        <p:spPr>
          <a:xfrm>
            <a:off x="1737360" y="20299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Clarity</a:t>
            </a:r>
            <a:endParaRPr lang="en-US" sz="2400" dirty="0"/>
          </a:p>
          <a:p>
            <a:pPr indent="0" marL="0">
              <a:buNone/>
            </a:pPr>
            <a:r>
              <a:rPr lang="en-US" sz="2400" dirty="0">
                <a:solidFill>
                  <a:schemeClr val="tx1"/>
                </a:solidFill>
              </a:rPr>
              <a:t>What am I really deciding?</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6255868" y="18288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6530188" y="2103120"/>
            <a:ext cx="685800" cy="685800"/>
          </a:xfrm>
          <a:prstGeom prst="ellipse">
            <a:avLst/>
          </a:prstGeom>
          <a:solidFill>
            <a:srgbClr val="00467F"/>
          </a:solidFill>
          <a:ln w="12700">
            <a:solidFill>
              <a:srgbClr val="00467F"/>
            </a:solidFill>
            <a:prstDash val="solid"/>
          </a:ln>
        </p:spPr>
      </p:sp>
      <p:pic>
        <p:nvPicPr>
          <p:cNvPr id="10" name="Decorative: LuTarget">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1064" y="2253996"/>
            <a:ext cx="384048" cy="384048"/>
          </a:xfrm>
          <a:prstGeom prst="rect">
            <a:avLst/>
          </a:prstGeom>
        </p:spPr>
      </p:pic>
      <p:sp>
        <p:nvSpPr>
          <p:cNvPr id="11" name="Text 7"/>
          <p:cNvSpPr txBox="1"/>
          <p:nvPr/>
        </p:nvSpPr>
        <p:spPr>
          <a:xfrm>
            <a:off x="7444588" y="20299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Context</a:t>
            </a:r>
            <a:endParaRPr lang="en-US" sz="2400" dirty="0"/>
          </a:p>
          <a:p>
            <a:pPr indent="0" marL="0">
              <a:buNone/>
            </a:pPr>
            <a:r>
              <a:rPr lang="en-US" sz="2400" dirty="0">
                <a:solidFill>
                  <a:schemeClr val="tx1"/>
                </a:solidFill>
              </a:rPr>
              <a:t>What matters most here?</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548640" y="38862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22960" y="4160520"/>
            <a:ext cx="685800" cy="685800"/>
          </a:xfrm>
          <a:prstGeom prst="ellipse">
            <a:avLst/>
          </a:prstGeom>
          <a:solidFill>
            <a:srgbClr val="00467F"/>
          </a:solidFill>
          <a:ln w="12700">
            <a:solidFill>
              <a:srgbClr val="00467F"/>
            </a:solidFill>
            <a:prstDash val="solid"/>
          </a:ln>
        </p:spPr>
      </p:sp>
      <p:pic>
        <p:nvPicPr>
          <p:cNvPr id="14" name="Decorative: LuShieldCheck">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3836" y="4311396"/>
            <a:ext cx="384048" cy="384048"/>
          </a:xfrm>
          <a:prstGeom prst="rect">
            <a:avLst/>
          </a:prstGeom>
        </p:spPr>
      </p:pic>
      <p:sp>
        <p:nvSpPr>
          <p:cNvPr id="15" name="Text 10"/>
          <p:cNvSpPr txBox="1"/>
          <p:nvPr/>
        </p:nvSpPr>
        <p:spPr>
          <a:xfrm>
            <a:off x="1737360" y="40873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Credibility</a:t>
            </a:r>
            <a:endParaRPr lang="en-US" sz="2400" dirty="0"/>
          </a:p>
          <a:p>
            <a:pPr indent="0" marL="0">
              <a:buNone/>
            </a:pPr>
            <a:r>
              <a:rPr lang="en-US" sz="2400" dirty="0">
                <a:solidFill>
                  <a:schemeClr val="tx1"/>
                </a:solidFill>
              </a:rPr>
              <a:t>What do I know, and what am I assuming?</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6255868" y="38862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6530188" y="4160520"/>
            <a:ext cx="685800" cy="685800"/>
          </a:xfrm>
          <a:prstGeom prst="ellipse">
            <a:avLst/>
          </a:prstGeom>
          <a:solidFill>
            <a:srgbClr val="00467F"/>
          </a:solidFill>
          <a:ln w="12700">
            <a:solidFill>
              <a:srgbClr val="00467F"/>
            </a:solidFill>
            <a:prstDash val="solid"/>
          </a:ln>
        </p:spPr>
      </p:sp>
      <p:pic>
        <p:nvPicPr>
          <p:cNvPr id="18" name="Decorative: LuArrowRight">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1064" y="4311396"/>
            <a:ext cx="384048" cy="384048"/>
          </a:xfrm>
          <a:prstGeom prst="rect">
            <a:avLst/>
          </a:prstGeom>
        </p:spPr>
      </p:pic>
      <p:sp>
        <p:nvSpPr>
          <p:cNvPr id="19" name="Text 13"/>
          <p:cNvSpPr txBox="1"/>
          <p:nvPr/>
        </p:nvSpPr>
        <p:spPr>
          <a:xfrm>
            <a:off x="7444588" y="40873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Consequences</a:t>
            </a:r>
            <a:endParaRPr lang="en-US" sz="2400" dirty="0"/>
          </a:p>
          <a:p>
            <a:pPr indent="0" marL="0">
              <a:buNone/>
            </a:pPr>
            <a:r>
              <a:rPr lang="en-US" sz="2400" dirty="0">
                <a:solidFill>
                  <a:schemeClr val="tx1"/>
                </a:solidFill>
              </a:rPr>
              <a:t>What might happen next?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9.5</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Think through your STAR(T) story</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28800"/>
            <a:ext cx="5387188" cy="1463040"/>
          </a:xfrm>
          <a:prstGeom prst="roundRect">
            <a:avLst>
              <a:gd name="adj" fmla="val 75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03120"/>
            <a:ext cx="685800" cy="685800"/>
          </a:xfrm>
          <a:prstGeom prst="ellipse">
            <a:avLst/>
          </a:prstGeom>
          <a:solidFill>
            <a:srgbClr val="00467F"/>
          </a:solidFill>
          <a:ln w="12700">
            <a:solidFill>
              <a:srgbClr val="00467F"/>
            </a:solidFill>
            <a:prstDash val="solid"/>
          </a:ln>
        </p:spPr>
      </p:sp>
      <p:pic>
        <p:nvPicPr>
          <p:cNvPr id="6" name="Decorative: LuUsers">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53996"/>
            <a:ext cx="384048" cy="384048"/>
          </a:xfrm>
          <a:prstGeom prst="rect">
            <a:avLst/>
          </a:prstGeom>
        </p:spPr>
      </p:pic>
      <p:sp>
        <p:nvSpPr>
          <p:cNvPr id="7" name="Text 4"/>
          <p:cNvSpPr txBox="1"/>
          <p:nvPr/>
        </p:nvSpPr>
        <p:spPr>
          <a:xfrm>
            <a:off x="1737360" y="2029968"/>
            <a:ext cx="3969868" cy="1143000"/>
          </a:xfrm>
          <a:prstGeom prst="rect">
            <a:avLst/>
          </a:prstGeom>
          <a:noFill/>
          <a:ln/>
        </p:spPr>
        <p:txBody>
          <a:bodyPr wrap="square" lIns="0" tIns="0" rIns="0" bIns="0" rtlCol="0" anchor="t"/>
          <a:lstStyle/>
          <a:p>
            <a:pPr indent="0" marL="0">
              <a:buNone/>
            </a:pPr>
            <a:r>
              <a:rPr lang="en-US" sz="2600" b="1" dirty="0">
                <a:solidFill>
                  <a:schemeClr val="tx2"/>
                </a:solidFill>
              </a:rPr>
              <a:t>"We" instead of "I"</a:t>
            </a:r>
            <a:endParaRPr lang="en-US" sz="2400" dirty="0"/>
          </a:p>
          <a:p>
            <a:pPr indent="0" marL="0">
              <a:buNone/>
            </a:pPr>
            <a:r>
              <a:rPr lang="en-US" sz="2400" dirty="0">
                <a:solidFill>
                  <a:schemeClr val="tx1"/>
                </a:solidFill>
              </a:rPr>
              <a:t>Say what you did.</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6255868" y="1828800"/>
            <a:ext cx="5387188" cy="1463040"/>
          </a:xfrm>
          <a:prstGeom prst="roundRect">
            <a:avLst>
              <a:gd name="adj" fmla="val 75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6530188" y="2103120"/>
            <a:ext cx="685800" cy="685800"/>
          </a:xfrm>
          <a:prstGeom prst="ellipse">
            <a:avLst/>
          </a:prstGeom>
          <a:solidFill>
            <a:srgbClr val="00467F"/>
          </a:solidFill>
          <a:ln w="12700">
            <a:solidFill>
              <a:srgbClr val="00467F"/>
            </a:solidFill>
            <a:prstDash val="solid"/>
          </a:ln>
        </p:spPr>
      </p:sp>
      <p:pic>
        <p:nvPicPr>
          <p:cNvPr id="10" name="Decorative: LuToggleLeft">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1064" y="2253996"/>
            <a:ext cx="384048" cy="384048"/>
          </a:xfrm>
          <a:prstGeom prst="rect">
            <a:avLst/>
          </a:prstGeom>
        </p:spPr>
      </p:pic>
      <p:sp>
        <p:nvSpPr>
          <p:cNvPr id="11" name="Text 7"/>
          <p:cNvSpPr txBox="1"/>
          <p:nvPr/>
        </p:nvSpPr>
        <p:spPr>
          <a:xfrm>
            <a:off x="7444588" y="2029968"/>
            <a:ext cx="3969868" cy="1143000"/>
          </a:xfrm>
          <a:prstGeom prst="rect">
            <a:avLst/>
          </a:prstGeom>
          <a:noFill/>
          <a:ln/>
        </p:spPr>
        <p:txBody>
          <a:bodyPr wrap="square" lIns="0" tIns="0" rIns="0" bIns="0" rtlCol="0" anchor="t"/>
          <a:lstStyle/>
          <a:p>
            <a:pPr indent="0" marL="0">
              <a:buNone/>
            </a:pPr>
            <a:r>
              <a:rPr lang="en-US" sz="2600" b="1" dirty="0">
                <a:solidFill>
                  <a:schemeClr val="tx2"/>
                </a:solidFill>
              </a:rPr>
              <a:t>All-or-nothing results</a:t>
            </a:r>
            <a:endParaRPr lang="en-US" sz="2400" dirty="0"/>
          </a:p>
          <a:p>
            <a:pPr indent="0" marL="0">
              <a:buNone/>
            </a:pPr>
            <a:r>
              <a:rPr lang="en-US" sz="2400" dirty="0">
                <a:solidFill>
                  <a:schemeClr val="tx1"/>
                </a:solidFill>
              </a:rPr>
              <a:t>Honest and imperfect is fine.</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548640" y="3566160"/>
            <a:ext cx="5387188" cy="1463040"/>
          </a:xfrm>
          <a:prstGeom prst="roundRect">
            <a:avLst>
              <a:gd name="adj" fmla="val 75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22960" y="3840480"/>
            <a:ext cx="685800" cy="685800"/>
          </a:xfrm>
          <a:prstGeom prst="ellipse">
            <a:avLst/>
          </a:prstGeom>
          <a:solidFill>
            <a:srgbClr val="00467F"/>
          </a:solidFill>
          <a:ln w="12700">
            <a:solidFill>
              <a:srgbClr val="00467F"/>
            </a:solidFill>
            <a:prstDash val="solid"/>
          </a:ln>
        </p:spPr>
      </p:sp>
      <p:pic>
        <p:nvPicPr>
          <p:cNvPr id="14" name="Decorative: LuSparkles">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3836" y="3991356"/>
            <a:ext cx="384048" cy="384048"/>
          </a:xfrm>
          <a:prstGeom prst="rect">
            <a:avLst/>
          </a:prstGeom>
        </p:spPr>
      </p:pic>
      <p:sp>
        <p:nvSpPr>
          <p:cNvPr id="15" name="Text 10"/>
          <p:cNvSpPr txBox="1"/>
          <p:nvPr/>
        </p:nvSpPr>
        <p:spPr>
          <a:xfrm>
            <a:off x="1737360" y="3767328"/>
            <a:ext cx="3969868" cy="1143000"/>
          </a:xfrm>
          <a:prstGeom prst="rect">
            <a:avLst/>
          </a:prstGeom>
          <a:noFill/>
          <a:ln/>
        </p:spPr>
        <p:txBody>
          <a:bodyPr wrap="square" lIns="0" tIns="0" rIns="0" bIns="0" rtlCol="0" anchor="t"/>
          <a:lstStyle/>
          <a:p>
            <a:pPr indent="0" marL="0">
              <a:buNone/>
            </a:pPr>
            <a:r>
              <a:rPr lang="en-US" sz="2600" b="1" dirty="0">
                <a:solidFill>
                  <a:schemeClr val="tx2"/>
                </a:solidFill>
              </a:rPr>
              <a:t>Picked to sound impressive</a:t>
            </a:r>
            <a:endParaRPr lang="en-US" sz="2400" dirty="0"/>
          </a:p>
          <a:p>
            <a:pPr indent="0" marL="0">
              <a:buNone/>
            </a:pPr>
            <a:r>
              <a:rPr lang="en-US" sz="2400" dirty="0">
                <a:solidFill>
                  <a:schemeClr val="tx1"/>
                </a:solidFill>
              </a:rPr>
              <a:t>Real beats dramatic.</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6255868" y="3566160"/>
            <a:ext cx="5387188" cy="1463040"/>
          </a:xfrm>
          <a:prstGeom prst="roundRect">
            <a:avLst>
              <a:gd name="adj" fmla="val 75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6530188" y="3840480"/>
            <a:ext cx="685800" cy="685800"/>
          </a:xfrm>
          <a:prstGeom prst="ellipse">
            <a:avLst/>
          </a:prstGeom>
          <a:solidFill>
            <a:srgbClr val="00467F"/>
          </a:solidFill>
          <a:ln w="12700">
            <a:solidFill>
              <a:srgbClr val="00467F"/>
            </a:solidFill>
            <a:prstDash val="solid"/>
          </a:ln>
        </p:spPr>
      </p:sp>
      <p:pic>
        <p:nvPicPr>
          <p:cNvPr id="18" name="Decorative: LuMapPin">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1064" y="3991356"/>
            <a:ext cx="384048" cy="384048"/>
          </a:xfrm>
          <a:prstGeom prst="rect">
            <a:avLst/>
          </a:prstGeom>
        </p:spPr>
      </p:pic>
      <p:sp>
        <p:nvSpPr>
          <p:cNvPr id="19" name="Text 13"/>
          <p:cNvSpPr txBox="1"/>
          <p:nvPr/>
        </p:nvSpPr>
        <p:spPr>
          <a:xfrm>
            <a:off x="7444588" y="3767328"/>
            <a:ext cx="3969868" cy="1143000"/>
          </a:xfrm>
          <a:prstGeom prst="rect">
            <a:avLst/>
          </a:prstGeom>
          <a:noFill/>
          <a:ln/>
        </p:spPr>
        <p:txBody>
          <a:bodyPr wrap="square" lIns="0" tIns="0" rIns="0" bIns="0" rtlCol="0" anchor="t"/>
          <a:lstStyle/>
          <a:p>
            <a:pPr indent="0" marL="0">
              <a:buNone/>
            </a:pPr>
            <a:r>
              <a:rPr lang="en-US" sz="2600" b="1" dirty="0">
                <a:solidFill>
                  <a:schemeClr val="tx2"/>
                </a:solidFill>
              </a:rPr>
              <a:t>A vague Transfer</a:t>
            </a:r>
            <a:endParaRPr lang="en-US" sz="2400" dirty="0"/>
          </a:p>
          <a:p>
            <a:pPr indent="0" marL="0">
              <a:buNone/>
            </a:pPr>
            <a:r>
              <a:rPr lang="en-US" sz="2400" dirty="0">
                <a:solidFill>
                  <a:schemeClr val="tx1"/>
                </a:solidFill>
              </a:rPr>
              <a:t>Name where it goes next.</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525780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36752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Transfer is Consequences, and it's your interview answer.</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assignment row">
            <a:extLst>
              <a:ext uri="{C183D7F6-B498-43B3-948B-1728B52AA6E4}">
                <adec:decorative xmlns:adec="http://schemas.microsoft.com/office/drawing/2017/decorative" val="1"/>
              </a:ext>
            </a:extLst>
          </p:cNvPr>
          <p:cNvSpPr/>
          <p:nvPr/>
        </p:nvSpPr>
        <p:spPr>
          <a:xfrm>
            <a:off x="548640" y="187452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6" name="Decorative: LuBo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2221" y="2086661"/>
            <a:ext cx="307238" cy="307238"/>
          </a:xfrm>
          <a:prstGeom prst="rect">
            <a:avLst/>
          </a:prstGeom>
        </p:spPr>
      </p:pic>
      <p:sp>
        <p:nvSpPr>
          <p:cNvPr id="7" name="Text 4"/>
          <p:cNvSpPr txBox="1"/>
          <p:nvPr/>
        </p:nvSpPr>
        <p:spPr>
          <a:xfrm>
            <a:off x="1508760" y="192938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AI Chat: Think It Through</a:t>
            </a:r>
            <a:endParaRPr lang="en-US" sz="2400" dirty="0"/>
          </a:p>
          <a:p>
            <a:pPr indent="0" marL="0">
              <a:buNone/>
            </a:pPr>
            <a:r>
              <a:rPr lang="en-US" sz="2000" dirty="0">
                <a:solidFill>
                  <a:schemeClr val="accent6"/>
                </a:solidFill>
              </a:rPr>
              <a:t>Practice the 4C Check with Coach Pathfinder</a:t>
            </a:r>
            <a:endParaRPr lang="en-US" sz="2400" dirty="0"/>
          </a:p>
        </p:txBody>
      </p:sp>
      <p:sp>
        <p:nvSpPr>
          <p:cNvPr id="8" name="Decorative: assignment row">
            <a:extLst>
              <a:ext uri="{C183D7F6-B498-43B3-948B-1728B52AA6E4}">
                <adec:decorative xmlns:adec="http://schemas.microsoft.com/office/drawing/2017/decorative" val="1"/>
              </a:ext>
            </a:extLst>
          </p:cNvPr>
          <p:cNvSpPr/>
          <p:nvPr/>
        </p:nvSpPr>
        <p:spPr>
          <a:xfrm>
            <a:off x="548640" y="288036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0" name="Decorative: LuFlag">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3092501"/>
            <a:ext cx="307238" cy="307238"/>
          </a:xfrm>
          <a:prstGeom prst="rect">
            <a:avLst/>
          </a:prstGeom>
        </p:spPr>
      </p:pic>
      <p:sp>
        <p:nvSpPr>
          <p:cNvPr id="11" name="Text 7"/>
          <p:cNvSpPr txBox="1"/>
          <p:nvPr/>
        </p:nvSpPr>
        <p:spPr>
          <a:xfrm>
            <a:off x="1508760" y="293522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#9: Think It Through</a:t>
            </a:r>
            <a:endParaRPr lang="en-US" sz="2400" dirty="0"/>
          </a:p>
          <a:p>
            <a:pPr indent="0" marL="0">
              <a:buNone/>
            </a:pPr>
            <a:r>
              <a:rPr lang="en-US" sz="2000" dirty="0">
                <a:solidFill>
                  <a:schemeClr val="accent6"/>
                </a:solidFill>
              </a:rPr>
              <a:t>Your thinking pattern, then your first STAR(T) draft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#9</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Think It Through</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566928" cy="566928"/>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6" name="Text 4"/>
          <p:cNvSpPr txBox="1"/>
          <p:nvPr/>
        </p:nvSpPr>
        <p:spPr>
          <a:xfrm>
            <a:off x="1389888" y="1874520"/>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Name your pattern, and a better question</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2862072"/>
            <a:ext cx="566928" cy="566928"/>
          </a:xfrm>
          <a:prstGeom prst="ellipse">
            <a:avLst/>
          </a:prstGeom>
          <a:solidFill>
            <a:srgbClr val="E7A614"/>
          </a:solidFill>
          <a:ln w="12700">
            <a:solidFill>
              <a:srgbClr val="E7A614"/>
            </a:solidFill>
            <a:prstDash val="solid"/>
          </a:ln>
        </p:spPr>
      </p:sp>
      <p:sp>
        <p:nvSpPr>
          <p:cNvPr id="8" name="Question 2 number"/>
          <p:cNvSpPr txBox="1"/>
          <p:nvPr/>
        </p:nvSpPr>
        <p:spPr>
          <a:xfrm>
            <a:off x="548640" y="2862072"/>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1389888" y="2862072"/>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Tell your story, all five STAR(T) steps</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3849624"/>
            <a:ext cx="566928" cy="566928"/>
          </a:xfrm>
          <a:prstGeom prst="ellipse">
            <a:avLst/>
          </a:prstGeom>
          <a:solidFill>
            <a:srgbClr val="E7A614"/>
          </a:solidFill>
          <a:ln w="12700">
            <a:solidFill>
              <a:srgbClr val="E7A614"/>
            </a:solidFill>
            <a:prstDash val="solid"/>
          </a:ln>
        </p:spPr>
      </p:sp>
      <p:sp>
        <p:nvSpPr>
          <p:cNvPr id="11" name="Question 3 number"/>
          <p:cNvSpPr txBox="1"/>
          <p:nvPr/>
        </p:nvSpPr>
        <p:spPr>
          <a:xfrm>
            <a:off x="548640" y="3849624"/>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2" name="Text 10"/>
          <p:cNvSpPr txBox="1"/>
          <p:nvPr/>
        </p:nvSpPr>
        <p:spPr>
          <a:xfrm>
            <a:off x="1389888" y="3849624"/>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Check it with the 4Cs</a:t>
            </a:r>
            <a:endParaRPr lang="en-US" sz="2400" dirty="0"/>
          </a:p>
        </p:txBody>
      </p:sp>
      <p:sp>
        <p:nvSpPr>
          <p:cNvPr id="13" name="Decorative: number circle">
            <a:extLst>
              <a:ext uri="{C183D7F6-B498-43B3-948B-1728B52AA6E4}">
                <adec:decorative xmlns:adec="http://schemas.microsoft.com/office/drawing/2017/decorative" val="1"/>
              </a:ext>
            </a:extLst>
          </p:cNvPr>
          <p:cNvSpPr/>
          <p:nvPr/>
        </p:nvSpPr>
        <p:spPr>
          <a:xfrm>
            <a:off x="548640" y="4837176"/>
            <a:ext cx="566928" cy="566928"/>
          </a:xfrm>
          <a:prstGeom prst="ellipse">
            <a:avLst/>
          </a:prstGeom>
          <a:solidFill>
            <a:srgbClr val="E7A614"/>
          </a:solidFill>
          <a:ln w="12700">
            <a:solidFill>
              <a:srgbClr val="E7A614"/>
            </a:solidFill>
            <a:prstDash val="solid"/>
          </a:ln>
        </p:spPr>
      </p:sp>
      <p:sp>
        <p:nvSpPr>
          <p:cNvPr id="14" name="Question 4 number"/>
          <p:cNvSpPr txBox="1"/>
          <p:nvPr/>
        </p:nvSpPr>
        <p:spPr>
          <a:xfrm>
            <a:off x="548640" y="4837176"/>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5" name="Text 13"/>
          <p:cNvSpPr txBox="1"/>
          <p:nvPr/>
        </p:nvSpPr>
        <p:spPr>
          <a:xfrm>
            <a:off x="1389888" y="4837176"/>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Name the skill it shows</a:t>
            </a:r>
            <a:endParaRPr lang="en-US" sz="2400" dirty="0"/>
          </a:p>
        </p:txBody>
      </p:sp>
      <p:sp>
        <p:nvSpPr>
          <p:cNvPr id="16"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AI can ask you questions about your draft. It can't tell your story.</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Hold onto this draft.</a:t>
            </a:r>
            <a:endParaRPr lang="en-US" sz="2200" dirty="0"/>
          </a:p>
          <a:p>
            <a:pPr indent="0" marL="0">
              <a:spcAft>
                <a:spcPts val="1000"/>
              </a:spcAft>
              <a:buNone/>
            </a:pPr>
            <a:r>
              <a:rPr lang="en-US" sz="2200" dirty="0">
                <a:solidFill>
                  <a:schemeClr val="tx1"/>
                </a:solidFill>
              </a:rPr>
              <a:t>It can become one of your four STAR(T) Stories.</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What are you really deciding?</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Think of a decision you're facing right now. What are you really deciding?</a:t>
            </a:r>
            <a:endParaRPr lang="en-US" sz="2400" dirty="0"/>
          </a:p>
          <a:p>
            <a:pPr marL="342900" indent="-342900">
              <a:spcAft>
                <a:spcPts val="1200"/>
              </a:spcAft>
              <a:buSzPct val="100000"/>
              <a:buFont typeface="+mj-lt"/>
              <a:buAutoNum type="arabicPeriod" startAt="1"/>
            </a:pPr>
            <a:r>
              <a:rPr lang="en-US" sz="2400" dirty="0">
                <a:solidFill>
                  <a:schemeClr val="bg1"/>
                </a:solidFill>
              </a:rPr>
              <a:t>What's one thing you know, and one thing you're assuming?</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Talk with a partner for 3 minutes, then share what changed.</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9: Think It Through: Critical Thinking + STAR(T)</dc:title>
  <dc:subject>FYE 100 instructor slides</dc:subject>
  <dc:creator>OCTC FYE 100</dc:creator>
  <cp:lastModifiedBy>OCTC FYE 100</cp:lastModifiedBy>
  <cp:revision>1</cp:revision>
  <dcterms:created xsi:type="dcterms:W3CDTF">2026-10-19T21:15:09Z</dcterms:created>
  <dcterms:modified xsi:type="dcterms:W3CDTF">2026-10-19T21:15:09Z</dcterms:modified>
</cp:coreProperties>
</file>