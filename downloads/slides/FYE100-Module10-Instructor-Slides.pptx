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ec1c6f-e7b4-2001-218f-0d1b0c158e46}">
          <p14:sldIdLst>
            <p14:sldId id="256"/>
            <p14:sldId id="257"/>
          </p14:sldIdLst>
        </p14:section>
        <p14:section name="This week" id="{24d440c7-268f-a4ed-2996-8b1c1238f86e}">
          <p14:sldIdLst>
            <p14:sldId id="258"/>
          </p14:sldIdLst>
        </p14:section>
        <p14:section name="Lessons" id="{c2e0edcf-6010-145a-0f79-b1e05f1253d6}">
          <p14:sldIdLst>
            <p14:sldId id="259"/>
            <p14:sldId id="260"/>
            <p14:sldId id="261"/>
            <p14:sldId id="262"/>
            <p14:sldId id="263"/>
          </p14:sldIdLst>
        </p14:section>
        <p14:section name="This week's work" id="{95d93cd3-7269-1469-9bd8-57fd45f196bc}">
          <p14:sldIdLst>
            <p14:sldId id="264"/>
            <p14:sldId id="265"/>
          </p14:sldIdLst>
        </p14:section>
        <p14:section name="Discussion" id="{b35a708d-0d71-d764-e65f-fbbbb4a7a1c9}">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10: Team Up.
This week is about how you work with others, and how to make it easier on everyone, including you.
The owl brought friends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Merit Activity #3, the last one, is due with this module. Remind students to use the Activity #3 link.
Online sections: if you're hosting a virtual meet-up for Merit this week, put the date and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find how you show up in a group, take 16Personalities, and pick three strategies that fit you. Merit Activity #3 is also due.
Three skills, with Collaboration &amp; Teamwork as the Skill Spotlight.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Skill Spotlight is #8, Collaboration &amp; Teamwork. If you groaned a little, you're not alone; most people have a group project story that still makes them tense up.
Left: where most students start. You take part in discussions, respond promptly, finish your tasks on time, and know your own strengths and limits on a team. Right: where you're headed. You contribute ideas that fit the actual goal, address conflict constructively, figure out the tasks and your teammates' strengths so roles are fair, and adapt to change in ways that build trust.
It shows up when a group project forms, when someone goes quiet, and when plans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can work well with others, you have to understand how you naturally show up.
Seven common ways people show up in groups: the Starter, the Organizer, the Analyzer, the Doer, the Encourager, the Quiet Worker, and the Big-Picture Thinker. Most people recognize themselves in more than one.
Collaboration gets messy when those tendencies collide without anyone naming them: two Starters pulling different directions, or a Quiet Worker nobody checks in with.
Personality tools help by giving people language for those differences. That's next.
The Collaboration Snapshot Trail Tool collects roles, type, strengths, struggles, and strategies in one place for Mile Marker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the code to take the free 16Personalities test. It takes about 10 minutes, and the free results are all you need, so skip any paid upgrades.
Answer honestly, for how you usually are, not how you think you should be.
Your result is a four-letter type plus a fifth letter after a dash, like ENFP-T or ISTJ-A. The letters describe energy (how you recharge), mind (how you take in information), nature (how you decide), tactics (how you approach plans), and identity (how you handle pressure).
It uses the four-letter codes made famous by Myers-Briggs, but it isn't the Myers-Briggs. Treat it as a map, not a rulebook.
In-person sections: students bring their type to class for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10.4 looks at strengths and struggles in collaboration, including how different brains bring different strengths to a team. Lesson 10.5 turns that into strategies.
Nine in all. Four to highlight: start with clear expectations: what's the task, what are the deadlines, who's doing what, and what does done look like? Communicate your style, respectfully. Assume good intent, most of the time. And use the two-minute reset when tension rises: pause, breathe, and ask what's actually the issue and what matters most.
The others: play to your strengths, ask clarifying questions, break tasks into pieces, use your tools wisely, and know your stress signals.
Students choose three that fit them for their Collaboration Snapshot and Mile Marker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use of AI for group work: turn a group assignment into tasks, roles, a timeline, and group norms.
First, check the AI rules for that assignment. Then paste in the instructions, add your group's roles and due date, and ask for main tasks, suggested roles, a weekly timeline, and group norms.
Bring the plan back to your group and adjust it together. AI doesn't know your teammates.
The plan is the easy part. Following through is the teamwork.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16Personalities is an ungraded task, but Mile Marker #10 uses the result.
Mile Marker #10 is three questions.
Merit Activity #3 is the last required Merit activity. Use the Activity #3 link on the Merit platform.
Online sections: That One Time Group Work Went Sideways. First post by Friday, replies by Monday. In-person sections: today's attendance counts; bring a group work story and your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#10 has three questions.
One: your 16Personalities type in your own words, one short phrase, plus two collaboration strengths and one or two challenges that honestly fit.
Two: pick one challenge and explain why it happens for you, as a tendency, not a flaw. Sharing anything about neurodivergence is always optional.
Three: in one simple, respectful sentence, what you need from teammates to do your best work.
It's AI-supported, but AI doesn't know how you collaborate.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This is the in-class version of the online discussion, That One Time Group Work Went Sideways. The in-person Trailhead asks students to bring a story and their type.
Ground rule: no names. Describe roles, not people.
Pairs for three minutes, then collect what would have helped. Most answers map to the strategies in Lesson 10.5, especially clear expectations.
For online recordings: pose the questions and point students to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10</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Team Up: Collaboration &amp; People Skills</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Easier on everyone, including you.</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9, then look ahead to Module 10.</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10 work and Merit Activity #3 are due Monday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10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Team up</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User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Find how you show up in a group</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Fingerprin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Take 16Personalities</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ListChecks">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Pick three strategies that fit you</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Award">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Merit Activity #3 is due</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788920"/>
            <a:ext cx="731520" cy="731520"/>
          </a:xfrm>
          <a:prstGeom prst="rect">
            <a:avLst/>
          </a:prstGeom>
        </p:spPr>
      </p:pic>
      <p:sp>
        <p:nvSpPr>
          <p:cNvPr id="19" name="Text 12"/>
          <p:cNvSpPr txBox="1"/>
          <p:nvPr/>
        </p:nvSpPr>
        <p:spPr>
          <a:xfrm>
            <a:off x="9098280" y="27432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#1 </a:t>
            </a:r>
            <a:pPr indent="0" marL="0">
              <a:buNone/>
            </a:pPr>
            <a:r>
              <a:rPr lang="en-US" sz="2000" dirty="0">
                <a:solidFill>
                  <a:schemeClr val="tx1"/>
                </a:solidFill>
              </a:rPr>
              <a:t>Communication</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703320"/>
            <a:ext cx="731520" cy="731520"/>
          </a:xfrm>
          <a:prstGeom prst="rect">
            <a:avLst/>
          </a:prstGeom>
        </p:spPr>
      </p:pic>
      <p:sp>
        <p:nvSpPr>
          <p:cNvPr id="21" name="Text 13"/>
          <p:cNvSpPr txBox="1"/>
          <p:nvPr/>
        </p:nvSpPr>
        <p:spPr>
          <a:xfrm>
            <a:off x="9098280" y="36576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#4 </a:t>
            </a:r>
            <a:pPr indent="0" marL="0">
              <a:buNone/>
            </a:pPr>
            <a:r>
              <a:rPr lang="en-US" sz="2000" dirty="0">
                <a:solidFill>
                  <a:schemeClr val="tx1"/>
                </a:solidFill>
              </a:rPr>
              <a:t>Interpersonal Relations</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617720"/>
            <a:ext cx="731520" cy="731520"/>
          </a:xfrm>
          <a:prstGeom prst="rect">
            <a:avLst/>
          </a:prstGeom>
        </p:spPr>
      </p:pic>
      <p:sp>
        <p:nvSpPr>
          <p:cNvPr id="23" name="Text 14"/>
          <p:cNvSpPr txBox="1"/>
          <p:nvPr/>
        </p:nvSpPr>
        <p:spPr>
          <a:xfrm>
            <a:off x="9098280" y="45720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#8 </a:t>
            </a:r>
            <a:pPr indent="0" marL="0">
              <a:buNone/>
            </a:pPr>
            <a:r>
              <a:rPr lang="en-US" sz="2000" dirty="0">
                <a:solidFill>
                  <a:schemeClr val="tx1"/>
                </a:solidFill>
              </a:rPr>
              <a:t>Collaboration &amp; Teamwork</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10.1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Collaboration &amp; Teamwork</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Yes, the group work skill. Stay with us. This one's worth it.</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take part, respond promptly, and finish your part on time.</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contribute ideas that fit the goal, handle conflict constructively, and adapt in ways that build trust.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10.2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Who are you in a group?</a:t>
            </a:r>
            <a:endParaRPr lang="en-US" sz="4000" dirty="0"/>
          </a:p>
        </p:txBody>
      </p:sp>
      <p:sp>
        <p:nvSpPr>
          <p:cNvPr id="4" name="Decorative: group role">
            <a:extLst>
              <a:ext uri="{C183D7F6-B498-43B3-948B-1728B52AA6E4}">
                <adec:decorative xmlns:adec="http://schemas.microsoft.com/office/drawing/2017/decorative" val="1"/>
              </a:ext>
            </a:extLst>
          </p:cNvPr>
          <p:cNvSpPr/>
          <p:nvPr/>
        </p:nvSpPr>
        <p:spPr>
          <a:xfrm>
            <a:off x="548640" y="1874520"/>
            <a:ext cx="2602154" cy="914400"/>
          </a:xfrm>
          <a:prstGeom prst="roundRect">
            <a:avLst>
              <a:gd name="adj" fmla="val 12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731520" y="1874520"/>
            <a:ext cx="2236394" cy="914400"/>
          </a:xfrm>
          <a:prstGeom prst="rect">
            <a:avLst/>
          </a:prstGeom>
          <a:noFill/>
          <a:ln/>
        </p:spPr>
        <p:txBody>
          <a:bodyPr wrap="square" lIns="0" tIns="0" rIns="0" bIns="0" rtlCol="0" anchor="ctr"/>
          <a:lstStyle/>
          <a:p>
            <a:pPr algn="ctr" indent="0" marL="0">
              <a:buNone/>
            </a:pPr>
            <a:r>
              <a:rPr lang="en-US" sz="2400" b="1" dirty="0">
                <a:solidFill>
                  <a:schemeClr val="tx2"/>
                </a:solidFill>
              </a:rPr>
              <a:t>The Starter</a:t>
            </a:r>
            <a:endParaRPr lang="en-US" sz="2400" dirty="0"/>
          </a:p>
        </p:txBody>
      </p:sp>
      <p:sp>
        <p:nvSpPr>
          <p:cNvPr id="6" name="Decorative: group role">
            <a:extLst>
              <a:ext uri="{C183D7F6-B498-43B3-948B-1728B52AA6E4}">
                <adec:decorative xmlns:adec="http://schemas.microsoft.com/office/drawing/2017/decorative" val="1"/>
              </a:ext>
            </a:extLst>
          </p:cNvPr>
          <p:cNvSpPr/>
          <p:nvPr/>
        </p:nvSpPr>
        <p:spPr>
          <a:xfrm>
            <a:off x="3379394" y="1874520"/>
            <a:ext cx="2602154" cy="914400"/>
          </a:xfrm>
          <a:prstGeom prst="roundRect">
            <a:avLst>
              <a:gd name="adj" fmla="val 12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3562274" y="1874520"/>
            <a:ext cx="2236394" cy="914400"/>
          </a:xfrm>
          <a:prstGeom prst="rect">
            <a:avLst/>
          </a:prstGeom>
          <a:noFill/>
          <a:ln/>
        </p:spPr>
        <p:txBody>
          <a:bodyPr wrap="square" lIns="0" tIns="0" rIns="0" bIns="0" rtlCol="0" anchor="ctr"/>
          <a:lstStyle/>
          <a:p>
            <a:pPr algn="ctr" indent="0" marL="0">
              <a:buNone/>
            </a:pPr>
            <a:r>
              <a:rPr lang="en-US" sz="2400" b="1" dirty="0">
                <a:solidFill>
                  <a:schemeClr val="tx2"/>
                </a:solidFill>
              </a:rPr>
              <a:t>The Organizer</a:t>
            </a:r>
            <a:endParaRPr lang="en-US" sz="2400" dirty="0"/>
          </a:p>
        </p:txBody>
      </p:sp>
      <p:sp>
        <p:nvSpPr>
          <p:cNvPr id="8" name="Decorative: group role">
            <a:extLst>
              <a:ext uri="{C183D7F6-B498-43B3-948B-1728B52AA6E4}">
                <adec:decorative xmlns:adec="http://schemas.microsoft.com/office/drawing/2017/decorative" val="1"/>
              </a:ext>
            </a:extLst>
          </p:cNvPr>
          <p:cNvSpPr/>
          <p:nvPr/>
        </p:nvSpPr>
        <p:spPr>
          <a:xfrm>
            <a:off x="6210148" y="1874520"/>
            <a:ext cx="2602154" cy="914400"/>
          </a:xfrm>
          <a:prstGeom prst="roundRect">
            <a:avLst>
              <a:gd name="adj" fmla="val 12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6393028" y="1874520"/>
            <a:ext cx="2236394" cy="914400"/>
          </a:xfrm>
          <a:prstGeom prst="rect">
            <a:avLst/>
          </a:prstGeom>
          <a:noFill/>
          <a:ln/>
        </p:spPr>
        <p:txBody>
          <a:bodyPr wrap="square" lIns="0" tIns="0" rIns="0" bIns="0" rtlCol="0" anchor="ctr"/>
          <a:lstStyle/>
          <a:p>
            <a:pPr algn="ctr" indent="0" marL="0">
              <a:buNone/>
            </a:pPr>
            <a:r>
              <a:rPr lang="en-US" sz="2400" b="1" dirty="0">
                <a:solidFill>
                  <a:schemeClr val="tx2"/>
                </a:solidFill>
              </a:rPr>
              <a:t>The Analyzer</a:t>
            </a:r>
            <a:endParaRPr lang="en-US" sz="2400" dirty="0"/>
          </a:p>
        </p:txBody>
      </p:sp>
      <p:sp>
        <p:nvSpPr>
          <p:cNvPr id="10" name="Decorative: group role">
            <a:extLst>
              <a:ext uri="{C183D7F6-B498-43B3-948B-1728B52AA6E4}">
                <adec:decorative xmlns:adec="http://schemas.microsoft.com/office/drawing/2017/decorative" val="1"/>
              </a:ext>
            </a:extLst>
          </p:cNvPr>
          <p:cNvSpPr/>
          <p:nvPr/>
        </p:nvSpPr>
        <p:spPr>
          <a:xfrm>
            <a:off x="9040901" y="1874520"/>
            <a:ext cx="2602154" cy="914400"/>
          </a:xfrm>
          <a:prstGeom prst="roundRect">
            <a:avLst>
              <a:gd name="adj" fmla="val 12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9223781" y="1874520"/>
            <a:ext cx="2236394" cy="914400"/>
          </a:xfrm>
          <a:prstGeom prst="rect">
            <a:avLst/>
          </a:prstGeom>
          <a:noFill/>
          <a:ln/>
        </p:spPr>
        <p:txBody>
          <a:bodyPr wrap="square" lIns="0" tIns="0" rIns="0" bIns="0" rtlCol="0" anchor="ctr"/>
          <a:lstStyle/>
          <a:p>
            <a:pPr algn="ctr" indent="0" marL="0">
              <a:buNone/>
            </a:pPr>
            <a:r>
              <a:rPr lang="en-US" sz="2400" b="1" dirty="0">
                <a:solidFill>
                  <a:schemeClr val="tx2"/>
                </a:solidFill>
              </a:rPr>
              <a:t>The Doer</a:t>
            </a:r>
            <a:endParaRPr lang="en-US" sz="2400" dirty="0"/>
          </a:p>
        </p:txBody>
      </p:sp>
      <p:sp>
        <p:nvSpPr>
          <p:cNvPr id="12" name="Decorative: group role">
            <a:extLst>
              <a:ext uri="{C183D7F6-B498-43B3-948B-1728B52AA6E4}">
                <adec:decorative xmlns:adec="http://schemas.microsoft.com/office/drawing/2017/decorative" val="1"/>
              </a:ext>
            </a:extLst>
          </p:cNvPr>
          <p:cNvSpPr/>
          <p:nvPr/>
        </p:nvSpPr>
        <p:spPr>
          <a:xfrm>
            <a:off x="548640" y="3017520"/>
            <a:ext cx="3545738" cy="914400"/>
          </a:xfrm>
          <a:prstGeom prst="roundRect">
            <a:avLst>
              <a:gd name="adj" fmla="val 12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731520" y="3017520"/>
            <a:ext cx="3179978" cy="914400"/>
          </a:xfrm>
          <a:prstGeom prst="rect">
            <a:avLst/>
          </a:prstGeom>
          <a:noFill/>
          <a:ln/>
        </p:spPr>
        <p:txBody>
          <a:bodyPr wrap="square" lIns="0" tIns="0" rIns="0" bIns="0" rtlCol="0" anchor="ctr"/>
          <a:lstStyle/>
          <a:p>
            <a:pPr algn="ctr" indent="0" marL="0">
              <a:buNone/>
            </a:pPr>
            <a:r>
              <a:rPr lang="en-US" sz="2400" b="1" dirty="0">
                <a:solidFill>
                  <a:schemeClr val="tx2"/>
                </a:solidFill>
              </a:rPr>
              <a:t>The Encourager</a:t>
            </a:r>
            <a:endParaRPr lang="en-US" sz="2400" dirty="0"/>
          </a:p>
        </p:txBody>
      </p:sp>
      <p:sp>
        <p:nvSpPr>
          <p:cNvPr id="14" name="Decorative: group role">
            <a:extLst>
              <a:ext uri="{C183D7F6-B498-43B3-948B-1728B52AA6E4}">
                <adec:decorative xmlns:adec="http://schemas.microsoft.com/office/drawing/2017/decorative" val="1"/>
              </a:ext>
            </a:extLst>
          </p:cNvPr>
          <p:cNvSpPr/>
          <p:nvPr/>
        </p:nvSpPr>
        <p:spPr>
          <a:xfrm>
            <a:off x="4322978" y="3017520"/>
            <a:ext cx="3545738" cy="914400"/>
          </a:xfrm>
          <a:prstGeom prst="roundRect">
            <a:avLst>
              <a:gd name="adj" fmla="val 12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4505858" y="3017520"/>
            <a:ext cx="3179978" cy="914400"/>
          </a:xfrm>
          <a:prstGeom prst="rect">
            <a:avLst/>
          </a:prstGeom>
          <a:noFill/>
          <a:ln/>
        </p:spPr>
        <p:txBody>
          <a:bodyPr wrap="square" lIns="0" tIns="0" rIns="0" bIns="0" rtlCol="0" anchor="ctr"/>
          <a:lstStyle/>
          <a:p>
            <a:pPr algn="ctr" indent="0" marL="0">
              <a:buNone/>
            </a:pPr>
            <a:r>
              <a:rPr lang="en-US" sz="2400" b="1" dirty="0">
                <a:solidFill>
                  <a:schemeClr val="tx2"/>
                </a:solidFill>
              </a:rPr>
              <a:t>The Quiet Worker</a:t>
            </a:r>
            <a:endParaRPr lang="en-US" sz="2400" dirty="0"/>
          </a:p>
        </p:txBody>
      </p:sp>
      <p:sp>
        <p:nvSpPr>
          <p:cNvPr id="16" name="Decorative: group role">
            <a:extLst>
              <a:ext uri="{C183D7F6-B498-43B3-948B-1728B52AA6E4}">
                <adec:decorative xmlns:adec="http://schemas.microsoft.com/office/drawing/2017/decorative" val="1"/>
              </a:ext>
            </a:extLst>
          </p:cNvPr>
          <p:cNvSpPr/>
          <p:nvPr/>
        </p:nvSpPr>
        <p:spPr>
          <a:xfrm>
            <a:off x="8097317" y="3017520"/>
            <a:ext cx="3545738" cy="914400"/>
          </a:xfrm>
          <a:prstGeom prst="roundRect">
            <a:avLst>
              <a:gd name="adj" fmla="val 12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280197" y="3017520"/>
            <a:ext cx="3179978" cy="914400"/>
          </a:xfrm>
          <a:prstGeom prst="rect">
            <a:avLst/>
          </a:prstGeom>
          <a:noFill/>
          <a:ln/>
        </p:spPr>
        <p:txBody>
          <a:bodyPr wrap="square" lIns="0" tIns="0" rIns="0" bIns="0" rtlCol="0" anchor="ctr"/>
          <a:lstStyle/>
          <a:p>
            <a:pPr algn="ctr" indent="0" marL="0">
              <a:buNone/>
            </a:pPr>
            <a:r>
              <a:rPr lang="en-US" sz="2400" b="1" dirty="0">
                <a:solidFill>
                  <a:schemeClr val="tx2"/>
                </a:solidFill>
              </a:rPr>
              <a:t>The Big-Picture Thinker</a:t>
            </a:r>
            <a:endParaRPr lang="en-US" sz="2400" dirty="0"/>
          </a:p>
        </p:txBody>
      </p:sp>
      <p:sp>
        <p:nvSpPr>
          <p:cNvPr id="18" name="Decorative: callout">
            <a:extLst>
              <a:ext uri="{C183D7F6-B498-43B3-948B-1728B52AA6E4}">
                <adec:decorative xmlns:adec="http://schemas.microsoft.com/office/drawing/2017/decorative" val="1"/>
              </a:ext>
            </a:extLst>
          </p:cNvPr>
          <p:cNvSpPr/>
          <p:nvPr/>
        </p:nvSpPr>
        <p:spPr>
          <a:xfrm>
            <a:off x="548640" y="44348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868680" y="45445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Which ones sound like you? Start your Collaboration Snapshot here.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10.3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Explore your personality type</a:t>
            </a:r>
            <a:endParaRPr lang="en-US" sz="4000" dirty="0"/>
          </a:p>
        </p:txBody>
      </p:sp>
      <p:sp>
        <p:nvSpPr>
          <p:cNvPr id="4" name="Decorative: QR panel">
            <a:extLst>
              <a:ext uri="{C183D7F6-B498-43B3-948B-1728B52AA6E4}">
                <adec:decorative xmlns:adec="http://schemas.microsoft.com/office/drawing/2017/decorative" val="1"/>
              </a:ext>
            </a:extLst>
          </p:cNvPr>
          <p:cNvSpPr/>
          <p:nvPr/>
        </p:nvSpPr>
        <p:spPr>
          <a:xfrm>
            <a:off x="8534095" y="1828800"/>
            <a:ext cx="3108960" cy="4023360"/>
          </a:xfrm>
          <a:prstGeom prst="roundRect">
            <a:avLst>
              <a:gd name="adj" fmla="val 352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762695" y="1965960"/>
            <a:ext cx="2651760" cy="685800"/>
          </a:xfrm>
          <a:prstGeom prst="rect">
            <a:avLst/>
          </a:prstGeom>
          <a:noFill/>
          <a:ln/>
        </p:spPr>
        <p:txBody>
          <a:bodyPr wrap="square" lIns="0" tIns="0" rIns="0" bIns="0" rtlCol="0" anchor="ctr"/>
          <a:lstStyle/>
          <a:p>
            <a:pPr algn="ctr" indent="0" marL="0">
              <a:buNone/>
            </a:pPr>
            <a:r>
              <a:rPr lang="en-US" sz="2000" b="1" dirty="0">
                <a:solidFill>
                  <a:schemeClr val="tx2"/>
                </a:solidFill>
              </a:rPr>
              <a:t>Scan for 16Personalities</a:t>
            </a:r>
            <a:endParaRPr lang="en-US" sz="2000" dirty="0"/>
          </a:p>
        </p:txBody>
      </p:sp>
      <p:sp>
        <p:nvSpPr>
          <p:cNvPr id="6" name="Decorative: QR frame">
            <a:extLst>
              <a:ext uri="{C183D7F6-B498-43B3-948B-1728B52AA6E4}">
                <adec:decorative xmlns:adec="http://schemas.microsoft.com/office/drawing/2017/decorative" val="1"/>
              </a:ext>
            </a:extLst>
          </p:cNvPr>
          <p:cNvSpPr/>
          <p:nvPr/>
        </p:nvSpPr>
        <p:spPr>
          <a:xfrm>
            <a:off x="8973007" y="2633472"/>
            <a:ext cx="2231136" cy="2231136"/>
          </a:xfrm>
          <a:prstGeom prst="roundRect">
            <a:avLst>
              <a:gd name="adj" fmla="val 4098"/>
            </a:avLst>
          </a:prstGeom>
          <a:solidFill>
            <a:srgbClr val="FFFFFF"/>
          </a:solidFill>
          <a:ln w="12700">
            <a:solidFill>
              <a:srgbClr val="D9E2EA"/>
            </a:solidFill>
            <a:prstDash val="solid"/>
          </a:ln>
        </p:spPr>
      </p:sp>
      <p:pic>
        <p:nvPicPr>
          <p:cNvPr id="7" name="QR code: Scan for 16Personalities" descr="QR code for Scan for 16Personalities: https://www.16personalities.com/free-personality-test">    </p:cNvPr>
          <p:cNvPicPr>
            <a:picLocks noChangeAspect="1"/>
          </p:cNvPicPr>
          <p:nvPr/>
        </p:nvPicPr>
        <p:blipFill>
          <a:blip r:embed="rId1"/>
          <a:stretch>
            <a:fillRect/>
          </a:stretch>
        </p:blipFill>
        <p:spPr>
          <a:xfrm>
            <a:off x="9082735" y="2743200"/>
            <a:ext cx="2011680" cy="2011680"/>
          </a:xfrm>
          <a:prstGeom prst="rect">
            <a:avLst/>
          </a:prstGeom>
        </p:spPr>
      </p:pic>
      <p:sp>
        <p:nvSpPr>
          <p:cNvPr id="8" name="Address: Scan for 16Personalities"/>
          <p:cNvSpPr txBox="1"/>
          <p:nvPr/>
        </p:nvSpPr>
        <p:spPr>
          <a:xfrm>
            <a:off x="8534095" y="4892040"/>
            <a:ext cx="3108960" cy="731520"/>
          </a:xfrm>
          <a:prstGeom prst="rect">
            <a:avLst/>
          </a:prstGeom>
          <a:noFill/>
          <a:ln/>
        </p:spPr>
        <p:txBody>
          <a:bodyPr wrap="square" lIns="0" tIns="0" rIns="0" bIns="0" rtlCol="0" anchor="t"/>
          <a:lstStyle/>
          <a:p>
            <a:pPr algn="ctr" indent="0" marL="0">
              <a:buNone/>
            </a:pPr>
            <a:r>
              <a:rPr lang="en-US" sz="2000" dirty="0">
                <a:solidFill>
                  <a:schemeClr val="accent6"/>
                </a:solidFill>
              </a:rPr>
              <a:t>16personalities.com</a:t>
            </a:r>
            <a:endParaRPr lang="en-US" sz="2000" dirty="0"/>
          </a:p>
        </p:txBody>
      </p:sp>
      <p:sp>
        <p:nvSpPr>
          <p:cNvPr id="9" name="Decorative: icon circle">
            <a:extLst>
              <a:ext uri="{C183D7F6-B498-43B3-948B-1728B52AA6E4}">
                <adec:decorative xmlns:adec="http://schemas.microsoft.com/office/drawing/2017/decorative" val="1"/>
              </a:ext>
            </a:extLst>
          </p:cNvPr>
          <p:cNvSpPr/>
          <p:nvPr/>
        </p:nvSpPr>
        <p:spPr>
          <a:xfrm>
            <a:off x="548640" y="1920240"/>
            <a:ext cx="548640" cy="548640"/>
          </a:xfrm>
          <a:prstGeom prst="ellipse">
            <a:avLst/>
          </a:prstGeom>
          <a:solidFill>
            <a:srgbClr val="00467F"/>
          </a:solidFill>
          <a:ln w="12700">
            <a:solidFill>
              <a:srgbClr val="00467F"/>
            </a:solidFill>
            <a:prstDash val="solid"/>
          </a:ln>
        </p:spPr>
      </p:sp>
      <p:pic>
        <p:nvPicPr>
          <p:cNvPr id="10" name="Decorative: LuTime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040941"/>
            <a:ext cx="307238" cy="307238"/>
          </a:xfrm>
          <a:prstGeom prst="rect">
            <a:avLst/>
          </a:prstGeom>
        </p:spPr>
      </p:pic>
      <p:sp>
        <p:nvSpPr>
          <p:cNvPr id="11" name="Text 7"/>
          <p:cNvSpPr txBox="1"/>
          <p:nvPr/>
        </p:nvSpPr>
        <p:spPr>
          <a:xfrm>
            <a:off x="1325880" y="192024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Take the free test</a:t>
            </a:r>
            <a:pPr indent="0" marL="0">
              <a:buNone/>
            </a:pPr>
            <a:r>
              <a:rPr lang="en-US" sz="2400" dirty="0">
                <a:solidFill>
                  <a:schemeClr val="tx1"/>
                </a:solidFill>
              </a:rPr>
              <a:t>: about 10 minutes</a:t>
            </a:r>
            <a:endParaRPr lang="en-US" sz="2400" dirty="0"/>
          </a:p>
        </p:txBody>
      </p:sp>
      <p:sp>
        <p:nvSpPr>
          <p:cNvPr id="12" name="Decorative: icon circle">
            <a:extLst>
              <a:ext uri="{C183D7F6-B498-43B3-948B-1728B52AA6E4}">
                <adec:decorative xmlns:adec="http://schemas.microsoft.com/office/drawing/2017/decorative" val="1"/>
              </a:ext>
            </a:extLst>
          </p:cNvPr>
          <p:cNvSpPr/>
          <p:nvPr/>
        </p:nvSpPr>
        <p:spPr>
          <a:xfrm>
            <a:off x="548640" y="2743200"/>
            <a:ext cx="548640" cy="548640"/>
          </a:xfrm>
          <a:prstGeom prst="ellipse">
            <a:avLst/>
          </a:prstGeom>
          <a:solidFill>
            <a:srgbClr val="00467F"/>
          </a:solidFill>
          <a:ln w="12700">
            <a:solidFill>
              <a:srgbClr val="00467F"/>
            </a:solidFill>
            <a:prstDash val="solid"/>
          </a:ln>
        </p:spPr>
      </p:sp>
      <p:pic>
        <p:nvPicPr>
          <p:cNvPr id="13" name="Decorative: LuHeart">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2863901"/>
            <a:ext cx="307238" cy="307238"/>
          </a:xfrm>
          <a:prstGeom prst="rect">
            <a:avLst/>
          </a:prstGeom>
        </p:spPr>
      </p:pic>
      <p:sp>
        <p:nvSpPr>
          <p:cNvPr id="14" name="Text 9"/>
          <p:cNvSpPr txBox="1"/>
          <p:nvPr/>
        </p:nvSpPr>
        <p:spPr>
          <a:xfrm>
            <a:off x="1325880" y="274320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Answer honestly</a:t>
            </a:r>
            <a:pPr indent="0" marL="0">
              <a:buNone/>
            </a:pPr>
            <a:r>
              <a:rPr lang="en-US" sz="2400" dirty="0">
                <a:solidFill>
                  <a:schemeClr val="tx1"/>
                </a:solidFill>
              </a:rPr>
              <a:t>: how you usually are</a:t>
            </a:r>
            <a:endParaRPr lang="en-US" sz="2400" dirty="0"/>
          </a:p>
        </p:txBody>
      </p:sp>
      <p:sp>
        <p:nvSpPr>
          <p:cNvPr id="15" name="Decorative: icon circle">
            <a:extLst>
              <a:ext uri="{C183D7F6-B498-43B3-948B-1728B52AA6E4}">
                <adec:decorative xmlns:adec="http://schemas.microsoft.com/office/drawing/2017/decorative" val="1"/>
              </a:ext>
            </a:extLst>
          </p:cNvPr>
          <p:cNvSpPr/>
          <p:nvPr/>
        </p:nvSpPr>
        <p:spPr>
          <a:xfrm>
            <a:off x="548640" y="3566160"/>
            <a:ext cx="548640" cy="548640"/>
          </a:xfrm>
          <a:prstGeom prst="ellipse">
            <a:avLst/>
          </a:prstGeom>
          <a:solidFill>
            <a:srgbClr val="00467F"/>
          </a:solidFill>
          <a:ln w="12700">
            <a:solidFill>
              <a:srgbClr val="00467F"/>
            </a:solidFill>
            <a:prstDash val="solid"/>
          </a:ln>
        </p:spPr>
      </p:sp>
      <p:pic>
        <p:nvPicPr>
          <p:cNvPr id="16" name="Decorative: LuFingerprint">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3686861"/>
            <a:ext cx="307238" cy="307238"/>
          </a:xfrm>
          <a:prstGeom prst="rect">
            <a:avLst/>
          </a:prstGeom>
        </p:spPr>
      </p:pic>
      <p:sp>
        <p:nvSpPr>
          <p:cNvPr id="17" name="Text 11"/>
          <p:cNvSpPr txBox="1"/>
          <p:nvPr/>
        </p:nvSpPr>
        <p:spPr>
          <a:xfrm>
            <a:off x="1325880" y="356616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Get your type</a:t>
            </a:r>
            <a:pPr indent="0" marL="0">
              <a:buNone/>
            </a:pPr>
            <a:r>
              <a:rPr lang="en-US" sz="2400" dirty="0">
                <a:solidFill>
                  <a:schemeClr val="tx1"/>
                </a:solidFill>
              </a:rPr>
              <a:t>: like ENFP-T or ISTJ-A</a:t>
            </a:r>
            <a:endParaRPr lang="en-US" sz="2400" dirty="0"/>
          </a:p>
        </p:txBody>
      </p:sp>
      <p:sp>
        <p:nvSpPr>
          <p:cNvPr id="18" name="Text 12"/>
          <p:cNvSpPr txBox="1"/>
          <p:nvPr/>
        </p:nvSpPr>
        <p:spPr>
          <a:xfrm>
            <a:off x="548640" y="4572000"/>
            <a:ext cx="7665415" cy="548640"/>
          </a:xfrm>
          <a:prstGeom prst="rect">
            <a:avLst/>
          </a:prstGeom>
          <a:noFill/>
          <a:ln/>
        </p:spPr>
        <p:txBody>
          <a:bodyPr wrap="square" lIns="0" tIns="0" rIns="0" bIns="0" rtlCol="0" anchor="t"/>
          <a:lstStyle/>
          <a:p>
            <a:pPr indent="0" marL="0">
              <a:buNone/>
            </a:pPr>
            <a:r>
              <a:rPr lang="en-US" sz="2400" i="1" dirty="0">
                <a:solidFill>
                  <a:schemeClr val="accent1"/>
                </a:solidFill>
              </a:rPr>
              <a:t>The free results are all you need. A map, not a rulebook.</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10.5</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Strategies that actually work</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783080"/>
            <a:ext cx="5387188" cy="1508760"/>
          </a:xfrm>
          <a:prstGeom prst="roundRect">
            <a:avLst>
              <a:gd name="adj" fmla="val 7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057400"/>
            <a:ext cx="685800" cy="685800"/>
          </a:xfrm>
          <a:prstGeom prst="ellipse">
            <a:avLst/>
          </a:prstGeom>
          <a:solidFill>
            <a:srgbClr val="00467F"/>
          </a:solidFill>
          <a:ln w="12700">
            <a:solidFill>
              <a:srgbClr val="00467F"/>
            </a:solidFill>
            <a:prstDash val="solid"/>
          </a:ln>
        </p:spPr>
      </p:sp>
      <p:pic>
        <p:nvPicPr>
          <p:cNvPr id="6" name="Decorative: LuClipboardLis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08276"/>
            <a:ext cx="384048" cy="384048"/>
          </a:xfrm>
          <a:prstGeom prst="rect">
            <a:avLst/>
          </a:prstGeom>
        </p:spPr>
      </p:pic>
      <p:sp>
        <p:nvSpPr>
          <p:cNvPr id="7" name="Text 4"/>
          <p:cNvSpPr txBox="1"/>
          <p:nvPr/>
        </p:nvSpPr>
        <p:spPr>
          <a:xfrm>
            <a:off x="1737360" y="1984248"/>
            <a:ext cx="3969868" cy="1188720"/>
          </a:xfrm>
          <a:prstGeom prst="rect">
            <a:avLst/>
          </a:prstGeom>
          <a:noFill/>
          <a:ln/>
        </p:spPr>
        <p:txBody>
          <a:bodyPr wrap="square" lIns="0" tIns="0" rIns="0" bIns="0" rtlCol="0" anchor="t"/>
          <a:lstStyle/>
          <a:p>
            <a:pPr indent="0" marL="0">
              <a:buNone/>
            </a:pPr>
            <a:r>
              <a:rPr lang="en-US" sz="2600" b="1" dirty="0">
                <a:solidFill>
                  <a:schemeClr val="tx2"/>
                </a:solidFill>
              </a:rPr>
              <a:t>Clear expectations</a:t>
            </a:r>
            <a:endParaRPr lang="en-US" sz="2400" dirty="0"/>
          </a:p>
          <a:p>
            <a:pPr indent="0" marL="0">
              <a:buNone/>
            </a:pPr>
            <a:r>
              <a:rPr lang="en-US" sz="2400" dirty="0">
                <a:solidFill>
                  <a:schemeClr val="tx1"/>
                </a:solidFill>
              </a:rPr>
              <a:t>Task, deadlines, who does what, what "done" means.</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783080"/>
            <a:ext cx="5387188" cy="1508760"/>
          </a:xfrm>
          <a:prstGeom prst="roundRect">
            <a:avLst>
              <a:gd name="adj" fmla="val 7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057400"/>
            <a:ext cx="685800" cy="685800"/>
          </a:xfrm>
          <a:prstGeom prst="ellipse">
            <a:avLst/>
          </a:prstGeom>
          <a:solidFill>
            <a:srgbClr val="00467F"/>
          </a:solidFill>
          <a:ln w="12700">
            <a:solidFill>
              <a:srgbClr val="00467F"/>
            </a:solidFill>
            <a:prstDash val="solid"/>
          </a:ln>
        </p:spPr>
      </p:sp>
      <p:pic>
        <p:nvPicPr>
          <p:cNvPr id="10" name="Decorative: LuMessageSquar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08276"/>
            <a:ext cx="384048" cy="384048"/>
          </a:xfrm>
          <a:prstGeom prst="rect">
            <a:avLst/>
          </a:prstGeom>
        </p:spPr>
      </p:pic>
      <p:sp>
        <p:nvSpPr>
          <p:cNvPr id="11" name="Text 7"/>
          <p:cNvSpPr txBox="1"/>
          <p:nvPr/>
        </p:nvSpPr>
        <p:spPr>
          <a:xfrm>
            <a:off x="7444588" y="1984248"/>
            <a:ext cx="3969868" cy="1188720"/>
          </a:xfrm>
          <a:prstGeom prst="rect">
            <a:avLst/>
          </a:prstGeom>
          <a:noFill/>
          <a:ln/>
        </p:spPr>
        <p:txBody>
          <a:bodyPr wrap="square" lIns="0" tIns="0" rIns="0" bIns="0" rtlCol="0" anchor="t"/>
          <a:lstStyle/>
          <a:p>
            <a:pPr indent="0" marL="0">
              <a:buNone/>
            </a:pPr>
            <a:r>
              <a:rPr lang="en-US" sz="2600" b="1" dirty="0">
                <a:solidFill>
                  <a:schemeClr val="tx2"/>
                </a:solidFill>
              </a:rPr>
              <a:t>Say your style</a:t>
            </a:r>
            <a:endParaRPr lang="en-US" sz="2400" dirty="0"/>
          </a:p>
          <a:p>
            <a:pPr indent="0" marL="0">
              <a:buNone/>
            </a:pPr>
            <a:r>
              <a:rPr lang="en-US" sz="2400" dirty="0">
                <a:solidFill>
                  <a:schemeClr val="tx1"/>
                </a:solidFill>
              </a:rPr>
              <a:t>Respectfully, early.</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566160"/>
            <a:ext cx="5387188" cy="1508760"/>
          </a:xfrm>
          <a:prstGeom prst="roundRect">
            <a:avLst>
              <a:gd name="adj" fmla="val 7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3840480"/>
            <a:ext cx="685800" cy="685800"/>
          </a:xfrm>
          <a:prstGeom prst="ellipse">
            <a:avLst/>
          </a:prstGeom>
          <a:solidFill>
            <a:srgbClr val="00467F"/>
          </a:solidFill>
          <a:ln w="12700">
            <a:solidFill>
              <a:srgbClr val="00467F"/>
            </a:solidFill>
            <a:prstDash val="solid"/>
          </a:ln>
        </p:spPr>
      </p:sp>
      <p:pic>
        <p:nvPicPr>
          <p:cNvPr id="14" name="Decorative: LuHandshak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3991356"/>
            <a:ext cx="384048" cy="384048"/>
          </a:xfrm>
          <a:prstGeom prst="rect">
            <a:avLst/>
          </a:prstGeom>
        </p:spPr>
      </p:pic>
      <p:sp>
        <p:nvSpPr>
          <p:cNvPr id="15" name="Text 10"/>
          <p:cNvSpPr txBox="1"/>
          <p:nvPr/>
        </p:nvSpPr>
        <p:spPr>
          <a:xfrm>
            <a:off x="1737360" y="3767328"/>
            <a:ext cx="3969868" cy="1188720"/>
          </a:xfrm>
          <a:prstGeom prst="rect">
            <a:avLst/>
          </a:prstGeom>
          <a:noFill/>
          <a:ln/>
        </p:spPr>
        <p:txBody>
          <a:bodyPr wrap="square" lIns="0" tIns="0" rIns="0" bIns="0" rtlCol="0" anchor="t"/>
          <a:lstStyle/>
          <a:p>
            <a:pPr indent="0" marL="0">
              <a:buNone/>
            </a:pPr>
            <a:r>
              <a:rPr lang="en-US" sz="2600" b="1" dirty="0">
                <a:solidFill>
                  <a:schemeClr val="tx2"/>
                </a:solidFill>
              </a:rPr>
              <a:t>Assume good intent</a:t>
            </a:r>
            <a:endParaRPr lang="en-US" sz="2400" dirty="0"/>
          </a:p>
          <a:p>
            <a:pPr indent="0" marL="0">
              <a:buNone/>
            </a:pPr>
            <a:r>
              <a:rPr lang="en-US" sz="2400" dirty="0">
                <a:solidFill>
                  <a:schemeClr val="tx1"/>
                </a:solidFill>
              </a:rPr>
              <a:t>Most of the time.</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566160"/>
            <a:ext cx="5387188" cy="1508760"/>
          </a:xfrm>
          <a:prstGeom prst="roundRect">
            <a:avLst>
              <a:gd name="adj" fmla="val 7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3840480"/>
            <a:ext cx="685800" cy="685800"/>
          </a:xfrm>
          <a:prstGeom prst="ellipse">
            <a:avLst/>
          </a:prstGeom>
          <a:solidFill>
            <a:srgbClr val="00467F"/>
          </a:solidFill>
          <a:ln w="12700">
            <a:solidFill>
              <a:srgbClr val="00467F"/>
            </a:solidFill>
            <a:prstDash val="solid"/>
          </a:ln>
        </p:spPr>
      </p:sp>
      <p:pic>
        <p:nvPicPr>
          <p:cNvPr id="18" name="Decorative: LuTime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3991356"/>
            <a:ext cx="384048" cy="384048"/>
          </a:xfrm>
          <a:prstGeom prst="rect">
            <a:avLst/>
          </a:prstGeom>
        </p:spPr>
      </p:pic>
      <p:sp>
        <p:nvSpPr>
          <p:cNvPr id="19" name="Text 13"/>
          <p:cNvSpPr txBox="1"/>
          <p:nvPr/>
        </p:nvSpPr>
        <p:spPr>
          <a:xfrm>
            <a:off x="7444588" y="3767328"/>
            <a:ext cx="3969868" cy="1188720"/>
          </a:xfrm>
          <a:prstGeom prst="rect">
            <a:avLst/>
          </a:prstGeom>
          <a:noFill/>
          <a:ln/>
        </p:spPr>
        <p:txBody>
          <a:bodyPr wrap="square" lIns="0" tIns="0" rIns="0" bIns="0" rtlCol="0" anchor="t"/>
          <a:lstStyle/>
          <a:p>
            <a:pPr indent="0" marL="0">
              <a:buNone/>
            </a:pPr>
            <a:r>
              <a:rPr lang="en-US" sz="2600" b="1" dirty="0">
                <a:solidFill>
                  <a:schemeClr val="tx2"/>
                </a:solidFill>
              </a:rPr>
              <a:t>The 2-minute reset</a:t>
            </a:r>
            <a:endParaRPr lang="en-US" sz="2400" dirty="0"/>
          </a:p>
          <a:p>
            <a:pPr indent="0" marL="0">
              <a:buNone/>
            </a:pPr>
            <a:r>
              <a:rPr lang="en-US" sz="2400" dirty="0">
                <a:solidFill>
                  <a:schemeClr val="tx1"/>
                </a:solidFill>
              </a:rPr>
              <a:t>When tension rises: pause and breathe.</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52578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3675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Nine strategies in the lesson. Choose the three that fit how you work.</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Divide and conquer, AI-style</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828800"/>
            <a:ext cx="548640" cy="548640"/>
          </a:xfrm>
          <a:prstGeom prst="ellipse">
            <a:avLst/>
          </a:prstGeom>
          <a:solidFill>
            <a:srgbClr val="00467F"/>
          </a:solidFill>
          <a:ln w="12700">
            <a:solidFill>
              <a:srgbClr val="00467F"/>
            </a:solidFill>
            <a:prstDash val="solid"/>
          </a:ln>
        </p:spPr>
      </p:sp>
      <p:pic>
        <p:nvPicPr>
          <p:cNvPr id="5" name="Decorative: LuShield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1949501"/>
            <a:ext cx="307238" cy="307238"/>
          </a:xfrm>
          <a:prstGeom prst="rect">
            <a:avLst/>
          </a:prstGeom>
        </p:spPr>
      </p:pic>
      <p:sp>
        <p:nvSpPr>
          <p:cNvPr id="6" name="Text 3"/>
          <p:cNvSpPr txBox="1"/>
          <p:nvPr/>
        </p:nvSpPr>
        <p:spPr>
          <a:xfrm>
            <a:off x="1325880" y="182880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Check the AI rules first</a:t>
            </a:r>
            <a:pPr indent="0" marL="0">
              <a:buNone/>
            </a:pPr>
            <a:r>
              <a:rPr lang="en-US" sz="2400" dirty="0">
                <a:solidFill>
                  <a:schemeClr val="tx1"/>
                </a:solidFill>
              </a:rPr>
              <a:t>: for that assignment</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514600"/>
            <a:ext cx="548640" cy="548640"/>
          </a:xfrm>
          <a:prstGeom prst="ellipse">
            <a:avLst/>
          </a:prstGeom>
          <a:solidFill>
            <a:srgbClr val="00467F"/>
          </a:solidFill>
          <a:ln w="12700">
            <a:solidFill>
              <a:srgbClr val="00467F"/>
            </a:solidFill>
            <a:prstDash val="solid"/>
          </a:ln>
        </p:spPr>
      </p:sp>
      <p:pic>
        <p:nvPicPr>
          <p:cNvPr id="8" name="Decorative: LuClipboardPast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635301"/>
            <a:ext cx="307238" cy="307238"/>
          </a:xfrm>
          <a:prstGeom prst="rect">
            <a:avLst/>
          </a:prstGeom>
        </p:spPr>
      </p:pic>
      <p:sp>
        <p:nvSpPr>
          <p:cNvPr id="9" name="Text 5"/>
          <p:cNvSpPr txBox="1"/>
          <p:nvPr/>
        </p:nvSpPr>
        <p:spPr>
          <a:xfrm>
            <a:off x="1325880" y="251460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Paste in the instructions</a:t>
            </a:r>
            <a:pPr indent="0" marL="0">
              <a:buNone/>
            </a:pP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200400"/>
            <a:ext cx="548640" cy="548640"/>
          </a:xfrm>
          <a:prstGeom prst="ellipse">
            <a:avLst/>
          </a:prstGeom>
          <a:solidFill>
            <a:srgbClr val="00467F"/>
          </a:solidFill>
          <a:ln w="12700">
            <a:solidFill>
              <a:srgbClr val="00467F"/>
            </a:solidFill>
            <a:prstDash val="solid"/>
          </a:ln>
        </p:spPr>
      </p:sp>
      <p:pic>
        <p:nvPicPr>
          <p:cNvPr id="11" name="Decorative: LuUsers">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321101"/>
            <a:ext cx="307238" cy="307238"/>
          </a:xfrm>
          <a:prstGeom prst="rect">
            <a:avLst/>
          </a:prstGeom>
        </p:spPr>
      </p:pic>
      <p:sp>
        <p:nvSpPr>
          <p:cNvPr id="12" name="Text 7"/>
          <p:cNvSpPr txBox="1"/>
          <p:nvPr/>
        </p:nvSpPr>
        <p:spPr>
          <a:xfrm>
            <a:off x="1325880" y="320040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Add roles and the due date</a:t>
            </a:r>
            <a:pPr indent="0" marL="0">
              <a:buNone/>
            </a:pP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3886200"/>
            <a:ext cx="548640" cy="548640"/>
          </a:xfrm>
          <a:prstGeom prst="ellipse">
            <a:avLst/>
          </a:prstGeom>
          <a:solidFill>
            <a:srgbClr val="00467F"/>
          </a:solidFill>
          <a:ln w="12700">
            <a:solidFill>
              <a:srgbClr val="00467F"/>
            </a:solidFill>
            <a:prstDash val="solid"/>
          </a:ln>
        </p:spPr>
      </p:sp>
      <p:pic>
        <p:nvPicPr>
          <p:cNvPr id="14" name="Decorative: LuCalendarRang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4006901"/>
            <a:ext cx="307238" cy="307238"/>
          </a:xfrm>
          <a:prstGeom prst="rect">
            <a:avLst/>
          </a:prstGeom>
        </p:spPr>
      </p:pic>
      <p:sp>
        <p:nvSpPr>
          <p:cNvPr id="15" name="Text 9"/>
          <p:cNvSpPr txBox="1"/>
          <p:nvPr/>
        </p:nvSpPr>
        <p:spPr>
          <a:xfrm>
            <a:off x="1325880" y="388620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Ask for tasks, roles, a timeline, and norms</a:t>
            </a:r>
            <a:pPr indent="0" marL="0">
              <a:buNone/>
            </a:pPr>
            <a:endParaRPr lang="en-US" sz="2400" dirty="0"/>
          </a:p>
        </p:txBody>
      </p:sp>
      <p:sp>
        <p:nvSpPr>
          <p:cNvPr id="16" name="Decorative: icon circle">
            <a:extLst>
              <a:ext uri="{C183D7F6-B498-43B3-948B-1728B52AA6E4}">
                <adec:decorative xmlns:adec="http://schemas.microsoft.com/office/drawing/2017/decorative" val="1"/>
              </a:ext>
            </a:extLst>
          </p:cNvPr>
          <p:cNvSpPr/>
          <p:nvPr/>
        </p:nvSpPr>
        <p:spPr>
          <a:xfrm>
            <a:off x="548640" y="4572000"/>
            <a:ext cx="548640" cy="548640"/>
          </a:xfrm>
          <a:prstGeom prst="ellipse">
            <a:avLst/>
          </a:prstGeom>
          <a:solidFill>
            <a:srgbClr val="00467F"/>
          </a:solidFill>
          <a:ln w="12700">
            <a:solidFill>
              <a:srgbClr val="00467F"/>
            </a:solidFill>
            <a:prstDash val="solid"/>
          </a:ln>
        </p:spPr>
      </p:sp>
      <p:pic>
        <p:nvPicPr>
          <p:cNvPr id="17" name="Decorative: LuRefreshCw">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4692701"/>
            <a:ext cx="307238" cy="307238"/>
          </a:xfrm>
          <a:prstGeom prst="rect">
            <a:avLst/>
          </a:prstGeom>
        </p:spPr>
      </p:pic>
      <p:sp>
        <p:nvSpPr>
          <p:cNvPr id="18" name="Text 11"/>
          <p:cNvSpPr txBox="1"/>
          <p:nvPr/>
        </p:nvSpPr>
        <p:spPr>
          <a:xfrm>
            <a:off x="1325880" y="457200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Bring it back to your group</a:t>
            </a:r>
            <a:pPr indent="0" marL="0">
              <a:buNone/>
            </a:pPr>
            <a:r>
              <a:rPr lang="en-US" sz="2400" dirty="0">
                <a:solidFill>
                  <a:schemeClr val="tx1"/>
                </a:solidFill>
              </a:rPr>
              <a:t>: and adjust it together</a:t>
            </a:r>
            <a:endParaRPr lang="en-US" sz="2400" dirty="0"/>
          </a:p>
        </p:txBody>
      </p:sp>
      <p:sp>
        <p:nvSpPr>
          <p:cNvPr id="19" name="Decorative: callout">
            <a:extLst>
              <a:ext uri="{C183D7F6-B498-43B3-948B-1728B52AA6E4}">
                <adec:decorative xmlns:adec="http://schemas.microsoft.com/office/drawing/2017/decorative" val="1"/>
              </a:ext>
            </a:extLst>
          </p:cNvPr>
          <p:cNvSpPr/>
          <p:nvPr/>
        </p:nvSpPr>
        <p:spPr>
          <a:xfrm>
            <a:off x="548640" y="539496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3"/>
          <p:cNvSpPr txBox="1"/>
          <p:nvPr/>
        </p:nvSpPr>
        <p:spPr>
          <a:xfrm>
            <a:off x="868680" y="550468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The plan is the easy part. Following through is the teamwork.</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Fingerprin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Task: Take 16Personalities</a:t>
            </a:r>
            <a:endParaRPr lang="en-US" sz="2400" dirty="0"/>
          </a:p>
          <a:p>
            <a:pPr indent="0" marL="0">
              <a:buNone/>
            </a:pPr>
            <a:r>
              <a:rPr lang="en-US" sz="2000" dirty="0">
                <a:solidFill>
                  <a:schemeClr val="accent6"/>
                </a:solidFill>
              </a:rPr>
              <a:t>Save your type</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Flag">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#10: My Collaboration Profile</a:t>
            </a:r>
            <a:endParaRPr lang="en-US" sz="2400" dirty="0"/>
          </a:p>
          <a:p>
            <a:pPr indent="0" marL="0">
              <a:buNone/>
            </a:pPr>
            <a:r>
              <a:rPr lang="en-US" sz="2000" dirty="0">
                <a:solidFill>
                  <a:schemeClr val="accent6"/>
                </a:solidFill>
              </a:rPr>
              <a:t>Three questions</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88620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4" name="Decorative: LuAward">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4098341"/>
            <a:ext cx="307238" cy="307238"/>
          </a:xfrm>
          <a:prstGeom prst="rect">
            <a:avLst/>
          </a:prstGeom>
        </p:spPr>
      </p:pic>
      <p:sp>
        <p:nvSpPr>
          <p:cNvPr id="15" name="Text 10"/>
          <p:cNvSpPr txBox="1"/>
          <p:nvPr/>
        </p:nvSpPr>
        <p:spPr>
          <a:xfrm>
            <a:off x="1508760" y="394106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Merit Activity #3</a:t>
            </a:r>
            <a:endParaRPr lang="en-US" sz="2400" dirty="0"/>
          </a:p>
          <a:p>
            <a:pPr indent="0" marL="0">
              <a:buNone/>
            </a:pPr>
            <a:r>
              <a:rPr lang="en-US" sz="2000" dirty="0">
                <a:solidFill>
                  <a:schemeClr val="accent6"/>
                </a:solidFill>
              </a:rPr>
              <a:t>The last one. Use the Activity #3 link on the Merit platform.</a:t>
            </a:r>
            <a:endParaRPr lang="en-US" sz="2400" dirty="0"/>
          </a:p>
        </p:txBody>
      </p:sp>
      <p:sp>
        <p:nvSpPr>
          <p:cNvPr id="16" name="Decorative: assignment row">
            <a:extLst>
              <a:ext uri="{C183D7F6-B498-43B3-948B-1728B52AA6E4}">
                <adec:decorative xmlns:adec="http://schemas.microsoft.com/office/drawing/2017/decorative" val="1"/>
              </a:ext>
            </a:extLst>
          </p:cNvPr>
          <p:cNvSpPr/>
          <p:nvPr/>
        </p:nvSpPr>
        <p:spPr>
          <a:xfrm>
            <a:off x="548640" y="489204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731520" y="4983480"/>
            <a:ext cx="548640" cy="548640"/>
          </a:xfrm>
          <a:prstGeom prst="ellipse">
            <a:avLst/>
          </a:prstGeom>
          <a:solidFill>
            <a:srgbClr val="00467F"/>
          </a:solidFill>
          <a:ln w="12700">
            <a:solidFill>
              <a:srgbClr val="00467F"/>
            </a:solidFill>
            <a:prstDash val="solid"/>
          </a:ln>
        </p:spPr>
      </p:sp>
      <p:pic>
        <p:nvPicPr>
          <p:cNvPr id="18" name="Decorative: LuMessagesSquar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5104181"/>
            <a:ext cx="307238" cy="307238"/>
          </a:xfrm>
          <a:prstGeom prst="rect">
            <a:avLst/>
          </a:prstGeom>
        </p:spPr>
      </p:pic>
      <p:sp>
        <p:nvSpPr>
          <p:cNvPr id="19" name="Text 13"/>
          <p:cNvSpPr txBox="1"/>
          <p:nvPr/>
        </p:nvSpPr>
        <p:spPr>
          <a:xfrm>
            <a:off x="1508760" y="494690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Online sections: Group Work Went Sideways</a:t>
            </a:r>
            <a:endParaRPr lang="en-US" sz="2400" dirty="0"/>
          </a:p>
          <a:p>
            <a:pPr indent="0" marL="0">
              <a:buNone/>
            </a:pPr>
            <a:r>
              <a:rPr lang="en-US" sz="2000" dirty="0">
                <a:solidFill>
                  <a:schemeClr val="accent6"/>
                </a:solidFill>
              </a:rPr>
              <a:t>First post Friday, replies Monday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#10</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Collaboration Profile</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685800" cy="685800"/>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685800" cy="685800"/>
          </a:xfrm>
          <a:prstGeom prst="rect">
            <a:avLst/>
          </a:prstGeom>
          <a:noFill/>
          <a:ln/>
        </p:spPr>
        <p:txBody>
          <a:bodyPr wrap="square" lIns="0" tIns="0" rIns="0" bIns="0" rtlCol="0" anchor="ctr"/>
          <a:lstStyle/>
          <a:p>
            <a:pPr algn="ctr" indent="0" marL="0">
              <a:buNone/>
            </a:pPr>
            <a:r>
              <a:rPr lang="en-US" sz="2800" b="1" dirty="0">
                <a:solidFill>
                  <a:schemeClr val="tx2"/>
                </a:solidFill>
              </a:rPr>
              <a:t>1</a:t>
            </a:r>
            <a:endParaRPr lang="en-US" sz="2800" dirty="0"/>
          </a:p>
        </p:txBody>
      </p:sp>
      <p:sp>
        <p:nvSpPr>
          <p:cNvPr id="6" name="Text 4"/>
          <p:cNvSpPr txBox="1"/>
          <p:nvPr/>
        </p:nvSpPr>
        <p:spPr>
          <a:xfrm>
            <a:off x="1508760" y="1828800"/>
            <a:ext cx="6720840" cy="1143000"/>
          </a:xfrm>
          <a:prstGeom prst="rect">
            <a:avLst/>
          </a:prstGeom>
          <a:noFill/>
          <a:ln/>
        </p:spPr>
        <p:txBody>
          <a:bodyPr wrap="square" lIns="0" tIns="0" rIns="0" bIns="0" rtlCol="0" anchor="t"/>
          <a:lstStyle/>
          <a:p>
            <a:pPr indent="0" marL="0">
              <a:buNone/>
            </a:pPr>
            <a:r>
              <a:rPr lang="en-US" sz="2400" b="1" dirty="0">
                <a:solidFill>
                  <a:schemeClr val="tx2"/>
                </a:solidFill>
              </a:rPr>
              <a:t>Your type, two strengths, and one or two challenges</a:t>
            </a:r>
            <a:endParaRPr lang="en-US" sz="2400" dirty="0"/>
          </a:p>
          <a:p>
            <a:pPr indent="0" marL="0">
              <a:buNone/>
            </a:pPr>
            <a:r>
              <a:rPr lang="en-US" sz="2400" dirty="0">
                <a:solidFill>
                  <a:schemeClr val="accent6"/>
                </a:solidFill>
              </a:rPr>
              <a:t>In your own words, not the official description.</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3200400"/>
            <a:ext cx="685800" cy="685800"/>
          </a:xfrm>
          <a:prstGeom prst="ellipse">
            <a:avLst/>
          </a:prstGeom>
          <a:solidFill>
            <a:srgbClr val="E7A614"/>
          </a:solidFill>
          <a:ln w="12700">
            <a:solidFill>
              <a:srgbClr val="E7A614"/>
            </a:solidFill>
            <a:prstDash val="solid"/>
          </a:ln>
        </p:spPr>
      </p:sp>
      <p:sp>
        <p:nvSpPr>
          <p:cNvPr id="8" name="Question 2 number"/>
          <p:cNvSpPr txBox="1"/>
          <p:nvPr/>
        </p:nvSpPr>
        <p:spPr>
          <a:xfrm>
            <a:off x="548640" y="3200400"/>
            <a:ext cx="685800" cy="685800"/>
          </a:xfrm>
          <a:prstGeom prst="rect">
            <a:avLst/>
          </a:prstGeom>
          <a:noFill/>
          <a:ln/>
        </p:spPr>
        <p:txBody>
          <a:bodyPr wrap="square" lIns="0" tIns="0" rIns="0" bIns="0" rtlCol="0" anchor="ctr"/>
          <a:lstStyle/>
          <a:p>
            <a:pPr algn="ctr" indent="0" marL="0">
              <a:buNone/>
            </a:pPr>
            <a:r>
              <a:rPr lang="en-US" sz="2800" b="1" dirty="0">
                <a:solidFill>
                  <a:schemeClr val="tx2"/>
                </a:solidFill>
              </a:rPr>
              <a:t>2</a:t>
            </a:r>
            <a:endParaRPr lang="en-US" sz="2800" dirty="0"/>
          </a:p>
        </p:txBody>
      </p:sp>
      <p:sp>
        <p:nvSpPr>
          <p:cNvPr id="9" name="Text 7"/>
          <p:cNvSpPr txBox="1"/>
          <p:nvPr/>
        </p:nvSpPr>
        <p:spPr>
          <a:xfrm>
            <a:off x="1508760" y="3154680"/>
            <a:ext cx="6720840" cy="1143000"/>
          </a:xfrm>
          <a:prstGeom prst="rect">
            <a:avLst/>
          </a:prstGeom>
          <a:noFill/>
          <a:ln/>
        </p:spPr>
        <p:txBody>
          <a:bodyPr wrap="square" lIns="0" tIns="0" rIns="0" bIns="0" rtlCol="0" anchor="t"/>
          <a:lstStyle/>
          <a:p>
            <a:pPr indent="0" marL="0">
              <a:buNone/>
            </a:pPr>
            <a:r>
              <a:rPr lang="en-US" sz="2400" b="1" dirty="0">
                <a:solidFill>
                  <a:schemeClr val="tx2"/>
                </a:solidFill>
              </a:rPr>
              <a:t>Why one challenge happens, and what helps</a:t>
            </a:r>
            <a:endParaRPr lang="en-US" sz="2400" dirty="0"/>
          </a:p>
          <a:p>
            <a:pPr indent="0" marL="0">
              <a:buNone/>
            </a:pPr>
            <a:r>
              <a:rPr lang="en-US" sz="2400" dirty="0">
                <a:solidFill>
                  <a:schemeClr val="accent6"/>
                </a:solidFill>
              </a:rPr>
              <a:t>A tendency, not a flaw.</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4526280"/>
            <a:ext cx="685800" cy="685800"/>
          </a:xfrm>
          <a:prstGeom prst="ellipse">
            <a:avLst/>
          </a:prstGeom>
          <a:solidFill>
            <a:srgbClr val="E7A614"/>
          </a:solidFill>
          <a:ln w="12700">
            <a:solidFill>
              <a:srgbClr val="E7A614"/>
            </a:solidFill>
            <a:prstDash val="solid"/>
          </a:ln>
        </p:spPr>
      </p:sp>
      <p:sp>
        <p:nvSpPr>
          <p:cNvPr id="11" name="Question 3 number"/>
          <p:cNvSpPr txBox="1"/>
          <p:nvPr/>
        </p:nvSpPr>
        <p:spPr>
          <a:xfrm>
            <a:off x="548640" y="4526280"/>
            <a:ext cx="685800" cy="685800"/>
          </a:xfrm>
          <a:prstGeom prst="rect">
            <a:avLst/>
          </a:prstGeom>
          <a:noFill/>
          <a:ln/>
        </p:spPr>
        <p:txBody>
          <a:bodyPr wrap="square" lIns="0" tIns="0" rIns="0" bIns="0" rtlCol="0" anchor="ctr"/>
          <a:lstStyle/>
          <a:p>
            <a:pPr algn="ctr" indent="0" marL="0">
              <a:buNone/>
            </a:pPr>
            <a:r>
              <a:rPr lang="en-US" sz="2800" b="1" dirty="0">
                <a:solidFill>
                  <a:schemeClr val="tx2"/>
                </a:solidFill>
              </a:rPr>
              <a:t>3</a:t>
            </a:r>
            <a:endParaRPr lang="en-US" sz="2800" dirty="0"/>
          </a:p>
        </p:txBody>
      </p:sp>
      <p:sp>
        <p:nvSpPr>
          <p:cNvPr id="12" name="Text 10"/>
          <p:cNvSpPr txBox="1"/>
          <p:nvPr/>
        </p:nvSpPr>
        <p:spPr>
          <a:xfrm>
            <a:off x="1508760" y="4480560"/>
            <a:ext cx="6720840" cy="1143000"/>
          </a:xfrm>
          <a:prstGeom prst="rect">
            <a:avLst/>
          </a:prstGeom>
          <a:noFill/>
          <a:ln/>
        </p:spPr>
        <p:txBody>
          <a:bodyPr wrap="square" lIns="0" tIns="0" rIns="0" bIns="0" rtlCol="0" anchor="t"/>
          <a:lstStyle/>
          <a:p>
            <a:pPr indent="0" marL="0">
              <a:buNone/>
            </a:pPr>
            <a:r>
              <a:rPr lang="en-US" sz="2400" b="1" dirty="0">
                <a:solidFill>
                  <a:schemeClr val="tx2"/>
                </a:solidFill>
              </a:rPr>
              <a:t>What you need from teammates</a:t>
            </a:r>
            <a:endParaRPr lang="en-US" sz="2400" dirty="0"/>
          </a:p>
          <a:p>
            <a:pPr indent="0" marL="0">
              <a:buNone/>
            </a:pPr>
            <a:r>
              <a:rPr lang="en-US" sz="2400" dirty="0">
                <a:solidFill>
                  <a:schemeClr val="accent6"/>
                </a:solidFill>
              </a:rPr>
              <a:t>In one simple, respectful sentence.</a:t>
            </a:r>
            <a:endParaRPr lang="en-US" sz="2400" dirty="0"/>
          </a:p>
        </p:txBody>
      </p:sp>
      <p:sp>
        <p:nvSpPr>
          <p:cNvPr id="13"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AI doesn't know how you collaborate. You do.</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Optional to share:</a:t>
            </a:r>
            <a:endParaRPr lang="en-US" sz="2200" dirty="0"/>
          </a:p>
          <a:p>
            <a:pPr indent="0" marL="0">
              <a:spcAft>
                <a:spcPts val="1000"/>
              </a:spcAft>
              <a:buNone/>
            </a:pPr>
            <a:r>
              <a:rPr lang="en-US" sz="2200" dirty="0">
                <a:solidFill>
                  <a:schemeClr val="tx1"/>
                </a:solidFill>
              </a:rPr>
              <a:t>anything about neurodivergence.</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When group work went sideways</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Tell one group work story: good, bad, or somewhere in between. What went sideways?</a:t>
            </a:r>
            <a:endParaRPr lang="en-US" sz="2400" dirty="0"/>
          </a:p>
          <a:p>
            <a:pPr marL="342900" indent="-342900">
              <a:spcAft>
                <a:spcPts val="1200"/>
              </a:spcAft>
              <a:buSzPct val="100000"/>
              <a:buFont typeface="+mj-lt"/>
              <a:buAutoNum type="arabicPeriod" startAt="1"/>
            </a:pPr>
            <a:r>
              <a:rPr lang="en-US" sz="2400" dirty="0">
                <a:solidFill>
                  <a:schemeClr val="bg1"/>
                </a:solidFill>
              </a:rPr>
              <a:t>What would have helped? Does your 16Personalities type explain any of it?</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No names. Talk with a partner for 3 minutes, then share what would have helped.</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10: Team Up: Collaboration &amp; People Skills</dc:title>
  <dc:subject>FYE 100 instructor slides</dc:subject>
  <dc:creator>OCTC FYE 100</dc:creator>
  <cp:lastModifiedBy>OCTC FYE 100</cp:lastModifiedBy>
  <cp:revision>1</cp:revision>
  <dcterms:created xsi:type="dcterms:W3CDTF">2026-10-19T21:15:45Z</dcterms:created>
  <dcterms:modified xsi:type="dcterms:W3CDTF">2026-10-19T21:15:45Z</dcterms:modified>
</cp:coreProperties>
</file>