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5d3c041-7e81-91e9-6ba8-ccd0109028ac}">
          <p14:sldIdLst>
            <p14:sldId id="256"/>
            <p14:sldId id="257"/>
          </p14:sldIdLst>
        </p14:section>
        <p14:section name="This week" id="{1a25af5e-3ee8-5c81-ffa4-0c1bbb6b8f4e}">
          <p14:sldIdLst>
            <p14:sldId id="258"/>
          </p14:sldIdLst>
        </p14:section>
        <p14:section name="Lessons" id="{66de6e1c-762d-cd20-fcc2-c689ed9d5108}">
          <p14:sldIdLst>
            <p14:sldId id="259"/>
            <p14:sldId id="260"/>
            <p14:sldId id="261"/>
            <p14:sldId id="262"/>
            <p14:sldId id="263"/>
          </p14:sldIdLst>
        </p14:section>
        <p14:section name="This week's work" id="{e46b910c-15a2-704c-aeb9-5ebb6bf4d9b4}">
          <p14:sldIdLst>
            <p14:sldId id="264"/>
            <p14:sldId id="265"/>
          </p14:sldIdLst>
        </p14:section>
        <p14:section name="Discussion" id="{ea007479-cafa-cc6a-05f1-86f397485b4e}">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6: Map Your Path.
Your plan doesn't have to be final. It has to be specific enough to start a real conversation with your Success Coach. This week: your interests, how programs work at OCTC, and a realistic sketch of next semester.
The owl found a compass.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Edit the announcements box before class. Hide this slide when recording for online sections (right-click the slide, Hide Slide).
Look back at Module 5: anything from the money discussions worth following up on privately.
Heads up: Merit Activity #2 is due with Module 7. Registration for next semester is coming; Module 8 has the Trail Tip.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 take the Career Coach assessment, see how credentials stack at OCTC, sketch your next semester, and bring five real questions to your Success Coach.
Four skills this module, with Knowledge Application as the Skill Spotlight.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week's Skill Spotlight is #9, Knowledge Application: turning "I know that" into "I did something with it."
Left: where most students start. You can name the kind of work you're interested in and what it requires. Right: where you're headed. You use what you've learned to solve real problems on your path, and you reflect on your experiences to judge how well a career fits, with reasons.
This module is Knowledge Application in practice: connecting what you know about yourself to real academic decisions.
It's also one of the three assigned STAR(T) Story skills. Start noticing moments when something you learned showed up somewhere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Career Coach is OCTC's career exploration tool, and it connects your results directly to OCTC programs and regional job information.
Scan the code to get to OCTC's Career Coaching page, then open Career Coach, make an account with your KCTCS email, and choose the Detailed Assessment. Your results get used again in Module 8, so save them.
The assessment measures six interest types: Realistic, Investigative, Artistic, Social, Enterprising, and Conventional. Look at your mix, not just your top type. Your results are a mirror, not a map.
Mile Marker #6, Question 1 asks for your top two or three types and whether they feel accurate. Online sections reflect on them in the Career Coach journal.
If Career Coach gives a student trouble, the lesson offers the free O*NET Interest Profiler as another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Picking a program means choosing a credential, a timeline, and a direction. Most students never get this explained before their first class.
At OCTC, many credentials are built to stack. Courses package into certificates, certificates can build into diplomas, and diplomas can build into AAS degrees, which are career degrees. AA and AS degrees are built to transfer to a four-year university.
You don't always have to start at the bottom, and you don't have to stop at the top.
Mile Marker #6, Question 2 asks students to name one program or pathway at OCTC worth exploring. Lesson 6.3 shows how to connect interest results to real programs.
Program requirements change. Students should confirm everything with their Success Coach or the catalog.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academic plan is a map, not a rigid schedule. Think like a strategist, not just a scheduler.
Four moves. Know what has to happen first: prerequisites, and application deadlines for programs like nursing. Be realistic about your load, counting work and family, not just classes. Look more than one semester ahead, since some courses aren't offered every semester. And keep it flexible, because plans change.
The Academic Planner Trail Tool is where students sketch their next semester and their five questions for their Success Coach. They can fill it in online and save a PDF, or use the fillable or printable planner in the module.
If students use AI to explore a plan, they keep personal details out and check every requirement with their Success Coach or the catalog.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students don't know how their grade is calculated. Now they will.
Points-based grading: add up the points you earned and divide by the points possible. Weighted grading: each category, like quizzes, projects, or discussions, counts for a set percentage of the grade, no matter how many points it has.
Which one a course uses is in the syllabus.
Then GPA: know the grade scale, and remember that each grade is weighted by its credit hours, so a grade in a four-credit class moves your GPA more than the same grade in a one-credit class.
The Trail Tip has practice problems with answers students can open. If you have time, work one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due Monday by 11:59 PM Central.
Take the Career Coach assessment first; the rest of the module uses your results.
The Academic Planner is a Trail Tool: fill it in online and save a PDF, or use the fillable or printable planner in the module.
Mile Marker #6 is the main assignment, and it's built to bring to an advising appointment.
Online sections: the Career Coach journal is private; only the instructor reads it. In-person sections: today's attendance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 Marker #6 has four questions.
One: your top two or three interest types from Career Coach, and whether they feel accurate.
Two: one OCTC program or pathway you want to know more about, and why.
Three: five specific questions for your Success Coach, most important first. About your situation, your program, and your timeline, not questions any student could ask.
Four: a realistic course load for next semester, with about how many credit hours.
It's AI-supported, with a privacy rule: no student ID, birth date, or other identifying details. And check anything AI says about programs with your Success Coach.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In-person discussion, and an in-class version of the private online Career Coach journal. Keep sharing optional; some students won't want to share their results.
Pairs for three minutes, then ask a few students to share the program they named and their question about it.
Collect the questions on the board. Many will be good Success Coach questions for Mile Marker #6, Question 3.
For online recordings: pose the questions as a lead-in to the journal.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YE Title">
    <p:bg>
      <p:bgPr>
        <a:solidFill>
          <a:srgbClr val="011D4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931920" y="1051560"/>
            <a:ext cx="7680960" cy="457200"/>
          </a:xfrm>
          <a:prstGeom prst="rect">
            <a:avLst/>
          </a:prstGeom>
          <a:noFill/>
          <a:ln/>
        </p:spPr>
        <p:txBody>
          <a:bodyPr wrap="square" rtlCol="0"/>
          <a:lstStyle>
            <a:lvl1pPr algn="l" indent="0" marL="0">
              <a:buNone/>
              <a:defRPr lang="en-US" sz="2000" b="1" spc="300" kern="0"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3931920" y="1554480"/>
            <a:ext cx="7680960" cy="20116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3931920" y="3611880"/>
            <a:ext cx="6949440" cy="1005840"/>
          </a:xfrm>
          <a:prstGeom prst="rect">
            <a:avLst/>
          </a:prstGeom>
          <a:noFill/>
          <a:ln/>
        </p:spPr>
        <p:txBody>
          <a:bodyPr wrap="square" rtlCol="0"/>
          <a:lstStyle>
            <a:lvl1pPr algn="l" indent="0" marL="0">
              <a:buNone/>
              <a:defRPr lang="en-US" sz="3200" dirty="0">
                <a:solidFill>
                  <a:srgbClr val="D6EEFA"/>
                </a:solidFill>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YE 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rtlCol="0"/>
          <a:lstStyle>
            <a:lvl1pPr algn="l" indent="0" marL="0">
              <a:buNone/>
              <a:defRPr lang="en-US" sz="2000" b="1" spc="300" kern="0" dirty="0">
                <a:solidFill>
                  <a:schemeClr val="accent4"/>
                </a:solidFill>
              </a:defRPr>
            </a:lvl1pPr>
          </a:lstStyle>
          <a:p>
            <a:pPr algn="l" indent="0" marL="0">
              <a:buNone/>
            </a:pP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rtlCol="0"/>
          <a:lstStyle>
            <a:lvl1pPr algn="l" indent="0" marL="0">
              <a:buNone/>
              <a:defRPr lang="en-US" sz="4000" b="1" dirty="0">
                <a:solidFill>
                  <a:schemeClr val="tx2"/>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YE Discussion">
    <p:bg>
      <p:bgPr>
        <a:solidFill>
          <a:srgbClr val="011D4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931920" y="640080"/>
            <a:ext cx="7680960" cy="411480"/>
          </a:xfrm>
          <a:prstGeom prst="rect">
            <a:avLst/>
          </a:prstGeom>
          <a:noFill/>
          <a:ln/>
        </p:spPr>
        <p:txBody>
          <a:bodyPr wrap="square" rtlCol="0"/>
          <a:lstStyle>
            <a:lvl1pPr algn="l" indent="0" marL="0">
              <a:buNone/>
              <a:defRPr lang="en-US" sz="2000" b="1" spc="300" kern="0"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3931920" y="1097280"/>
            <a:ext cx="768096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Decorative: module cover 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3931920" y="1051560"/>
            <a:ext cx="7680960" cy="457200"/>
          </a:xfrm>
          <a:prstGeom prst="rect">
            <a:avLst/>
          </a:prstGeom>
          <a:noFill/>
          <a:ln/>
        </p:spPr>
        <p:txBody>
          <a:bodyPr wrap="square" lIns="0" tIns="0" rIns="0" bIns="0" rtlCol="0"/>
          <a:lstStyle/>
          <a:p>
            <a:pPr algn="l" indent="0" marL="0">
              <a:buNone/>
            </a:pPr>
            <a:r>
              <a:rPr lang="en-US" sz="2000" b="1" spc="300" kern="0" dirty="0">
                <a:solidFill>
                  <a:schemeClr val="accent2"/>
                </a:solidFill>
              </a:rPr>
              <a:t>MODULE 6</a:t>
            </a:r>
            <a:endParaRPr lang="en-US" sz="2000" dirty="0"/>
          </a:p>
        </p:txBody>
      </p:sp>
      <p:sp>
        <p:nvSpPr>
          <p:cNvPr id="4" name="Text 0"/>
          <p:cNvSpPr/>
          <p:nvPr>
            <p:ph idx="101" type="title" hasCustomPrompt="1"/>
          </p:nvPr>
        </p:nvSpPr>
        <p:spPr>
          <a:xfrm>
            <a:off x="3931920" y="1554480"/>
            <a:ext cx="7680960" cy="2011680"/>
          </a:xfrm>
          <a:prstGeom prst="rect">
            <a:avLst/>
          </a:prstGeom>
          <a:noFill/>
          <a:ln/>
        </p:spPr>
        <p:txBody>
          <a:bodyPr wrap="square" lIns="0" tIns="0" rIns="0" bIns="0" rtlCol="0" anchor="t"/>
          <a:lstStyle/>
          <a:p>
            <a:pPr algn="l" indent="0" marL="0">
              <a:buNone/>
            </a:pPr>
            <a:r>
              <a:rPr lang="en-US" sz="5400" b="1" dirty="0">
                <a:solidFill>
                  <a:schemeClr val="bg1"/>
                </a:solidFill>
              </a:rPr>
              <a:t>Map Your Path: Academic Planning</a:t>
            </a:r>
            <a:endParaRPr lang="en-US" sz="5400" dirty="0"/>
          </a:p>
        </p:txBody>
      </p:sp>
      <p:sp>
        <p:nvSpPr>
          <p:cNvPr id="5" name="Text 0"/>
          <p:cNvSpPr/>
          <p:nvPr>
            <p:ph idx="102" type="body" hasCustomPrompt="1"/>
          </p:nvPr>
        </p:nvSpPr>
        <p:spPr>
          <a:xfrm>
            <a:off x="3931920" y="3611880"/>
            <a:ext cx="6949440" cy="1005840"/>
          </a:xfrm>
          <a:prstGeom prst="rect">
            <a:avLst/>
          </a:prstGeom>
          <a:noFill/>
          <a:ln/>
        </p:spPr>
        <p:txBody>
          <a:bodyPr wrap="square" lIns="0" tIns="0" rIns="0" bIns="0" rtlCol="0" anchor="t"/>
          <a:lstStyle/>
          <a:p>
            <a:pPr algn="l" indent="0" marL="0">
              <a:buNone/>
            </a:pPr>
            <a:r>
              <a:rPr lang="en-US" sz="3200" dirty="0">
                <a:solidFill>
                  <a:srgbClr val="D6EEFA"/>
                </a:solidFill>
              </a:rPr>
              <a:t>Specific enough to start a real conversation.</a:t>
            </a:r>
            <a:endParaRPr lang="en-US" sz="3200" dirty="0"/>
          </a:p>
        </p:txBody>
      </p:sp>
      <p:sp>
        <p:nvSpPr>
          <p:cNvPr id="6" name="Instructor and section (edit me)"/>
          <p:cNvSpPr txBox="1"/>
          <p:nvPr/>
        </p:nvSpPr>
        <p:spPr>
          <a:xfrm>
            <a:off x="3931920" y="4709160"/>
            <a:ext cx="5486400" cy="411480"/>
          </a:xfrm>
          <a:prstGeom prst="rect">
            <a:avLst/>
          </a:prstGeom>
          <a:noFill/>
          <a:ln/>
        </p:spPr>
        <p:txBody>
          <a:bodyPr wrap="square" lIns="0" tIns="0" rIns="0" bIns="0" rtlCol="0" anchor="t"/>
          <a:lstStyle/>
          <a:p>
            <a:pPr indent="0" marL="0">
              <a:buNone/>
            </a:pPr>
            <a:r>
              <a:rPr lang="en-US" sz="2000" dirty="0">
                <a:solidFill>
                  <a:srgbClr val="D6EEFA"/>
                </a:solidFill>
              </a:rPr>
              <a:t>Instructor name  ·  Section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INSTRUCTOR SLIDE · HOUSEKEEPING</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Breaking Camp</a:t>
            </a:r>
            <a:endParaRPr lang="en-US" sz="4000" dirty="0"/>
          </a:p>
        </p:txBody>
      </p:sp>
      <p:sp>
        <p:nvSpPr>
          <p:cNvPr id="4" name="Text 2"/>
          <p:cNvSpPr txBox="1"/>
          <p:nvPr/>
        </p:nvSpPr>
        <p:spPr>
          <a:xfrm>
            <a:off x="548640" y="1645920"/>
            <a:ext cx="10515600" cy="457200"/>
          </a:xfrm>
          <a:prstGeom prst="rect">
            <a:avLst/>
          </a:prstGeom>
          <a:noFill/>
          <a:ln/>
        </p:spPr>
        <p:txBody>
          <a:bodyPr wrap="square" lIns="0" tIns="0" rIns="0" bIns="0" rtlCol="0" anchor="t"/>
          <a:lstStyle/>
          <a:p>
            <a:pPr indent="0" marL="0">
              <a:buNone/>
            </a:pPr>
            <a:r>
              <a:rPr lang="en-US" sz="2400" i="1" dirty="0">
                <a:solidFill>
                  <a:schemeClr val="accent6"/>
                </a:solidFill>
              </a:rPr>
              <a:t>Pack up Module 5, then look ahead to Module 6.</a:t>
            </a:r>
            <a:endParaRPr lang="en-US" sz="2400" dirty="0"/>
          </a:p>
        </p:txBody>
      </p:sp>
      <p:sp>
        <p:nvSpPr>
          <p:cNvPr id="5" name="Decorative: announcements panel">
            <a:extLst>
              <a:ext uri="{C183D7F6-B498-43B3-948B-1728B52AA6E4}">
                <adec:decorative xmlns:adec="http://schemas.microsoft.com/office/drawing/2017/decorative" val="1"/>
              </a:ext>
            </a:extLst>
          </p:cNvPr>
          <p:cNvSpPr/>
          <p:nvPr/>
        </p:nvSpPr>
        <p:spPr>
          <a:xfrm>
            <a:off x="548640" y="2331720"/>
            <a:ext cx="6949440" cy="3749040"/>
          </a:xfrm>
          <a:prstGeom prst="roundRect">
            <a:avLst>
              <a:gd name="adj" fmla="val 2927"/>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6" name="Text 4"/>
          <p:cNvSpPr txBox="1"/>
          <p:nvPr/>
        </p:nvSpPr>
        <p:spPr>
          <a:xfrm>
            <a:off x="868680" y="2560320"/>
            <a:ext cx="6400800" cy="411480"/>
          </a:xfrm>
          <a:prstGeom prst="rect">
            <a:avLst/>
          </a:prstGeom>
          <a:noFill/>
          <a:ln/>
        </p:spPr>
        <p:txBody>
          <a:bodyPr wrap="square" lIns="0" tIns="0" rIns="0" bIns="0" rtlCol="0" anchor="t"/>
          <a:lstStyle/>
          <a:p>
            <a:pPr indent="0" marL="0">
              <a:buNone/>
            </a:pPr>
            <a:r>
              <a:rPr lang="en-US" sz="2800" b="1" dirty="0">
                <a:solidFill>
                  <a:schemeClr val="tx2"/>
                </a:solidFill>
              </a:rPr>
              <a:t>Announcements</a:t>
            </a:r>
            <a:endParaRPr lang="en-US" sz="2800" dirty="0"/>
          </a:p>
        </p:txBody>
      </p:sp>
      <p:sp>
        <p:nvSpPr>
          <p:cNvPr id="7" name="Announcements (edit me)"/>
          <p:cNvSpPr txBox="1"/>
          <p:nvPr/>
        </p:nvSpPr>
        <p:spPr>
          <a:xfrm>
            <a:off x="868680" y="3063240"/>
            <a:ext cx="6400800" cy="2743200"/>
          </a:xfrm>
          <a:prstGeom prst="rect">
            <a:avLst/>
          </a:prstGeom>
          <a:noFill/>
          <a:ln/>
        </p:spPr>
        <p:txBody>
          <a:bodyPr wrap="square" lIns="0" tIns="0" rIns="0" bIns="0" rtlCol="0" anchor="t"/>
          <a:lstStyle/>
          <a:p>
            <a:pPr indent="0" marL="0">
              <a:buNone/>
            </a:pPr>
            <a:r>
              <a:rPr lang="en-US" sz="2400" dirty="0">
                <a:solidFill>
                  <a:schemeClr val="accent6"/>
                </a:solidFill>
              </a:rPr>
              <a:t>Add this week's announcements here.</a:t>
            </a:r>
            <a:endParaRPr lang="en-US" sz="2400" dirty="0"/>
          </a:p>
          <a:p>
            <a:pPr indent="0" marL="0">
              <a:buNone/>
            </a:pPr>
            <a:r>
              <a:rPr lang="en-US" sz="2400" dirty="0">
                <a:solidFill>
                  <a:schemeClr val="accent6"/>
                </a:solidFill>
              </a:rPr>
              <a:t>Grades posted, office hours, campus dates.</a:t>
            </a:r>
            <a:endParaRPr lang="en-US" sz="2400" dirty="0"/>
          </a:p>
        </p:txBody>
      </p:sp>
      <p:sp>
        <p:nvSpPr>
          <p:cNvPr id="8" name="Decorative: looking ahead panel">
            <a:extLst>
              <a:ext uri="{C183D7F6-B498-43B3-948B-1728B52AA6E4}">
                <adec:decorative xmlns:adec="http://schemas.microsoft.com/office/drawing/2017/decorative" val="1"/>
              </a:ext>
            </a:extLst>
          </p:cNvPr>
          <p:cNvSpPr/>
          <p:nvPr/>
        </p:nvSpPr>
        <p:spPr>
          <a:xfrm>
            <a:off x="7818120" y="2331720"/>
            <a:ext cx="3824935" cy="3749040"/>
          </a:xfrm>
          <a:prstGeom prst="roundRect">
            <a:avLst>
              <a:gd name="adj" fmla="val 2927"/>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8138160" y="2606040"/>
            <a:ext cx="731520" cy="731520"/>
          </a:xfrm>
          <a:prstGeom prst="ellipse">
            <a:avLst/>
          </a:prstGeom>
          <a:solidFill>
            <a:srgbClr val="E7A614"/>
          </a:solidFill>
          <a:ln w="12700">
            <a:solidFill>
              <a:srgbClr val="E7A614"/>
            </a:solidFill>
            <a:prstDash val="solid"/>
          </a:ln>
        </p:spPr>
      </p:sp>
      <p:pic>
        <p:nvPicPr>
          <p:cNvPr id="10" name="Decorative: LuCalendarCheck">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299094" y="2766974"/>
            <a:ext cx="409651" cy="409651"/>
          </a:xfrm>
          <a:prstGeom prst="rect">
            <a:avLst/>
          </a:prstGeom>
        </p:spPr>
      </p:pic>
      <p:sp>
        <p:nvSpPr>
          <p:cNvPr id="11" name="Text 8"/>
          <p:cNvSpPr txBox="1"/>
          <p:nvPr/>
        </p:nvSpPr>
        <p:spPr>
          <a:xfrm>
            <a:off x="8138160" y="3474720"/>
            <a:ext cx="3291840" cy="411480"/>
          </a:xfrm>
          <a:prstGeom prst="rect">
            <a:avLst/>
          </a:prstGeom>
          <a:noFill/>
          <a:ln/>
        </p:spPr>
        <p:txBody>
          <a:bodyPr wrap="square" lIns="0" tIns="0" rIns="0" bIns="0" rtlCol="0" anchor="t"/>
          <a:lstStyle/>
          <a:p>
            <a:pPr indent="0" marL="0">
              <a:buNone/>
            </a:pPr>
            <a:r>
              <a:rPr lang="en-US" sz="2800" b="1" dirty="0">
                <a:solidFill>
                  <a:schemeClr val="tx2"/>
                </a:solidFill>
              </a:rPr>
              <a:t>Looking ahead</a:t>
            </a:r>
            <a:endParaRPr lang="en-US" sz="2800" dirty="0"/>
          </a:p>
        </p:txBody>
      </p:sp>
      <p:sp>
        <p:nvSpPr>
          <p:cNvPr id="12" name="Text 9"/>
          <p:cNvSpPr txBox="1"/>
          <p:nvPr/>
        </p:nvSpPr>
        <p:spPr>
          <a:xfrm>
            <a:off x="8138160" y="3977640"/>
            <a:ext cx="3291840" cy="2011680"/>
          </a:xfrm>
          <a:prstGeom prst="rect">
            <a:avLst/>
          </a:prstGeom>
          <a:noFill/>
          <a:ln/>
        </p:spPr>
        <p:txBody>
          <a:bodyPr wrap="square" lIns="0" tIns="0" rIns="0" bIns="0" rtlCol="0" anchor="t"/>
          <a:lstStyle/>
          <a:p>
            <a:pPr indent="0" marL="0">
              <a:buNone/>
            </a:pPr>
            <a:r>
              <a:rPr lang="en-US" sz="2400" dirty="0">
                <a:solidFill>
                  <a:schemeClr val="tx1"/>
                </a:solidFill>
              </a:rPr>
              <a:t>Module 6 work is due Monday by 11:59 PM Central. Merit Activity #2 is due with Module 7.</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MODULE 6 · THIS WEEK</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Map your path</a:t>
            </a:r>
            <a:endParaRPr lang="en-US" sz="4000" dirty="0"/>
          </a:p>
        </p:txBody>
      </p:sp>
      <p:sp>
        <p:nvSpPr>
          <p:cNvPr id="4" name="Decorative: icon circle">
            <a:extLst>
              <a:ext uri="{C183D7F6-B498-43B3-948B-1728B52AA6E4}">
                <adec:decorative xmlns:adec="http://schemas.microsoft.com/office/drawing/2017/decorative" val="1"/>
              </a:ext>
            </a:extLst>
          </p:cNvPr>
          <p:cNvSpPr/>
          <p:nvPr/>
        </p:nvSpPr>
        <p:spPr>
          <a:xfrm>
            <a:off x="548640" y="1965960"/>
            <a:ext cx="685800" cy="685800"/>
          </a:xfrm>
          <a:prstGeom prst="ellipse">
            <a:avLst/>
          </a:prstGeom>
          <a:solidFill>
            <a:srgbClr val="00467F"/>
          </a:solidFill>
          <a:ln w="12700">
            <a:solidFill>
              <a:srgbClr val="00467F"/>
            </a:solidFill>
            <a:prstDash val="solid"/>
          </a:ln>
        </p:spPr>
      </p:sp>
      <p:pic>
        <p:nvPicPr>
          <p:cNvPr id="5" name="Decorative: LuCompass">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99516" y="2116836"/>
            <a:ext cx="384048" cy="384048"/>
          </a:xfrm>
          <a:prstGeom prst="rect">
            <a:avLst/>
          </a:prstGeom>
        </p:spPr>
      </p:pic>
      <p:sp>
        <p:nvSpPr>
          <p:cNvPr id="6" name="Text 3"/>
          <p:cNvSpPr txBox="1"/>
          <p:nvPr/>
        </p:nvSpPr>
        <p:spPr>
          <a:xfrm>
            <a:off x="1463040" y="2075688"/>
            <a:ext cx="6035040" cy="548640"/>
          </a:xfrm>
          <a:prstGeom prst="rect">
            <a:avLst/>
          </a:prstGeom>
          <a:noFill/>
          <a:ln/>
        </p:spPr>
        <p:txBody>
          <a:bodyPr wrap="square" lIns="0" tIns="0" rIns="0" bIns="0" rtlCol="0" anchor="ctr"/>
          <a:lstStyle/>
          <a:p>
            <a:pPr indent="0" marL="0">
              <a:buNone/>
            </a:pPr>
            <a:r>
              <a:rPr lang="en-US" sz="2400" dirty="0">
                <a:solidFill>
                  <a:schemeClr val="tx1"/>
                </a:solidFill>
              </a:rPr>
              <a:t>Take the Career Coach assessment</a:t>
            </a:r>
            <a:endParaRPr lang="en-US" sz="2400" dirty="0"/>
          </a:p>
        </p:txBody>
      </p:sp>
      <p:sp>
        <p:nvSpPr>
          <p:cNvPr id="7" name="Decorative: icon circle">
            <a:extLst>
              <a:ext uri="{C183D7F6-B498-43B3-948B-1728B52AA6E4}">
                <adec:decorative xmlns:adec="http://schemas.microsoft.com/office/drawing/2017/decorative" val="1"/>
              </a:ext>
            </a:extLst>
          </p:cNvPr>
          <p:cNvSpPr/>
          <p:nvPr/>
        </p:nvSpPr>
        <p:spPr>
          <a:xfrm>
            <a:off x="548640" y="2926080"/>
            <a:ext cx="685800" cy="685800"/>
          </a:xfrm>
          <a:prstGeom prst="ellipse">
            <a:avLst/>
          </a:prstGeom>
          <a:solidFill>
            <a:srgbClr val="00467F"/>
          </a:solidFill>
          <a:ln w="12700">
            <a:solidFill>
              <a:srgbClr val="00467F"/>
            </a:solidFill>
            <a:prstDash val="solid"/>
          </a:ln>
        </p:spPr>
      </p:sp>
      <p:pic>
        <p:nvPicPr>
          <p:cNvPr id="8" name="Decorative: LuLayers">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9516" y="3076956"/>
            <a:ext cx="384048" cy="384048"/>
          </a:xfrm>
          <a:prstGeom prst="rect">
            <a:avLst/>
          </a:prstGeom>
        </p:spPr>
      </p:pic>
      <p:sp>
        <p:nvSpPr>
          <p:cNvPr id="9" name="Text 5"/>
          <p:cNvSpPr txBox="1"/>
          <p:nvPr/>
        </p:nvSpPr>
        <p:spPr>
          <a:xfrm>
            <a:off x="1463040" y="3035808"/>
            <a:ext cx="6035040" cy="548640"/>
          </a:xfrm>
          <a:prstGeom prst="rect">
            <a:avLst/>
          </a:prstGeom>
          <a:noFill/>
          <a:ln/>
        </p:spPr>
        <p:txBody>
          <a:bodyPr wrap="square" lIns="0" tIns="0" rIns="0" bIns="0" rtlCol="0" anchor="ctr"/>
          <a:lstStyle/>
          <a:p>
            <a:pPr indent="0" marL="0">
              <a:buNone/>
            </a:pPr>
            <a:r>
              <a:rPr lang="en-US" sz="2400" dirty="0">
                <a:solidFill>
                  <a:schemeClr val="tx1"/>
                </a:solidFill>
              </a:rPr>
              <a:t>See how credentials stack</a:t>
            </a:r>
            <a:endParaRPr lang="en-US" sz="2400" dirty="0"/>
          </a:p>
        </p:txBody>
      </p:sp>
      <p:sp>
        <p:nvSpPr>
          <p:cNvPr id="10" name="Decorative: icon circle">
            <a:extLst>
              <a:ext uri="{C183D7F6-B498-43B3-948B-1728B52AA6E4}">
                <adec:decorative xmlns:adec="http://schemas.microsoft.com/office/drawing/2017/decorative" val="1"/>
              </a:ext>
            </a:extLst>
          </p:cNvPr>
          <p:cNvSpPr/>
          <p:nvPr/>
        </p:nvSpPr>
        <p:spPr>
          <a:xfrm>
            <a:off x="548640" y="3886200"/>
            <a:ext cx="685800" cy="685800"/>
          </a:xfrm>
          <a:prstGeom prst="ellipse">
            <a:avLst/>
          </a:prstGeom>
          <a:solidFill>
            <a:srgbClr val="00467F"/>
          </a:solidFill>
          <a:ln w="12700">
            <a:solidFill>
              <a:srgbClr val="00467F"/>
            </a:solidFill>
            <a:prstDash val="solid"/>
          </a:ln>
        </p:spPr>
      </p:sp>
      <p:pic>
        <p:nvPicPr>
          <p:cNvPr id="11" name="Decorative: LuCalendarRange">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99516" y="4037076"/>
            <a:ext cx="384048" cy="384048"/>
          </a:xfrm>
          <a:prstGeom prst="rect">
            <a:avLst/>
          </a:prstGeom>
        </p:spPr>
      </p:pic>
      <p:sp>
        <p:nvSpPr>
          <p:cNvPr id="12" name="Text 7"/>
          <p:cNvSpPr txBox="1"/>
          <p:nvPr/>
        </p:nvSpPr>
        <p:spPr>
          <a:xfrm>
            <a:off x="1463040" y="3995928"/>
            <a:ext cx="6035040" cy="548640"/>
          </a:xfrm>
          <a:prstGeom prst="rect">
            <a:avLst/>
          </a:prstGeom>
          <a:noFill/>
          <a:ln/>
        </p:spPr>
        <p:txBody>
          <a:bodyPr wrap="square" lIns="0" tIns="0" rIns="0" bIns="0" rtlCol="0" anchor="ctr"/>
          <a:lstStyle/>
          <a:p>
            <a:pPr indent="0" marL="0">
              <a:buNone/>
            </a:pPr>
            <a:r>
              <a:rPr lang="en-US" sz="2400" dirty="0">
                <a:solidFill>
                  <a:schemeClr val="tx1"/>
                </a:solidFill>
              </a:rPr>
              <a:t>Sketch your next semester</a:t>
            </a:r>
            <a:endParaRPr lang="en-US" sz="2400" dirty="0"/>
          </a:p>
        </p:txBody>
      </p:sp>
      <p:sp>
        <p:nvSpPr>
          <p:cNvPr id="13" name="Decorative: icon circle">
            <a:extLst>
              <a:ext uri="{C183D7F6-B498-43B3-948B-1728B52AA6E4}">
                <adec:decorative xmlns:adec="http://schemas.microsoft.com/office/drawing/2017/decorative" val="1"/>
              </a:ext>
            </a:extLst>
          </p:cNvPr>
          <p:cNvSpPr/>
          <p:nvPr/>
        </p:nvSpPr>
        <p:spPr>
          <a:xfrm>
            <a:off x="548640" y="4846320"/>
            <a:ext cx="685800" cy="685800"/>
          </a:xfrm>
          <a:prstGeom prst="ellipse">
            <a:avLst/>
          </a:prstGeom>
          <a:solidFill>
            <a:srgbClr val="00467F"/>
          </a:solidFill>
          <a:ln w="12700">
            <a:solidFill>
              <a:srgbClr val="00467F"/>
            </a:solidFill>
            <a:prstDash val="solid"/>
          </a:ln>
        </p:spPr>
      </p:sp>
      <p:pic>
        <p:nvPicPr>
          <p:cNvPr id="14" name="Decorative: LuMessageCircleQuestion">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99516" y="4997196"/>
            <a:ext cx="384048" cy="384048"/>
          </a:xfrm>
          <a:prstGeom prst="rect">
            <a:avLst/>
          </a:prstGeom>
        </p:spPr>
      </p:pic>
      <p:sp>
        <p:nvSpPr>
          <p:cNvPr id="15" name="Text 9"/>
          <p:cNvSpPr txBox="1"/>
          <p:nvPr/>
        </p:nvSpPr>
        <p:spPr>
          <a:xfrm>
            <a:off x="1463040" y="4956048"/>
            <a:ext cx="6035040" cy="548640"/>
          </a:xfrm>
          <a:prstGeom prst="rect">
            <a:avLst/>
          </a:prstGeom>
          <a:noFill/>
          <a:ln/>
        </p:spPr>
        <p:txBody>
          <a:bodyPr wrap="square" lIns="0" tIns="0" rIns="0" bIns="0" rtlCol="0" anchor="ctr"/>
          <a:lstStyle/>
          <a:p>
            <a:pPr indent="0" marL="0">
              <a:buNone/>
            </a:pPr>
            <a:r>
              <a:rPr lang="en-US" sz="2400" dirty="0">
                <a:solidFill>
                  <a:schemeClr val="tx1"/>
                </a:solidFill>
              </a:rPr>
              <a:t>Bring five questions to your Success Coach</a:t>
            </a:r>
            <a:endParaRPr lang="en-US" sz="2400" dirty="0"/>
          </a:p>
        </p:txBody>
      </p:sp>
      <p:sp>
        <p:nvSpPr>
          <p:cNvPr id="16" name="Decorative: skills panel">
            <a:extLst>
              <a:ext uri="{C183D7F6-B498-43B3-948B-1728B52AA6E4}">
                <adec:decorative xmlns:adec="http://schemas.microsoft.com/office/drawing/2017/decorative" val="1"/>
              </a:ext>
            </a:extLst>
          </p:cNvPr>
          <p:cNvSpPr/>
          <p:nvPr/>
        </p:nvSpPr>
        <p:spPr>
          <a:xfrm>
            <a:off x="7863840" y="1965960"/>
            <a:ext cx="3779215" cy="3840480"/>
          </a:xfrm>
          <a:prstGeom prst="roundRect">
            <a:avLst>
              <a:gd name="adj" fmla="val 290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Text 11"/>
          <p:cNvSpPr txBox="1"/>
          <p:nvPr/>
        </p:nvSpPr>
        <p:spPr>
          <a:xfrm>
            <a:off x="8183880" y="2194560"/>
            <a:ext cx="3291840" cy="411480"/>
          </a:xfrm>
          <a:prstGeom prst="rect">
            <a:avLst/>
          </a:prstGeom>
          <a:noFill/>
          <a:ln/>
        </p:spPr>
        <p:txBody>
          <a:bodyPr wrap="square" lIns="0" tIns="0" rIns="0" bIns="0" rtlCol="0" anchor="t"/>
          <a:lstStyle/>
          <a:p>
            <a:pPr indent="0" marL="0">
              <a:buNone/>
            </a:pPr>
            <a:r>
              <a:rPr lang="en-US" sz="2800" b="1" dirty="0">
                <a:solidFill>
                  <a:schemeClr val="tx2"/>
                </a:solidFill>
              </a:rPr>
              <a:t>Skills you'll build</a:t>
            </a:r>
            <a:endParaRPr lang="en-US" sz="2800" dirty="0"/>
          </a:p>
        </p:txBody>
      </p:sp>
      <p:pic>
        <p:nvPicPr>
          <p:cNvPr id="18" name="Decorative: skill coin">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183880" y="2697480"/>
            <a:ext cx="621792" cy="621792"/>
          </a:xfrm>
          <a:prstGeom prst="rect">
            <a:avLst/>
          </a:prstGeom>
        </p:spPr>
      </p:pic>
      <p:sp>
        <p:nvSpPr>
          <p:cNvPr id="19" name="Text 12"/>
          <p:cNvSpPr txBox="1"/>
          <p:nvPr/>
        </p:nvSpPr>
        <p:spPr>
          <a:xfrm>
            <a:off x="8988552" y="2651760"/>
            <a:ext cx="2624328" cy="713232"/>
          </a:xfrm>
          <a:prstGeom prst="rect">
            <a:avLst/>
          </a:prstGeom>
          <a:noFill/>
          <a:ln/>
        </p:spPr>
        <p:txBody>
          <a:bodyPr wrap="square" lIns="0" tIns="0" rIns="0" bIns="0" rtlCol="0" anchor="ctr"/>
          <a:lstStyle/>
          <a:p>
            <a:pPr indent="0" marL="0">
              <a:buNone/>
            </a:pPr>
            <a:r>
              <a:rPr lang="en-US" sz="2000" b="1" dirty="0">
                <a:solidFill>
                  <a:schemeClr val="accent4"/>
                </a:solidFill>
              </a:rPr>
              <a:t>#1 </a:t>
            </a:r>
            <a:pPr indent="0" marL="0">
              <a:buNone/>
            </a:pPr>
            <a:r>
              <a:rPr lang="en-US" sz="2000" dirty="0">
                <a:solidFill>
                  <a:schemeClr val="tx1"/>
                </a:solidFill>
              </a:rPr>
              <a:t>Communication</a:t>
            </a:r>
            <a:endParaRPr lang="en-US" sz="2000" dirty="0"/>
          </a:p>
        </p:txBody>
      </p:sp>
      <p:pic>
        <p:nvPicPr>
          <p:cNvPr id="20" name="Decorative: skill coin">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183880" y="3429000"/>
            <a:ext cx="621792" cy="621792"/>
          </a:xfrm>
          <a:prstGeom prst="rect">
            <a:avLst/>
          </a:prstGeom>
        </p:spPr>
      </p:pic>
      <p:sp>
        <p:nvSpPr>
          <p:cNvPr id="21" name="Text 13"/>
          <p:cNvSpPr txBox="1"/>
          <p:nvPr/>
        </p:nvSpPr>
        <p:spPr>
          <a:xfrm>
            <a:off x="8988552" y="3383280"/>
            <a:ext cx="2624328" cy="713232"/>
          </a:xfrm>
          <a:prstGeom prst="rect">
            <a:avLst/>
          </a:prstGeom>
          <a:noFill/>
          <a:ln/>
        </p:spPr>
        <p:txBody>
          <a:bodyPr wrap="square" lIns="0" tIns="0" rIns="0" bIns="0" rtlCol="0" anchor="ctr"/>
          <a:lstStyle/>
          <a:p>
            <a:pPr indent="0" marL="0">
              <a:buNone/>
            </a:pPr>
            <a:r>
              <a:rPr lang="en-US" sz="2000" b="1" dirty="0">
                <a:solidFill>
                  <a:schemeClr val="accent4"/>
                </a:solidFill>
              </a:rPr>
              <a:t>#6 </a:t>
            </a:r>
            <a:pPr indent="0" marL="0">
              <a:buNone/>
            </a:pPr>
            <a:r>
              <a:rPr lang="en-US" sz="2000" dirty="0">
                <a:solidFill>
                  <a:schemeClr val="tx1"/>
                </a:solidFill>
              </a:rPr>
              <a:t>Professionalism</a:t>
            </a:r>
            <a:endParaRPr lang="en-US" sz="2000" dirty="0"/>
          </a:p>
        </p:txBody>
      </p:sp>
      <p:pic>
        <p:nvPicPr>
          <p:cNvPr id="22" name="Decorative: skill coin">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183880" y="4160520"/>
            <a:ext cx="621792" cy="621792"/>
          </a:xfrm>
          <a:prstGeom prst="rect">
            <a:avLst/>
          </a:prstGeom>
        </p:spPr>
      </p:pic>
      <p:sp>
        <p:nvSpPr>
          <p:cNvPr id="23" name="Text 14"/>
          <p:cNvSpPr txBox="1"/>
          <p:nvPr/>
        </p:nvSpPr>
        <p:spPr>
          <a:xfrm>
            <a:off x="8988552" y="4114800"/>
            <a:ext cx="2624328" cy="713232"/>
          </a:xfrm>
          <a:prstGeom prst="rect">
            <a:avLst/>
          </a:prstGeom>
          <a:noFill/>
          <a:ln/>
        </p:spPr>
        <p:txBody>
          <a:bodyPr wrap="square" lIns="0" tIns="0" rIns="0" bIns="0" rtlCol="0" anchor="ctr"/>
          <a:lstStyle/>
          <a:p>
            <a:pPr indent="0" marL="0">
              <a:buNone/>
            </a:pPr>
            <a:r>
              <a:rPr lang="en-US" sz="2000" b="1" dirty="0">
                <a:solidFill>
                  <a:schemeClr val="accent4"/>
                </a:solidFill>
              </a:rPr>
              <a:t>#9 </a:t>
            </a:r>
            <a:pPr indent="0" marL="0">
              <a:buNone/>
            </a:pPr>
            <a:r>
              <a:rPr lang="en-US" sz="2000" dirty="0">
                <a:solidFill>
                  <a:schemeClr val="tx1"/>
                </a:solidFill>
              </a:rPr>
              <a:t>Knowledge Application</a:t>
            </a:r>
            <a:endParaRPr lang="en-US" sz="2000" dirty="0"/>
          </a:p>
        </p:txBody>
      </p:sp>
      <p:pic>
        <p:nvPicPr>
          <p:cNvPr id="24" name="Decorative: skill coin">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8183880" y="4892040"/>
            <a:ext cx="621792" cy="621792"/>
          </a:xfrm>
          <a:prstGeom prst="rect">
            <a:avLst/>
          </a:prstGeom>
        </p:spPr>
      </p:pic>
      <p:sp>
        <p:nvSpPr>
          <p:cNvPr id="25" name="Text 15"/>
          <p:cNvSpPr txBox="1"/>
          <p:nvPr/>
        </p:nvSpPr>
        <p:spPr>
          <a:xfrm>
            <a:off x="8988552" y="4846320"/>
            <a:ext cx="2624328" cy="713232"/>
          </a:xfrm>
          <a:prstGeom prst="rect">
            <a:avLst/>
          </a:prstGeom>
          <a:noFill/>
          <a:ln/>
        </p:spPr>
        <p:txBody>
          <a:bodyPr wrap="square" lIns="0" tIns="0" rIns="0" bIns="0" rtlCol="0" anchor="ctr"/>
          <a:lstStyle/>
          <a:p>
            <a:pPr indent="0" marL="0">
              <a:buNone/>
            </a:pPr>
            <a:r>
              <a:rPr lang="en-US" sz="2000" b="1" dirty="0">
                <a:solidFill>
                  <a:schemeClr val="accent4"/>
                </a:solidFill>
              </a:rPr>
              <a:t>#10 </a:t>
            </a:r>
            <a:pPr indent="0" marL="0">
              <a:buNone/>
            </a:pPr>
            <a:r>
              <a:rPr lang="en-US" sz="2000" dirty="0">
                <a:solidFill>
                  <a:schemeClr val="tx1"/>
                </a:solidFill>
              </a:rPr>
              <a:t>Information Literacy</a:t>
            </a:r>
            <a:endParaRPr lang="en-US" sz="20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6.1 · SKILL SPOTLIGHT</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Knowledge Application</a:t>
            </a:r>
            <a:endParaRPr lang="en-US" sz="4000" dirty="0"/>
          </a:p>
        </p:txBody>
      </p:sp>
      <p:pic>
        <p:nvPicPr>
          <p:cNvPr id="4" name="Decorative: skill coin">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548640" y="1920240"/>
            <a:ext cx="1188720" cy="1188720"/>
          </a:xfrm>
          <a:prstGeom prst="rect">
            <a:avLst/>
          </a:prstGeom>
        </p:spPr>
      </p:pic>
      <p:sp>
        <p:nvSpPr>
          <p:cNvPr id="5" name="Text 2"/>
          <p:cNvSpPr txBox="1"/>
          <p:nvPr/>
        </p:nvSpPr>
        <p:spPr>
          <a:xfrm>
            <a:off x="2011680" y="1965960"/>
            <a:ext cx="9601200" cy="1097280"/>
          </a:xfrm>
          <a:prstGeom prst="rect">
            <a:avLst/>
          </a:prstGeom>
          <a:noFill/>
          <a:ln/>
        </p:spPr>
        <p:txBody>
          <a:bodyPr wrap="square" lIns="0" tIns="0" rIns="0" bIns="0" rtlCol="0" anchor="ctr"/>
          <a:lstStyle/>
          <a:p>
            <a:pPr indent="0" marL="0">
              <a:buNone/>
            </a:pPr>
            <a:r>
              <a:rPr lang="en-US" sz="2600" dirty="0">
                <a:solidFill>
                  <a:schemeClr val="tx1"/>
                </a:solidFill>
              </a:rPr>
              <a:t>Turning what you know into real decisions.</a:t>
            </a:r>
            <a:endParaRPr lang="en-US" sz="2600" dirty="0"/>
          </a:p>
        </p:txBody>
      </p:sp>
      <p:sp>
        <p:nvSpPr>
          <p:cNvPr id="6" name="Decorative: benchmark card">
            <a:extLst>
              <a:ext uri="{C183D7F6-B498-43B3-948B-1728B52AA6E4}">
                <adec:decorative xmlns:adec="http://schemas.microsoft.com/office/drawing/2017/decorative" val="1"/>
              </a:ext>
            </a:extLst>
          </p:cNvPr>
          <p:cNvSpPr/>
          <p:nvPr/>
        </p:nvSpPr>
        <p:spPr>
          <a:xfrm>
            <a:off x="548640" y="3429000"/>
            <a:ext cx="5090008" cy="2514600"/>
          </a:xfrm>
          <a:prstGeom prst="roundRect">
            <a:avLst>
              <a:gd name="adj" fmla="val 436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868680" y="3703320"/>
            <a:ext cx="4449928" cy="2057400"/>
          </a:xfrm>
          <a:prstGeom prst="rect">
            <a:avLst/>
          </a:prstGeom>
          <a:noFill/>
          <a:ln/>
        </p:spPr>
        <p:txBody>
          <a:bodyPr wrap="square" lIns="0" tIns="0" rIns="0" bIns="0" rtlCol="0" anchor="t"/>
          <a:lstStyle/>
          <a:p>
            <a:pPr indent="0" marL="0">
              <a:buNone/>
            </a:pPr>
            <a:r>
              <a:rPr lang="en-US" sz="2000" b="1" spc="200" kern="0" dirty="0">
                <a:solidFill>
                  <a:schemeClr val="accent4"/>
                </a:solidFill>
              </a:rPr>
              <a:t>WHERE YOU START</a:t>
            </a:r>
            <a:endParaRPr lang="en-US" sz="2400" dirty="0"/>
          </a:p>
          <a:p>
            <a:pPr indent="0" marL="0">
              <a:buNone/>
            </a:pPr>
            <a:r>
              <a:rPr lang="en-US" sz="2400" dirty="0">
                <a:solidFill>
                  <a:schemeClr val="tx1"/>
                </a:solidFill>
              </a:rPr>
              <a:t>You can name the kind of work you're interested in and what it requires.</a:t>
            </a:r>
            <a:endParaRPr lang="en-US" sz="2400" dirty="0"/>
          </a:p>
        </p:txBody>
      </p:sp>
      <p:pic>
        <p:nvPicPr>
          <p:cNvPr id="8" name="Decorative: arrow">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821528" y="4411980"/>
            <a:ext cx="548640" cy="548640"/>
          </a:xfrm>
          <a:prstGeom prst="rect">
            <a:avLst/>
          </a:prstGeom>
        </p:spPr>
      </p:pic>
      <p:sp>
        <p:nvSpPr>
          <p:cNvPr id="9" name="Decorative: milestone card">
            <a:extLst>
              <a:ext uri="{C183D7F6-B498-43B3-948B-1728B52AA6E4}">
                <adec:decorative xmlns:adec="http://schemas.microsoft.com/office/drawing/2017/decorative" val="1"/>
              </a:ext>
            </a:extLst>
          </p:cNvPr>
          <p:cNvSpPr/>
          <p:nvPr/>
        </p:nvSpPr>
        <p:spPr>
          <a:xfrm>
            <a:off x="6553048" y="3429000"/>
            <a:ext cx="5090008" cy="2514600"/>
          </a:xfrm>
          <a:prstGeom prst="roundRect">
            <a:avLst>
              <a:gd name="adj" fmla="val 4364"/>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0" name="Text 6"/>
          <p:cNvSpPr txBox="1"/>
          <p:nvPr/>
        </p:nvSpPr>
        <p:spPr>
          <a:xfrm>
            <a:off x="6873088" y="3703320"/>
            <a:ext cx="4449928" cy="2057400"/>
          </a:xfrm>
          <a:prstGeom prst="rect">
            <a:avLst/>
          </a:prstGeom>
          <a:noFill/>
          <a:ln/>
        </p:spPr>
        <p:txBody>
          <a:bodyPr wrap="square" lIns="0" tIns="0" rIns="0" bIns="0" rtlCol="0" anchor="t"/>
          <a:lstStyle/>
          <a:p>
            <a:pPr indent="0" marL="0">
              <a:buNone/>
            </a:pPr>
            <a:r>
              <a:rPr lang="en-US" sz="2000" b="1" spc="200" kern="0" dirty="0">
                <a:solidFill>
                  <a:srgbClr val="7A5500"/>
                </a:solidFill>
              </a:rPr>
              <a:t>WHERE YOU'RE HEADED</a:t>
            </a:r>
            <a:endParaRPr lang="en-US" sz="2400" dirty="0"/>
          </a:p>
          <a:p>
            <a:pPr indent="0" marL="0">
              <a:buNone/>
            </a:pPr>
            <a:r>
              <a:rPr lang="en-US" sz="2400" dirty="0">
                <a:solidFill>
                  <a:schemeClr val="tx1"/>
                </a:solidFill>
              </a:rPr>
              <a:t>You use what you've learned to judge how well a path fits, and you can explain why.</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6.2</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Explore your interests with Career Coach</a:t>
            </a:r>
            <a:endParaRPr lang="en-US" sz="4000" dirty="0"/>
          </a:p>
        </p:txBody>
      </p:sp>
      <p:sp>
        <p:nvSpPr>
          <p:cNvPr id="4" name="Decorative: QR panel">
            <a:extLst>
              <a:ext uri="{C183D7F6-B498-43B3-948B-1728B52AA6E4}">
                <adec:decorative xmlns:adec="http://schemas.microsoft.com/office/drawing/2017/decorative" val="1"/>
              </a:ext>
            </a:extLst>
          </p:cNvPr>
          <p:cNvSpPr/>
          <p:nvPr/>
        </p:nvSpPr>
        <p:spPr>
          <a:xfrm>
            <a:off x="8534095" y="1828800"/>
            <a:ext cx="3108960" cy="4023360"/>
          </a:xfrm>
          <a:prstGeom prst="roundRect">
            <a:avLst>
              <a:gd name="adj" fmla="val 3529"/>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8762695" y="1965960"/>
            <a:ext cx="2651760" cy="685800"/>
          </a:xfrm>
          <a:prstGeom prst="rect">
            <a:avLst/>
          </a:prstGeom>
          <a:noFill/>
          <a:ln/>
        </p:spPr>
        <p:txBody>
          <a:bodyPr wrap="square" lIns="0" tIns="0" rIns="0" bIns="0" rtlCol="0" anchor="ctr"/>
          <a:lstStyle/>
          <a:p>
            <a:pPr algn="ctr" indent="0" marL="0">
              <a:buNone/>
            </a:pPr>
            <a:r>
              <a:rPr lang="en-US" sz="2000" b="1" dirty="0">
                <a:solidFill>
                  <a:schemeClr val="tx2"/>
                </a:solidFill>
              </a:rPr>
              <a:t>Scan for Career Coach</a:t>
            </a:r>
            <a:endParaRPr lang="en-US" sz="2000" dirty="0"/>
          </a:p>
        </p:txBody>
      </p:sp>
      <p:sp>
        <p:nvSpPr>
          <p:cNvPr id="6" name="Decorative: QR frame">
            <a:extLst>
              <a:ext uri="{C183D7F6-B498-43B3-948B-1728B52AA6E4}">
                <adec:decorative xmlns:adec="http://schemas.microsoft.com/office/drawing/2017/decorative" val="1"/>
              </a:ext>
            </a:extLst>
          </p:cNvPr>
          <p:cNvSpPr/>
          <p:nvPr/>
        </p:nvSpPr>
        <p:spPr>
          <a:xfrm>
            <a:off x="8973007" y="2633472"/>
            <a:ext cx="2231136" cy="2231136"/>
          </a:xfrm>
          <a:prstGeom prst="roundRect">
            <a:avLst>
              <a:gd name="adj" fmla="val 4098"/>
            </a:avLst>
          </a:prstGeom>
          <a:solidFill>
            <a:srgbClr val="FFFFFF"/>
          </a:solidFill>
          <a:ln w="12700">
            <a:solidFill>
              <a:srgbClr val="D9E2EA"/>
            </a:solidFill>
            <a:prstDash val="solid"/>
          </a:ln>
        </p:spPr>
      </p:sp>
      <p:pic>
        <p:nvPicPr>
          <p:cNvPr id="7" name="QR code: Scan for Career Coach" descr="QR code for Scan for Career Coach: https://owensboro.kctcs.edu/education-training/career-coaching/index.aspx">    </p:cNvPr>
          <p:cNvPicPr>
            <a:picLocks noChangeAspect="1"/>
          </p:cNvPicPr>
          <p:nvPr/>
        </p:nvPicPr>
        <p:blipFill>
          <a:blip r:embed="rId1"/>
          <a:stretch>
            <a:fillRect/>
          </a:stretch>
        </p:blipFill>
        <p:spPr>
          <a:xfrm>
            <a:off x="9082735" y="2743200"/>
            <a:ext cx="2011680" cy="2011680"/>
          </a:xfrm>
          <a:prstGeom prst="rect">
            <a:avLst/>
          </a:prstGeom>
        </p:spPr>
      </p:pic>
      <p:sp>
        <p:nvSpPr>
          <p:cNvPr id="8" name="Address: Scan for Career Coach"/>
          <p:cNvSpPr txBox="1"/>
          <p:nvPr/>
        </p:nvSpPr>
        <p:spPr>
          <a:xfrm>
            <a:off x="8534095" y="4892040"/>
            <a:ext cx="3108960" cy="731520"/>
          </a:xfrm>
          <a:prstGeom prst="rect">
            <a:avLst/>
          </a:prstGeom>
          <a:noFill/>
          <a:ln/>
        </p:spPr>
        <p:txBody>
          <a:bodyPr wrap="square" lIns="0" tIns="0" rIns="0" bIns="0" rtlCol="0" anchor="t"/>
          <a:lstStyle/>
          <a:p>
            <a:pPr algn="ctr" indent="0" marL="0">
              <a:buNone/>
            </a:pPr>
            <a:r>
              <a:rPr lang="en-US" sz="2000" dirty="0">
                <a:solidFill>
                  <a:schemeClr val="accent6"/>
                </a:solidFill>
              </a:rPr>
              <a:t>OCTC Career Coaching page</a:t>
            </a:r>
            <a:endParaRPr lang="en-US" sz="2000" dirty="0"/>
          </a:p>
        </p:txBody>
      </p:sp>
      <p:sp>
        <p:nvSpPr>
          <p:cNvPr id="9" name="Text 6"/>
          <p:cNvSpPr txBox="1"/>
          <p:nvPr/>
        </p:nvSpPr>
        <p:spPr>
          <a:xfrm>
            <a:off x="548640" y="1828800"/>
            <a:ext cx="7665415" cy="502920"/>
          </a:xfrm>
          <a:prstGeom prst="rect">
            <a:avLst/>
          </a:prstGeom>
          <a:noFill/>
          <a:ln/>
        </p:spPr>
        <p:txBody>
          <a:bodyPr wrap="square" lIns="0" tIns="0" rIns="0" bIns="0" rtlCol="0" anchor="t"/>
          <a:lstStyle/>
          <a:p>
            <a:pPr indent="0" marL="0">
              <a:buNone/>
            </a:pPr>
            <a:r>
              <a:rPr lang="en-US" sz="2400" dirty="0">
                <a:solidFill>
                  <a:schemeClr val="tx1"/>
                </a:solidFill>
              </a:rPr>
              <a:t>Six interest types. Look at your mix, not just the top one.</a:t>
            </a:r>
            <a:endParaRPr lang="en-US" sz="2400" dirty="0"/>
          </a:p>
        </p:txBody>
      </p:sp>
      <p:sp>
        <p:nvSpPr>
          <p:cNvPr id="10" name="Decorative: interest type">
            <a:extLst>
              <a:ext uri="{C183D7F6-B498-43B3-948B-1728B52AA6E4}">
                <adec:decorative xmlns:adec="http://schemas.microsoft.com/office/drawing/2017/decorative" val="1"/>
              </a:ext>
            </a:extLst>
          </p:cNvPr>
          <p:cNvSpPr/>
          <p:nvPr/>
        </p:nvSpPr>
        <p:spPr>
          <a:xfrm>
            <a:off x="548640" y="2514600"/>
            <a:ext cx="3695548" cy="603504"/>
          </a:xfrm>
          <a:prstGeom prst="roundRect">
            <a:avLst>
              <a:gd name="adj" fmla="val 18182"/>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822960" y="2514600"/>
            <a:ext cx="3146908" cy="603504"/>
          </a:xfrm>
          <a:prstGeom prst="rect">
            <a:avLst/>
          </a:prstGeom>
          <a:noFill/>
          <a:ln/>
        </p:spPr>
        <p:txBody>
          <a:bodyPr wrap="square" lIns="0" tIns="0" rIns="0" bIns="0" rtlCol="0" anchor="ctr"/>
          <a:lstStyle/>
          <a:p>
            <a:pPr indent="0" marL="0">
              <a:buNone/>
            </a:pPr>
            <a:r>
              <a:rPr lang="en-US" sz="2400" b="1" dirty="0">
                <a:solidFill>
                  <a:schemeClr val="tx2"/>
                </a:solidFill>
              </a:rPr>
              <a:t>Realistic</a:t>
            </a:r>
            <a:endParaRPr lang="en-US" sz="2400" dirty="0"/>
          </a:p>
        </p:txBody>
      </p:sp>
      <p:sp>
        <p:nvSpPr>
          <p:cNvPr id="12" name="Decorative: interest type">
            <a:extLst>
              <a:ext uri="{C183D7F6-B498-43B3-948B-1728B52AA6E4}">
                <adec:decorative xmlns:adec="http://schemas.microsoft.com/office/drawing/2017/decorative" val="1"/>
              </a:ext>
            </a:extLst>
          </p:cNvPr>
          <p:cNvSpPr/>
          <p:nvPr/>
        </p:nvSpPr>
        <p:spPr>
          <a:xfrm>
            <a:off x="4518508" y="2514600"/>
            <a:ext cx="3695548" cy="603504"/>
          </a:xfrm>
          <a:prstGeom prst="roundRect">
            <a:avLst>
              <a:gd name="adj" fmla="val 18182"/>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Text 10"/>
          <p:cNvSpPr txBox="1"/>
          <p:nvPr/>
        </p:nvSpPr>
        <p:spPr>
          <a:xfrm>
            <a:off x="4792828" y="2514600"/>
            <a:ext cx="3146908" cy="603504"/>
          </a:xfrm>
          <a:prstGeom prst="rect">
            <a:avLst/>
          </a:prstGeom>
          <a:noFill/>
          <a:ln/>
        </p:spPr>
        <p:txBody>
          <a:bodyPr wrap="square" lIns="0" tIns="0" rIns="0" bIns="0" rtlCol="0" anchor="ctr"/>
          <a:lstStyle/>
          <a:p>
            <a:pPr indent="0" marL="0">
              <a:buNone/>
            </a:pPr>
            <a:r>
              <a:rPr lang="en-US" sz="2400" b="1" dirty="0">
                <a:solidFill>
                  <a:schemeClr val="tx2"/>
                </a:solidFill>
              </a:rPr>
              <a:t>Investigative</a:t>
            </a:r>
            <a:endParaRPr lang="en-US" sz="2400" dirty="0"/>
          </a:p>
        </p:txBody>
      </p:sp>
      <p:sp>
        <p:nvSpPr>
          <p:cNvPr id="14" name="Decorative: interest type">
            <a:extLst>
              <a:ext uri="{C183D7F6-B498-43B3-948B-1728B52AA6E4}">
                <adec:decorative xmlns:adec="http://schemas.microsoft.com/office/drawing/2017/decorative" val="1"/>
              </a:ext>
            </a:extLst>
          </p:cNvPr>
          <p:cNvSpPr/>
          <p:nvPr/>
        </p:nvSpPr>
        <p:spPr>
          <a:xfrm>
            <a:off x="548640" y="3264408"/>
            <a:ext cx="3695548" cy="603504"/>
          </a:xfrm>
          <a:prstGeom prst="roundRect">
            <a:avLst>
              <a:gd name="adj" fmla="val 18182"/>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5" name="Text 12"/>
          <p:cNvSpPr txBox="1"/>
          <p:nvPr/>
        </p:nvSpPr>
        <p:spPr>
          <a:xfrm>
            <a:off x="822960" y="3264408"/>
            <a:ext cx="3146908" cy="603504"/>
          </a:xfrm>
          <a:prstGeom prst="rect">
            <a:avLst/>
          </a:prstGeom>
          <a:noFill/>
          <a:ln/>
        </p:spPr>
        <p:txBody>
          <a:bodyPr wrap="square" lIns="0" tIns="0" rIns="0" bIns="0" rtlCol="0" anchor="ctr"/>
          <a:lstStyle/>
          <a:p>
            <a:pPr indent="0" marL="0">
              <a:buNone/>
            </a:pPr>
            <a:r>
              <a:rPr lang="en-US" sz="2400" b="1" dirty="0">
                <a:solidFill>
                  <a:schemeClr val="tx2"/>
                </a:solidFill>
              </a:rPr>
              <a:t>Artistic</a:t>
            </a:r>
            <a:endParaRPr lang="en-US" sz="2400" dirty="0"/>
          </a:p>
        </p:txBody>
      </p:sp>
      <p:sp>
        <p:nvSpPr>
          <p:cNvPr id="16" name="Decorative: interest type">
            <a:extLst>
              <a:ext uri="{C183D7F6-B498-43B3-948B-1728B52AA6E4}">
                <adec:decorative xmlns:adec="http://schemas.microsoft.com/office/drawing/2017/decorative" val="1"/>
              </a:ext>
            </a:extLst>
          </p:cNvPr>
          <p:cNvSpPr/>
          <p:nvPr/>
        </p:nvSpPr>
        <p:spPr>
          <a:xfrm>
            <a:off x="4518508" y="3264408"/>
            <a:ext cx="3695548" cy="603504"/>
          </a:xfrm>
          <a:prstGeom prst="roundRect">
            <a:avLst>
              <a:gd name="adj" fmla="val 18182"/>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Text 14"/>
          <p:cNvSpPr txBox="1"/>
          <p:nvPr/>
        </p:nvSpPr>
        <p:spPr>
          <a:xfrm>
            <a:off x="4792828" y="3264408"/>
            <a:ext cx="3146908" cy="603504"/>
          </a:xfrm>
          <a:prstGeom prst="rect">
            <a:avLst/>
          </a:prstGeom>
          <a:noFill/>
          <a:ln/>
        </p:spPr>
        <p:txBody>
          <a:bodyPr wrap="square" lIns="0" tIns="0" rIns="0" bIns="0" rtlCol="0" anchor="ctr"/>
          <a:lstStyle/>
          <a:p>
            <a:pPr indent="0" marL="0">
              <a:buNone/>
            </a:pPr>
            <a:r>
              <a:rPr lang="en-US" sz="2400" b="1" dirty="0">
                <a:solidFill>
                  <a:schemeClr val="tx2"/>
                </a:solidFill>
              </a:rPr>
              <a:t>Social</a:t>
            </a:r>
            <a:endParaRPr lang="en-US" sz="2400" dirty="0"/>
          </a:p>
        </p:txBody>
      </p:sp>
      <p:sp>
        <p:nvSpPr>
          <p:cNvPr id="18" name="Decorative: interest type">
            <a:extLst>
              <a:ext uri="{C183D7F6-B498-43B3-948B-1728B52AA6E4}">
                <adec:decorative xmlns:adec="http://schemas.microsoft.com/office/drawing/2017/decorative" val="1"/>
              </a:ext>
            </a:extLst>
          </p:cNvPr>
          <p:cNvSpPr/>
          <p:nvPr/>
        </p:nvSpPr>
        <p:spPr>
          <a:xfrm>
            <a:off x="548640" y="4014216"/>
            <a:ext cx="3695548" cy="603504"/>
          </a:xfrm>
          <a:prstGeom prst="roundRect">
            <a:avLst>
              <a:gd name="adj" fmla="val 18182"/>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9" name="Text 16"/>
          <p:cNvSpPr txBox="1"/>
          <p:nvPr/>
        </p:nvSpPr>
        <p:spPr>
          <a:xfrm>
            <a:off x="822960" y="4014216"/>
            <a:ext cx="3146908" cy="603504"/>
          </a:xfrm>
          <a:prstGeom prst="rect">
            <a:avLst/>
          </a:prstGeom>
          <a:noFill/>
          <a:ln/>
        </p:spPr>
        <p:txBody>
          <a:bodyPr wrap="square" lIns="0" tIns="0" rIns="0" bIns="0" rtlCol="0" anchor="ctr"/>
          <a:lstStyle/>
          <a:p>
            <a:pPr indent="0" marL="0">
              <a:buNone/>
            </a:pPr>
            <a:r>
              <a:rPr lang="en-US" sz="2400" b="1" dirty="0">
                <a:solidFill>
                  <a:schemeClr val="tx2"/>
                </a:solidFill>
              </a:rPr>
              <a:t>Enterprising</a:t>
            </a:r>
            <a:endParaRPr lang="en-US" sz="2400" dirty="0"/>
          </a:p>
        </p:txBody>
      </p:sp>
      <p:sp>
        <p:nvSpPr>
          <p:cNvPr id="20" name="Decorative: interest type">
            <a:extLst>
              <a:ext uri="{C183D7F6-B498-43B3-948B-1728B52AA6E4}">
                <adec:decorative xmlns:adec="http://schemas.microsoft.com/office/drawing/2017/decorative" val="1"/>
              </a:ext>
            </a:extLst>
          </p:cNvPr>
          <p:cNvSpPr/>
          <p:nvPr/>
        </p:nvSpPr>
        <p:spPr>
          <a:xfrm>
            <a:off x="4518508" y="4014216"/>
            <a:ext cx="3695548" cy="603504"/>
          </a:xfrm>
          <a:prstGeom prst="roundRect">
            <a:avLst>
              <a:gd name="adj" fmla="val 18182"/>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21" name="Text 18"/>
          <p:cNvSpPr txBox="1"/>
          <p:nvPr/>
        </p:nvSpPr>
        <p:spPr>
          <a:xfrm>
            <a:off x="4792828" y="4014216"/>
            <a:ext cx="3146908" cy="603504"/>
          </a:xfrm>
          <a:prstGeom prst="rect">
            <a:avLst/>
          </a:prstGeom>
          <a:noFill/>
          <a:ln/>
        </p:spPr>
        <p:txBody>
          <a:bodyPr wrap="square" lIns="0" tIns="0" rIns="0" bIns="0" rtlCol="0" anchor="ctr"/>
          <a:lstStyle/>
          <a:p>
            <a:pPr indent="0" marL="0">
              <a:buNone/>
            </a:pPr>
            <a:r>
              <a:rPr lang="en-US" sz="2400" b="1" dirty="0">
                <a:solidFill>
                  <a:schemeClr val="tx2"/>
                </a:solidFill>
              </a:rPr>
              <a:t>Conventional</a:t>
            </a:r>
            <a:endParaRPr lang="en-US" sz="2400" dirty="0"/>
          </a:p>
        </p:txBody>
      </p:sp>
      <p:sp>
        <p:nvSpPr>
          <p:cNvPr id="22" name="Text 19"/>
          <p:cNvSpPr txBox="1"/>
          <p:nvPr/>
        </p:nvSpPr>
        <p:spPr>
          <a:xfrm>
            <a:off x="548640" y="4892040"/>
            <a:ext cx="7665415" cy="822960"/>
          </a:xfrm>
          <a:prstGeom prst="rect">
            <a:avLst/>
          </a:prstGeom>
          <a:noFill/>
          <a:ln/>
        </p:spPr>
        <p:txBody>
          <a:bodyPr wrap="square" lIns="0" tIns="0" rIns="0" bIns="0" rtlCol="0" anchor="t"/>
          <a:lstStyle/>
          <a:p>
            <a:pPr indent="0" marL="0">
              <a:buNone/>
            </a:pPr>
            <a:r>
              <a:rPr lang="en-US" sz="2200" i="1" dirty="0">
                <a:solidFill>
                  <a:schemeClr val="accent1"/>
                </a:solidFill>
              </a:rPr>
              <a:t>Use the Detailed Assessment, and your KCTCS email so your results are saved for Module 8.</a:t>
            </a:r>
            <a:endParaRPr lang="en-US" sz="22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6.3</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How credentials stack</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874520"/>
            <a:ext cx="2567864" cy="288036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22960" y="2148840"/>
            <a:ext cx="685800" cy="685800"/>
          </a:xfrm>
          <a:prstGeom prst="ellipse">
            <a:avLst/>
          </a:prstGeom>
          <a:solidFill>
            <a:srgbClr val="00467F"/>
          </a:solidFill>
          <a:ln w="12700">
            <a:solidFill>
              <a:srgbClr val="00467F"/>
            </a:solidFill>
            <a:prstDash val="solid"/>
          </a:ln>
        </p:spPr>
      </p:sp>
      <p:pic>
        <p:nvPicPr>
          <p:cNvPr id="6" name="Decorative: LuAward">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3836" y="2299716"/>
            <a:ext cx="384048" cy="384048"/>
          </a:xfrm>
          <a:prstGeom prst="rect">
            <a:avLst/>
          </a:prstGeom>
        </p:spPr>
      </p:pic>
      <p:sp>
        <p:nvSpPr>
          <p:cNvPr id="7" name="Text 4"/>
          <p:cNvSpPr txBox="1"/>
          <p:nvPr/>
        </p:nvSpPr>
        <p:spPr>
          <a:xfrm>
            <a:off x="822960" y="2971800"/>
            <a:ext cx="2019224" cy="1600200"/>
          </a:xfrm>
          <a:prstGeom prst="rect">
            <a:avLst/>
          </a:prstGeom>
          <a:noFill/>
          <a:ln/>
        </p:spPr>
        <p:txBody>
          <a:bodyPr wrap="square" lIns="0" tIns="0" rIns="0" bIns="0" rtlCol="0" anchor="t"/>
          <a:lstStyle/>
          <a:p>
            <a:pPr indent="0" marL="0">
              <a:buNone/>
            </a:pPr>
            <a:r>
              <a:rPr lang="en-US" sz="2600" b="1" dirty="0">
                <a:solidFill>
                  <a:schemeClr val="tx2"/>
                </a:solidFill>
              </a:rPr>
              <a:t>Certificate</a:t>
            </a:r>
            <a:endParaRPr lang="en-US" sz="2400" dirty="0"/>
          </a:p>
          <a:p>
            <a:pPr indent="0" marL="0">
              <a:spcBef>
                <a:spcPts val="600"/>
              </a:spcBef>
              <a:buNone/>
            </a:pPr>
            <a:r>
              <a:rPr lang="en-US" sz="2400" dirty="0">
                <a:solidFill>
                  <a:schemeClr val="tx1"/>
                </a:solidFill>
              </a:rPr>
              <a:t>Focused job skills. The shortest path.</a:t>
            </a:r>
            <a:endParaRPr lang="en-US" sz="2400" dirty="0"/>
          </a:p>
        </p:txBody>
      </p:sp>
      <p:sp>
        <p:nvSpPr>
          <p:cNvPr id="8" name="Decorative: card">
            <a:extLst>
              <a:ext uri="{C183D7F6-B498-43B3-948B-1728B52AA6E4}">
                <adec:decorative xmlns:adec="http://schemas.microsoft.com/office/drawing/2017/decorative" val="1"/>
              </a:ext>
            </a:extLst>
          </p:cNvPr>
          <p:cNvSpPr/>
          <p:nvPr/>
        </p:nvSpPr>
        <p:spPr>
          <a:xfrm>
            <a:off x="3390824" y="1874520"/>
            <a:ext cx="2567864" cy="288036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3665144" y="2148840"/>
            <a:ext cx="685800" cy="685800"/>
          </a:xfrm>
          <a:prstGeom prst="ellipse">
            <a:avLst/>
          </a:prstGeom>
          <a:solidFill>
            <a:srgbClr val="00467F"/>
          </a:solidFill>
          <a:ln w="12700">
            <a:solidFill>
              <a:srgbClr val="00467F"/>
            </a:solidFill>
            <a:prstDash val="solid"/>
          </a:ln>
        </p:spPr>
      </p:sp>
      <p:pic>
        <p:nvPicPr>
          <p:cNvPr id="10" name="Decorative: LuFileBadge">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816020" y="2299716"/>
            <a:ext cx="384048" cy="384048"/>
          </a:xfrm>
          <a:prstGeom prst="rect">
            <a:avLst/>
          </a:prstGeom>
        </p:spPr>
      </p:pic>
      <p:sp>
        <p:nvSpPr>
          <p:cNvPr id="11" name="Text 7"/>
          <p:cNvSpPr txBox="1"/>
          <p:nvPr/>
        </p:nvSpPr>
        <p:spPr>
          <a:xfrm>
            <a:off x="3665144" y="2971800"/>
            <a:ext cx="2019224" cy="1600200"/>
          </a:xfrm>
          <a:prstGeom prst="rect">
            <a:avLst/>
          </a:prstGeom>
          <a:noFill/>
          <a:ln/>
        </p:spPr>
        <p:txBody>
          <a:bodyPr wrap="square" lIns="0" tIns="0" rIns="0" bIns="0" rtlCol="0" anchor="t"/>
          <a:lstStyle/>
          <a:p>
            <a:pPr indent="0" marL="0">
              <a:buNone/>
            </a:pPr>
            <a:r>
              <a:rPr lang="en-US" sz="2600" b="1" dirty="0">
                <a:solidFill>
                  <a:schemeClr val="tx2"/>
                </a:solidFill>
              </a:rPr>
              <a:t>Diploma</a:t>
            </a:r>
            <a:endParaRPr lang="en-US" sz="2400" dirty="0"/>
          </a:p>
          <a:p>
            <a:pPr indent="0" marL="0">
              <a:spcBef>
                <a:spcPts val="600"/>
              </a:spcBef>
              <a:buNone/>
            </a:pPr>
            <a:r>
              <a:rPr lang="en-US" sz="2400" dirty="0">
                <a:solidFill>
                  <a:schemeClr val="tx1"/>
                </a:solidFill>
              </a:rPr>
              <a:t>Certificates can build into one.</a:t>
            </a:r>
            <a:endParaRPr lang="en-US" sz="2400" dirty="0"/>
          </a:p>
        </p:txBody>
      </p:sp>
      <p:sp>
        <p:nvSpPr>
          <p:cNvPr id="12" name="Decorative: card">
            <a:extLst>
              <a:ext uri="{C183D7F6-B498-43B3-948B-1728B52AA6E4}">
                <adec:decorative xmlns:adec="http://schemas.microsoft.com/office/drawing/2017/decorative" val="1"/>
              </a:ext>
            </a:extLst>
          </p:cNvPr>
          <p:cNvSpPr/>
          <p:nvPr/>
        </p:nvSpPr>
        <p:spPr>
          <a:xfrm>
            <a:off x="6233008" y="1874520"/>
            <a:ext cx="2567864" cy="288036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6507328" y="2148840"/>
            <a:ext cx="685800" cy="685800"/>
          </a:xfrm>
          <a:prstGeom prst="ellipse">
            <a:avLst/>
          </a:prstGeom>
          <a:solidFill>
            <a:srgbClr val="00467F"/>
          </a:solidFill>
          <a:ln w="12700">
            <a:solidFill>
              <a:srgbClr val="00467F"/>
            </a:solidFill>
            <a:prstDash val="solid"/>
          </a:ln>
        </p:spPr>
      </p:sp>
      <p:pic>
        <p:nvPicPr>
          <p:cNvPr id="14" name="Decorative: LuGraduationCap">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58204" y="2299716"/>
            <a:ext cx="384048" cy="384048"/>
          </a:xfrm>
          <a:prstGeom prst="rect">
            <a:avLst/>
          </a:prstGeom>
        </p:spPr>
      </p:pic>
      <p:sp>
        <p:nvSpPr>
          <p:cNvPr id="15" name="Text 10"/>
          <p:cNvSpPr txBox="1"/>
          <p:nvPr/>
        </p:nvSpPr>
        <p:spPr>
          <a:xfrm>
            <a:off x="6507328" y="2971800"/>
            <a:ext cx="2019224" cy="1600200"/>
          </a:xfrm>
          <a:prstGeom prst="rect">
            <a:avLst/>
          </a:prstGeom>
          <a:noFill/>
          <a:ln/>
        </p:spPr>
        <p:txBody>
          <a:bodyPr wrap="square" lIns="0" tIns="0" rIns="0" bIns="0" rtlCol="0" anchor="t"/>
          <a:lstStyle/>
          <a:p>
            <a:pPr indent="0" marL="0">
              <a:buNone/>
            </a:pPr>
            <a:r>
              <a:rPr lang="en-US" sz="2600" b="1" dirty="0">
                <a:solidFill>
                  <a:schemeClr val="tx2"/>
                </a:solidFill>
              </a:rPr>
              <a:t>AAS degree</a:t>
            </a:r>
            <a:endParaRPr lang="en-US" sz="2400" dirty="0"/>
          </a:p>
          <a:p>
            <a:pPr indent="0" marL="0">
              <a:spcBef>
                <a:spcPts val="600"/>
              </a:spcBef>
              <a:buNone/>
            </a:pPr>
            <a:r>
              <a:rPr lang="en-US" sz="2400" dirty="0">
                <a:solidFill>
                  <a:schemeClr val="tx1"/>
                </a:solidFill>
              </a:rPr>
              <a:t>A career degree that can build on both.</a:t>
            </a:r>
            <a:endParaRPr lang="en-US" sz="2400" dirty="0"/>
          </a:p>
        </p:txBody>
      </p:sp>
      <p:sp>
        <p:nvSpPr>
          <p:cNvPr id="16" name="Decorative: card">
            <a:extLst>
              <a:ext uri="{C183D7F6-B498-43B3-948B-1728B52AA6E4}">
                <adec:decorative xmlns:adec="http://schemas.microsoft.com/office/drawing/2017/decorative" val="1"/>
              </a:ext>
            </a:extLst>
          </p:cNvPr>
          <p:cNvSpPr/>
          <p:nvPr/>
        </p:nvSpPr>
        <p:spPr>
          <a:xfrm>
            <a:off x="9075191" y="1874520"/>
            <a:ext cx="2567864" cy="2880360"/>
          </a:xfrm>
          <a:prstGeom prst="roundRect">
            <a:avLst>
              <a:gd name="adj" fmla="val 427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7" name="Decorative: icon circle">
            <a:extLst>
              <a:ext uri="{C183D7F6-B498-43B3-948B-1728B52AA6E4}">
                <adec:decorative xmlns:adec="http://schemas.microsoft.com/office/drawing/2017/decorative" val="1"/>
              </a:ext>
            </a:extLst>
          </p:cNvPr>
          <p:cNvSpPr/>
          <p:nvPr/>
        </p:nvSpPr>
        <p:spPr>
          <a:xfrm>
            <a:off x="9349511" y="2148840"/>
            <a:ext cx="685800" cy="685800"/>
          </a:xfrm>
          <a:prstGeom prst="ellipse">
            <a:avLst/>
          </a:prstGeom>
          <a:solidFill>
            <a:srgbClr val="E7A614"/>
          </a:solidFill>
          <a:ln w="12700">
            <a:solidFill>
              <a:srgbClr val="E7A614"/>
            </a:solidFill>
            <a:prstDash val="solid"/>
          </a:ln>
        </p:spPr>
      </p:sp>
      <p:pic>
        <p:nvPicPr>
          <p:cNvPr id="18" name="Decorative: LuArrowRightLeft">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00387" y="2299716"/>
            <a:ext cx="384048" cy="384048"/>
          </a:xfrm>
          <a:prstGeom prst="rect">
            <a:avLst/>
          </a:prstGeom>
        </p:spPr>
      </p:pic>
      <p:sp>
        <p:nvSpPr>
          <p:cNvPr id="19" name="Text 13"/>
          <p:cNvSpPr txBox="1"/>
          <p:nvPr/>
        </p:nvSpPr>
        <p:spPr>
          <a:xfrm>
            <a:off x="9349511" y="2971800"/>
            <a:ext cx="2019224" cy="1600200"/>
          </a:xfrm>
          <a:prstGeom prst="rect">
            <a:avLst/>
          </a:prstGeom>
          <a:noFill/>
          <a:ln/>
        </p:spPr>
        <p:txBody>
          <a:bodyPr wrap="square" lIns="0" tIns="0" rIns="0" bIns="0" rtlCol="0" anchor="t"/>
          <a:lstStyle/>
          <a:p>
            <a:pPr indent="0" marL="0">
              <a:buNone/>
            </a:pPr>
            <a:r>
              <a:rPr lang="en-US" sz="2600" b="1" dirty="0">
                <a:solidFill>
                  <a:schemeClr val="tx2"/>
                </a:solidFill>
              </a:rPr>
              <a:t>AA or AS degree</a:t>
            </a:r>
            <a:endParaRPr lang="en-US" sz="2400" dirty="0"/>
          </a:p>
          <a:p>
            <a:pPr indent="0" marL="0">
              <a:spcBef>
                <a:spcPts val="600"/>
              </a:spcBef>
              <a:buNone/>
            </a:pPr>
            <a:r>
              <a:rPr lang="en-US" sz="2400" dirty="0">
                <a:solidFill>
                  <a:schemeClr val="tx1"/>
                </a:solidFill>
              </a:rPr>
              <a:t>Built to transfer to a university.</a:t>
            </a:r>
            <a:endParaRPr lang="en-US" sz="2400" dirty="0"/>
          </a:p>
        </p:txBody>
      </p:sp>
      <p:sp>
        <p:nvSpPr>
          <p:cNvPr id="20" name="Decorative: callout">
            <a:extLst>
              <a:ext uri="{C183D7F6-B498-43B3-948B-1728B52AA6E4}">
                <adec:decorative xmlns:adec="http://schemas.microsoft.com/office/drawing/2017/decorative" val="1"/>
              </a:ext>
            </a:extLst>
          </p:cNvPr>
          <p:cNvSpPr/>
          <p:nvPr/>
        </p:nvSpPr>
        <p:spPr>
          <a:xfrm>
            <a:off x="548640" y="507492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21" name="Text 15"/>
          <p:cNvSpPr txBox="1"/>
          <p:nvPr/>
        </p:nvSpPr>
        <p:spPr>
          <a:xfrm>
            <a:off x="868680" y="518464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Stackable: courses that count toward the next, bigger credential.</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6.4</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Plan like a strategist</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828800"/>
            <a:ext cx="5387188" cy="1783080"/>
          </a:xfrm>
          <a:prstGeom prst="roundRect">
            <a:avLst>
              <a:gd name="adj" fmla="val 615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22960" y="2103120"/>
            <a:ext cx="685800" cy="685800"/>
          </a:xfrm>
          <a:prstGeom prst="ellipse">
            <a:avLst/>
          </a:prstGeom>
          <a:solidFill>
            <a:srgbClr val="00467F"/>
          </a:solidFill>
          <a:ln w="12700">
            <a:solidFill>
              <a:srgbClr val="00467F"/>
            </a:solidFill>
            <a:prstDash val="solid"/>
          </a:ln>
        </p:spPr>
      </p:sp>
      <p:pic>
        <p:nvPicPr>
          <p:cNvPr id="6" name="Decorative: LuListOrdered">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3836" y="2253996"/>
            <a:ext cx="384048" cy="384048"/>
          </a:xfrm>
          <a:prstGeom prst="rect">
            <a:avLst/>
          </a:prstGeom>
        </p:spPr>
      </p:pic>
      <p:sp>
        <p:nvSpPr>
          <p:cNvPr id="7" name="Text 4"/>
          <p:cNvSpPr txBox="1"/>
          <p:nvPr/>
        </p:nvSpPr>
        <p:spPr>
          <a:xfrm>
            <a:off x="1737360" y="2029968"/>
            <a:ext cx="3969868" cy="1463040"/>
          </a:xfrm>
          <a:prstGeom prst="rect">
            <a:avLst/>
          </a:prstGeom>
          <a:noFill/>
          <a:ln/>
        </p:spPr>
        <p:txBody>
          <a:bodyPr wrap="square" lIns="0" tIns="0" rIns="0" bIns="0" rtlCol="0" anchor="t"/>
          <a:lstStyle/>
          <a:p>
            <a:pPr indent="0" marL="0">
              <a:buNone/>
            </a:pPr>
            <a:r>
              <a:rPr lang="en-US" sz="2600" b="1" dirty="0">
                <a:solidFill>
                  <a:schemeClr val="tx2"/>
                </a:solidFill>
              </a:rPr>
              <a:t>What has to happen first</a:t>
            </a:r>
            <a:endParaRPr lang="en-US" sz="2400" dirty="0"/>
          </a:p>
          <a:p>
            <a:pPr indent="0" marL="0">
              <a:buNone/>
            </a:pPr>
            <a:r>
              <a:rPr lang="en-US" sz="2400" dirty="0">
                <a:solidFill>
                  <a:schemeClr val="tx1"/>
                </a:solidFill>
              </a:rPr>
              <a:t>Prerequisites and application deadlines.</a:t>
            </a:r>
            <a:endParaRPr lang="en-US" sz="2400" dirty="0"/>
          </a:p>
        </p:txBody>
      </p:sp>
      <p:sp>
        <p:nvSpPr>
          <p:cNvPr id="8" name="Decorative: card">
            <a:extLst>
              <a:ext uri="{C183D7F6-B498-43B3-948B-1728B52AA6E4}">
                <adec:decorative xmlns:adec="http://schemas.microsoft.com/office/drawing/2017/decorative" val="1"/>
              </a:ext>
            </a:extLst>
          </p:cNvPr>
          <p:cNvSpPr/>
          <p:nvPr/>
        </p:nvSpPr>
        <p:spPr>
          <a:xfrm>
            <a:off x="6255868" y="1828800"/>
            <a:ext cx="5387188" cy="1783080"/>
          </a:xfrm>
          <a:prstGeom prst="roundRect">
            <a:avLst>
              <a:gd name="adj" fmla="val 615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6530188" y="2103120"/>
            <a:ext cx="685800" cy="685800"/>
          </a:xfrm>
          <a:prstGeom prst="ellipse">
            <a:avLst/>
          </a:prstGeom>
          <a:solidFill>
            <a:srgbClr val="00467F"/>
          </a:solidFill>
          <a:ln w="12700">
            <a:solidFill>
              <a:srgbClr val="00467F"/>
            </a:solidFill>
            <a:prstDash val="solid"/>
          </a:ln>
        </p:spPr>
      </p:sp>
      <p:pic>
        <p:nvPicPr>
          <p:cNvPr id="10" name="Decorative: LuScale">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81064" y="2253996"/>
            <a:ext cx="384048" cy="384048"/>
          </a:xfrm>
          <a:prstGeom prst="rect">
            <a:avLst/>
          </a:prstGeom>
        </p:spPr>
      </p:pic>
      <p:sp>
        <p:nvSpPr>
          <p:cNvPr id="11" name="Text 7"/>
          <p:cNvSpPr txBox="1"/>
          <p:nvPr/>
        </p:nvSpPr>
        <p:spPr>
          <a:xfrm>
            <a:off x="7444588" y="2029968"/>
            <a:ext cx="3969868" cy="1463040"/>
          </a:xfrm>
          <a:prstGeom prst="rect">
            <a:avLst/>
          </a:prstGeom>
          <a:noFill/>
          <a:ln/>
        </p:spPr>
        <p:txBody>
          <a:bodyPr wrap="square" lIns="0" tIns="0" rIns="0" bIns="0" rtlCol="0" anchor="t"/>
          <a:lstStyle/>
          <a:p>
            <a:pPr indent="0" marL="0">
              <a:buNone/>
            </a:pPr>
            <a:r>
              <a:rPr lang="en-US" sz="2600" b="1" dirty="0">
                <a:solidFill>
                  <a:schemeClr val="tx2"/>
                </a:solidFill>
              </a:rPr>
              <a:t>A realistic load</a:t>
            </a:r>
            <a:endParaRPr lang="en-US" sz="2400" dirty="0"/>
          </a:p>
          <a:p>
            <a:pPr indent="0" marL="0">
              <a:buNone/>
            </a:pPr>
            <a:r>
              <a:rPr lang="en-US" sz="2400" dirty="0">
                <a:solidFill>
                  <a:schemeClr val="tx1"/>
                </a:solidFill>
              </a:rPr>
              <a:t>Classes, work, and life, together.</a:t>
            </a:r>
            <a:endParaRPr lang="en-US" sz="2400" dirty="0"/>
          </a:p>
        </p:txBody>
      </p:sp>
      <p:sp>
        <p:nvSpPr>
          <p:cNvPr id="12" name="Decorative: card">
            <a:extLst>
              <a:ext uri="{C183D7F6-B498-43B3-948B-1728B52AA6E4}">
                <adec:decorative xmlns:adec="http://schemas.microsoft.com/office/drawing/2017/decorative" val="1"/>
              </a:ext>
            </a:extLst>
          </p:cNvPr>
          <p:cNvSpPr/>
          <p:nvPr/>
        </p:nvSpPr>
        <p:spPr>
          <a:xfrm>
            <a:off x="548640" y="3886200"/>
            <a:ext cx="5387188" cy="1783080"/>
          </a:xfrm>
          <a:prstGeom prst="roundRect">
            <a:avLst>
              <a:gd name="adj" fmla="val 615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822960" y="4160520"/>
            <a:ext cx="685800" cy="685800"/>
          </a:xfrm>
          <a:prstGeom prst="ellipse">
            <a:avLst/>
          </a:prstGeom>
          <a:solidFill>
            <a:srgbClr val="00467F"/>
          </a:solidFill>
          <a:ln w="12700">
            <a:solidFill>
              <a:srgbClr val="00467F"/>
            </a:solidFill>
            <a:prstDash val="solid"/>
          </a:ln>
        </p:spPr>
      </p:sp>
      <p:pic>
        <p:nvPicPr>
          <p:cNvPr id="14" name="Decorative: LuTelescope">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73836" y="4311396"/>
            <a:ext cx="384048" cy="384048"/>
          </a:xfrm>
          <a:prstGeom prst="rect">
            <a:avLst/>
          </a:prstGeom>
        </p:spPr>
      </p:pic>
      <p:sp>
        <p:nvSpPr>
          <p:cNvPr id="15" name="Text 10"/>
          <p:cNvSpPr txBox="1"/>
          <p:nvPr/>
        </p:nvSpPr>
        <p:spPr>
          <a:xfrm>
            <a:off x="1737360" y="4087368"/>
            <a:ext cx="3969868" cy="1463040"/>
          </a:xfrm>
          <a:prstGeom prst="rect">
            <a:avLst/>
          </a:prstGeom>
          <a:noFill/>
          <a:ln/>
        </p:spPr>
        <p:txBody>
          <a:bodyPr wrap="square" lIns="0" tIns="0" rIns="0" bIns="0" rtlCol="0" anchor="t"/>
          <a:lstStyle/>
          <a:p>
            <a:pPr indent="0" marL="0">
              <a:buNone/>
            </a:pPr>
            <a:r>
              <a:rPr lang="en-US" sz="2600" b="1" dirty="0">
                <a:solidFill>
                  <a:schemeClr val="tx2"/>
                </a:solidFill>
              </a:rPr>
              <a:t>More than one semester</a:t>
            </a:r>
            <a:endParaRPr lang="en-US" sz="2400" dirty="0"/>
          </a:p>
          <a:p>
            <a:pPr indent="0" marL="0">
              <a:buNone/>
            </a:pPr>
            <a:r>
              <a:rPr lang="en-US" sz="2400" dirty="0">
                <a:solidFill>
                  <a:schemeClr val="tx1"/>
                </a:solidFill>
              </a:rPr>
              <a:t>Some courses aren't offered every semester.</a:t>
            </a:r>
            <a:endParaRPr lang="en-US" sz="2400" dirty="0"/>
          </a:p>
        </p:txBody>
      </p:sp>
      <p:sp>
        <p:nvSpPr>
          <p:cNvPr id="16" name="Decorative: card">
            <a:extLst>
              <a:ext uri="{C183D7F6-B498-43B3-948B-1728B52AA6E4}">
                <adec:decorative xmlns:adec="http://schemas.microsoft.com/office/drawing/2017/decorative" val="1"/>
              </a:ext>
            </a:extLst>
          </p:cNvPr>
          <p:cNvSpPr/>
          <p:nvPr/>
        </p:nvSpPr>
        <p:spPr>
          <a:xfrm>
            <a:off x="6255868" y="3886200"/>
            <a:ext cx="5387188" cy="1783080"/>
          </a:xfrm>
          <a:prstGeom prst="roundRect">
            <a:avLst>
              <a:gd name="adj" fmla="val 615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Decorative: icon circle">
            <a:extLst>
              <a:ext uri="{C183D7F6-B498-43B3-948B-1728B52AA6E4}">
                <adec:decorative xmlns:adec="http://schemas.microsoft.com/office/drawing/2017/decorative" val="1"/>
              </a:ext>
            </a:extLst>
          </p:cNvPr>
          <p:cNvSpPr/>
          <p:nvPr/>
        </p:nvSpPr>
        <p:spPr>
          <a:xfrm>
            <a:off x="6530188" y="4160520"/>
            <a:ext cx="685800" cy="685800"/>
          </a:xfrm>
          <a:prstGeom prst="ellipse">
            <a:avLst/>
          </a:prstGeom>
          <a:solidFill>
            <a:srgbClr val="00467F"/>
          </a:solidFill>
          <a:ln w="12700">
            <a:solidFill>
              <a:srgbClr val="00467F"/>
            </a:solidFill>
            <a:prstDash val="solid"/>
          </a:ln>
        </p:spPr>
      </p:sp>
      <p:pic>
        <p:nvPicPr>
          <p:cNvPr id="18" name="Decorative: LuRefreshCw">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81064" y="4311396"/>
            <a:ext cx="384048" cy="384048"/>
          </a:xfrm>
          <a:prstGeom prst="rect">
            <a:avLst/>
          </a:prstGeom>
        </p:spPr>
      </p:pic>
      <p:sp>
        <p:nvSpPr>
          <p:cNvPr id="19" name="Text 13"/>
          <p:cNvSpPr txBox="1"/>
          <p:nvPr/>
        </p:nvSpPr>
        <p:spPr>
          <a:xfrm>
            <a:off x="7444588" y="4087368"/>
            <a:ext cx="3969868" cy="1463040"/>
          </a:xfrm>
          <a:prstGeom prst="rect">
            <a:avLst/>
          </a:prstGeom>
          <a:noFill/>
          <a:ln/>
        </p:spPr>
        <p:txBody>
          <a:bodyPr wrap="square" lIns="0" tIns="0" rIns="0" bIns="0" rtlCol="0" anchor="t"/>
          <a:lstStyle/>
          <a:p>
            <a:pPr indent="0" marL="0">
              <a:buNone/>
            </a:pPr>
            <a:r>
              <a:rPr lang="en-US" sz="2600" b="1" dirty="0">
                <a:solidFill>
                  <a:schemeClr val="tx2"/>
                </a:solidFill>
              </a:rPr>
              <a:t>Keep it flexible</a:t>
            </a:r>
            <a:endParaRPr lang="en-US" sz="2400" dirty="0"/>
          </a:p>
          <a:p>
            <a:pPr indent="0" marL="0">
              <a:buNone/>
            </a:pPr>
            <a:r>
              <a:rPr lang="en-US" sz="2400" dirty="0">
                <a:solidFill>
                  <a:schemeClr val="tx1"/>
                </a:solidFill>
              </a:rPr>
              <a:t>A map, not a rigid schedule.</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TRAIL TIP</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How is my grade actually calculated?</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874520"/>
            <a:ext cx="5364328" cy="2743200"/>
          </a:xfrm>
          <a:prstGeom prst="roundRect">
            <a:avLst>
              <a:gd name="adj" fmla="val 400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68680" y="2194560"/>
            <a:ext cx="731520" cy="731520"/>
          </a:xfrm>
          <a:prstGeom prst="ellipse">
            <a:avLst/>
          </a:prstGeom>
          <a:solidFill>
            <a:srgbClr val="00467F"/>
          </a:solidFill>
          <a:ln w="12700">
            <a:solidFill>
              <a:srgbClr val="00467F"/>
            </a:solidFill>
            <a:prstDash val="solid"/>
          </a:ln>
        </p:spPr>
      </p:sp>
      <p:pic>
        <p:nvPicPr>
          <p:cNvPr id="6" name="Decorative: LuCalculato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29614" y="2355494"/>
            <a:ext cx="409651" cy="409651"/>
          </a:xfrm>
          <a:prstGeom prst="rect">
            <a:avLst/>
          </a:prstGeom>
        </p:spPr>
      </p:pic>
      <p:sp>
        <p:nvSpPr>
          <p:cNvPr id="7" name="Text 4"/>
          <p:cNvSpPr txBox="1"/>
          <p:nvPr/>
        </p:nvSpPr>
        <p:spPr>
          <a:xfrm>
            <a:off x="1783080" y="2221992"/>
            <a:ext cx="3809848" cy="685800"/>
          </a:xfrm>
          <a:prstGeom prst="rect">
            <a:avLst/>
          </a:prstGeom>
          <a:noFill/>
          <a:ln/>
        </p:spPr>
        <p:txBody>
          <a:bodyPr wrap="square" lIns="0" tIns="0" rIns="0" bIns="0" rtlCol="0" anchor="ctr"/>
          <a:lstStyle/>
          <a:p>
            <a:pPr indent="0" marL="0">
              <a:buNone/>
            </a:pPr>
            <a:r>
              <a:rPr lang="en-US" sz="2800" b="1" dirty="0">
                <a:solidFill>
                  <a:schemeClr val="tx2"/>
                </a:solidFill>
              </a:rPr>
              <a:t>Points-based</a:t>
            </a:r>
            <a:endParaRPr lang="en-US" sz="2800" dirty="0"/>
          </a:p>
        </p:txBody>
      </p:sp>
      <p:sp>
        <p:nvSpPr>
          <p:cNvPr id="8" name="Text 5"/>
          <p:cNvSpPr txBox="1"/>
          <p:nvPr/>
        </p:nvSpPr>
        <p:spPr>
          <a:xfrm>
            <a:off x="868680" y="3154680"/>
            <a:ext cx="4724248" cy="1280160"/>
          </a:xfrm>
          <a:prstGeom prst="rect">
            <a:avLst/>
          </a:prstGeom>
          <a:noFill/>
          <a:ln/>
        </p:spPr>
        <p:txBody>
          <a:bodyPr wrap="square" lIns="0" tIns="0" rIns="0" bIns="0" rtlCol="0" anchor="t"/>
          <a:lstStyle/>
          <a:p>
            <a:pPr indent="0" marL="0">
              <a:buNone/>
            </a:pPr>
            <a:r>
              <a:rPr lang="en-US" sz="2400" dirty="0">
                <a:solidFill>
                  <a:schemeClr val="tx1"/>
                </a:solidFill>
              </a:rPr>
              <a:t>Your points earned, divided by the points possible.</a:t>
            </a:r>
            <a:endParaRPr lang="en-US" sz="2400" dirty="0"/>
          </a:p>
        </p:txBody>
      </p:sp>
      <p:sp>
        <p:nvSpPr>
          <p:cNvPr id="9" name="Decorative: card">
            <a:extLst>
              <a:ext uri="{C183D7F6-B498-43B3-948B-1728B52AA6E4}">
                <adec:decorative xmlns:adec="http://schemas.microsoft.com/office/drawing/2017/decorative" val="1"/>
              </a:ext>
            </a:extLst>
          </p:cNvPr>
          <p:cNvSpPr/>
          <p:nvPr/>
        </p:nvSpPr>
        <p:spPr>
          <a:xfrm>
            <a:off x="6278728" y="1874520"/>
            <a:ext cx="5364328" cy="2743200"/>
          </a:xfrm>
          <a:prstGeom prst="roundRect">
            <a:avLst>
              <a:gd name="adj" fmla="val 4000"/>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0" name="Decorative: icon circle">
            <a:extLst>
              <a:ext uri="{C183D7F6-B498-43B3-948B-1728B52AA6E4}">
                <adec:decorative xmlns:adec="http://schemas.microsoft.com/office/drawing/2017/decorative" val="1"/>
              </a:ext>
            </a:extLst>
          </p:cNvPr>
          <p:cNvSpPr/>
          <p:nvPr/>
        </p:nvSpPr>
        <p:spPr>
          <a:xfrm>
            <a:off x="6598768" y="2194560"/>
            <a:ext cx="731520" cy="731520"/>
          </a:xfrm>
          <a:prstGeom prst="ellipse">
            <a:avLst/>
          </a:prstGeom>
          <a:solidFill>
            <a:srgbClr val="E7A614"/>
          </a:solidFill>
          <a:ln w="12700">
            <a:solidFill>
              <a:srgbClr val="E7A614"/>
            </a:solidFill>
            <a:prstDash val="solid"/>
          </a:ln>
        </p:spPr>
      </p:sp>
      <p:pic>
        <p:nvPicPr>
          <p:cNvPr id="11" name="Decorative: LuChartPie">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759702" y="2355494"/>
            <a:ext cx="409651" cy="409651"/>
          </a:xfrm>
          <a:prstGeom prst="rect">
            <a:avLst/>
          </a:prstGeom>
        </p:spPr>
      </p:pic>
      <p:sp>
        <p:nvSpPr>
          <p:cNvPr id="12" name="Text 8"/>
          <p:cNvSpPr txBox="1"/>
          <p:nvPr/>
        </p:nvSpPr>
        <p:spPr>
          <a:xfrm>
            <a:off x="7513168" y="2221992"/>
            <a:ext cx="3809848" cy="685800"/>
          </a:xfrm>
          <a:prstGeom prst="rect">
            <a:avLst/>
          </a:prstGeom>
          <a:noFill/>
          <a:ln/>
        </p:spPr>
        <p:txBody>
          <a:bodyPr wrap="square" lIns="0" tIns="0" rIns="0" bIns="0" rtlCol="0" anchor="ctr"/>
          <a:lstStyle/>
          <a:p>
            <a:pPr indent="0" marL="0">
              <a:buNone/>
            </a:pPr>
            <a:r>
              <a:rPr lang="en-US" sz="2800" b="1" dirty="0">
                <a:solidFill>
                  <a:schemeClr val="tx2"/>
                </a:solidFill>
              </a:rPr>
              <a:t>Weighted</a:t>
            </a:r>
            <a:endParaRPr lang="en-US" sz="2800" dirty="0"/>
          </a:p>
        </p:txBody>
      </p:sp>
      <p:sp>
        <p:nvSpPr>
          <p:cNvPr id="13" name="Text 9"/>
          <p:cNvSpPr txBox="1"/>
          <p:nvPr/>
        </p:nvSpPr>
        <p:spPr>
          <a:xfrm>
            <a:off x="6598768" y="3154680"/>
            <a:ext cx="4724248" cy="1280160"/>
          </a:xfrm>
          <a:prstGeom prst="rect">
            <a:avLst/>
          </a:prstGeom>
          <a:noFill/>
          <a:ln/>
        </p:spPr>
        <p:txBody>
          <a:bodyPr wrap="square" lIns="0" tIns="0" rIns="0" bIns="0" rtlCol="0" anchor="t"/>
          <a:lstStyle/>
          <a:p>
            <a:pPr indent="0" marL="0">
              <a:buNone/>
            </a:pPr>
            <a:r>
              <a:rPr lang="en-US" sz="2400" dirty="0">
                <a:solidFill>
                  <a:schemeClr val="tx1"/>
                </a:solidFill>
              </a:rPr>
              <a:t>Each category, like quizzes or projects, counts for a set percent.</a:t>
            </a:r>
            <a:endParaRPr lang="en-US" sz="2400" dirty="0"/>
          </a:p>
        </p:txBody>
      </p:sp>
      <p:sp>
        <p:nvSpPr>
          <p:cNvPr id="14" name="Decorative: callout">
            <a:extLst>
              <a:ext uri="{C183D7F6-B498-43B3-948B-1728B52AA6E4}">
                <adec:decorative xmlns:adec="http://schemas.microsoft.com/office/drawing/2017/decorative" val="1"/>
              </a:ext>
            </a:extLst>
          </p:cNvPr>
          <p:cNvSpPr/>
          <p:nvPr/>
        </p:nvSpPr>
        <p:spPr>
          <a:xfrm>
            <a:off x="548640" y="502920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5" name="Text 11"/>
          <p:cNvSpPr txBox="1"/>
          <p:nvPr/>
        </p:nvSpPr>
        <p:spPr>
          <a:xfrm>
            <a:off x="868680" y="513892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Your syllabus says which one. Your GPA weighs each grade by its credit hours.</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ASSIGNMENTS</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Due Monday by 11:59 PM Central</a:t>
            </a:r>
            <a:endParaRPr lang="en-US" sz="4000" dirty="0"/>
          </a:p>
        </p:txBody>
      </p:sp>
      <p:sp>
        <p:nvSpPr>
          <p:cNvPr id="4" name="Decorative: assignment row">
            <a:extLst>
              <a:ext uri="{C183D7F6-B498-43B3-948B-1728B52AA6E4}">
                <adec:decorative xmlns:adec="http://schemas.microsoft.com/office/drawing/2017/decorative" val="1"/>
              </a:ext>
            </a:extLst>
          </p:cNvPr>
          <p:cNvSpPr/>
          <p:nvPr/>
        </p:nvSpPr>
        <p:spPr>
          <a:xfrm>
            <a:off x="548640" y="187452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731520" y="1965960"/>
            <a:ext cx="548640" cy="548640"/>
          </a:xfrm>
          <a:prstGeom prst="ellipse">
            <a:avLst/>
          </a:prstGeom>
          <a:solidFill>
            <a:srgbClr val="00467F"/>
          </a:solidFill>
          <a:ln w="12700">
            <a:solidFill>
              <a:srgbClr val="00467F"/>
            </a:solidFill>
            <a:prstDash val="solid"/>
          </a:ln>
        </p:spPr>
      </p:sp>
      <p:pic>
        <p:nvPicPr>
          <p:cNvPr id="6" name="Decorative: LuCompass">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2221" y="2086661"/>
            <a:ext cx="307238" cy="307238"/>
          </a:xfrm>
          <a:prstGeom prst="rect">
            <a:avLst/>
          </a:prstGeom>
        </p:spPr>
      </p:pic>
      <p:sp>
        <p:nvSpPr>
          <p:cNvPr id="7" name="Text 4"/>
          <p:cNvSpPr txBox="1"/>
          <p:nvPr/>
        </p:nvSpPr>
        <p:spPr>
          <a:xfrm>
            <a:off x="1508760" y="192938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Task: Take the Career Coach assessment</a:t>
            </a:r>
            <a:endParaRPr lang="en-US" sz="2400" dirty="0"/>
          </a:p>
          <a:p>
            <a:pPr indent="0" marL="0">
              <a:buNone/>
            </a:pPr>
            <a:r>
              <a:rPr lang="en-US" sz="2000" dirty="0">
                <a:solidFill>
                  <a:schemeClr val="accent6"/>
                </a:solidFill>
              </a:rPr>
              <a:t>Your results feed Mile Marker #6</a:t>
            </a:r>
            <a:endParaRPr lang="en-US" sz="2400" dirty="0"/>
          </a:p>
        </p:txBody>
      </p:sp>
      <p:sp>
        <p:nvSpPr>
          <p:cNvPr id="8" name="Decorative: assignment row">
            <a:extLst>
              <a:ext uri="{C183D7F6-B498-43B3-948B-1728B52AA6E4}">
                <adec:decorative xmlns:adec="http://schemas.microsoft.com/office/drawing/2017/decorative" val="1"/>
              </a:ext>
            </a:extLst>
          </p:cNvPr>
          <p:cNvSpPr/>
          <p:nvPr/>
        </p:nvSpPr>
        <p:spPr>
          <a:xfrm>
            <a:off x="548640" y="288036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731520" y="2971800"/>
            <a:ext cx="548640" cy="548640"/>
          </a:xfrm>
          <a:prstGeom prst="ellipse">
            <a:avLst/>
          </a:prstGeom>
          <a:solidFill>
            <a:srgbClr val="00467F"/>
          </a:solidFill>
          <a:ln w="12700">
            <a:solidFill>
              <a:srgbClr val="00467F"/>
            </a:solidFill>
            <a:prstDash val="solid"/>
          </a:ln>
        </p:spPr>
      </p:sp>
      <p:pic>
        <p:nvPicPr>
          <p:cNvPr id="10" name="Decorative: LuCalendarRange">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52221" y="3092501"/>
            <a:ext cx="307238" cy="307238"/>
          </a:xfrm>
          <a:prstGeom prst="rect">
            <a:avLst/>
          </a:prstGeom>
        </p:spPr>
      </p:pic>
      <p:sp>
        <p:nvSpPr>
          <p:cNvPr id="11" name="Text 7"/>
          <p:cNvSpPr txBox="1"/>
          <p:nvPr/>
        </p:nvSpPr>
        <p:spPr>
          <a:xfrm>
            <a:off x="1508760" y="293522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Trail Tool: Academic Planner</a:t>
            </a:r>
            <a:endParaRPr lang="en-US" sz="2400" dirty="0"/>
          </a:p>
          <a:p>
            <a:pPr indent="0" marL="0">
              <a:buNone/>
            </a:pPr>
            <a:r>
              <a:rPr lang="en-US" sz="2000" dirty="0">
                <a:solidFill>
                  <a:schemeClr val="accent6"/>
                </a:solidFill>
              </a:rPr>
              <a:t>Online, or the fillable or printable planner in the module</a:t>
            </a:r>
            <a:endParaRPr lang="en-US" sz="2400" dirty="0"/>
          </a:p>
        </p:txBody>
      </p:sp>
      <p:sp>
        <p:nvSpPr>
          <p:cNvPr id="12" name="Decorative: assignment row">
            <a:extLst>
              <a:ext uri="{C183D7F6-B498-43B3-948B-1728B52AA6E4}">
                <adec:decorative xmlns:adec="http://schemas.microsoft.com/office/drawing/2017/decorative" val="1"/>
              </a:ext>
            </a:extLst>
          </p:cNvPr>
          <p:cNvSpPr/>
          <p:nvPr/>
        </p:nvSpPr>
        <p:spPr>
          <a:xfrm>
            <a:off x="548640" y="388620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731520" y="3977640"/>
            <a:ext cx="548640" cy="548640"/>
          </a:xfrm>
          <a:prstGeom prst="ellipse">
            <a:avLst/>
          </a:prstGeom>
          <a:solidFill>
            <a:srgbClr val="00467F"/>
          </a:solidFill>
          <a:ln w="12700">
            <a:solidFill>
              <a:srgbClr val="00467F"/>
            </a:solidFill>
            <a:prstDash val="solid"/>
          </a:ln>
        </p:spPr>
      </p:sp>
      <p:pic>
        <p:nvPicPr>
          <p:cNvPr id="14" name="Decorative: LuFlag">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52221" y="4098341"/>
            <a:ext cx="307238" cy="307238"/>
          </a:xfrm>
          <a:prstGeom prst="rect">
            <a:avLst/>
          </a:prstGeom>
        </p:spPr>
      </p:pic>
      <p:sp>
        <p:nvSpPr>
          <p:cNvPr id="15" name="Text 10"/>
          <p:cNvSpPr txBox="1"/>
          <p:nvPr/>
        </p:nvSpPr>
        <p:spPr>
          <a:xfrm>
            <a:off x="1508760" y="394106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Mile Marker #6: My Academic Plan</a:t>
            </a:r>
            <a:endParaRPr lang="en-US" sz="2400" dirty="0"/>
          </a:p>
          <a:p>
            <a:pPr indent="0" marL="0">
              <a:buNone/>
            </a:pPr>
            <a:r>
              <a:rPr lang="en-US" sz="2000" dirty="0">
                <a:solidFill>
                  <a:schemeClr val="accent6"/>
                </a:solidFill>
              </a:rPr>
              <a:t>Four questions, then bring it to advising</a:t>
            </a:r>
            <a:endParaRPr lang="en-US" sz="2400" dirty="0"/>
          </a:p>
        </p:txBody>
      </p:sp>
      <p:sp>
        <p:nvSpPr>
          <p:cNvPr id="16" name="Decorative: assignment row">
            <a:extLst>
              <a:ext uri="{C183D7F6-B498-43B3-948B-1728B52AA6E4}">
                <adec:decorative xmlns:adec="http://schemas.microsoft.com/office/drawing/2017/decorative" val="1"/>
              </a:ext>
            </a:extLst>
          </p:cNvPr>
          <p:cNvSpPr/>
          <p:nvPr/>
        </p:nvSpPr>
        <p:spPr>
          <a:xfrm>
            <a:off x="548640" y="489204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Decorative: icon circle">
            <a:extLst>
              <a:ext uri="{C183D7F6-B498-43B3-948B-1728B52AA6E4}">
                <adec:decorative xmlns:adec="http://schemas.microsoft.com/office/drawing/2017/decorative" val="1"/>
              </a:ext>
            </a:extLst>
          </p:cNvPr>
          <p:cNvSpPr/>
          <p:nvPr/>
        </p:nvSpPr>
        <p:spPr>
          <a:xfrm>
            <a:off x="731520" y="4983480"/>
            <a:ext cx="548640" cy="548640"/>
          </a:xfrm>
          <a:prstGeom prst="ellipse">
            <a:avLst/>
          </a:prstGeom>
          <a:solidFill>
            <a:srgbClr val="00467F"/>
          </a:solidFill>
          <a:ln w="12700">
            <a:solidFill>
              <a:srgbClr val="00467F"/>
            </a:solidFill>
            <a:prstDash val="solid"/>
          </a:ln>
        </p:spPr>
      </p:sp>
      <p:pic>
        <p:nvPicPr>
          <p:cNvPr id="18" name="Decorative: LuNotebookPen">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52221" y="5104181"/>
            <a:ext cx="307238" cy="307238"/>
          </a:xfrm>
          <a:prstGeom prst="rect">
            <a:avLst/>
          </a:prstGeom>
        </p:spPr>
      </p:pic>
      <p:sp>
        <p:nvSpPr>
          <p:cNvPr id="19" name="Text 13"/>
          <p:cNvSpPr txBox="1"/>
          <p:nvPr/>
        </p:nvSpPr>
        <p:spPr>
          <a:xfrm>
            <a:off x="1508760" y="494690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Online sections: Career Coach journal</a:t>
            </a:r>
            <a:endParaRPr lang="en-US" sz="2400" dirty="0"/>
          </a:p>
          <a:p>
            <a:pPr indent="0" marL="0">
              <a:buNone/>
            </a:pPr>
            <a:r>
              <a:rPr lang="en-US" sz="2000" dirty="0">
                <a:solidFill>
                  <a:schemeClr val="accent6"/>
                </a:solidFill>
              </a:rPr>
              <a:t>Private. Only your instructor reads it.</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MILE MARKER #6</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My Academic Plan</a:t>
            </a:r>
            <a:endParaRPr lang="en-US" sz="4000" dirty="0"/>
          </a:p>
        </p:txBody>
      </p:sp>
      <p:sp>
        <p:nvSpPr>
          <p:cNvPr id="4" name="Decorative: number circle">
            <a:extLst>
              <a:ext uri="{C183D7F6-B498-43B3-948B-1728B52AA6E4}">
                <adec:decorative xmlns:adec="http://schemas.microsoft.com/office/drawing/2017/decorative" val="1"/>
              </a:ext>
            </a:extLst>
          </p:cNvPr>
          <p:cNvSpPr/>
          <p:nvPr/>
        </p:nvSpPr>
        <p:spPr>
          <a:xfrm>
            <a:off x="548640" y="1874520"/>
            <a:ext cx="566928" cy="566928"/>
          </a:xfrm>
          <a:prstGeom prst="ellipse">
            <a:avLst/>
          </a:prstGeom>
          <a:solidFill>
            <a:srgbClr val="E7A614"/>
          </a:solidFill>
          <a:ln w="12700">
            <a:solidFill>
              <a:srgbClr val="E7A614"/>
            </a:solidFill>
            <a:prstDash val="solid"/>
          </a:ln>
        </p:spPr>
      </p:sp>
      <p:sp>
        <p:nvSpPr>
          <p:cNvPr id="5" name="Question 1 number"/>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1</a:t>
            </a:r>
            <a:endParaRPr lang="en-US" sz="2400" dirty="0"/>
          </a:p>
        </p:txBody>
      </p:sp>
      <p:sp>
        <p:nvSpPr>
          <p:cNvPr id="6" name="Text 4"/>
          <p:cNvSpPr txBox="1"/>
          <p:nvPr/>
        </p:nvSpPr>
        <p:spPr>
          <a:xfrm>
            <a:off x="1389888" y="1874520"/>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Your interest results, and whether they fit</a:t>
            </a:r>
            <a:endParaRPr lang="en-US" sz="2400" dirty="0"/>
          </a:p>
        </p:txBody>
      </p:sp>
      <p:sp>
        <p:nvSpPr>
          <p:cNvPr id="7" name="Decorative: number circle">
            <a:extLst>
              <a:ext uri="{C183D7F6-B498-43B3-948B-1728B52AA6E4}">
                <adec:decorative xmlns:adec="http://schemas.microsoft.com/office/drawing/2017/decorative" val="1"/>
              </a:ext>
            </a:extLst>
          </p:cNvPr>
          <p:cNvSpPr/>
          <p:nvPr/>
        </p:nvSpPr>
        <p:spPr>
          <a:xfrm>
            <a:off x="548640" y="2862072"/>
            <a:ext cx="566928" cy="566928"/>
          </a:xfrm>
          <a:prstGeom prst="ellipse">
            <a:avLst/>
          </a:prstGeom>
          <a:solidFill>
            <a:srgbClr val="E7A614"/>
          </a:solidFill>
          <a:ln w="12700">
            <a:solidFill>
              <a:srgbClr val="E7A614"/>
            </a:solidFill>
            <a:prstDash val="solid"/>
          </a:ln>
        </p:spPr>
      </p:sp>
      <p:sp>
        <p:nvSpPr>
          <p:cNvPr id="8" name="Question 2 number"/>
          <p:cNvSpPr txBox="1"/>
          <p:nvPr/>
        </p:nvSpPr>
        <p:spPr>
          <a:xfrm>
            <a:off x="548640" y="2862072"/>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2</a:t>
            </a:r>
            <a:endParaRPr lang="en-US" sz="2400" dirty="0"/>
          </a:p>
        </p:txBody>
      </p:sp>
      <p:sp>
        <p:nvSpPr>
          <p:cNvPr id="9" name="Text 7"/>
          <p:cNvSpPr txBox="1"/>
          <p:nvPr/>
        </p:nvSpPr>
        <p:spPr>
          <a:xfrm>
            <a:off x="1389888" y="2862072"/>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One OCTC program or pathway worth exploring</a:t>
            </a:r>
            <a:endParaRPr lang="en-US" sz="2400" dirty="0"/>
          </a:p>
        </p:txBody>
      </p:sp>
      <p:sp>
        <p:nvSpPr>
          <p:cNvPr id="10" name="Decorative: number circle">
            <a:extLst>
              <a:ext uri="{C183D7F6-B498-43B3-948B-1728B52AA6E4}">
                <adec:decorative xmlns:adec="http://schemas.microsoft.com/office/drawing/2017/decorative" val="1"/>
              </a:ext>
            </a:extLst>
          </p:cNvPr>
          <p:cNvSpPr/>
          <p:nvPr/>
        </p:nvSpPr>
        <p:spPr>
          <a:xfrm>
            <a:off x="548640" y="3849624"/>
            <a:ext cx="566928" cy="566928"/>
          </a:xfrm>
          <a:prstGeom prst="ellipse">
            <a:avLst/>
          </a:prstGeom>
          <a:solidFill>
            <a:srgbClr val="E7A614"/>
          </a:solidFill>
          <a:ln w="12700">
            <a:solidFill>
              <a:srgbClr val="E7A614"/>
            </a:solidFill>
            <a:prstDash val="solid"/>
          </a:ln>
        </p:spPr>
      </p:sp>
      <p:sp>
        <p:nvSpPr>
          <p:cNvPr id="11" name="Question 3 number"/>
          <p:cNvSpPr txBox="1"/>
          <p:nvPr/>
        </p:nvSpPr>
        <p:spPr>
          <a:xfrm>
            <a:off x="548640" y="3849624"/>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3</a:t>
            </a:r>
            <a:endParaRPr lang="en-US" sz="2400" dirty="0"/>
          </a:p>
        </p:txBody>
      </p:sp>
      <p:sp>
        <p:nvSpPr>
          <p:cNvPr id="12" name="Text 10"/>
          <p:cNvSpPr txBox="1"/>
          <p:nvPr/>
        </p:nvSpPr>
        <p:spPr>
          <a:xfrm>
            <a:off x="1389888" y="3849624"/>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Five questions for your Success Coach</a:t>
            </a:r>
            <a:endParaRPr lang="en-US" sz="2400" dirty="0"/>
          </a:p>
        </p:txBody>
      </p:sp>
      <p:sp>
        <p:nvSpPr>
          <p:cNvPr id="13" name="Decorative: number circle">
            <a:extLst>
              <a:ext uri="{C183D7F6-B498-43B3-948B-1728B52AA6E4}">
                <adec:decorative xmlns:adec="http://schemas.microsoft.com/office/drawing/2017/decorative" val="1"/>
              </a:ext>
            </a:extLst>
          </p:cNvPr>
          <p:cNvSpPr/>
          <p:nvPr/>
        </p:nvSpPr>
        <p:spPr>
          <a:xfrm>
            <a:off x="548640" y="4837176"/>
            <a:ext cx="566928" cy="566928"/>
          </a:xfrm>
          <a:prstGeom prst="ellipse">
            <a:avLst/>
          </a:prstGeom>
          <a:solidFill>
            <a:srgbClr val="E7A614"/>
          </a:solidFill>
          <a:ln w="12700">
            <a:solidFill>
              <a:srgbClr val="E7A614"/>
            </a:solidFill>
            <a:prstDash val="solid"/>
          </a:ln>
        </p:spPr>
      </p:sp>
      <p:sp>
        <p:nvSpPr>
          <p:cNvPr id="14" name="Question 4 number"/>
          <p:cNvSpPr txBox="1"/>
          <p:nvPr/>
        </p:nvSpPr>
        <p:spPr>
          <a:xfrm>
            <a:off x="548640" y="4837176"/>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4</a:t>
            </a:r>
            <a:endParaRPr lang="en-US" sz="2400" dirty="0"/>
          </a:p>
        </p:txBody>
      </p:sp>
      <p:sp>
        <p:nvSpPr>
          <p:cNvPr id="15" name="Text 13"/>
          <p:cNvSpPr txBox="1"/>
          <p:nvPr/>
        </p:nvSpPr>
        <p:spPr>
          <a:xfrm>
            <a:off x="1389888" y="4837176"/>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A realistic course load for next semester</a:t>
            </a:r>
            <a:endParaRPr lang="en-US" sz="2400" dirty="0"/>
          </a:p>
        </p:txBody>
      </p:sp>
      <p:sp>
        <p:nvSpPr>
          <p:cNvPr id="16" name="Decorative: mile marker details panel">
            <a:extLst>
              <a:ext uri="{C183D7F6-B498-43B3-948B-1728B52AA6E4}">
                <adec:decorative xmlns:adec="http://schemas.microsoft.com/office/drawing/2017/decorative" val="1"/>
              </a:ext>
            </a:extLst>
          </p:cNvPr>
          <p:cNvSpPr/>
          <p:nvPr/>
        </p:nvSpPr>
        <p:spPr>
          <a:xfrm>
            <a:off x="8229600" y="1874520"/>
            <a:ext cx="3413455" cy="3794760"/>
          </a:xfrm>
          <a:prstGeom prst="roundRect">
            <a:avLst>
              <a:gd name="adj" fmla="val 3215"/>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7" name="Text 15"/>
          <p:cNvSpPr txBox="1"/>
          <p:nvPr/>
        </p:nvSpPr>
        <p:spPr>
          <a:xfrm>
            <a:off x="8503920" y="2103120"/>
            <a:ext cx="2864815" cy="3383280"/>
          </a:xfrm>
          <a:prstGeom prst="rect">
            <a:avLst/>
          </a:prstGeom>
          <a:noFill/>
          <a:ln/>
        </p:spPr>
        <p:txBody>
          <a:bodyPr wrap="square" lIns="0" tIns="0" rIns="0" bIns="0" rtlCol="0" anchor="t"/>
          <a:lstStyle/>
          <a:p>
            <a:pPr indent="0" marL="0">
              <a:spcAft>
                <a:spcPts val="1000"/>
              </a:spcAft>
              <a:buNone/>
            </a:pPr>
            <a:r>
              <a:rPr lang="en-US" sz="2200" b="1" dirty="0">
                <a:solidFill>
                  <a:srgbClr val="7A5500"/>
                </a:solidFill>
              </a:rPr>
              <a:t>AI use: AI-supported</a:t>
            </a:r>
            <a:endParaRPr lang="en-US" sz="2200" dirty="0"/>
          </a:p>
          <a:p>
            <a:pPr indent="0" marL="0">
              <a:spcAft>
                <a:spcPts val="1000"/>
              </a:spcAft>
              <a:buNone/>
            </a:pPr>
            <a:r>
              <a:rPr lang="en-US" sz="2200" dirty="0">
                <a:solidFill>
                  <a:schemeClr val="tx1"/>
                </a:solidFill>
              </a:rPr>
              <a:t>Keep your student ID, birth date, and other personal details out of AI.</a:t>
            </a:r>
            <a:endParaRPr lang="en-US" sz="2200" dirty="0"/>
          </a:p>
          <a:p>
            <a:pPr indent="0" marL="0">
              <a:spcAft>
                <a:spcPts val="1000"/>
              </a:spcAft>
              <a:buNone/>
            </a:pPr>
            <a:r>
              <a:rPr lang="en-US" sz="1000" dirty="0">
                <a:solidFill>
                  <a:schemeClr val="tx1"/>
                </a:solidFill>
              </a:rPr>
              <a:t> </a:t>
            </a:r>
            <a:endParaRPr lang="en-US" sz="2200" dirty="0"/>
          </a:p>
          <a:p>
            <a:pPr indent="0" marL="0">
              <a:spcAft>
                <a:spcPts val="1000"/>
              </a:spcAft>
              <a:buNone/>
            </a:pPr>
            <a:r>
              <a:rPr lang="en-US" sz="2200" b="1" dirty="0">
                <a:solidFill>
                  <a:srgbClr val="7A5500"/>
                </a:solidFill>
              </a:rPr>
              <a:t>Bring it to advising.</a:t>
            </a:r>
            <a:endParaRPr lang="en-US" sz="2200" dirty="0"/>
          </a:p>
          <a:p>
            <a:pPr indent="0" marL="0">
              <a:spcAft>
                <a:spcPts val="1000"/>
              </a:spcAft>
              <a:buNone/>
            </a:pPr>
            <a:r>
              <a:rPr lang="en-US" sz="2200" dirty="0">
                <a:solidFill>
                  <a:schemeClr val="tx1"/>
                </a:solidFill>
              </a:rPr>
              <a:t>Your planner and questions make the appointment count.</a:t>
            </a:r>
            <a:endParaRPr lang="en-US" sz="22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Decorative: module cover 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3931920" y="640080"/>
            <a:ext cx="7680960" cy="411480"/>
          </a:xfrm>
          <a:prstGeom prst="rect">
            <a:avLst/>
          </a:prstGeom>
          <a:noFill/>
          <a:ln/>
        </p:spPr>
        <p:txBody>
          <a:bodyPr wrap="square" lIns="0" tIns="0" rIns="0" bIns="0" rtlCol="0"/>
          <a:lstStyle/>
          <a:p>
            <a:pPr algn="l" indent="0" marL="0">
              <a:buNone/>
            </a:pPr>
            <a:r>
              <a:rPr lang="en-US" sz="2000" b="1" spc="300" kern="0" dirty="0">
                <a:solidFill>
                  <a:schemeClr val="accent2"/>
                </a:solidFill>
              </a:rPr>
              <a:t>TALK IT THROUGH · IN CLASS</a:t>
            </a:r>
            <a:endParaRPr lang="en-US" sz="2000" dirty="0"/>
          </a:p>
        </p:txBody>
      </p:sp>
      <p:sp>
        <p:nvSpPr>
          <p:cNvPr id="4" name="Text 0"/>
          <p:cNvSpPr/>
          <p:nvPr>
            <p:ph idx="101" type="title" hasCustomPrompt="1"/>
          </p:nvPr>
        </p:nvSpPr>
        <p:spPr>
          <a:xfrm>
            <a:off x="3931920" y="1097280"/>
            <a:ext cx="7680960" cy="1371600"/>
          </a:xfrm>
          <a:prstGeom prst="rect">
            <a:avLst/>
          </a:prstGeom>
          <a:noFill/>
          <a:ln/>
        </p:spPr>
        <p:txBody>
          <a:bodyPr wrap="square" lIns="0" tIns="0" rIns="0" bIns="0" rtlCol="0" anchor="t"/>
          <a:lstStyle/>
          <a:p>
            <a:pPr algn="l" indent="0" marL="0">
              <a:buNone/>
            </a:pPr>
            <a:r>
              <a:rPr lang="en-US" sz="4000" b="1" dirty="0">
                <a:solidFill>
                  <a:schemeClr val="bg1"/>
                </a:solidFill>
              </a:rPr>
              <a:t>Did your results sound like you?</a:t>
            </a:r>
            <a:endParaRPr lang="en-US" sz="4000" dirty="0"/>
          </a:p>
        </p:txBody>
      </p:sp>
      <p:sp>
        <p:nvSpPr>
          <p:cNvPr id="5" name="Discussion questions"/>
          <p:cNvSpPr txBox="1"/>
          <p:nvPr/>
        </p:nvSpPr>
        <p:spPr>
          <a:xfrm>
            <a:off x="3931920" y="2697480"/>
            <a:ext cx="7589520" cy="182880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400" dirty="0">
                <a:solidFill>
                  <a:schemeClr val="bg1"/>
                </a:solidFill>
              </a:rPr>
              <a:t>What were your top interest types? Did they feel accurate?</a:t>
            </a:r>
            <a:endParaRPr lang="en-US" sz="2400" dirty="0"/>
          </a:p>
          <a:p>
            <a:pPr marL="342900" indent="-342900">
              <a:spcAft>
                <a:spcPts val="1200"/>
              </a:spcAft>
              <a:buSzPct val="100000"/>
              <a:buFont typeface="+mj-lt"/>
              <a:buAutoNum type="arabicPeriod" startAt="1"/>
            </a:pPr>
            <a:r>
              <a:rPr lang="en-US" sz="2400" dirty="0">
                <a:solidFill>
                  <a:schemeClr val="bg1"/>
                </a:solidFill>
              </a:rPr>
              <a:t>Name one OCTC program you want to know more about, and one question about it.</a:t>
            </a:r>
            <a:endParaRPr lang="en-US" sz="2400" dirty="0"/>
          </a:p>
        </p:txBody>
      </p:sp>
      <p:sp>
        <p:nvSpPr>
          <p:cNvPr id="6" name="Text 3"/>
          <p:cNvSpPr txBox="1"/>
          <p:nvPr/>
        </p:nvSpPr>
        <p:spPr>
          <a:xfrm>
            <a:off x="3931920" y="4617720"/>
            <a:ext cx="5120640" cy="731520"/>
          </a:xfrm>
          <a:prstGeom prst="rect">
            <a:avLst/>
          </a:prstGeom>
          <a:noFill/>
          <a:ln/>
        </p:spPr>
        <p:txBody>
          <a:bodyPr wrap="square" lIns="0" tIns="0" rIns="0" bIns="0" rtlCol="0" anchor="t"/>
          <a:lstStyle/>
          <a:p>
            <a:pPr indent="0" marL="0">
              <a:buNone/>
            </a:pPr>
            <a:r>
              <a:rPr lang="en-US" sz="2200" i="1" dirty="0">
                <a:solidFill>
                  <a:srgbClr val="D6EEFA"/>
                </a:solidFill>
              </a:rPr>
              <a:t>Talk with a partner for 3 minutes, then share one question with the room.</a:t>
            </a:r>
            <a:endParaRPr lang="en-US" sz="2200" dirty="0"/>
          </a:p>
        </p:txBody>
      </p:sp>
    </p:spTree>
  </p:cSld>
  <p:clrMapOvr>
    <a:masterClrMapping/>
  </p:clrMapOvr>
</p:sld>
</file>

<file path=ppt/theme/theme1.xml><?xml version="1.0" encoding="utf-8"?>
<a:theme xmlns:a="http://schemas.openxmlformats.org/drawingml/2006/main" name="FYE 100 Pathfinder">
  <a:themeElements>
    <a:clrScheme name="FYE 100 Pathfinder">
      <a:dk1>
        <a:srgbClr val="17212B"/>
      </a:dk1>
      <a:lt1>
        <a:srgbClr val="FFFFFF"/>
      </a:lt1>
      <a:dk2>
        <a:srgbClr val="011D41"/>
      </a:dk2>
      <a:lt2>
        <a:srgbClr val="EAF4FB"/>
      </a:lt2>
      <a:accent1>
        <a:srgbClr val="00467F"/>
      </a:accent1>
      <a:accent2>
        <a:srgbClr val="E7A614"/>
      </a:accent2>
      <a:accent3>
        <a:srgbClr val="3BB3E5"/>
      </a:accent3>
      <a:accent4>
        <a:srgbClr val="0B5F86"/>
      </a:accent4>
      <a:accent5>
        <a:srgbClr val="FFF5DC"/>
      </a:accent5>
      <a:accent6>
        <a:srgbClr val="52606D"/>
      </a:accent6>
      <a:hlink>
        <a:srgbClr val="00467F"/>
      </a:hlink>
      <a:folHlink>
        <a:srgbClr val="0B5F86"/>
      </a:folHlink>
    </a:clrScheme>
    <a:fontScheme name="FYE 100 Pathfind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Owensboro Community &amp; Technical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FYE 100 Module 6: Map Your Path: Academic Planning</dc:title>
  <dc:subject>FYE 100 instructor slides</dc:subject>
  <dc:creator>OCTC FYE 100</dc:creator>
  <cp:lastModifiedBy>OCTC FYE 100</cp:lastModifiedBy>
  <cp:revision>1</cp:revision>
  <dcterms:created xsi:type="dcterms:W3CDTF">2026-10-19T21:04:29Z</dcterms:created>
  <dcterms:modified xsi:type="dcterms:W3CDTF">2026-10-19T21:04:29Z</dcterms:modified>
</cp:coreProperties>
</file>