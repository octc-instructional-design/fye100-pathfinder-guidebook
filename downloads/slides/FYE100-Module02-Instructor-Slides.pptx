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3c0d407-c84e-cb8b-c769-52482d1c778c}">
          <p14:sldIdLst>
            <p14:sldId id="256"/>
            <p14:sldId id="257"/>
          </p14:sldIdLst>
        </p14:section>
        <p14:section name="This week" id="{585a4145-7f83-4b80-87ce-56b65a8612b0}">
          <p14:sldIdLst>
            <p14:sldId id="258"/>
          </p14:sldIdLst>
        </p14:section>
        <p14:section name="Lessons" id="{7a07137f-d38d-079e-6081-d2c1c34d4a0e}">
          <p14:sldIdLst>
            <p14:sldId id="259"/>
            <p14:sldId id="260"/>
            <p14:sldId id="261"/>
            <p14:sldId id="262"/>
            <p14:sldId id="263"/>
            <p14:sldId id="264"/>
          </p14:sldIdLst>
        </p14:section>
        <p14:section name="This week's work" id="{3b0df3b6-1f2d-fe58-94de-0e3a5da3aaaa}">
          <p14:sldIdLst>
            <p14:sldId id="265"/>
            <p14:sldId id="266"/>
          </p14:sldIdLst>
        </p14:section>
        <p14:section name="Discussion" id="{ce620f58-840e-f297-5a66-5fe83f487ba3}">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2: Building Your Support System.
Last week was about getting oriented. This week is about people: who's in your corner at OCTC, how to reach them, and how to ask for help in a way that actually gets you help.
The two owls on the branch are the idea for the week. Nobody does the trail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Edit the announcements box before class. Skip or hide this slide when recording for online sections (right-click the slide, Hide Slide).
Ideas: Mile Marker #1 feedback is posted, office hours this week, a campus date coming up.
Quick look back at Module 1: anything students were confused about, and a reminder that the Trailhead in Blackboard is the place to start every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trail this week. Four things you'll do: find your Success Coach, practice asking for help, write emails that get answers, and get your Merit page and profiles set up.
The three skills on the right are the 10 Essential Skills this module builds. The Skill Spotlight is #4, Interpersonal Relations. That's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module starts with one of the 10 Essential Skills from the Kentucky Graduate Profile. This week it's Interpersonal Relations.
It's more than being friendly. It's knowing how your own background and experience shape the way you show up with people, and being able to work with people who see things differently.
Left side: where most students start. You notice that people are different. Right side: where this course is headed. You can explain how your own story shapes your relationships, and you engage with other views instead of watching them from a distance.
Ask: Where does this skill show up in this module? (Everywhere: reaching out to your Success Coach, asking for help, emailing an instructor.)
Point out: this is a common pick for the fourth STAR(T) Story at the end of the semester, so start noticing moments where how you treated someone changed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Success Coach is one person whose job is to help you succeed: academic planning, connecting you to resources, keeping you on track.
There are two ways to look them up. Either one works.
Student Self-Service: log in, go to the Student Center, select the Advising &amp; Classes tile, and look for Academic Advisor(s) on the left.
Starfish: open it from MyPath or the Blackboard course menu and select My Success Network.
Once you have the name: save it in your phone, and send a short introduction email this week. Lesson 2.4 shows you how.
In class: if there's time, have students look their coach up right now on a phone or laptop. It takes two minutes and it's Task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idea: asking for help is something successful students do on purpose. It's initiative, not weakness.
You already know how to do this. When your car makes a weird noise, you ask somebody. This is the same skill, aimed at college.
Walk the four tips. Ask early. Be specific. Communicate professionally: instructors and advisors are colleagues, not customer service. Follow through: use the advice and close the loop.
Name the resources out loud: Teaching &amp; Learning Center for tutoring, Counseling Center, the Library, Accessibility Services, TRIO, IT for logins and email. Lesson 2.3 links to every one of them.
Ask: What usually gets in the way of asking? (Pride, not wanting to bother anyone, not knowing who to ask.) Those are the same barriers the AI Chat will help them think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KCTCS email is how OCTC reaches you: instructors, financial aid, deadlines. Check it at least three times a week.
The most common mistake: putting the whole message in the subject line. The subject is a short title. The message goes in the body.
A good subject line is short, specific, and names the course and section. Your instructor knows what you need before opening it, and can find it again later.
Then the four parts of any professional email: a greeting with the right title (Professor works for anyone), who you are and which section, a clear question, and a polite closing with your full name.
Ask: Before you email, what should you check first? (The syllabus and announcements. Showing you looked goes a long way.)
Optional activity: give pairs a bad email and two minutes to rewrite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quick Trail Tips this week, both about making a digital course feel less anonymous.
First, get your KCTCS email on your phone. Set up Microsoft Authenticator first, then the Outlook app, and turn notifications on.
Second, add a profile photo in Blackboard and in your Microsoft account. It doesn't need to be professional. Instructors really do notice faces.
Third card is Task #1: claim your Merit page. Look for an email titled "Claim Your Merit Page at Owensboro Community &amp; Technical College." Merit is where your three Merit activities for this course get recorded.
Heads up: Student Affairs adds students to Merit after add/drop. If the invitation hasn't arrived, wait a day or two, then let me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sets up this week's AI Chat, and it's one of the most useful AI literacy ideas in the course.
Before you type anything, the AI has already read instructions you can't see. That's called a system prompt. In our AI Chats, those instructions come from how the chat was set up in Blackboard: the topic, the coach's personality, and rules like "don't write the student's answers for them."
Same message, two setups. A generic chatbot gives you a list of tips. Coach Pathfinder asks you a question back. It's not broken when it keeps asking questions. That's its job.
Three things to know: your instructor can see the whole conversation after you submit; it can still be wrong, and the closing reflection is where you say so; and if you have a concern about using AI, talk to me before it's due and we'll find another way.
Ask: Next time you use any AI tool, what's the question to ask? (What was this told to do before I showed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due Monday by 11:59 PM Central.
Tasks #1 and #2 are quick: claim your Merit page and share the link, and find your Success Coach's name and contact information.
The AI Chat, Who Has Your Back?, is a conversation with Coach Pathfinder about your support network. Plan for 10 to 15 minutes. It's in the ENGAGE area.
The Mile Marker is the big one, and it's next.
In-person sections: today's attendance point counts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 Marker #2 is three questions.
One: three people at OCTC who can help you. Start with your Success Coach, by name. At least two should be people who work here. Naming a person, not just an office, is what makes it real.
Two: two specific ways you'll use that network. Not "I'll reach out when I need help." When, how, and for what.
Three: one campus resource you haven't used yet, why it matters for you, and one next step.
AI use is AI-supported: you can use AI to think it through, but the writing is yours. There's an optional AI thinking partner prompt on the Mile Marker page in the guidebook.
The guidebook has a fill-in form that saves a PDF, and there's a printable handout in Blackboard if you'd rather write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In-person discussion. This mirrors the AI Chat question, so it's a good warm-up for it.
Pairs for about three minutes, then ask two or three people to share one idea with the room.
Listen for: pride, not wanting to be a bother, not knowing who to ask. Name those as normal, then connect them back to Lesson 2.3: ask early, be specific.
For online recordings: pose the question and ask students to think about it before they open the AI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YE Title">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1051560"/>
            <a:ext cx="7680960" cy="45720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554480"/>
            <a:ext cx="76809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3931920" y="3611880"/>
            <a:ext cx="6949440" cy="1005840"/>
          </a:xfrm>
          <a:prstGeom prst="rect">
            <a:avLst/>
          </a:prstGeom>
          <a:noFill/>
          <a:ln/>
        </p:spPr>
        <p:txBody>
          <a:bodyPr wrap="square" rtlCol="0"/>
          <a:lstStyle>
            <a:lvl1pPr algn="l" indent="0" marL="0">
              <a:buNone/>
              <a:defRPr lang="en-US" sz="3200" dirty="0">
                <a:solidFill>
                  <a:srgbClr val="D6EEFA"/>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YE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rtlCol="0"/>
          <a:lstStyle>
            <a:lvl1pPr algn="l" indent="0" marL="0">
              <a:buNone/>
              <a:defRPr lang="en-US" sz="2000" b="1" spc="300" kern="0" dirty="0">
                <a:solidFill>
                  <a:schemeClr val="accent4"/>
                </a:solidFill>
              </a:defRPr>
            </a:lvl1pPr>
          </a:lstStyle>
          <a:p>
            <a:pPr algn="l" indent="0" marL="0">
              <a:buNone/>
            </a:pP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YE Discussion">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640080"/>
            <a:ext cx="7680960" cy="41148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097280"/>
            <a:ext cx="768096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1051560"/>
            <a:ext cx="7680960" cy="457200"/>
          </a:xfrm>
          <a:prstGeom prst="rect">
            <a:avLst/>
          </a:prstGeom>
          <a:noFill/>
          <a:ln/>
        </p:spPr>
        <p:txBody>
          <a:bodyPr wrap="square" lIns="0" tIns="0" rIns="0" bIns="0" rtlCol="0"/>
          <a:lstStyle/>
          <a:p>
            <a:pPr algn="l" indent="0" marL="0">
              <a:buNone/>
            </a:pPr>
            <a:r>
              <a:rPr lang="en-US" sz="2000" b="1" spc="300" kern="0" dirty="0">
                <a:solidFill>
                  <a:schemeClr val="accent2"/>
                </a:solidFill>
              </a:rPr>
              <a:t>MODULE 2</a:t>
            </a:r>
            <a:endParaRPr lang="en-US" sz="2000" dirty="0"/>
          </a:p>
        </p:txBody>
      </p:sp>
      <p:sp>
        <p:nvSpPr>
          <p:cNvPr id="4" name="Text 0"/>
          <p:cNvSpPr/>
          <p:nvPr>
            <p:ph idx="101" type="title" hasCustomPrompt="1"/>
          </p:nvPr>
        </p:nvSpPr>
        <p:spPr>
          <a:xfrm>
            <a:off x="3931920" y="1554480"/>
            <a:ext cx="7680960" cy="2011680"/>
          </a:xfrm>
          <a:prstGeom prst="rect">
            <a:avLst/>
          </a:prstGeom>
          <a:noFill/>
          <a:ln/>
        </p:spPr>
        <p:txBody>
          <a:bodyPr wrap="square" lIns="0" tIns="0" rIns="0" bIns="0" rtlCol="0" anchor="t"/>
          <a:lstStyle/>
          <a:p>
            <a:pPr algn="l" indent="0" marL="0">
              <a:buNone/>
            </a:pPr>
            <a:r>
              <a:rPr lang="en-US" sz="5400" b="1" dirty="0">
                <a:solidFill>
                  <a:schemeClr val="bg1"/>
                </a:solidFill>
              </a:rPr>
              <a:t>Building Your Support System</a:t>
            </a:r>
            <a:endParaRPr lang="en-US" sz="5400" dirty="0"/>
          </a:p>
        </p:txBody>
      </p:sp>
      <p:sp>
        <p:nvSpPr>
          <p:cNvPr id="5" name="Text 0"/>
          <p:cNvSpPr/>
          <p:nvPr>
            <p:ph idx="102" type="body" hasCustomPrompt="1"/>
          </p:nvPr>
        </p:nvSpPr>
        <p:spPr>
          <a:xfrm>
            <a:off x="3931920" y="3611880"/>
            <a:ext cx="6949440" cy="1005840"/>
          </a:xfrm>
          <a:prstGeom prst="rect">
            <a:avLst/>
          </a:prstGeom>
          <a:noFill/>
          <a:ln/>
        </p:spPr>
        <p:txBody>
          <a:bodyPr wrap="square" lIns="0" tIns="0" rIns="0" bIns="0" rtlCol="0" anchor="t"/>
          <a:lstStyle/>
          <a:p>
            <a:pPr algn="l" indent="0" marL="0">
              <a:buNone/>
            </a:pPr>
            <a:r>
              <a:rPr lang="en-US" sz="3200" dirty="0">
                <a:solidFill>
                  <a:srgbClr val="D6EEFA"/>
                </a:solidFill>
              </a:rPr>
              <a:t>No one completes a journey alone.</a:t>
            </a:r>
            <a:endParaRPr lang="en-US" sz="3200" dirty="0"/>
          </a:p>
        </p:txBody>
      </p:sp>
      <p:sp>
        <p:nvSpPr>
          <p:cNvPr id="6" name="Instructor and section (edit me)"/>
          <p:cNvSpPr txBox="1"/>
          <p:nvPr/>
        </p:nvSpPr>
        <p:spPr>
          <a:xfrm>
            <a:off x="3931920" y="4709160"/>
            <a:ext cx="5486400" cy="411480"/>
          </a:xfrm>
          <a:prstGeom prst="rect">
            <a:avLst/>
          </a:prstGeom>
          <a:noFill/>
          <a:ln/>
        </p:spPr>
        <p:txBody>
          <a:bodyPr wrap="square" lIns="0" tIns="0" rIns="0" bIns="0" rtlCol="0" anchor="t"/>
          <a:lstStyle/>
          <a:p>
            <a:pPr indent="0" marL="0">
              <a:buNone/>
            </a:pPr>
            <a:r>
              <a:rPr lang="en-US" sz="2000" dirty="0">
                <a:solidFill>
                  <a:srgbClr val="D6EEFA"/>
                </a:solidFill>
              </a:rPr>
              <a:t>Instructor name  ·  Section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INSTRUCTOR SLIDE · HOUSEKEEPING</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Breaking Camp</a:t>
            </a:r>
            <a:endParaRPr lang="en-US" sz="4000" dirty="0"/>
          </a:p>
        </p:txBody>
      </p:sp>
      <p:sp>
        <p:nvSpPr>
          <p:cNvPr id="4" name="Text 2"/>
          <p:cNvSpPr txBox="1"/>
          <p:nvPr/>
        </p:nvSpPr>
        <p:spPr>
          <a:xfrm>
            <a:off x="548640" y="1645920"/>
            <a:ext cx="10515600" cy="457200"/>
          </a:xfrm>
          <a:prstGeom prst="rect">
            <a:avLst/>
          </a:prstGeom>
          <a:noFill/>
          <a:ln/>
        </p:spPr>
        <p:txBody>
          <a:bodyPr wrap="square" lIns="0" tIns="0" rIns="0" bIns="0" rtlCol="0" anchor="t"/>
          <a:lstStyle/>
          <a:p>
            <a:pPr indent="0" marL="0">
              <a:buNone/>
            </a:pPr>
            <a:r>
              <a:rPr lang="en-US" sz="2400" i="1" dirty="0">
                <a:solidFill>
                  <a:schemeClr val="accent6"/>
                </a:solidFill>
              </a:rPr>
              <a:t>Pack up Module 1, then look ahead to Module 2.</a:t>
            </a:r>
            <a:endParaRPr lang="en-US" sz="2400" dirty="0"/>
          </a:p>
        </p:txBody>
      </p:sp>
      <p:sp>
        <p:nvSpPr>
          <p:cNvPr id="5" name="Decorative: announcements panel">
            <a:extLst>
              <a:ext uri="{C183D7F6-B498-43B3-948B-1728B52AA6E4}">
                <adec:decorative xmlns:adec="http://schemas.microsoft.com/office/drawing/2017/decorative" val="1"/>
              </a:ext>
            </a:extLst>
          </p:cNvPr>
          <p:cNvSpPr/>
          <p:nvPr/>
        </p:nvSpPr>
        <p:spPr>
          <a:xfrm>
            <a:off x="548640" y="2331720"/>
            <a:ext cx="6949440" cy="3749040"/>
          </a:xfrm>
          <a:prstGeom prst="roundRect">
            <a:avLst>
              <a:gd name="adj" fmla="val 2927"/>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868680" y="2560320"/>
            <a:ext cx="6400800" cy="411480"/>
          </a:xfrm>
          <a:prstGeom prst="rect">
            <a:avLst/>
          </a:prstGeom>
          <a:noFill/>
          <a:ln/>
        </p:spPr>
        <p:txBody>
          <a:bodyPr wrap="square" lIns="0" tIns="0" rIns="0" bIns="0" rtlCol="0" anchor="t"/>
          <a:lstStyle/>
          <a:p>
            <a:pPr indent="0" marL="0">
              <a:buNone/>
            </a:pPr>
            <a:r>
              <a:rPr lang="en-US" sz="2800" b="1" dirty="0">
                <a:solidFill>
                  <a:schemeClr val="tx2"/>
                </a:solidFill>
              </a:rPr>
              <a:t>Announcements</a:t>
            </a:r>
            <a:endParaRPr lang="en-US" sz="2800" dirty="0"/>
          </a:p>
        </p:txBody>
      </p:sp>
      <p:sp>
        <p:nvSpPr>
          <p:cNvPr id="7" name="Announcements (edit me)"/>
          <p:cNvSpPr txBox="1"/>
          <p:nvPr/>
        </p:nvSpPr>
        <p:spPr>
          <a:xfrm>
            <a:off x="868680" y="3063240"/>
            <a:ext cx="6400800" cy="2743200"/>
          </a:xfrm>
          <a:prstGeom prst="rect">
            <a:avLst/>
          </a:prstGeom>
          <a:noFill/>
          <a:ln/>
        </p:spPr>
        <p:txBody>
          <a:bodyPr wrap="square" lIns="0" tIns="0" rIns="0" bIns="0" rtlCol="0" anchor="t"/>
          <a:lstStyle/>
          <a:p>
            <a:pPr indent="0" marL="0">
              <a:buNone/>
            </a:pPr>
            <a:r>
              <a:rPr lang="en-US" sz="2400" dirty="0">
                <a:solidFill>
                  <a:schemeClr val="accent6"/>
                </a:solidFill>
              </a:rPr>
              <a:t>Add this week's announcements here.</a:t>
            </a:r>
            <a:endParaRPr lang="en-US" sz="2400" dirty="0"/>
          </a:p>
          <a:p>
            <a:pPr indent="0" marL="0">
              <a:buNone/>
            </a:pPr>
            <a:r>
              <a:rPr lang="en-US" sz="2400" dirty="0">
                <a:solidFill>
                  <a:schemeClr val="accent6"/>
                </a:solidFill>
              </a:rPr>
              <a:t>Grades posted, office hours, campus dates.</a:t>
            </a:r>
            <a:endParaRPr lang="en-US" sz="2400" dirty="0"/>
          </a:p>
        </p:txBody>
      </p:sp>
      <p:sp>
        <p:nvSpPr>
          <p:cNvPr id="8" name="Decorative: looking ahead panel">
            <a:extLst>
              <a:ext uri="{C183D7F6-B498-43B3-948B-1728B52AA6E4}">
                <adec:decorative xmlns:adec="http://schemas.microsoft.com/office/drawing/2017/decorative" val="1"/>
              </a:ext>
            </a:extLst>
          </p:cNvPr>
          <p:cNvSpPr/>
          <p:nvPr/>
        </p:nvSpPr>
        <p:spPr>
          <a:xfrm>
            <a:off x="7818120" y="2331720"/>
            <a:ext cx="3824935" cy="3749040"/>
          </a:xfrm>
          <a:prstGeom prst="roundRect">
            <a:avLst>
              <a:gd name="adj" fmla="val 2927"/>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8138160" y="2606040"/>
            <a:ext cx="731520" cy="731520"/>
          </a:xfrm>
          <a:prstGeom prst="ellipse">
            <a:avLst/>
          </a:prstGeom>
          <a:solidFill>
            <a:srgbClr val="E7A614"/>
          </a:solidFill>
          <a:ln w="12700">
            <a:solidFill>
              <a:srgbClr val="E7A614"/>
            </a:solidFill>
            <a:prstDash val="solid"/>
          </a:ln>
        </p:spPr>
      </p:sp>
      <p:pic>
        <p:nvPicPr>
          <p:cNvPr id="10" name="Decorative: LuCalendarChe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99094" y="2766974"/>
            <a:ext cx="409651" cy="409651"/>
          </a:xfrm>
          <a:prstGeom prst="rect">
            <a:avLst/>
          </a:prstGeom>
        </p:spPr>
      </p:pic>
      <p:sp>
        <p:nvSpPr>
          <p:cNvPr id="11" name="Text 8"/>
          <p:cNvSpPr txBox="1"/>
          <p:nvPr/>
        </p:nvSpPr>
        <p:spPr>
          <a:xfrm>
            <a:off x="8138160" y="3474720"/>
            <a:ext cx="3291840" cy="411480"/>
          </a:xfrm>
          <a:prstGeom prst="rect">
            <a:avLst/>
          </a:prstGeom>
          <a:noFill/>
          <a:ln/>
        </p:spPr>
        <p:txBody>
          <a:bodyPr wrap="square" lIns="0" tIns="0" rIns="0" bIns="0" rtlCol="0" anchor="t"/>
          <a:lstStyle/>
          <a:p>
            <a:pPr indent="0" marL="0">
              <a:buNone/>
            </a:pPr>
            <a:r>
              <a:rPr lang="en-US" sz="2800" b="1" dirty="0">
                <a:solidFill>
                  <a:schemeClr val="tx2"/>
                </a:solidFill>
              </a:rPr>
              <a:t>Looking ahead</a:t>
            </a:r>
            <a:endParaRPr lang="en-US" sz="2800" dirty="0"/>
          </a:p>
        </p:txBody>
      </p:sp>
      <p:sp>
        <p:nvSpPr>
          <p:cNvPr id="12" name="Text 9"/>
          <p:cNvSpPr txBox="1"/>
          <p:nvPr/>
        </p:nvSpPr>
        <p:spPr>
          <a:xfrm>
            <a:off x="8138160" y="3977640"/>
            <a:ext cx="3291840" cy="2011680"/>
          </a:xfrm>
          <a:prstGeom prst="rect">
            <a:avLst/>
          </a:prstGeom>
          <a:noFill/>
          <a:ln/>
        </p:spPr>
        <p:txBody>
          <a:bodyPr wrap="square" lIns="0" tIns="0" rIns="0" bIns="0" rtlCol="0" anchor="t"/>
          <a:lstStyle/>
          <a:p>
            <a:pPr indent="0" marL="0">
              <a:buNone/>
            </a:pPr>
            <a:r>
              <a:rPr lang="en-US" sz="2400" dirty="0">
                <a:solidFill>
                  <a:schemeClr val="tx1"/>
                </a:solidFill>
              </a:rPr>
              <a:t>Module 2 work is due Monday by 11:59 PM Central.</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MODULE 2 · THIS WEEK</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Who's on your trail crew?</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965960"/>
            <a:ext cx="685800" cy="685800"/>
          </a:xfrm>
          <a:prstGeom prst="ellipse">
            <a:avLst/>
          </a:prstGeom>
          <a:solidFill>
            <a:srgbClr val="00467F"/>
          </a:solidFill>
          <a:ln w="12700">
            <a:solidFill>
              <a:srgbClr val="00467F"/>
            </a:solidFill>
            <a:prstDash val="solid"/>
          </a:ln>
        </p:spPr>
      </p:sp>
      <p:pic>
        <p:nvPicPr>
          <p:cNvPr id="5" name="Decorative: LuCompass">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99516" y="2116836"/>
            <a:ext cx="384048" cy="384048"/>
          </a:xfrm>
          <a:prstGeom prst="rect">
            <a:avLst/>
          </a:prstGeom>
        </p:spPr>
      </p:pic>
      <p:sp>
        <p:nvSpPr>
          <p:cNvPr id="6" name="Text 3"/>
          <p:cNvSpPr txBox="1"/>
          <p:nvPr/>
        </p:nvSpPr>
        <p:spPr>
          <a:xfrm>
            <a:off x="1463040" y="2075688"/>
            <a:ext cx="6035040" cy="548640"/>
          </a:xfrm>
          <a:prstGeom prst="rect">
            <a:avLst/>
          </a:prstGeom>
          <a:noFill/>
          <a:ln/>
        </p:spPr>
        <p:txBody>
          <a:bodyPr wrap="square" lIns="0" tIns="0" rIns="0" bIns="0" rtlCol="0" anchor="ctr"/>
          <a:lstStyle/>
          <a:p>
            <a:pPr indent="0" marL="0">
              <a:buNone/>
            </a:pPr>
            <a:r>
              <a:rPr lang="en-US" sz="2400" dirty="0">
                <a:solidFill>
                  <a:schemeClr val="tx1"/>
                </a:solidFill>
              </a:rPr>
              <a:t>Find your Success Coach</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926080"/>
            <a:ext cx="685800" cy="685800"/>
          </a:xfrm>
          <a:prstGeom prst="ellipse">
            <a:avLst/>
          </a:prstGeom>
          <a:solidFill>
            <a:srgbClr val="00467F"/>
          </a:solidFill>
          <a:ln w="12700">
            <a:solidFill>
              <a:srgbClr val="00467F"/>
            </a:solidFill>
            <a:prstDash val="solid"/>
          </a:ln>
        </p:spPr>
      </p:sp>
      <p:pic>
        <p:nvPicPr>
          <p:cNvPr id="8" name="Decorative: LuLifeBuoy">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516" y="3076956"/>
            <a:ext cx="384048" cy="384048"/>
          </a:xfrm>
          <a:prstGeom prst="rect">
            <a:avLst/>
          </a:prstGeom>
        </p:spPr>
      </p:pic>
      <p:sp>
        <p:nvSpPr>
          <p:cNvPr id="9" name="Text 5"/>
          <p:cNvSpPr txBox="1"/>
          <p:nvPr/>
        </p:nvSpPr>
        <p:spPr>
          <a:xfrm>
            <a:off x="1463040" y="3035808"/>
            <a:ext cx="6035040" cy="548640"/>
          </a:xfrm>
          <a:prstGeom prst="rect">
            <a:avLst/>
          </a:prstGeom>
          <a:noFill/>
          <a:ln/>
        </p:spPr>
        <p:txBody>
          <a:bodyPr wrap="square" lIns="0" tIns="0" rIns="0" bIns="0" rtlCol="0" anchor="ctr"/>
          <a:lstStyle/>
          <a:p>
            <a:pPr indent="0" marL="0">
              <a:buNone/>
            </a:pPr>
            <a:r>
              <a:rPr lang="en-US" sz="2400" dirty="0">
                <a:solidFill>
                  <a:schemeClr val="tx1"/>
                </a:solidFill>
              </a:rPr>
              <a:t>Ask for help early and clearly</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886200"/>
            <a:ext cx="685800" cy="685800"/>
          </a:xfrm>
          <a:prstGeom prst="ellipse">
            <a:avLst/>
          </a:prstGeom>
          <a:solidFill>
            <a:srgbClr val="00467F"/>
          </a:solidFill>
          <a:ln w="12700">
            <a:solidFill>
              <a:srgbClr val="00467F"/>
            </a:solidFill>
            <a:prstDash val="solid"/>
          </a:ln>
        </p:spPr>
      </p:sp>
      <p:pic>
        <p:nvPicPr>
          <p:cNvPr id="11" name="Decorative: LuMail">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99516" y="4037076"/>
            <a:ext cx="384048" cy="384048"/>
          </a:xfrm>
          <a:prstGeom prst="rect">
            <a:avLst/>
          </a:prstGeom>
        </p:spPr>
      </p:pic>
      <p:sp>
        <p:nvSpPr>
          <p:cNvPr id="12" name="Text 7"/>
          <p:cNvSpPr txBox="1"/>
          <p:nvPr/>
        </p:nvSpPr>
        <p:spPr>
          <a:xfrm>
            <a:off x="1463040" y="3995928"/>
            <a:ext cx="6035040" cy="548640"/>
          </a:xfrm>
          <a:prstGeom prst="rect">
            <a:avLst/>
          </a:prstGeom>
          <a:noFill/>
          <a:ln/>
        </p:spPr>
        <p:txBody>
          <a:bodyPr wrap="square" lIns="0" tIns="0" rIns="0" bIns="0" rtlCol="0" anchor="ctr"/>
          <a:lstStyle/>
          <a:p>
            <a:pPr indent="0" marL="0">
              <a:buNone/>
            </a:pPr>
            <a:r>
              <a:rPr lang="en-US" sz="2400" dirty="0">
                <a:solidFill>
                  <a:schemeClr val="tx1"/>
                </a:solidFill>
              </a:rPr>
              <a:t>Write emails that get answers</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4846320"/>
            <a:ext cx="685800" cy="685800"/>
          </a:xfrm>
          <a:prstGeom prst="ellipse">
            <a:avLst/>
          </a:prstGeom>
          <a:solidFill>
            <a:srgbClr val="00467F"/>
          </a:solidFill>
          <a:ln w="12700">
            <a:solidFill>
              <a:srgbClr val="00467F"/>
            </a:solidFill>
            <a:prstDash val="solid"/>
          </a:ln>
        </p:spPr>
      </p:sp>
      <p:pic>
        <p:nvPicPr>
          <p:cNvPr id="14" name="Decorative: LuAward">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9516" y="4997196"/>
            <a:ext cx="384048" cy="384048"/>
          </a:xfrm>
          <a:prstGeom prst="rect">
            <a:avLst/>
          </a:prstGeom>
        </p:spPr>
      </p:pic>
      <p:sp>
        <p:nvSpPr>
          <p:cNvPr id="15" name="Text 9"/>
          <p:cNvSpPr txBox="1"/>
          <p:nvPr/>
        </p:nvSpPr>
        <p:spPr>
          <a:xfrm>
            <a:off x="1463040" y="4956048"/>
            <a:ext cx="6035040" cy="548640"/>
          </a:xfrm>
          <a:prstGeom prst="rect">
            <a:avLst/>
          </a:prstGeom>
          <a:noFill/>
          <a:ln/>
        </p:spPr>
        <p:txBody>
          <a:bodyPr wrap="square" lIns="0" tIns="0" rIns="0" bIns="0" rtlCol="0" anchor="ctr"/>
          <a:lstStyle/>
          <a:p>
            <a:pPr indent="0" marL="0">
              <a:buNone/>
            </a:pPr>
            <a:r>
              <a:rPr lang="en-US" sz="2400" dirty="0">
                <a:solidFill>
                  <a:schemeClr val="tx1"/>
                </a:solidFill>
              </a:rPr>
              <a:t>Set up Merit and your profiles</a:t>
            </a:r>
            <a:endParaRPr lang="en-US" sz="2400" dirty="0"/>
          </a:p>
        </p:txBody>
      </p:sp>
      <p:sp>
        <p:nvSpPr>
          <p:cNvPr id="16" name="Decorative: skills panel">
            <a:extLst>
              <a:ext uri="{C183D7F6-B498-43B3-948B-1728B52AA6E4}">
                <adec:decorative xmlns:adec="http://schemas.microsoft.com/office/drawing/2017/decorative" val="1"/>
              </a:ext>
            </a:extLst>
          </p:cNvPr>
          <p:cNvSpPr/>
          <p:nvPr/>
        </p:nvSpPr>
        <p:spPr>
          <a:xfrm>
            <a:off x="7863840" y="1965960"/>
            <a:ext cx="3779215" cy="3840480"/>
          </a:xfrm>
          <a:prstGeom prst="roundRect">
            <a:avLst>
              <a:gd name="adj" fmla="val 290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Text 11"/>
          <p:cNvSpPr txBox="1"/>
          <p:nvPr/>
        </p:nvSpPr>
        <p:spPr>
          <a:xfrm>
            <a:off x="8183880" y="2194560"/>
            <a:ext cx="3291840" cy="411480"/>
          </a:xfrm>
          <a:prstGeom prst="rect">
            <a:avLst/>
          </a:prstGeom>
          <a:noFill/>
          <a:ln/>
        </p:spPr>
        <p:txBody>
          <a:bodyPr wrap="square" lIns="0" tIns="0" rIns="0" bIns="0" rtlCol="0" anchor="t"/>
          <a:lstStyle/>
          <a:p>
            <a:pPr indent="0" marL="0">
              <a:buNone/>
            </a:pPr>
            <a:r>
              <a:rPr lang="en-US" sz="2800" b="1" dirty="0">
                <a:solidFill>
                  <a:schemeClr val="tx2"/>
                </a:solidFill>
              </a:rPr>
              <a:t>Skills you'll build</a:t>
            </a:r>
            <a:endParaRPr lang="en-US" sz="2800" dirty="0"/>
          </a:p>
        </p:txBody>
      </p:sp>
      <p:pic>
        <p:nvPicPr>
          <p:cNvPr id="18" name="Decorative: skill coin">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183880" y="2788920"/>
            <a:ext cx="731520" cy="731520"/>
          </a:xfrm>
          <a:prstGeom prst="rect">
            <a:avLst/>
          </a:prstGeom>
        </p:spPr>
      </p:pic>
      <p:sp>
        <p:nvSpPr>
          <p:cNvPr id="19" name="Text 12"/>
          <p:cNvSpPr txBox="1"/>
          <p:nvPr/>
        </p:nvSpPr>
        <p:spPr>
          <a:xfrm>
            <a:off x="9098280" y="27432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#1 </a:t>
            </a:r>
            <a:pPr indent="0" marL="0">
              <a:buNone/>
            </a:pPr>
            <a:r>
              <a:rPr lang="en-US" sz="2000" dirty="0">
                <a:solidFill>
                  <a:schemeClr val="tx1"/>
                </a:solidFill>
              </a:rPr>
              <a:t>Communication</a:t>
            </a:r>
            <a:endParaRPr lang="en-US" sz="2000" dirty="0"/>
          </a:p>
        </p:txBody>
      </p:sp>
      <p:pic>
        <p:nvPicPr>
          <p:cNvPr id="20" name="Decorative: skill coin">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183880" y="3703320"/>
            <a:ext cx="731520" cy="731520"/>
          </a:xfrm>
          <a:prstGeom prst="rect">
            <a:avLst/>
          </a:prstGeom>
        </p:spPr>
      </p:pic>
      <p:sp>
        <p:nvSpPr>
          <p:cNvPr id="21" name="Text 13"/>
          <p:cNvSpPr txBox="1"/>
          <p:nvPr/>
        </p:nvSpPr>
        <p:spPr>
          <a:xfrm>
            <a:off x="9098280" y="36576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#4 </a:t>
            </a:r>
            <a:pPr indent="0" marL="0">
              <a:buNone/>
            </a:pPr>
            <a:r>
              <a:rPr lang="en-US" sz="2000" dirty="0">
                <a:solidFill>
                  <a:schemeClr val="tx1"/>
                </a:solidFill>
              </a:rPr>
              <a:t>Interpersonal Relations</a:t>
            </a:r>
            <a:endParaRPr lang="en-US" sz="2000" dirty="0"/>
          </a:p>
        </p:txBody>
      </p:sp>
      <p:pic>
        <p:nvPicPr>
          <p:cNvPr id="22" name="Decorative: skill coin">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183880" y="4617720"/>
            <a:ext cx="731520" cy="731520"/>
          </a:xfrm>
          <a:prstGeom prst="rect">
            <a:avLst/>
          </a:prstGeom>
        </p:spPr>
      </p:pic>
      <p:sp>
        <p:nvSpPr>
          <p:cNvPr id="23" name="Text 14"/>
          <p:cNvSpPr txBox="1"/>
          <p:nvPr/>
        </p:nvSpPr>
        <p:spPr>
          <a:xfrm>
            <a:off x="9098280" y="45720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#9 </a:t>
            </a:r>
            <a:pPr indent="0" marL="0">
              <a:buNone/>
            </a:pPr>
            <a:r>
              <a:rPr lang="en-US" sz="2000" dirty="0">
                <a:solidFill>
                  <a:schemeClr val="tx1"/>
                </a:solidFill>
              </a:rPr>
              <a:t>Knowledge Application</a:t>
            </a:r>
            <a:endParaRPr lang="en-US" sz="2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2.1 · SKILL SPOTLIGHT</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Interpersonal Relations</a:t>
            </a:r>
            <a:endParaRPr lang="en-US" sz="4000" dirty="0"/>
          </a:p>
        </p:txBody>
      </p:sp>
      <p:pic>
        <p:nvPicPr>
          <p:cNvPr id="4" name="Decorative: skill coin 4">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48640" y="1920240"/>
            <a:ext cx="1188720" cy="1188720"/>
          </a:xfrm>
          <a:prstGeom prst="rect">
            <a:avLst/>
          </a:prstGeom>
        </p:spPr>
      </p:pic>
      <p:sp>
        <p:nvSpPr>
          <p:cNvPr id="5" name="Text 2"/>
          <p:cNvSpPr txBox="1"/>
          <p:nvPr/>
        </p:nvSpPr>
        <p:spPr>
          <a:xfrm>
            <a:off x="2011680" y="1965960"/>
            <a:ext cx="9601200" cy="1097280"/>
          </a:xfrm>
          <a:prstGeom prst="rect">
            <a:avLst/>
          </a:prstGeom>
          <a:noFill/>
          <a:ln/>
        </p:spPr>
        <p:txBody>
          <a:bodyPr wrap="square" lIns="0" tIns="0" rIns="0" bIns="0" rtlCol="0" anchor="ctr"/>
          <a:lstStyle/>
          <a:p>
            <a:pPr indent="0" marL="0">
              <a:buNone/>
            </a:pPr>
            <a:r>
              <a:rPr lang="en-US" sz="2600" dirty="0">
                <a:solidFill>
                  <a:schemeClr val="tx1"/>
                </a:solidFill>
              </a:rPr>
              <a:t>Understanding yourself well enough to work well with people who see things differently.</a:t>
            </a:r>
            <a:endParaRPr lang="en-US" sz="2600" dirty="0"/>
          </a:p>
        </p:txBody>
      </p:sp>
      <p:sp>
        <p:nvSpPr>
          <p:cNvPr id="6" name="Decorative: benchmark card">
            <a:extLst>
              <a:ext uri="{C183D7F6-B498-43B3-948B-1728B52AA6E4}">
                <adec:decorative xmlns:adec="http://schemas.microsoft.com/office/drawing/2017/decorative" val="1"/>
              </a:ext>
            </a:extLst>
          </p:cNvPr>
          <p:cNvSpPr/>
          <p:nvPr/>
        </p:nvSpPr>
        <p:spPr>
          <a:xfrm>
            <a:off x="548640" y="3429000"/>
            <a:ext cx="5090008" cy="2514600"/>
          </a:xfrm>
          <a:prstGeom prst="roundRect">
            <a:avLst>
              <a:gd name="adj" fmla="val 436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868680" y="3703320"/>
            <a:ext cx="4449928" cy="2057400"/>
          </a:xfrm>
          <a:prstGeom prst="rect">
            <a:avLst/>
          </a:prstGeom>
          <a:noFill/>
          <a:ln/>
        </p:spPr>
        <p:txBody>
          <a:bodyPr wrap="square" lIns="0" tIns="0" rIns="0" bIns="0" rtlCol="0" anchor="t"/>
          <a:lstStyle/>
          <a:p>
            <a:pPr indent="0" marL="0">
              <a:buNone/>
            </a:pPr>
            <a:r>
              <a:rPr lang="en-US" sz="2000" b="1" spc="200" kern="0" dirty="0">
                <a:solidFill>
                  <a:schemeClr val="accent4"/>
                </a:solidFill>
              </a:rPr>
              <a:t>WHERE YOU START</a:t>
            </a:r>
            <a:endParaRPr lang="en-US" sz="2400" dirty="0"/>
          </a:p>
          <a:p>
            <a:pPr indent="0" marL="0">
              <a:buNone/>
            </a:pPr>
            <a:r>
              <a:rPr lang="en-US" sz="2400" dirty="0">
                <a:solidFill>
                  <a:schemeClr val="tx1"/>
                </a:solidFill>
              </a:rPr>
              <a:t>You notice that other people see things differently than you do.</a:t>
            </a:r>
            <a:endParaRPr lang="en-US" sz="2400" dirty="0"/>
          </a:p>
        </p:txBody>
      </p:sp>
      <p:pic>
        <p:nvPicPr>
          <p:cNvPr id="8" name="Decorative: arrow">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21528" y="4411980"/>
            <a:ext cx="548640" cy="548640"/>
          </a:xfrm>
          <a:prstGeom prst="rect">
            <a:avLst/>
          </a:prstGeom>
        </p:spPr>
      </p:pic>
      <p:sp>
        <p:nvSpPr>
          <p:cNvPr id="9" name="Decorative: milestone card">
            <a:extLst>
              <a:ext uri="{C183D7F6-B498-43B3-948B-1728B52AA6E4}">
                <adec:decorative xmlns:adec="http://schemas.microsoft.com/office/drawing/2017/decorative" val="1"/>
              </a:ext>
            </a:extLst>
          </p:cNvPr>
          <p:cNvSpPr/>
          <p:nvPr/>
        </p:nvSpPr>
        <p:spPr>
          <a:xfrm>
            <a:off x="6553048" y="3429000"/>
            <a:ext cx="5090008" cy="2514600"/>
          </a:xfrm>
          <a:prstGeom prst="roundRect">
            <a:avLst>
              <a:gd name="adj" fmla="val 4364"/>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Text 6"/>
          <p:cNvSpPr txBox="1"/>
          <p:nvPr/>
        </p:nvSpPr>
        <p:spPr>
          <a:xfrm>
            <a:off x="6873088" y="3703320"/>
            <a:ext cx="4449928" cy="2057400"/>
          </a:xfrm>
          <a:prstGeom prst="rect">
            <a:avLst/>
          </a:prstGeom>
          <a:noFill/>
          <a:ln/>
        </p:spPr>
        <p:txBody>
          <a:bodyPr wrap="square" lIns="0" tIns="0" rIns="0" bIns="0" rtlCol="0" anchor="t"/>
          <a:lstStyle/>
          <a:p>
            <a:pPr indent="0" marL="0">
              <a:buNone/>
            </a:pPr>
            <a:r>
              <a:rPr lang="en-US" sz="2000" b="1" spc="200" kern="0" dirty="0">
                <a:solidFill>
                  <a:srgbClr val="7A5500"/>
                </a:solidFill>
              </a:rPr>
              <a:t>WHERE YOU'RE HEADED</a:t>
            </a:r>
            <a:endParaRPr lang="en-US" sz="2400" dirty="0"/>
          </a:p>
          <a:p>
            <a:pPr indent="0" marL="0">
              <a:buNone/>
            </a:pPr>
            <a:r>
              <a:rPr lang="en-US" sz="2400" dirty="0">
                <a:solidFill>
                  <a:schemeClr val="tx1"/>
                </a:solidFill>
              </a:rPr>
              <a:t>You can explain how your own background shapes your relationships, and you engage with other views.</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2.2</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Who's your Success Coach?</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920240"/>
            <a:ext cx="5364328" cy="2743200"/>
          </a:xfrm>
          <a:prstGeom prst="roundRect">
            <a:avLst>
              <a:gd name="adj" fmla="val 4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68680" y="2240280"/>
            <a:ext cx="731520" cy="731520"/>
          </a:xfrm>
          <a:prstGeom prst="ellipse">
            <a:avLst/>
          </a:prstGeom>
          <a:solidFill>
            <a:srgbClr val="00467F"/>
          </a:solidFill>
          <a:ln w="12700">
            <a:solidFill>
              <a:srgbClr val="00467F"/>
            </a:solidFill>
            <a:prstDash val="solid"/>
          </a:ln>
        </p:spPr>
      </p:sp>
      <p:pic>
        <p:nvPicPr>
          <p:cNvPr id="6" name="Decorative: LuMonito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29614" y="2401214"/>
            <a:ext cx="409651" cy="409651"/>
          </a:xfrm>
          <a:prstGeom prst="rect">
            <a:avLst/>
          </a:prstGeom>
        </p:spPr>
      </p:pic>
      <p:sp>
        <p:nvSpPr>
          <p:cNvPr id="7" name="Text 4"/>
          <p:cNvSpPr txBox="1"/>
          <p:nvPr/>
        </p:nvSpPr>
        <p:spPr>
          <a:xfrm>
            <a:off x="1783080" y="2267712"/>
            <a:ext cx="3809848" cy="685800"/>
          </a:xfrm>
          <a:prstGeom prst="rect">
            <a:avLst/>
          </a:prstGeom>
          <a:noFill/>
          <a:ln/>
        </p:spPr>
        <p:txBody>
          <a:bodyPr wrap="square" lIns="0" tIns="0" rIns="0" bIns="0" rtlCol="0" anchor="ctr"/>
          <a:lstStyle/>
          <a:p>
            <a:pPr indent="0" marL="0">
              <a:buNone/>
            </a:pPr>
            <a:r>
              <a:rPr lang="en-US" sz="2800" b="1" dirty="0">
                <a:solidFill>
                  <a:schemeClr val="tx2"/>
                </a:solidFill>
              </a:rPr>
              <a:t>Student Self-Service</a:t>
            </a:r>
            <a:endParaRPr lang="en-US" sz="2800" dirty="0"/>
          </a:p>
        </p:txBody>
      </p:sp>
      <p:sp>
        <p:nvSpPr>
          <p:cNvPr id="8" name="Text 5"/>
          <p:cNvSpPr txBox="1"/>
          <p:nvPr/>
        </p:nvSpPr>
        <p:spPr>
          <a:xfrm>
            <a:off x="868680" y="3200400"/>
            <a:ext cx="4724248" cy="1280160"/>
          </a:xfrm>
          <a:prstGeom prst="rect">
            <a:avLst/>
          </a:prstGeom>
          <a:noFill/>
          <a:ln/>
        </p:spPr>
        <p:txBody>
          <a:bodyPr wrap="square" lIns="0" tIns="0" rIns="0" bIns="0" rtlCol="0" anchor="t"/>
          <a:lstStyle/>
          <a:p>
            <a:pPr indent="0" marL="0">
              <a:buNone/>
            </a:pPr>
            <a:r>
              <a:rPr lang="en-US" sz="2400" dirty="0">
                <a:solidFill>
                  <a:schemeClr val="tx1"/>
                </a:solidFill>
              </a:rPr>
              <a:t>Student Center, then Advising &amp; Classes. Look for Academic Advisor(s).</a:t>
            </a:r>
            <a:endParaRPr lang="en-US" sz="2400" dirty="0"/>
          </a:p>
        </p:txBody>
      </p:sp>
      <p:sp>
        <p:nvSpPr>
          <p:cNvPr id="9" name="Decorative: card">
            <a:extLst>
              <a:ext uri="{C183D7F6-B498-43B3-948B-1728B52AA6E4}">
                <adec:decorative xmlns:adec="http://schemas.microsoft.com/office/drawing/2017/decorative" val="1"/>
              </a:ext>
            </a:extLst>
          </p:cNvPr>
          <p:cNvSpPr/>
          <p:nvPr/>
        </p:nvSpPr>
        <p:spPr>
          <a:xfrm>
            <a:off x="6278728" y="1920240"/>
            <a:ext cx="5364328" cy="2743200"/>
          </a:xfrm>
          <a:prstGeom prst="roundRect">
            <a:avLst>
              <a:gd name="adj" fmla="val 4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0" name="Decorative: icon circle">
            <a:extLst>
              <a:ext uri="{C183D7F6-B498-43B3-948B-1728B52AA6E4}">
                <adec:decorative xmlns:adec="http://schemas.microsoft.com/office/drawing/2017/decorative" val="1"/>
              </a:ext>
            </a:extLst>
          </p:cNvPr>
          <p:cNvSpPr/>
          <p:nvPr/>
        </p:nvSpPr>
        <p:spPr>
          <a:xfrm>
            <a:off x="6598768" y="2240280"/>
            <a:ext cx="731520" cy="731520"/>
          </a:xfrm>
          <a:prstGeom prst="ellipse">
            <a:avLst/>
          </a:prstGeom>
          <a:solidFill>
            <a:srgbClr val="00467F"/>
          </a:solidFill>
          <a:ln w="12700">
            <a:solidFill>
              <a:srgbClr val="00467F"/>
            </a:solidFill>
            <a:prstDash val="solid"/>
          </a:ln>
        </p:spPr>
      </p:sp>
      <p:pic>
        <p:nvPicPr>
          <p:cNvPr id="11" name="Decorative: LuSta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759702" y="2401214"/>
            <a:ext cx="409651" cy="409651"/>
          </a:xfrm>
          <a:prstGeom prst="rect">
            <a:avLst/>
          </a:prstGeom>
        </p:spPr>
      </p:pic>
      <p:sp>
        <p:nvSpPr>
          <p:cNvPr id="12" name="Text 8"/>
          <p:cNvSpPr txBox="1"/>
          <p:nvPr/>
        </p:nvSpPr>
        <p:spPr>
          <a:xfrm>
            <a:off x="7513168" y="2267712"/>
            <a:ext cx="3809848" cy="685800"/>
          </a:xfrm>
          <a:prstGeom prst="rect">
            <a:avLst/>
          </a:prstGeom>
          <a:noFill/>
          <a:ln/>
        </p:spPr>
        <p:txBody>
          <a:bodyPr wrap="square" lIns="0" tIns="0" rIns="0" bIns="0" rtlCol="0" anchor="ctr"/>
          <a:lstStyle/>
          <a:p>
            <a:pPr indent="0" marL="0">
              <a:buNone/>
            </a:pPr>
            <a:r>
              <a:rPr lang="en-US" sz="2800" b="1" dirty="0">
                <a:solidFill>
                  <a:schemeClr val="tx2"/>
                </a:solidFill>
              </a:rPr>
              <a:t>Starfish</a:t>
            </a:r>
            <a:endParaRPr lang="en-US" sz="2800" dirty="0"/>
          </a:p>
        </p:txBody>
      </p:sp>
      <p:sp>
        <p:nvSpPr>
          <p:cNvPr id="13" name="Text 9"/>
          <p:cNvSpPr txBox="1"/>
          <p:nvPr/>
        </p:nvSpPr>
        <p:spPr>
          <a:xfrm>
            <a:off x="6598768" y="3200400"/>
            <a:ext cx="4724248" cy="1280160"/>
          </a:xfrm>
          <a:prstGeom prst="rect">
            <a:avLst/>
          </a:prstGeom>
          <a:noFill/>
          <a:ln/>
        </p:spPr>
        <p:txBody>
          <a:bodyPr wrap="square" lIns="0" tIns="0" rIns="0" bIns="0" rtlCol="0" anchor="t"/>
          <a:lstStyle/>
          <a:p>
            <a:pPr indent="0" marL="0">
              <a:buNone/>
            </a:pPr>
            <a:r>
              <a:rPr lang="en-US" sz="2400" dirty="0">
                <a:solidFill>
                  <a:schemeClr val="tx1"/>
                </a:solidFill>
              </a:rPr>
              <a:t>Open Starfish from MyPath or Blackboard. Select My Success Network.</a:t>
            </a:r>
            <a:endParaRPr lang="en-US" sz="2400" dirty="0"/>
          </a:p>
        </p:txBody>
      </p:sp>
      <p:sp>
        <p:nvSpPr>
          <p:cNvPr id="14" name="Decorative: callout">
            <a:extLst>
              <a:ext uri="{C183D7F6-B498-43B3-948B-1728B52AA6E4}">
                <adec:decorative xmlns:adec="http://schemas.microsoft.com/office/drawing/2017/decorative" val="1"/>
              </a:ext>
            </a:extLst>
          </p:cNvPr>
          <p:cNvSpPr/>
          <p:nvPr/>
        </p:nvSpPr>
        <p:spPr>
          <a:xfrm>
            <a:off x="548640" y="507492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5" name="Text 11"/>
          <p:cNvSpPr txBox="1"/>
          <p:nvPr/>
        </p:nvSpPr>
        <p:spPr>
          <a:xfrm>
            <a:off x="868680" y="518464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Check in before you're lost, not after.</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2.3</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Help-seeking is a strength</a:t>
            </a:r>
            <a:endParaRPr lang="en-US" sz="4000" dirty="0"/>
          </a:p>
        </p:txBody>
      </p:sp>
      <p:sp>
        <p:nvSpPr>
          <p:cNvPr id="4" name="Text 2"/>
          <p:cNvSpPr txBox="1"/>
          <p:nvPr/>
        </p:nvSpPr>
        <p:spPr>
          <a:xfrm>
            <a:off x="548640" y="1737360"/>
            <a:ext cx="11094415" cy="548640"/>
          </a:xfrm>
          <a:prstGeom prst="rect">
            <a:avLst/>
          </a:prstGeom>
          <a:noFill/>
          <a:ln/>
        </p:spPr>
        <p:txBody>
          <a:bodyPr wrap="square" lIns="0" tIns="0" rIns="0" bIns="0" rtlCol="0" anchor="t"/>
          <a:lstStyle/>
          <a:p>
            <a:pPr indent="0" marL="0">
              <a:buNone/>
            </a:pPr>
            <a:r>
              <a:rPr lang="en-US" sz="2600" i="1" dirty="0">
                <a:solidFill>
                  <a:schemeClr val="accent1"/>
                </a:solidFill>
              </a:rPr>
              <a:t>The students who struggle most are the ones who wait too long to ask.</a:t>
            </a:r>
            <a:endParaRPr lang="en-US" sz="2600" dirty="0"/>
          </a:p>
        </p:txBody>
      </p:sp>
      <p:sp>
        <p:nvSpPr>
          <p:cNvPr id="5" name="Decorative: tip card">
            <a:extLst>
              <a:ext uri="{C183D7F6-B498-43B3-948B-1728B52AA6E4}">
                <adec:decorative xmlns:adec="http://schemas.microsoft.com/office/drawing/2017/decorative" val="1"/>
              </a:ext>
            </a:extLst>
          </p:cNvPr>
          <p:cNvSpPr/>
          <p:nvPr/>
        </p:nvSpPr>
        <p:spPr>
          <a:xfrm>
            <a:off x="548640" y="2514600"/>
            <a:ext cx="5387188" cy="1554480"/>
          </a:xfrm>
          <a:prstGeom prst="roundRect">
            <a:avLst>
              <a:gd name="adj" fmla="val 7059"/>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6" name="Decorative: icon circle">
            <a:extLst>
              <a:ext uri="{C183D7F6-B498-43B3-948B-1728B52AA6E4}">
                <adec:decorative xmlns:adec="http://schemas.microsoft.com/office/drawing/2017/decorative" val="1"/>
              </a:ext>
            </a:extLst>
          </p:cNvPr>
          <p:cNvSpPr/>
          <p:nvPr/>
        </p:nvSpPr>
        <p:spPr>
          <a:xfrm>
            <a:off x="822960" y="2788920"/>
            <a:ext cx="685800" cy="685800"/>
          </a:xfrm>
          <a:prstGeom prst="ellipse">
            <a:avLst/>
          </a:prstGeom>
          <a:solidFill>
            <a:srgbClr val="00467F"/>
          </a:solidFill>
          <a:ln w="12700">
            <a:solidFill>
              <a:srgbClr val="00467F"/>
            </a:solidFill>
            <a:prstDash val="solid"/>
          </a:ln>
        </p:spPr>
      </p:sp>
      <p:pic>
        <p:nvPicPr>
          <p:cNvPr id="7" name="Decorative: LuAlarmClo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939796"/>
            <a:ext cx="384048" cy="384048"/>
          </a:xfrm>
          <a:prstGeom prst="rect">
            <a:avLst/>
          </a:prstGeom>
        </p:spPr>
      </p:pic>
      <p:sp>
        <p:nvSpPr>
          <p:cNvPr id="8" name="Text 5"/>
          <p:cNvSpPr txBox="1"/>
          <p:nvPr/>
        </p:nvSpPr>
        <p:spPr>
          <a:xfrm>
            <a:off x="1737360" y="2715768"/>
            <a:ext cx="3969868" cy="1234440"/>
          </a:xfrm>
          <a:prstGeom prst="rect">
            <a:avLst/>
          </a:prstGeom>
          <a:noFill/>
          <a:ln/>
        </p:spPr>
        <p:txBody>
          <a:bodyPr wrap="square" lIns="0" tIns="0" rIns="0" bIns="0" rtlCol="0" anchor="t"/>
          <a:lstStyle/>
          <a:p>
            <a:pPr indent="0" marL="0">
              <a:buNone/>
            </a:pPr>
            <a:r>
              <a:rPr lang="en-US" sz="2600" b="1" dirty="0">
                <a:solidFill>
                  <a:schemeClr val="tx2"/>
                </a:solidFill>
              </a:rPr>
              <a:t>Ask early</a:t>
            </a:r>
            <a:endParaRPr lang="en-US" sz="2400" dirty="0"/>
          </a:p>
          <a:p>
            <a:pPr indent="0" marL="0">
              <a:buNone/>
            </a:pPr>
            <a:r>
              <a:rPr lang="en-US" sz="2400" dirty="0">
                <a:solidFill>
                  <a:schemeClr val="tx1"/>
                </a:solidFill>
              </a:rPr>
              <a:t>A question in week 2 is easier than a crisis in week 11.</a:t>
            </a:r>
            <a:endParaRPr lang="en-US" sz="2400" dirty="0"/>
          </a:p>
        </p:txBody>
      </p:sp>
      <p:sp>
        <p:nvSpPr>
          <p:cNvPr id="9" name="Decorative: tip card">
            <a:extLst>
              <a:ext uri="{C183D7F6-B498-43B3-948B-1728B52AA6E4}">
                <adec:decorative xmlns:adec="http://schemas.microsoft.com/office/drawing/2017/decorative" val="1"/>
              </a:ext>
            </a:extLst>
          </p:cNvPr>
          <p:cNvSpPr/>
          <p:nvPr/>
        </p:nvSpPr>
        <p:spPr>
          <a:xfrm>
            <a:off x="6255868" y="2514600"/>
            <a:ext cx="5387188" cy="1554480"/>
          </a:xfrm>
          <a:prstGeom prst="roundRect">
            <a:avLst>
              <a:gd name="adj" fmla="val 7059"/>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0" name="Decorative: icon circle">
            <a:extLst>
              <a:ext uri="{C183D7F6-B498-43B3-948B-1728B52AA6E4}">
                <adec:decorative xmlns:adec="http://schemas.microsoft.com/office/drawing/2017/decorative" val="1"/>
              </a:ext>
            </a:extLst>
          </p:cNvPr>
          <p:cNvSpPr/>
          <p:nvPr/>
        </p:nvSpPr>
        <p:spPr>
          <a:xfrm>
            <a:off x="6530188" y="2788920"/>
            <a:ext cx="685800" cy="685800"/>
          </a:xfrm>
          <a:prstGeom prst="ellipse">
            <a:avLst/>
          </a:prstGeom>
          <a:solidFill>
            <a:srgbClr val="00467F"/>
          </a:solidFill>
          <a:ln w="12700">
            <a:solidFill>
              <a:srgbClr val="00467F"/>
            </a:solidFill>
            <a:prstDash val="solid"/>
          </a:ln>
        </p:spPr>
      </p:sp>
      <p:pic>
        <p:nvPicPr>
          <p:cNvPr id="11" name="Decorative: LuTarget">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81064" y="2939796"/>
            <a:ext cx="384048" cy="384048"/>
          </a:xfrm>
          <a:prstGeom prst="rect">
            <a:avLst/>
          </a:prstGeom>
        </p:spPr>
      </p:pic>
      <p:sp>
        <p:nvSpPr>
          <p:cNvPr id="12" name="Text 8"/>
          <p:cNvSpPr txBox="1"/>
          <p:nvPr/>
        </p:nvSpPr>
        <p:spPr>
          <a:xfrm>
            <a:off x="7444588" y="2715768"/>
            <a:ext cx="3969868" cy="1234440"/>
          </a:xfrm>
          <a:prstGeom prst="rect">
            <a:avLst/>
          </a:prstGeom>
          <a:noFill/>
          <a:ln/>
        </p:spPr>
        <p:txBody>
          <a:bodyPr wrap="square" lIns="0" tIns="0" rIns="0" bIns="0" rtlCol="0" anchor="t"/>
          <a:lstStyle/>
          <a:p>
            <a:pPr indent="0" marL="0">
              <a:buNone/>
            </a:pPr>
            <a:r>
              <a:rPr lang="en-US" sz="2600" b="1" dirty="0">
                <a:solidFill>
                  <a:schemeClr val="tx2"/>
                </a:solidFill>
              </a:rPr>
              <a:t>Be specific</a:t>
            </a:r>
            <a:endParaRPr lang="en-US" sz="2400" dirty="0"/>
          </a:p>
          <a:p>
            <a:pPr indent="0" marL="0">
              <a:buNone/>
            </a:pPr>
            <a:r>
              <a:rPr lang="en-US" sz="2400" dirty="0">
                <a:solidFill>
                  <a:schemeClr val="tx1"/>
                </a:solidFill>
              </a:rPr>
              <a:t>"I'm stuck on this part" gets better help than "I don't get it."</a:t>
            </a:r>
            <a:endParaRPr lang="en-US" sz="2400" dirty="0"/>
          </a:p>
        </p:txBody>
      </p:sp>
      <p:sp>
        <p:nvSpPr>
          <p:cNvPr id="13" name="Decorative: tip card">
            <a:extLst>
              <a:ext uri="{C183D7F6-B498-43B3-948B-1728B52AA6E4}">
                <adec:decorative xmlns:adec="http://schemas.microsoft.com/office/drawing/2017/decorative" val="1"/>
              </a:ext>
            </a:extLst>
          </p:cNvPr>
          <p:cNvSpPr/>
          <p:nvPr/>
        </p:nvSpPr>
        <p:spPr>
          <a:xfrm>
            <a:off x="548640" y="4343400"/>
            <a:ext cx="5387188" cy="1554480"/>
          </a:xfrm>
          <a:prstGeom prst="roundRect">
            <a:avLst>
              <a:gd name="adj" fmla="val 7059"/>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4" name="Decorative: icon circle">
            <a:extLst>
              <a:ext uri="{C183D7F6-B498-43B3-948B-1728B52AA6E4}">
                <adec:decorative xmlns:adec="http://schemas.microsoft.com/office/drawing/2017/decorative" val="1"/>
              </a:ext>
            </a:extLst>
          </p:cNvPr>
          <p:cNvSpPr/>
          <p:nvPr/>
        </p:nvSpPr>
        <p:spPr>
          <a:xfrm>
            <a:off x="822960" y="4617720"/>
            <a:ext cx="685800" cy="685800"/>
          </a:xfrm>
          <a:prstGeom prst="ellipse">
            <a:avLst/>
          </a:prstGeom>
          <a:solidFill>
            <a:srgbClr val="00467F"/>
          </a:solidFill>
          <a:ln w="12700">
            <a:solidFill>
              <a:srgbClr val="00467F"/>
            </a:solidFill>
            <a:prstDash val="solid"/>
          </a:ln>
        </p:spPr>
      </p:sp>
      <p:pic>
        <p:nvPicPr>
          <p:cNvPr id="15" name="Decorative: LuMail">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3836" y="4768596"/>
            <a:ext cx="384048" cy="384048"/>
          </a:xfrm>
          <a:prstGeom prst="rect">
            <a:avLst/>
          </a:prstGeom>
        </p:spPr>
      </p:pic>
      <p:sp>
        <p:nvSpPr>
          <p:cNvPr id="16" name="Text 11"/>
          <p:cNvSpPr txBox="1"/>
          <p:nvPr/>
        </p:nvSpPr>
        <p:spPr>
          <a:xfrm>
            <a:off x="1737360" y="4544568"/>
            <a:ext cx="3969868" cy="1234440"/>
          </a:xfrm>
          <a:prstGeom prst="rect">
            <a:avLst/>
          </a:prstGeom>
          <a:noFill/>
          <a:ln/>
        </p:spPr>
        <p:txBody>
          <a:bodyPr wrap="square" lIns="0" tIns="0" rIns="0" bIns="0" rtlCol="0" anchor="t"/>
          <a:lstStyle/>
          <a:p>
            <a:pPr indent="0" marL="0">
              <a:buNone/>
            </a:pPr>
            <a:r>
              <a:rPr lang="en-US" sz="2600" b="1" dirty="0">
                <a:solidFill>
                  <a:schemeClr val="tx2"/>
                </a:solidFill>
              </a:rPr>
              <a:t>Be professional</a:t>
            </a:r>
            <a:endParaRPr lang="en-US" sz="2400" dirty="0"/>
          </a:p>
          <a:p>
            <a:pPr indent="0" marL="0">
              <a:buNone/>
            </a:pPr>
            <a:r>
              <a:rPr lang="en-US" sz="2400" dirty="0">
                <a:solidFill>
                  <a:schemeClr val="tx1"/>
                </a:solidFill>
              </a:rPr>
              <a:t>Polite, clear, and sign your name.</a:t>
            </a:r>
            <a:endParaRPr lang="en-US" sz="2400" dirty="0"/>
          </a:p>
        </p:txBody>
      </p:sp>
      <p:sp>
        <p:nvSpPr>
          <p:cNvPr id="17" name="Decorative: tip card">
            <a:extLst>
              <a:ext uri="{C183D7F6-B498-43B3-948B-1728B52AA6E4}">
                <adec:decorative xmlns:adec="http://schemas.microsoft.com/office/drawing/2017/decorative" val="1"/>
              </a:ext>
            </a:extLst>
          </p:cNvPr>
          <p:cNvSpPr/>
          <p:nvPr/>
        </p:nvSpPr>
        <p:spPr>
          <a:xfrm>
            <a:off x="6255868" y="4343400"/>
            <a:ext cx="5387188" cy="1554480"/>
          </a:xfrm>
          <a:prstGeom prst="roundRect">
            <a:avLst>
              <a:gd name="adj" fmla="val 7059"/>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8" name="Decorative: icon circle">
            <a:extLst>
              <a:ext uri="{C183D7F6-B498-43B3-948B-1728B52AA6E4}">
                <adec:decorative xmlns:adec="http://schemas.microsoft.com/office/drawing/2017/decorative" val="1"/>
              </a:ext>
            </a:extLst>
          </p:cNvPr>
          <p:cNvSpPr/>
          <p:nvPr/>
        </p:nvSpPr>
        <p:spPr>
          <a:xfrm>
            <a:off x="6530188" y="4617720"/>
            <a:ext cx="685800" cy="685800"/>
          </a:xfrm>
          <a:prstGeom prst="ellipse">
            <a:avLst/>
          </a:prstGeom>
          <a:solidFill>
            <a:srgbClr val="00467F"/>
          </a:solidFill>
          <a:ln w="12700">
            <a:solidFill>
              <a:srgbClr val="00467F"/>
            </a:solidFill>
            <a:prstDash val="solid"/>
          </a:ln>
        </p:spPr>
      </p:sp>
      <p:pic>
        <p:nvPicPr>
          <p:cNvPr id="19" name="Decorative: LuRepeat">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81064" y="4768596"/>
            <a:ext cx="384048" cy="384048"/>
          </a:xfrm>
          <a:prstGeom prst="rect">
            <a:avLst/>
          </a:prstGeom>
        </p:spPr>
      </p:pic>
      <p:sp>
        <p:nvSpPr>
          <p:cNvPr id="20" name="Text 14"/>
          <p:cNvSpPr txBox="1"/>
          <p:nvPr/>
        </p:nvSpPr>
        <p:spPr>
          <a:xfrm>
            <a:off x="7444588" y="4544568"/>
            <a:ext cx="3969868" cy="1234440"/>
          </a:xfrm>
          <a:prstGeom prst="rect">
            <a:avLst/>
          </a:prstGeom>
          <a:noFill/>
          <a:ln/>
        </p:spPr>
        <p:txBody>
          <a:bodyPr wrap="square" lIns="0" tIns="0" rIns="0" bIns="0" rtlCol="0" anchor="t"/>
          <a:lstStyle/>
          <a:p>
            <a:pPr indent="0" marL="0">
              <a:buNone/>
            </a:pPr>
            <a:r>
              <a:rPr lang="en-US" sz="2600" b="1" dirty="0">
                <a:solidFill>
                  <a:schemeClr val="tx2"/>
                </a:solidFill>
              </a:rPr>
              <a:t>Follow through</a:t>
            </a:r>
            <a:endParaRPr lang="en-US" sz="2400" dirty="0"/>
          </a:p>
          <a:p>
            <a:pPr indent="0" marL="0">
              <a:buNone/>
            </a:pPr>
            <a:r>
              <a:rPr lang="en-US" sz="2400" dirty="0">
                <a:solidFill>
                  <a:schemeClr val="tx1"/>
                </a:solidFill>
              </a:rPr>
              <a:t>Use the advice, and let them know how it went.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2.4</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Your subject line does a lot of work</a:t>
            </a:r>
            <a:endParaRPr lang="en-US" sz="4000" dirty="0"/>
          </a:p>
        </p:txBody>
      </p:sp>
      <p:sp>
        <p:nvSpPr>
          <p:cNvPr id="4" name="Decorative: example card">
            <a:extLst>
              <a:ext uri="{C183D7F6-B498-43B3-948B-1728B52AA6E4}">
                <adec:decorative xmlns:adec="http://schemas.microsoft.com/office/drawing/2017/decorative" val="1"/>
              </a:ext>
            </a:extLst>
          </p:cNvPr>
          <p:cNvSpPr/>
          <p:nvPr/>
        </p:nvSpPr>
        <p:spPr>
          <a:xfrm>
            <a:off x="548640" y="1828800"/>
            <a:ext cx="5364328" cy="2011680"/>
          </a:xfrm>
          <a:prstGeom prst="roundRect">
            <a:avLst>
              <a:gd name="adj" fmla="val 5455"/>
            </a:avLst>
          </a:prstGeom>
          <a:solidFill>
            <a:srgbClr val="FDECEA"/>
          </a:solidFill>
          <a:ln w="12700">
            <a:solidFill>
              <a:srgbClr val="FDECEA"/>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03120"/>
            <a:ext cx="594360" cy="594360"/>
          </a:xfrm>
          <a:prstGeom prst="ellipse">
            <a:avLst/>
          </a:prstGeom>
          <a:solidFill>
            <a:srgbClr val="C0392B"/>
          </a:solidFill>
          <a:ln w="12700">
            <a:solidFill>
              <a:srgbClr val="C0392B"/>
            </a:solidFill>
            <a:prstDash val="solid"/>
          </a:ln>
        </p:spPr>
      </p:sp>
      <p:pic>
        <p:nvPicPr>
          <p:cNvPr id="6" name="Decorative: LuX">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3719" y="2233879"/>
            <a:ext cx="332842" cy="332842"/>
          </a:xfrm>
          <a:prstGeom prst="rect">
            <a:avLst/>
          </a:prstGeom>
        </p:spPr>
      </p:pic>
      <p:sp>
        <p:nvSpPr>
          <p:cNvPr id="7" name="Text 4"/>
          <p:cNvSpPr txBox="1"/>
          <p:nvPr/>
        </p:nvSpPr>
        <p:spPr>
          <a:xfrm>
            <a:off x="1554480" y="2103120"/>
            <a:ext cx="4084168" cy="594360"/>
          </a:xfrm>
          <a:prstGeom prst="rect">
            <a:avLst/>
          </a:prstGeom>
          <a:noFill/>
          <a:ln/>
        </p:spPr>
        <p:txBody>
          <a:bodyPr wrap="square" lIns="0" tIns="0" rIns="0" bIns="0" rtlCol="0" anchor="ctr"/>
          <a:lstStyle/>
          <a:p>
            <a:pPr indent="0" marL="0">
              <a:buNone/>
            </a:pPr>
            <a:r>
              <a:rPr lang="en-US" sz="2600" b="1" dirty="0">
                <a:solidFill>
                  <a:srgbClr val="C0392B"/>
                </a:solidFill>
              </a:rPr>
              <a:t>Not this</a:t>
            </a:r>
            <a:endParaRPr lang="en-US" sz="2600" dirty="0"/>
          </a:p>
        </p:txBody>
      </p:sp>
      <p:sp>
        <p:nvSpPr>
          <p:cNvPr id="8" name="Text 5"/>
          <p:cNvSpPr txBox="1"/>
          <p:nvPr/>
        </p:nvSpPr>
        <p:spPr>
          <a:xfrm>
            <a:off x="868680" y="2834640"/>
            <a:ext cx="4724248" cy="914400"/>
          </a:xfrm>
          <a:prstGeom prst="rect">
            <a:avLst/>
          </a:prstGeom>
          <a:noFill/>
          <a:ln/>
        </p:spPr>
        <p:txBody>
          <a:bodyPr wrap="square" lIns="0" tIns="0" rIns="0" bIns="0" rtlCol="0" anchor="t"/>
          <a:lstStyle/>
          <a:p>
            <a:pPr indent="0" marL="0">
              <a:buNone/>
            </a:pPr>
            <a:r>
              <a:rPr lang="en-US" sz="2400" b="1" dirty="0">
                <a:solidFill>
                  <a:schemeClr val="tx1"/>
                </a:solidFill>
              </a:rPr>
              <a:t>Subject: </a:t>
            </a:r>
            <a:pPr indent="0" marL="0">
              <a:buNone/>
            </a:pPr>
            <a:r>
              <a:rPr lang="en-US" sz="2400" dirty="0">
                <a:solidFill>
                  <a:schemeClr val="tx1"/>
                </a:solidFill>
              </a:rPr>
              <a:t>hi can u tell me if the reflection is due friday or monday</a:t>
            </a:r>
            <a:endParaRPr lang="en-US" sz="2400" dirty="0"/>
          </a:p>
        </p:txBody>
      </p:sp>
      <p:sp>
        <p:nvSpPr>
          <p:cNvPr id="9" name="Decorative: example card">
            <a:extLst>
              <a:ext uri="{C183D7F6-B498-43B3-948B-1728B52AA6E4}">
                <adec:decorative xmlns:adec="http://schemas.microsoft.com/office/drawing/2017/decorative" val="1"/>
              </a:ext>
            </a:extLst>
          </p:cNvPr>
          <p:cNvSpPr/>
          <p:nvPr/>
        </p:nvSpPr>
        <p:spPr>
          <a:xfrm>
            <a:off x="6278728" y="1828800"/>
            <a:ext cx="5364328" cy="2011680"/>
          </a:xfrm>
          <a:prstGeom prst="roundRect">
            <a:avLst>
              <a:gd name="adj" fmla="val 5455"/>
            </a:avLst>
          </a:prstGeom>
          <a:solidFill>
            <a:srgbClr val="E6F4EA"/>
          </a:solidFill>
          <a:ln w="12700">
            <a:solidFill>
              <a:srgbClr val="E6F4EA"/>
            </a:solidFill>
            <a:prstDash val="solid"/>
          </a:ln>
          <a:effectLst>
            <a:outerShdw sx="100000" sy="100000" kx="0" ky="0" algn="bl" rotWithShape="0" blurRad="101600" dist="25400" dir="5400000">
              <a:srgbClr val="000000">
                <a:alpha val="12000"/>
              </a:srgbClr>
            </a:outerShdw>
          </a:effectLst>
        </p:spPr>
      </p:sp>
      <p:sp>
        <p:nvSpPr>
          <p:cNvPr id="10" name="Decorative: icon circle">
            <a:extLst>
              <a:ext uri="{C183D7F6-B498-43B3-948B-1728B52AA6E4}">
                <adec:decorative xmlns:adec="http://schemas.microsoft.com/office/drawing/2017/decorative" val="1"/>
              </a:ext>
            </a:extLst>
          </p:cNvPr>
          <p:cNvSpPr/>
          <p:nvPr/>
        </p:nvSpPr>
        <p:spPr>
          <a:xfrm>
            <a:off x="6553048" y="2103120"/>
            <a:ext cx="594360" cy="594360"/>
          </a:xfrm>
          <a:prstGeom prst="ellipse">
            <a:avLst/>
          </a:prstGeom>
          <a:solidFill>
            <a:srgbClr val="1E7B34"/>
          </a:solidFill>
          <a:ln w="12700">
            <a:solidFill>
              <a:srgbClr val="1E7B34"/>
            </a:solidFill>
            <a:prstDash val="solid"/>
          </a:ln>
        </p:spPr>
      </p:sp>
      <p:pic>
        <p:nvPicPr>
          <p:cNvPr id="11" name="Decorative: LuCheck">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83807" y="2233879"/>
            <a:ext cx="332842" cy="332842"/>
          </a:xfrm>
          <a:prstGeom prst="rect">
            <a:avLst/>
          </a:prstGeom>
        </p:spPr>
      </p:pic>
      <p:sp>
        <p:nvSpPr>
          <p:cNvPr id="12" name="Text 8"/>
          <p:cNvSpPr txBox="1"/>
          <p:nvPr/>
        </p:nvSpPr>
        <p:spPr>
          <a:xfrm>
            <a:off x="7284568" y="2103120"/>
            <a:ext cx="4084168" cy="594360"/>
          </a:xfrm>
          <a:prstGeom prst="rect">
            <a:avLst/>
          </a:prstGeom>
          <a:noFill/>
          <a:ln/>
        </p:spPr>
        <p:txBody>
          <a:bodyPr wrap="square" lIns="0" tIns="0" rIns="0" bIns="0" rtlCol="0" anchor="ctr"/>
          <a:lstStyle/>
          <a:p>
            <a:pPr indent="0" marL="0">
              <a:buNone/>
            </a:pPr>
            <a:r>
              <a:rPr lang="en-US" sz="2600" b="1" dirty="0">
                <a:solidFill>
                  <a:srgbClr val="1E7B34"/>
                </a:solidFill>
              </a:rPr>
              <a:t>This</a:t>
            </a:r>
            <a:endParaRPr lang="en-US" sz="2600" dirty="0"/>
          </a:p>
        </p:txBody>
      </p:sp>
      <p:sp>
        <p:nvSpPr>
          <p:cNvPr id="13" name="Text 9"/>
          <p:cNvSpPr txBox="1"/>
          <p:nvPr/>
        </p:nvSpPr>
        <p:spPr>
          <a:xfrm>
            <a:off x="6598768" y="2834640"/>
            <a:ext cx="4724248" cy="914400"/>
          </a:xfrm>
          <a:prstGeom prst="rect">
            <a:avLst/>
          </a:prstGeom>
          <a:noFill/>
          <a:ln/>
        </p:spPr>
        <p:txBody>
          <a:bodyPr wrap="square" lIns="0" tIns="0" rIns="0" bIns="0" rtlCol="0" anchor="t"/>
          <a:lstStyle/>
          <a:p>
            <a:pPr indent="0" marL="0">
              <a:buNone/>
            </a:pPr>
            <a:r>
              <a:rPr lang="en-US" sz="2400" b="1" dirty="0">
                <a:solidFill>
                  <a:schemeClr val="tx1"/>
                </a:solidFill>
              </a:rPr>
              <a:t>Subject: </a:t>
            </a:r>
            <a:pPr indent="0" marL="0">
              <a:buNone/>
            </a:pPr>
            <a:r>
              <a:rPr lang="en-US" sz="2400" dirty="0">
                <a:solidFill>
                  <a:schemeClr val="tx1"/>
                </a:solidFill>
              </a:rPr>
              <a:t>FYE 100 Section 201: Question About Reflection Due Date</a:t>
            </a:r>
            <a:endParaRPr lang="en-US" sz="2400" dirty="0"/>
          </a:p>
        </p:txBody>
      </p:sp>
      <p:sp>
        <p:nvSpPr>
          <p:cNvPr id="14" name="Text 10"/>
          <p:cNvSpPr txBox="1"/>
          <p:nvPr/>
        </p:nvSpPr>
        <p:spPr>
          <a:xfrm>
            <a:off x="548640" y="4160520"/>
            <a:ext cx="7315200" cy="457200"/>
          </a:xfrm>
          <a:prstGeom prst="rect">
            <a:avLst/>
          </a:prstGeom>
          <a:noFill/>
          <a:ln/>
        </p:spPr>
        <p:txBody>
          <a:bodyPr wrap="square" lIns="0" tIns="0" rIns="0" bIns="0" rtlCol="0" anchor="t"/>
          <a:lstStyle/>
          <a:p>
            <a:pPr indent="0" marL="0">
              <a:buNone/>
            </a:pPr>
            <a:r>
              <a:rPr lang="en-US" sz="2600" b="1" dirty="0">
                <a:solidFill>
                  <a:schemeClr val="tx2"/>
                </a:solidFill>
              </a:rPr>
              <a:t>Every email has four parts</a:t>
            </a:r>
            <a:endParaRPr lang="en-US" sz="2600" dirty="0"/>
          </a:p>
        </p:txBody>
      </p:sp>
      <p:sp>
        <p:nvSpPr>
          <p:cNvPr id="15" name="Decorative: email part">
            <a:extLst>
              <a:ext uri="{C183D7F6-B498-43B3-948B-1728B52AA6E4}">
                <adec:decorative xmlns:adec="http://schemas.microsoft.com/office/drawing/2017/decorative" val="1"/>
              </a:ext>
            </a:extLst>
          </p:cNvPr>
          <p:cNvSpPr/>
          <p:nvPr/>
        </p:nvSpPr>
        <p:spPr>
          <a:xfrm>
            <a:off x="548640" y="4754880"/>
            <a:ext cx="2567864" cy="914400"/>
          </a:xfrm>
          <a:prstGeom prst="roundRect">
            <a:avLst>
              <a:gd name="adj" fmla="val 12000"/>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6" name="Text 12"/>
          <p:cNvSpPr txBox="1"/>
          <p:nvPr/>
        </p:nvSpPr>
        <p:spPr>
          <a:xfrm>
            <a:off x="731520" y="4754880"/>
            <a:ext cx="2202104" cy="914400"/>
          </a:xfrm>
          <a:prstGeom prst="rect">
            <a:avLst/>
          </a:prstGeom>
          <a:noFill/>
          <a:ln/>
        </p:spPr>
        <p:txBody>
          <a:bodyPr wrap="square" lIns="0" tIns="0" rIns="0" bIns="0" rtlCol="0" anchor="ctr"/>
          <a:lstStyle/>
          <a:p>
            <a:pPr algn="ctr" indent="0" marL="0">
              <a:buNone/>
            </a:pPr>
            <a:r>
              <a:rPr lang="en-US" sz="2400" b="1" dirty="0">
                <a:solidFill>
                  <a:schemeClr val="tx2"/>
                </a:solidFill>
              </a:rPr>
              <a:t>1. Greeting</a:t>
            </a:r>
            <a:endParaRPr lang="en-US" sz="2400" dirty="0"/>
          </a:p>
        </p:txBody>
      </p:sp>
      <p:sp>
        <p:nvSpPr>
          <p:cNvPr id="17" name="Decorative: email part">
            <a:extLst>
              <a:ext uri="{C183D7F6-B498-43B3-948B-1728B52AA6E4}">
                <adec:decorative xmlns:adec="http://schemas.microsoft.com/office/drawing/2017/decorative" val="1"/>
              </a:ext>
            </a:extLst>
          </p:cNvPr>
          <p:cNvSpPr/>
          <p:nvPr/>
        </p:nvSpPr>
        <p:spPr>
          <a:xfrm>
            <a:off x="3390824" y="4754880"/>
            <a:ext cx="2567864" cy="914400"/>
          </a:xfrm>
          <a:prstGeom prst="roundRect">
            <a:avLst>
              <a:gd name="adj" fmla="val 12000"/>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8" name="Text 14"/>
          <p:cNvSpPr txBox="1"/>
          <p:nvPr/>
        </p:nvSpPr>
        <p:spPr>
          <a:xfrm>
            <a:off x="3573704" y="4754880"/>
            <a:ext cx="2202104" cy="914400"/>
          </a:xfrm>
          <a:prstGeom prst="rect">
            <a:avLst/>
          </a:prstGeom>
          <a:noFill/>
          <a:ln/>
        </p:spPr>
        <p:txBody>
          <a:bodyPr wrap="square" lIns="0" tIns="0" rIns="0" bIns="0" rtlCol="0" anchor="ctr"/>
          <a:lstStyle/>
          <a:p>
            <a:pPr algn="ctr" indent="0" marL="0">
              <a:buNone/>
            </a:pPr>
            <a:r>
              <a:rPr lang="en-US" sz="2400" b="1" dirty="0">
                <a:solidFill>
                  <a:schemeClr val="tx2"/>
                </a:solidFill>
              </a:rPr>
              <a:t>2. Who you are</a:t>
            </a:r>
            <a:endParaRPr lang="en-US" sz="2400" dirty="0"/>
          </a:p>
        </p:txBody>
      </p:sp>
      <p:sp>
        <p:nvSpPr>
          <p:cNvPr id="19" name="Decorative: email part">
            <a:extLst>
              <a:ext uri="{C183D7F6-B498-43B3-948B-1728B52AA6E4}">
                <adec:decorative xmlns:adec="http://schemas.microsoft.com/office/drawing/2017/decorative" val="1"/>
              </a:ext>
            </a:extLst>
          </p:cNvPr>
          <p:cNvSpPr/>
          <p:nvPr/>
        </p:nvSpPr>
        <p:spPr>
          <a:xfrm>
            <a:off x="6233008" y="4754880"/>
            <a:ext cx="2567864" cy="914400"/>
          </a:xfrm>
          <a:prstGeom prst="roundRect">
            <a:avLst>
              <a:gd name="adj" fmla="val 12000"/>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0" name="Text 16"/>
          <p:cNvSpPr txBox="1"/>
          <p:nvPr/>
        </p:nvSpPr>
        <p:spPr>
          <a:xfrm>
            <a:off x="6415888" y="4754880"/>
            <a:ext cx="2202104" cy="914400"/>
          </a:xfrm>
          <a:prstGeom prst="rect">
            <a:avLst/>
          </a:prstGeom>
          <a:noFill/>
          <a:ln/>
        </p:spPr>
        <p:txBody>
          <a:bodyPr wrap="square" lIns="0" tIns="0" rIns="0" bIns="0" rtlCol="0" anchor="ctr"/>
          <a:lstStyle/>
          <a:p>
            <a:pPr algn="ctr" indent="0" marL="0">
              <a:buNone/>
            </a:pPr>
            <a:r>
              <a:rPr lang="en-US" sz="2400" b="1" dirty="0">
                <a:solidFill>
                  <a:schemeClr val="tx2"/>
                </a:solidFill>
              </a:rPr>
              <a:t>3. Your question</a:t>
            </a:r>
            <a:endParaRPr lang="en-US" sz="2400" dirty="0"/>
          </a:p>
        </p:txBody>
      </p:sp>
      <p:sp>
        <p:nvSpPr>
          <p:cNvPr id="21" name="Decorative: email part">
            <a:extLst>
              <a:ext uri="{C183D7F6-B498-43B3-948B-1728B52AA6E4}">
                <adec:decorative xmlns:adec="http://schemas.microsoft.com/office/drawing/2017/decorative" val="1"/>
              </a:ext>
            </a:extLst>
          </p:cNvPr>
          <p:cNvSpPr/>
          <p:nvPr/>
        </p:nvSpPr>
        <p:spPr>
          <a:xfrm>
            <a:off x="9075191" y="4754880"/>
            <a:ext cx="2567864" cy="914400"/>
          </a:xfrm>
          <a:prstGeom prst="roundRect">
            <a:avLst>
              <a:gd name="adj" fmla="val 12000"/>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2" name="Text 18"/>
          <p:cNvSpPr txBox="1"/>
          <p:nvPr/>
        </p:nvSpPr>
        <p:spPr>
          <a:xfrm>
            <a:off x="9258071" y="4754880"/>
            <a:ext cx="2202104" cy="914400"/>
          </a:xfrm>
          <a:prstGeom prst="rect">
            <a:avLst/>
          </a:prstGeom>
          <a:noFill/>
          <a:ln/>
        </p:spPr>
        <p:txBody>
          <a:bodyPr wrap="square" lIns="0" tIns="0" rIns="0" bIns="0" rtlCol="0" anchor="ctr"/>
          <a:lstStyle/>
          <a:p>
            <a:pPr algn="ctr" indent="0" marL="0">
              <a:buNone/>
            </a:pPr>
            <a:r>
              <a:rPr lang="en-US" sz="2400" b="1" dirty="0">
                <a:solidFill>
                  <a:schemeClr val="tx2"/>
                </a:solidFill>
              </a:rPr>
              <a:t>4. Closing</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TRAIL TIPS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Show up as a real person</a:t>
            </a:r>
            <a:endParaRPr lang="en-US" sz="4000" dirty="0"/>
          </a:p>
        </p:txBody>
      </p:sp>
      <p:sp>
        <p:nvSpPr>
          <p:cNvPr id="4" name="Decorative: tip card">
            <a:extLst>
              <a:ext uri="{C183D7F6-B498-43B3-948B-1728B52AA6E4}">
                <adec:decorative xmlns:adec="http://schemas.microsoft.com/office/drawing/2017/decorative" val="1"/>
              </a:ext>
            </a:extLst>
          </p:cNvPr>
          <p:cNvSpPr/>
          <p:nvPr/>
        </p:nvSpPr>
        <p:spPr>
          <a:xfrm>
            <a:off x="548640" y="1828800"/>
            <a:ext cx="3484778" cy="4114800"/>
          </a:xfrm>
          <a:prstGeom prst="roundRect">
            <a:avLst>
              <a:gd name="adj" fmla="val 3149"/>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68680" y="2148840"/>
            <a:ext cx="822960" cy="822960"/>
          </a:xfrm>
          <a:prstGeom prst="ellipse">
            <a:avLst/>
          </a:prstGeom>
          <a:solidFill>
            <a:srgbClr val="00467F"/>
          </a:solidFill>
          <a:ln w="12700">
            <a:solidFill>
              <a:srgbClr val="00467F"/>
            </a:solidFill>
            <a:prstDash val="solid"/>
          </a:ln>
        </p:spPr>
      </p:sp>
      <p:pic>
        <p:nvPicPr>
          <p:cNvPr id="6" name="Decorative: LuSmartphone">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49731" y="2329891"/>
            <a:ext cx="460858" cy="460858"/>
          </a:xfrm>
          <a:prstGeom prst="rect">
            <a:avLst/>
          </a:prstGeom>
        </p:spPr>
      </p:pic>
      <p:sp>
        <p:nvSpPr>
          <p:cNvPr id="7" name="Text 4"/>
          <p:cNvSpPr txBox="1"/>
          <p:nvPr/>
        </p:nvSpPr>
        <p:spPr>
          <a:xfrm>
            <a:off x="868680" y="3200400"/>
            <a:ext cx="2844698" cy="2468880"/>
          </a:xfrm>
          <a:prstGeom prst="rect">
            <a:avLst/>
          </a:prstGeom>
          <a:noFill/>
          <a:ln/>
        </p:spPr>
        <p:txBody>
          <a:bodyPr wrap="square" lIns="0" tIns="0" rIns="0" bIns="0" rtlCol="0" anchor="t"/>
          <a:lstStyle/>
          <a:p>
            <a:pPr indent="0" marL="0">
              <a:buNone/>
            </a:pPr>
            <a:r>
              <a:rPr lang="en-US" sz="2600" b="1" dirty="0">
                <a:solidFill>
                  <a:schemeClr val="tx2"/>
                </a:solidFill>
              </a:rPr>
              <a:t>Email on your phone</a:t>
            </a:r>
            <a:endParaRPr lang="en-US" sz="2400" dirty="0"/>
          </a:p>
          <a:p>
            <a:pPr indent="0" marL="0">
              <a:spcBef>
                <a:spcPts val="800"/>
              </a:spcBef>
              <a:buNone/>
            </a:pPr>
            <a:r>
              <a:rPr lang="en-US" sz="2400" dirty="0">
                <a:solidFill>
                  <a:schemeClr val="tx1"/>
                </a:solidFill>
              </a:rPr>
              <a:t>Install Outlook and Microsoft Authenticator. Turn on notifications.</a:t>
            </a:r>
            <a:endParaRPr lang="en-US" sz="2400" dirty="0"/>
          </a:p>
        </p:txBody>
      </p:sp>
      <p:sp>
        <p:nvSpPr>
          <p:cNvPr id="8" name="Decorative: tip card">
            <a:extLst>
              <a:ext uri="{C183D7F6-B498-43B3-948B-1728B52AA6E4}">
                <adec:decorative xmlns:adec="http://schemas.microsoft.com/office/drawing/2017/decorative" val="1"/>
              </a:ext>
            </a:extLst>
          </p:cNvPr>
          <p:cNvSpPr/>
          <p:nvPr/>
        </p:nvSpPr>
        <p:spPr>
          <a:xfrm>
            <a:off x="4353458" y="1828800"/>
            <a:ext cx="3484778" cy="4114800"/>
          </a:xfrm>
          <a:prstGeom prst="roundRect">
            <a:avLst>
              <a:gd name="adj" fmla="val 3149"/>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4673498" y="2148840"/>
            <a:ext cx="822960" cy="822960"/>
          </a:xfrm>
          <a:prstGeom prst="ellipse">
            <a:avLst/>
          </a:prstGeom>
          <a:solidFill>
            <a:srgbClr val="00467F"/>
          </a:solidFill>
          <a:ln w="12700">
            <a:solidFill>
              <a:srgbClr val="00467F"/>
            </a:solidFill>
            <a:prstDash val="solid"/>
          </a:ln>
        </p:spPr>
      </p:sp>
      <p:pic>
        <p:nvPicPr>
          <p:cNvPr id="10" name="Decorative: LuCircleUse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854550" y="2329891"/>
            <a:ext cx="460858" cy="460858"/>
          </a:xfrm>
          <a:prstGeom prst="rect">
            <a:avLst/>
          </a:prstGeom>
        </p:spPr>
      </p:pic>
      <p:sp>
        <p:nvSpPr>
          <p:cNvPr id="11" name="Text 7"/>
          <p:cNvSpPr txBox="1"/>
          <p:nvPr/>
        </p:nvSpPr>
        <p:spPr>
          <a:xfrm>
            <a:off x="4673498" y="3200400"/>
            <a:ext cx="2844698" cy="2468880"/>
          </a:xfrm>
          <a:prstGeom prst="rect">
            <a:avLst/>
          </a:prstGeom>
          <a:noFill/>
          <a:ln/>
        </p:spPr>
        <p:txBody>
          <a:bodyPr wrap="square" lIns="0" tIns="0" rIns="0" bIns="0" rtlCol="0" anchor="t"/>
          <a:lstStyle/>
          <a:p>
            <a:pPr indent="0" marL="0">
              <a:buNone/>
            </a:pPr>
            <a:r>
              <a:rPr lang="en-US" sz="2600" b="1" dirty="0">
                <a:solidFill>
                  <a:schemeClr val="tx2"/>
                </a:solidFill>
              </a:rPr>
              <a:t>Add a profile photo</a:t>
            </a:r>
            <a:endParaRPr lang="en-US" sz="2400" dirty="0"/>
          </a:p>
          <a:p>
            <a:pPr indent="0" marL="0">
              <a:spcBef>
                <a:spcPts val="800"/>
              </a:spcBef>
              <a:buNone/>
            </a:pPr>
            <a:r>
              <a:rPr lang="en-US" sz="2400" dirty="0">
                <a:solidFill>
                  <a:schemeClr val="tx1"/>
                </a:solidFill>
              </a:rPr>
              <a:t>In Blackboard and your Microsoft account. A clear, recent photo is plenty.</a:t>
            </a:r>
            <a:endParaRPr lang="en-US" sz="2400" dirty="0"/>
          </a:p>
        </p:txBody>
      </p:sp>
      <p:sp>
        <p:nvSpPr>
          <p:cNvPr id="12" name="Decorative: tip card">
            <a:extLst>
              <a:ext uri="{C183D7F6-B498-43B3-948B-1728B52AA6E4}">
                <adec:decorative xmlns:adec="http://schemas.microsoft.com/office/drawing/2017/decorative" val="1"/>
              </a:ext>
            </a:extLst>
          </p:cNvPr>
          <p:cNvSpPr/>
          <p:nvPr/>
        </p:nvSpPr>
        <p:spPr>
          <a:xfrm>
            <a:off x="8158277" y="1828800"/>
            <a:ext cx="3484778" cy="4114800"/>
          </a:xfrm>
          <a:prstGeom prst="roundRect">
            <a:avLst>
              <a:gd name="adj" fmla="val 3149"/>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8478317" y="2148840"/>
            <a:ext cx="822960" cy="822960"/>
          </a:xfrm>
          <a:prstGeom prst="ellipse">
            <a:avLst/>
          </a:prstGeom>
          <a:solidFill>
            <a:srgbClr val="E7A614"/>
          </a:solidFill>
          <a:ln w="12700">
            <a:solidFill>
              <a:srgbClr val="E7A614"/>
            </a:solidFill>
            <a:prstDash val="solid"/>
          </a:ln>
        </p:spPr>
      </p:sp>
      <p:pic>
        <p:nvPicPr>
          <p:cNvPr id="14" name="Decorative: LuAward">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659368" y="2329891"/>
            <a:ext cx="460858" cy="460858"/>
          </a:xfrm>
          <a:prstGeom prst="rect">
            <a:avLst/>
          </a:prstGeom>
        </p:spPr>
      </p:pic>
      <p:sp>
        <p:nvSpPr>
          <p:cNvPr id="15" name="Text 10"/>
          <p:cNvSpPr txBox="1"/>
          <p:nvPr/>
        </p:nvSpPr>
        <p:spPr>
          <a:xfrm>
            <a:off x="8478317" y="3200400"/>
            <a:ext cx="2844698" cy="2468880"/>
          </a:xfrm>
          <a:prstGeom prst="rect">
            <a:avLst/>
          </a:prstGeom>
          <a:noFill/>
          <a:ln/>
        </p:spPr>
        <p:txBody>
          <a:bodyPr wrap="square" lIns="0" tIns="0" rIns="0" bIns="0" rtlCol="0" anchor="t"/>
          <a:lstStyle/>
          <a:p>
            <a:pPr indent="0" marL="0">
              <a:buNone/>
            </a:pPr>
            <a:r>
              <a:rPr lang="en-US" sz="2600" b="1" dirty="0">
                <a:solidFill>
                  <a:schemeClr val="tx2"/>
                </a:solidFill>
              </a:rPr>
              <a:t>Claim your Merit page</a:t>
            </a:r>
            <a:endParaRPr lang="en-US" sz="2400" dirty="0"/>
          </a:p>
          <a:p>
            <a:pPr indent="0" marL="0">
              <a:spcBef>
                <a:spcPts val="800"/>
              </a:spcBef>
              <a:buNone/>
            </a:pPr>
            <a:r>
              <a:rPr lang="en-US" sz="2400" dirty="0">
                <a:solidFill>
                  <a:schemeClr val="tx1"/>
                </a:solidFill>
              </a:rPr>
              <a:t>Look for the invitation email in your KCTCS inbox. That's Task #1.</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TRAIL TIP</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What's happening in that AI Chat?</a:t>
            </a:r>
            <a:endParaRPr lang="en-US" sz="4000" dirty="0"/>
          </a:p>
        </p:txBody>
      </p:sp>
      <p:sp>
        <p:nvSpPr>
          <p:cNvPr id="4" name="Text 2"/>
          <p:cNvSpPr txBox="1"/>
          <p:nvPr/>
        </p:nvSpPr>
        <p:spPr>
          <a:xfrm>
            <a:off x="548640" y="1783080"/>
            <a:ext cx="11094415" cy="548640"/>
          </a:xfrm>
          <a:prstGeom prst="rect">
            <a:avLst/>
          </a:prstGeom>
          <a:noFill/>
          <a:ln/>
        </p:spPr>
        <p:txBody>
          <a:bodyPr wrap="square" lIns="0" tIns="0" rIns="0" bIns="0" rtlCol="0" anchor="t"/>
          <a:lstStyle/>
          <a:p>
            <a:pPr indent="0" marL="0">
              <a:buNone/>
            </a:pPr>
            <a:r>
              <a:rPr lang="en-US" sz="2600" dirty="0">
                <a:solidFill>
                  <a:schemeClr val="tx1"/>
                </a:solidFill>
              </a:rPr>
              <a:t>Every AI Chat starts with hidden instructions: </a:t>
            </a:r>
            <a:pPr indent="0" marL="0">
              <a:buNone/>
            </a:pPr>
            <a:r>
              <a:rPr lang="en-US" sz="2600" b="1" dirty="0">
                <a:solidFill>
                  <a:schemeClr val="accent1"/>
                </a:solidFill>
              </a:rPr>
              <a:t>a system prompt.</a:t>
            </a:r>
            <a:endParaRPr lang="en-US" sz="2600" dirty="0"/>
          </a:p>
        </p:txBody>
      </p:sp>
      <p:sp>
        <p:nvSpPr>
          <p:cNvPr id="5" name="Decorative: student message">
            <a:extLst>
              <a:ext uri="{C183D7F6-B498-43B3-948B-1728B52AA6E4}">
                <adec:decorative xmlns:adec="http://schemas.microsoft.com/office/drawing/2017/decorative" val="1"/>
              </a:ext>
            </a:extLst>
          </p:cNvPr>
          <p:cNvSpPr/>
          <p:nvPr/>
        </p:nvSpPr>
        <p:spPr>
          <a:xfrm>
            <a:off x="548640" y="2560320"/>
            <a:ext cx="11094415" cy="777240"/>
          </a:xfrm>
          <a:prstGeom prst="roundRect">
            <a:avLst>
              <a:gd name="adj" fmla="val 14118"/>
            </a:avLst>
          </a:prstGeom>
          <a:solidFill>
            <a:srgbClr val="011D41"/>
          </a:solidFill>
          <a:ln w="12700">
            <a:solidFill>
              <a:srgbClr val="011D41"/>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868680" y="2560320"/>
            <a:ext cx="10454335" cy="777240"/>
          </a:xfrm>
          <a:prstGeom prst="rect">
            <a:avLst/>
          </a:prstGeom>
          <a:noFill/>
          <a:ln/>
        </p:spPr>
        <p:txBody>
          <a:bodyPr wrap="square" lIns="0" tIns="0" rIns="0" bIns="0" rtlCol="0" anchor="ctr"/>
          <a:lstStyle/>
          <a:p>
            <a:pPr indent="0" marL="0">
              <a:buNone/>
            </a:pPr>
            <a:r>
              <a:rPr lang="en-US" sz="2400" b="1" dirty="0">
                <a:solidFill>
                  <a:schemeClr val="bg1"/>
                </a:solidFill>
              </a:rPr>
              <a:t>Same message: "I'm struggling to ask for help."</a:t>
            </a:r>
            <a:endParaRPr lang="en-US" sz="2400" dirty="0"/>
          </a:p>
        </p:txBody>
      </p:sp>
      <p:sp>
        <p:nvSpPr>
          <p:cNvPr id="7" name="Decorative: generic answer">
            <a:extLst>
              <a:ext uri="{C183D7F6-B498-43B3-948B-1728B52AA6E4}">
                <adec:decorative xmlns:adec="http://schemas.microsoft.com/office/drawing/2017/decorative" val="1"/>
              </a:ext>
            </a:extLst>
          </p:cNvPr>
          <p:cNvSpPr/>
          <p:nvPr/>
        </p:nvSpPr>
        <p:spPr>
          <a:xfrm>
            <a:off x="548640" y="3611880"/>
            <a:ext cx="5364328" cy="2331720"/>
          </a:xfrm>
          <a:prstGeom prst="roundRect">
            <a:avLst>
              <a:gd name="adj" fmla="val 4706"/>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868680" y="3886200"/>
            <a:ext cx="4724248" cy="1874520"/>
          </a:xfrm>
          <a:prstGeom prst="rect">
            <a:avLst/>
          </a:prstGeom>
          <a:noFill/>
          <a:ln/>
        </p:spPr>
        <p:txBody>
          <a:bodyPr wrap="square" lIns="0" tIns="0" rIns="0" bIns="0" rtlCol="0" anchor="t"/>
          <a:lstStyle/>
          <a:p>
            <a:pPr indent="0" marL="0">
              <a:buNone/>
            </a:pPr>
            <a:r>
              <a:rPr lang="en-US" sz="2600" b="1" dirty="0">
                <a:solidFill>
                  <a:schemeClr val="tx2"/>
                </a:solidFill>
              </a:rPr>
              <a:t>A generic chatbot</a:t>
            </a:r>
            <a:endParaRPr lang="en-US" sz="2400" dirty="0"/>
          </a:p>
          <a:p>
            <a:pPr indent="0" marL="0">
              <a:spcBef>
                <a:spcPts val="800"/>
              </a:spcBef>
              <a:buNone/>
            </a:pPr>
            <a:r>
              <a:rPr lang="en-US" sz="2400" dirty="0">
                <a:solidFill>
                  <a:schemeClr val="tx1"/>
                </a:solidFill>
              </a:rPr>
              <a:t>Five tips, an app, and an emoji.</a:t>
            </a:r>
            <a:endParaRPr lang="en-US" sz="2400" dirty="0"/>
          </a:p>
        </p:txBody>
      </p:sp>
      <p:sp>
        <p:nvSpPr>
          <p:cNvPr id="9" name="Decorative: course answer">
            <a:extLst>
              <a:ext uri="{C183D7F6-B498-43B3-948B-1728B52AA6E4}">
                <adec:decorative xmlns:adec="http://schemas.microsoft.com/office/drawing/2017/decorative" val="1"/>
              </a:ext>
            </a:extLst>
          </p:cNvPr>
          <p:cNvSpPr/>
          <p:nvPr/>
        </p:nvSpPr>
        <p:spPr>
          <a:xfrm>
            <a:off x="6278728" y="3611880"/>
            <a:ext cx="5364328" cy="2331720"/>
          </a:xfrm>
          <a:prstGeom prst="roundRect">
            <a:avLst>
              <a:gd name="adj" fmla="val 4706"/>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6598768" y="3886200"/>
            <a:ext cx="4724248" cy="1874520"/>
          </a:xfrm>
          <a:prstGeom prst="rect">
            <a:avLst/>
          </a:prstGeom>
          <a:noFill/>
          <a:ln/>
        </p:spPr>
        <p:txBody>
          <a:bodyPr wrap="square" lIns="0" tIns="0" rIns="0" bIns="0" rtlCol="0" anchor="t"/>
          <a:lstStyle/>
          <a:p>
            <a:pPr indent="0" marL="0">
              <a:buNone/>
            </a:pPr>
            <a:r>
              <a:rPr lang="en-US" sz="2600" b="1" dirty="0">
                <a:solidFill>
                  <a:schemeClr val="tx2"/>
                </a:solidFill>
              </a:rPr>
              <a:t>Coach Pathfinder</a:t>
            </a:r>
            <a:endParaRPr lang="en-US" sz="2400" dirty="0"/>
          </a:p>
          <a:p>
            <a:pPr indent="0" marL="0">
              <a:spcBef>
                <a:spcPts val="800"/>
              </a:spcBef>
              <a:buNone/>
            </a:pPr>
            <a:r>
              <a:rPr lang="en-US" sz="2400" dirty="0">
                <a:solidFill>
                  <a:schemeClr val="tx1"/>
                </a:solidFill>
              </a:rPr>
              <a:t>"Tell me more. Is it not knowing who to ask, or that asking feels uncomfortable?"</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ASSIGNMENTS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Due Monday by 11:59 PM Central</a:t>
            </a:r>
            <a:endParaRPr lang="en-US" sz="4000" dirty="0"/>
          </a:p>
        </p:txBody>
      </p:sp>
      <p:sp>
        <p:nvSpPr>
          <p:cNvPr id="4" name="Decorative: assignment row">
            <a:extLst>
              <a:ext uri="{C183D7F6-B498-43B3-948B-1728B52AA6E4}">
                <adec:decorative xmlns:adec="http://schemas.microsoft.com/office/drawing/2017/decorative" val="1"/>
              </a:ext>
            </a:extLst>
          </p:cNvPr>
          <p:cNvSpPr/>
          <p:nvPr/>
        </p:nvSpPr>
        <p:spPr>
          <a:xfrm>
            <a:off x="548640" y="187452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731520" y="1965960"/>
            <a:ext cx="548640" cy="548640"/>
          </a:xfrm>
          <a:prstGeom prst="ellipse">
            <a:avLst/>
          </a:prstGeom>
          <a:solidFill>
            <a:srgbClr val="00467F"/>
          </a:solidFill>
          <a:ln w="12700">
            <a:solidFill>
              <a:srgbClr val="00467F"/>
            </a:solidFill>
            <a:prstDash val="solid"/>
          </a:ln>
        </p:spPr>
      </p:sp>
      <p:pic>
        <p:nvPicPr>
          <p:cNvPr id="6" name="Decorative: LuAward">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2221" y="2086661"/>
            <a:ext cx="307238" cy="307238"/>
          </a:xfrm>
          <a:prstGeom prst="rect">
            <a:avLst/>
          </a:prstGeom>
        </p:spPr>
      </p:pic>
      <p:sp>
        <p:nvSpPr>
          <p:cNvPr id="7" name="Text 4"/>
          <p:cNvSpPr txBox="1"/>
          <p:nvPr/>
        </p:nvSpPr>
        <p:spPr>
          <a:xfrm>
            <a:off x="1508760" y="192938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Task #1: Set Up Your Merit Page</a:t>
            </a:r>
            <a:endParaRPr lang="en-US" sz="2400" dirty="0"/>
          </a:p>
          <a:p>
            <a:pPr indent="0" marL="0">
              <a:buNone/>
            </a:pPr>
            <a:r>
              <a:rPr lang="en-US" sz="2000" dirty="0">
                <a:solidFill>
                  <a:schemeClr val="accent6"/>
                </a:solidFill>
              </a:rPr>
              <a:t>Claim your page and share the link</a:t>
            </a:r>
            <a:endParaRPr lang="en-US" sz="2400" dirty="0"/>
          </a:p>
        </p:txBody>
      </p:sp>
      <p:sp>
        <p:nvSpPr>
          <p:cNvPr id="8" name="Decorative: assignment row">
            <a:extLst>
              <a:ext uri="{C183D7F6-B498-43B3-948B-1728B52AA6E4}">
                <adec:decorative xmlns:adec="http://schemas.microsoft.com/office/drawing/2017/decorative" val="1"/>
              </a:ext>
            </a:extLst>
          </p:cNvPr>
          <p:cNvSpPr/>
          <p:nvPr/>
        </p:nvSpPr>
        <p:spPr>
          <a:xfrm>
            <a:off x="548640" y="288036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731520" y="2971800"/>
            <a:ext cx="548640" cy="548640"/>
          </a:xfrm>
          <a:prstGeom prst="ellipse">
            <a:avLst/>
          </a:prstGeom>
          <a:solidFill>
            <a:srgbClr val="00467F"/>
          </a:solidFill>
          <a:ln w="12700">
            <a:solidFill>
              <a:srgbClr val="00467F"/>
            </a:solidFill>
            <a:prstDash val="solid"/>
          </a:ln>
        </p:spPr>
      </p:sp>
      <p:pic>
        <p:nvPicPr>
          <p:cNvPr id="10" name="Decorative: LuCompass">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52221" y="3092501"/>
            <a:ext cx="307238" cy="307238"/>
          </a:xfrm>
          <a:prstGeom prst="rect">
            <a:avLst/>
          </a:prstGeom>
        </p:spPr>
      </p:pic>
      <p:sp>
        <p:nvSpPr>
          <p:cNvPr id="11" name="Text 7"/>
          <p:cNvSpPr txBox="1"/>
          <p:nvPr/>
        </p:nvSpPr>
        <p:spPr>
          <a:xfrm>
            <a:off x="1508760" y="293522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Task #2: Identify Your Success Coach</a:t>
            </a:r>
            <a:endParaRPr lang="en-US" sz="2400" dirty="0"/>
          </a:p>
          <a:p>
            <a:pPr indent="0" marL="0">
              <a:buNone/>
            </a:pPr>
            <a:r>
              <a:rPr lang="en-US" sz="2000" dirty="0">
                <a:solidFill>
                  <a:schemeClr val="accent6"/>
                </a:solidFill>
              </a:rPr>
              <a:t>Name and contact information</a:t>
            </a:r>
            <a:endParaRPr lang="en-US" sz="2400" dirty="0"/>
          </a:p>
        </p:txBody>
      </p:sp>
      <p:sp>
        <p:nvSpPr>
          <p:cNvPr id="12" name="Decorative: assignment row">
            <a:extLst>
              <a:ext uri="{C183D7F6-B498-43B3-948B-1728B52AA6E4}">
                <adec:decorative xmlns:adec="http://schemas.microsoft.com/office/drawing/2017/decorative" val="1"/>
              </a:ext>
            </a:extLst>
          </p:cNvPr>
          <p:cNvSpPr/>
          <p:nvPr/>
        </p:nvSpPr>
        <p:spPr>
          <a:xfrm>
            <a:off x="548640" y="388620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731520" y="3977640"/>
            <a:ext cx="548640" cy="548640"/>
          </a:xfrm>
          <a:prstGeom prst="ellipse">
            <a:avLst/>
          </a:prstGeom>
          <a:solidFill>
            <a:srgbClr val="00467F"/>
          </a:solidFill>
          <a:ln w="12700">
            <a:solidFill>
              <a:srgbClr val="00467F"/>
            </a:solidFill>
            <a:prstDash val="solid"/>
          </a:ln>
        </p:spPr>
      </p:sp>
      <p:pic>
        <p:nvPicPr>
          <p:cNvPr id="14" name="Decorative: LuBot">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2221" y="4098341"/>
            <a:ext cx="307238" cy="307238"/>
          </a:xfrm>
          <a:prstGeom prst="rect">
            <a:avLst/>
          </a:prstGeom>
        </p:spPr>
      </p:pic>
      <p:sp>
        <p:nvSpPr>
          <p:cNvPr id="15" name="Text 10"/>
          <p:cNvSpPr txBox="1"/>
          <p:nvPr/>
        </p:nvSpPr>
        <p:spPr>
          <a:xfrm>
            <a:off x="1508760" y="394106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AI Chat: Who Has Your Back?</a:t>
            </a:r>
            <a:endParaRPr lang="en-US" sz="2400" dirty="0"/>
          </a:p>
          <a:p>
            <a:pPr indent="0" marL="0">
              <a:buNone/>
            </a:pPr>
            <a:r>
              <a:rPr lang="en-US" sz="2000" dirty="0">
                <a:solidFill>
                  <a:schemeClr val="accent6"/>
                </a:solidFill>
              </a:rPr>
              <a:t>A conversation with Coach Pathfinder</a:t>
            </a:r>
            <a:endParaRPr lang="en-US" sz="2400" dirty="0"/>
          </a:p>
        </p:txBody>
      </p:sp>
      <p:sp>
        <p:nvSpPr>
          <p:cNvPr id="16" name="Decorative: assignment row">
            <a:extLst>
              <a:ext uri="{C183D7F6-B498-43B3-948B-1728B52AA6E4}">
                <adec:decorative xmlns:adec="http://schemas.microsoft.com/office/drawing/2017/decorative" val="1"/>
              </a:ext>
            </a:extLst>
          </p:cNvPr>
          <p:cNvSpPr/>
          <p:nvPr/>
        </p:nvSpPr>
        <p:spPr>
          <a:xfrm>
            <a:off x="548640" y="489204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731520" y="4983480"/>
            <a:ext cx="548640" cy="548640"/>
          </a:xfrm>
          <a:prstGeom prst="ellipse">
            <a:avLst/>
          </a:prstGeom>
          <a:solidFill>
            <a:srgbClr val="00467F"/>
          </a:solidFill>
          <a:ln w="12700">
            <a:solidFill>
              <a:srgbClr val="00467F"/>
            </a:solidFill>
            <a:prstDash val="solid"/>
          </a:ln>
        </p:spPr>
      </p:sp>
      <p:pic>
        <p:nvPicPr>
          <p:cNvPr id="18" name="Decorative: LuFlag">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52221" y="5104181"/>
            <a:ext cx="307238" cy="307238"/>
          </a:xfrm>
          <a:prstGeom prst="rect">
            <a:avLst/>
          </a:prstGeom>
        </p:spPr>
      </p:pic>
      <p:sp>
        <p:nvSpPr>
          <p:cNvPr id="19" name="Text 13"/>
          <p:cNvSpPr txBox="1"/>
          <p:nvPr/>
        </p:nvSpPr>
        <p:spPr>
          <a:xfrm>
            <a:off x="1508760" y="494690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Mile Marker #2: My Support Team</a:t>
            </a:r>
            <a:endParaRPr lang="en-US" sz="2400" dirty="0"/>
          </a:p>
          <a:p>
            <a:pPr indent="0" marL="0">
              <a:buNone/>
            </a:pPr>
            <a:r>
              <a:rPr lang="en-US" sz="2000" dirty="0">
                <a:solidFill>
                  <a:schemeClr val="accent6"/>
                </a:solidFill>
              </a:rPr>
              <a:t>Three questions about your support network</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MILE MARKER #2</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My Support Team</a:t>
            </a:r>
            <a:endParaRPr lang="en-US" sz="4000" dirty="0"/>
          </a:p>
        </p:txBody>
      </p:sp>
      <p:sp>
        <p:nvSpPr>
          <p:cNvPr id="4" name="Decorative: number circle">
            <a:extLst>
              <a:ext uri="{C183D7F6-B498-43B3-948B-1728B52AA6E4}">
                <adec:decorative xmlns:adec="http://schemas.microsoft.com/office/drawing/2017/decorative" val="1"/>
              </a:ext>
            </a:extLst>
          </p:cNvPr>
          <p:cNvSpPr/>
          <p:nvPr/>
        </p:nvSpPr>
        <p:spPr>
          <a:xfrm>
            <a:off x="548640" y="1874520"/>
            <a:ext cx="685800" cy="685800"/>
          </a:xfrm>
          <a:prstGeom prst="ellipse">
            <a:avLst/>
          </a:prstGeom>
          <a:solidFill>
            <a:srgbClr val="E7A614"/>
          </a:solidFill>
          <a:ln w="12700">
            <a:solidFill>
              <a:srgbClr val="E7A614"/>
            </a:solidFill>
            <a:prstDash val="solid"/>
          </a:ln>
        </p:spPr>
      </p:sp>
      <p:sp>
        <p:nvSpPr>
          <p:cNvPr id="5" name="Question 1 number"/>
          <p:cNvSpPr txBox="1"/>
          <p:nvPr/>
        </p:nvSpPr>
        <p:spPr>
          <a:xfrm>
            <a:off x="548640" y="1874520"/>
            <a:ext cx="685800" cy="685800"/>
          </a:xfrm>
          <a:prstGeom prst="rect">
            <a:avLst/>
          </a:prstGeom>
          <a:noFill/>
          <a:ln/>
        </p:spPr>
        <p:txBody>
          <a:bodyPr wrap="square" lIns="0" tIns="0" rIns="0" bIns="0" rtlCol="0" anchor="ctr"/>
          <a:lstStyle/>
          <a:p>
            <a:pPr algn="ctr" indent="0" marL="0">
              <a:buNone/>
            </a:pPr>
            <a:r>
              <a:rPr lang="en-US" sz="2800" b="1" dirty="0">
                <a:solidFill>
                  <a:schemeClr val="tx2"/>
                </a:solidFill>
              </a:rPr>
              <a:t>1</a:t>
            </a:r>
            <a:endParaRPr lang="en-US" sz="2800" dirty="0"/>
          </a:p>
        </p:txBody>
      </p:sp>
      <p:sp>
        <p:nvSpPr>
          <p:cNvPr id="6" name="Text 4"/>
          <p:cNvSpPr txBox="1"/>
          <p:nvPr/>
        </p:nvSpPr>
        <p:spPr>
          <a:xfrm>
            <a:off x="1508760" y="1828800"/>
            <a:ext cx="6720840" cy="1143000"/>
          </a:xfrm>
          <a:prstGeom prst="rect">
            <a:avLst/>
          </a:prstGeom>
          <a:noFill/>
          <a:ln/>
        </p:spPr>
        <p:txBody>
          <a:bodyPr wrap="square" lIns="0" tIns="0" rIns="0" bIns="0" rtlCol="0" anchor="t"/>
          <a:lstStyle/>
          <a:p>
            <a:pPr indent="0" marL="0">
              <a:buNone/>
            </a:pPr>
            <a:r>
              <a:rPr lang="en-US" sz="2400" b="1" dirty="0">
                <a:solidFill>
                  <a:schemeClr val="tx2"/>
                </a:solidFill>
              </a:rPr>
              <a:t>Who are three people at OCTC who can help you?</a:t>
            </a:r>
            <a:endParaRPr lang="en-US" sz="2400" dirty="0"/>
          </a:p>
          <a:p>
            <a:pPr indent="0" marL="0">
              <a:buNone/>
            </a:pPr>
            <a:r>
              <a:rPr lang="en-US" sz="2400" dirty="0">
                <a:solidFill>
                  <a:schemeClr val="accent6"/>
                </a:solidFill>
              </a:rPr>
              <a:t>Start with your Success Coach, by name.</a:t>
            </a:r>
            <a:endParaRPr lang="en-US" sz="2400" dirty="0"/>
          </a:p>
        </p:txBody>
      </p:sp>
      <p:sp>
        <p:nvSpPr>
          <p:cNvPr id="7" name="Decorative: number circle">
            <a:extLst>
              <a:ext uri="{C183D7F6-B498-43B3-948B-1728B52AA6E4}">
                <adec:decorative xmlns:adec="http://schemas.microsoft.com/office/drawing/2017/decorative" val="1"/>
              </a:ext>
            </a:extLst>
          </p:cNvPr>
          <p:cNvSpPr/>
          <p:nvPr/>
        </p:nvSpPr>
        <p:spPr>
          <a:xfrm>
            <a:off x="548640" y="3200400"/>
            <a:ext cx="685800" cy="685800"/>
          </a:xfrm>
          <a:prstGeom prst="ellipse">
            <a:avLst/>
          </a:prstGeom>
          <a:solidFill>
            <a:srgbClr val="E7A614"/>
          </a:solidFill>
          <a:ln w="12700">
            <a:solidFill>
              <a:srgbClr val="E7A614"/>
            </a:solidFill>
            <a:prstDash val="solid"/>
          </a:ln>
        </p:spPr>
      </p:sp>
      <p:sp>
        <p:nvSpPr>
          <p:cNvPr id="8" name="Question 2 number"/>
          <p:cNvSpPr txBox="1"/>
          <p:nvPr/>
        </p:nvSpPr>
        <p:spPr>
          <a:xfrm>
            <a:off x="548640" y="3200400"/>
            <a:ext cx="685800" cy="685800"/>
          </a:xfrm>
          <a:prstGeom prst="rect">
            <a:avLst/>
          </a:prstGeom>
          <a:noFill/>
          <a:ln/>
        </p:spPr>
        <p:txBody>
          <a:bodyPr wrap="square" lIns="0" tIns="0" rIns="0" bIns="0" rtlCol="0" anchor="ctr"/>
          <a:lstStyle/>
          <a:p>
            <a:pPr algn="ctr" indent="0" marL="0">
              <a:buNone/>
            </a:pPr>
            <a:r>
              <a:rPr lang="en-US" sz="2800" b="1" dirty="0">
                <a:solidFill>
                  <a:schemeClr val="tx2"/>
                </a:solidFill>
              </a:rPr>
              <a:t>2</a:t>
            </a:r>
            <a:endParaRPr lang="en-US" sz="2800" dirty="0"/>
          </a:p>
        </p:txBody>
      </p:sp>
      <p:sp>
        <p:nvSpPr>
          <p:cNvPr id="9" name="Text 7"/>
          <p:cNvSpPr txBox="1"/>
          <p:nvPr/>
        </p:nvSpPr>
        <p:spPr>
          <a:xfrm>
            <a:off x="1508760" y="3154680"/>
            <a:ext cx="6720840" cy="1143000"/>
          </a:xfrm>
          <a:prstGeom prst="rect">
            <a:avLst/>
          </a:prstGeom>
          <a:noFill/>
          <a:ln/>
        </p:spPr>
        <p:txBody>
          <a:bodyPr wrap="square" lIns="0" tIns="0" rIns="0" bIns="0" rtlCol="0" anchor="t"/>
          <a:lstStyle/>
          <a:p>
            <a:pPr indent="0" marL="0">
              <a:buNone/>
            </a:pPr>
            <a:r>
              <a:rPr lang="en-US" sz="2400" b="1" dirty="0">
                <a:solidFill>
                  <a:schemeClr val="tx2"/>
                </a:solidFill>
              </a:rPr>
              <a:t>How will you use your network on purpose?</a:t>
            </a:r>
            <a:endParaRPr lang="en-US" sz="2400" dirty="0"/>
          </a:p>
          <a:p>
            <a:pPr indent="0" marL="0">
              <a:buNone/>
            </a:pPr>
            <a:r>
              <a:rPr lang="en-US" sz="2400" dirty="0">
                <a:solidFill>
                  <a:schemeClr val="accent6"/>
                </a:solidFill>
              </a:rPr>
              <a:t>Two ways: when, how, and for what.</a:t>
            </a:r>
            <a:endParaRPr lang="en-US" sz="2400" dirty="0"/>
          </a:p>
        </p:txBody>
      </p:sp>
      <p:sp>
        <p:nvSpPr>
          <p:cNvPr id="10" name="Decorative: number circle">
            <a:extLst>
              <a:ext uri="{C183D7F6-B498-43B3-948B-1728B52AA6E4}">
                <adec:decorative xmlns:adec="http://schemas.microsoft.com/office/drawing/2017/decorative" val="1"/>
              </a:ext>
            </a:extLst>
          </p:cNvPr>
          <p:cNvSpPr/>
          <p:nvPr/>
        </p:nvSpPr>
        <p:spPr>
          <a:xfrm>
            <a:off x="548640" y="4526280"/>
            <a:ext cx="685800" cy="685800"/>
          </a:xfrm>
          <a:prstGeom prst="ellipse">
            <a:avLst/>
          </a:prstGeom>
          <a:solidFill>
            <a:srgbClr val="E7A614"/>
          </a:solidFill>
          <a:ln w="12700">
            <a:solidFill>
              <a:srgbClr val="E7A614"/>
            </a:solidFill>
            <a:prstDash val="solid"/>
          </a:ln>
        </p:spPr>
      </p:sp>
      <p:sp>
        <p:nvSpPr>
          <p:cNvPr id="11" name="Question 3 number"/>
          <p:cNvSpPr txBox="1"/>
          <p:nvPr/>
        </p:nvSpPr>
        <p:spPr>
          <a:xfrm>
            <a:off x="548640" y="4526280"/>
            <a:ext cx="685800" cy="685800"/>
          </a:xfrm>
          <a:prstGeom prst="rect">
            <a:avLst/>
          </a:prstGeom>
          <a:noFill/>
          <a:ln/>
        </p:spPr>
        <p:txBody>
          <a:bodyPr wrap="square" lIns="0" tIns="0" rIns="0" bIns="0" rtlCol="0" anchor="ctr"/>
          <a:lstStyle/>
          <a:p>
            <a:pPr algn="ctr" indent="0" marL="0">
              <a:buNone/>
            </a:pPr>
            <a:r>
              <a:rPr lang="en-US" sz="2800" b="1" dirty="0">
                <a:solidFill>
                  <a:schemeClr val="tx2"/>
                </a:solidFill>
              </a:rPr>
              <a:t>3</a:t>
            </a:r>
            <a:endParaRPr lang="en-US" sz="2800" dirty="0"/>
          </a:p>
        </p:txBody>
      </p:sp>
      <p:sp>
        <p:nvSpPr>
          <p:cNvPr id="12" name="Text 10"/>
          <p:cNvSpPr txBox="1"/>
          <p:nvPr/>
        </p:nvSpPr>
        <p:spPr>
          <a:xfrm>
            <a:off x="1508760" y="4480560"/>
            <a:ext cx="6720840" cy="1143000"/>
          </a:xfrm>
          <a:prstGeom prst="rect">
            <a:avLst/>
          </a:prstGeom>
          <a:noFill/>
          <a:ln/>
        </p:spPr>
        <p:txBody>
          <a:bodyPr wrap="square" lIns="0" tIns="0" rIns="0" bIns="0" rtlCol="0" anchor="t"/>
          <a:lstStyle/>
          <a:p>
            <a:pPr indent="0" marL="0">
              <a:buNone/>
            </a:pPr>
            <a:r>
              <a:rPr lang="en-US" sz="2400" b="1" dirty="0">
                <a:solidFill>
                  <a:schemeClr val="tx2"/>
                </a:solidFill>
              </a:rPr>
              <a:t>What new campus resource will you explore?</a:t>
            </a:r>
            <a:endParaRPr lang="en-US" sz="2400" dirty="0"/>
          </a:p>
          <a:p>
            <a:pPr indent="0" marL="0">
              <a:buNone/>
            </a:pPr>
            <a:r>
              <a:rPr lang="en-US" sz="2400" dirty="0">
                <a:solidFill>
                  <a:schemeClr val="accent6"/>
                </a:solidFill>
              </a:rPr>
              <a:t>Name it, say why, and name a next step.</a:t>
            </a:r>
            <a:endParaRPr lang="en-US" sz="2400" dirty="0"/>
          </a:p>
        </p:txBody>
      </p:sp>
      <p:sp>
        <p:nvSpPr>
          <p:cNvPr id="13" name="Decorative: mile marker details panel">
            <a:extLst>
              <a:ext uri="{C183D7F6-B498-43B3-948B-1728B52AA6E4}">
                <adec:decorative xmlns:adec="http://schemas.microsoft.com/office/drawing/2017/decorative" val="1"/>
              </a:ext>
            </a:extLst>
          </p:cNvPr>
          <p:cNvSpPr/>
          <p:nvPr/>
        </p:nvSpPr>
        <p:spPr>
          <a:xfrm>
            <a:off x="8229600" y="1874520"/>
            <a:ext cx="3413455" cy="3794760"/>
          </a:xfrm>
          <a:prstGeom prst="roundRect">
            <a:avLst>
              <a:gd name="adj" fmla="val 3215"/>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4" name="Text 12"/>
          <p:cNvSpPr txBox="1"/>
          <p:nvPr/>
        </p:nvSpPr>
        <p:spPr>
          <a:xfrm>
            <a:off x="8503920" y="2103120"/>
            <a:ext cx="2864815" cy="3383280"/>
          </a:xfrm>
          <a:prstGeom prst="rect">
            <a:avLst/>
          </a:prstGeom>
          <a:noFill/>
          <a:ln/>
        </p:spPr>
        <p:txBody>
          <a:bodyPr wrap="square" lIns="0" tIns="0" rIns="0" bIns="0" rtlCol="0" anchor="t"/>
          <a:lstStyle/>
          <a:p>
            <a:pPr indent="0" marL="0">
              <a:spcAft>
                <a:spcPts val="1000"/>
              </a:spcAft>
              <a:buNone/>
            </a:pPr>
            <a:r>
              <a:rPr lang="en-US" sz="2200" b="1" dirty="0">
                <a:solidFill>
                  <a:srgbClr val="7A5500"/>
                </a:solidFill>
              </a:rPr>
              <a:t>AI use: AI-supported</a:t>
            </a:r>
            <a:endParaRPr lang="en-US" sz="2200" dirty="0"/>
          </a:p>
          <a:p>
            <a:pPr indent="0" marL="0">
              <a:spcAft>
                <a:spcPts val="1000"/>
              </a:spcAft>
              <a:buNone/>
            </a:pPr>
            <a:r>
              <a:rPr lang="en-US" sz="2200" dirty="0">
                <a:solidFill>
                  <a:schemeClr val="tx1"/>
                </a:solidFill>
              </a:rPr>
              <a:t>Use AI to think it through. Write it in your own words.</a:t>
            </a:r>
            <a:endParaRPr lang="en-US" sz="2200" dirty="0"/>
          </a:p>
          <a:p>
            <a:pPr indent="0" marL="0">
              <a:spcAft>
                <a:spcPts val="1000"/>
              </a:spcAft>
              <a:buNone/>
            </a:pPr>
            <a:r>
              <a:rPr lang="en-US" sz="1000" dirty="0">
                <a:solidFill>
                  <a:schemeClr val="tx1"/>
                </a:solidFill>
              </a:rPr>
              <a:t> </a:t>
            </a:r>
            <a:endParaRPr lang="en-US" sz="2200" dirty="0"/>
          </a:p>
          <a:p>
            <a:pPr indent="0" marL="0">
              <a:spcAft>
                <a:spcPts val="1000"/>
              </a:spcAft>
              <a:buNone/>
            </a:pPr>
            <a:r>
              <a:rPr lang="en-US" sz="2200" b="1" dirty="0">
                <a:solidFill>
                  <a:srgbClr val="7A5500"/>
                </a:solidFill>
              </a:rPr>
              <a:t>Prefer paper?</a:t>
            </a:r>
            <a:endParaRPr lang="en-US" sz="2200" dirty="0"/>
          </a:p>
          <a:p>
            <a:pPr indent="0" marL="0">
              <a:spcAft>
                <a:spcPts val="1000"/>
              </a:spcAft>
              <a:buNone/>
            </a:pPr>
            <a:r>
              <a:rPr lang="en-US" sz="2200" dirty="0">
                <a:solidFill>
                  <a:schemeClr val="tx1"/>
                </a:solidFill>
              </a:rPr>
              <a:t>A printable handout is with the assignment in Blackboard.</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640080"/>
            <a:ext cx="7680960" cy="411480"/>
          </a:xfrm>
          <a:prstGeom prst="rect">
            <a:avLst/>
          </a:prstGeom>
          <a:noFill/>
          <a:ln/>
        </p:spPr>
        <p:txBody>
          <a:bodyPr wrap="square" lIns="0" tIns="0" rIns="0" bIns="0" rtlCol="0"/>
          <a:lstStyle/>
          <a:p>
            <a:pPr algn="l" indent="0" marL="0">
              <a:buNone/>
            </a:pPr>
            <a:r>
              <a:rPr lang="en-US" sz="2000" b="1" spc="300" kern="0" dirty="0">
                <a:solidFill>
                  <a:schemeClr val="accent2"/>
                </a:solidFill>
              </a:rPr>
              <a:t>TALK IT THROUGH · IN CLASS</a:t>
            </a:r>
            <a:endParaRPr lang="en-US" sz="2000" dirty="0"/>
          </a:p>
        </p:txBody>
      </p:sp>
      <p:sp>
        <p:nvSpPr>
          <p:cNvPr id="4" name="Text 0"/>
          <p:cNvSpPr/>
          <p:nvPr>
            <p:ph idx="101" type="title" hasCustomPrompt="1"/>
          </p:nvPr>
        </p:nvSpPr>
        <p:spPr>
          <a:xfrm>
            <a:off x="3931920" y="1097280"/>
            <a:ext cx="7680960" cy="1371600"/>
          </a:xfrm>
          <a:prstGeom prst="rect">
            <a:avLst/>
          </a:prstGeom>
          <a:noFill/>
          <a:ln/>
        </p:spPr>
        <p:txBody>
          <a:bodyPr wrap="square" lIns="0" tIns="0" rIns="0" bIns="0" rtlCol="0" anchor="t"/>
          <a:lstStyle/>
          <a:p>
            <a:pPr algn="l" indent="0" marL="0">
              <a:buNone/>
            </a:pPr>
            <a:r>
              <a:rPr lang="en-US" sz="4400" b="1" dirty="0">
                <a:solidFill>
                  <a:schemeClr val="bg1"/>
                </a:solidFill>
              </a:rPr>
              <a:t>Push through alone, or reach out?</a:t>
            </a:r>
            <a:endParaRPr lang="en-US" sz="4400" dirty="0"/>
          </a:p>
        </p:txBody>
      </p:sp>
      <p:sp>
        <p:nvSpPr>
          <p:cNvPr id="5" name="Discussion questions"/>
          <p:cNvSpPr txBox="1"/>
          <p:nvPr/>
        </p:nvSpPr>
        <p:spPr>
          <a:xfrm>
            <a:off x="3931920" y="2697480"/>
            <a:ext cx="7589520" cy="173736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600" dirty="0">
                <a:solidFill>
                  <a:schemeClr val="bg1"/>
                </a:solidFill>
              </a:rPr>
              <a:t>When things get hard, what's your first instinct?</a:t>
            </a:r>
            <a:endParaRPr lang="en-US" sz="2600" dirty="0"/>
          </a:p>
          <a:p>
            <a:pPr marL="342900" indent="-342900">
              <a:spcAft>
                <a:spcPts val="1200"/>
              </a:spcAft>
              <a:buSzPct val="100000"/>
              <a:buFont typeface="+mj-lt"/>
              <a:buAutoNum type="arabicPeriod" startAt="1"/>
            </a:pPr>
            <a:r>
              <a:rPr lang="en-US" sz="2600" dirty="0">
                <a:solidFill>
                  <a:schemeClr val="bg1"/>
                </a:solidFill>
              </a:rPr>
              <a:t>Tell about a time asking for help made things better. What made it easy to ask?</a:t>
            </a:r>
            <a:endParaRPr lang="en-US" sz="2600" dirty="0"/>
          </a:p>
        </p:txBody>
      </p:sp>
      <p:sp>
        <p:nvSpPr>
          <p:cNvPr id="6" name="Text 3"/>
          <p:cNvSpPr txBox="1"/>
          <p:nvPr/>
        </p:nvSpPr>
        <p:spPr>
          <a:xfrm>
            <a:off x="3931920" y="4526280"/>
            <a:ext cx="5120640" cy="731520"/>
          </a:xfrm>
          <a:prstGeom prst="rect">
            <a:avLst/>
          </a:prstGeom>
          <a:noFill/>
          <a:ln/>
        </p:spPr>
        <p:txBody>
          <a:bodyPr wrap="square" lIns="0" tIns="0" rIns="0" bIns="0" rtlCol="0" anchor="t"/>
          <a:lstStyle/>
          <a:p>
            <a:pPr indent="0" marL="0">
              <a:buNone/>
            </a:pPr>
            <a:r>
              <a:rPr lang="en-US" sz="2200" i="1" dirty="0">
                <a:solidFill>
                  <a:srgbClr val="D6EEFA"/>
                </a:solidFill>
              </a:rPr>
              <a:t>Talk with a partner for 3 minutes, then share one idea with the room.</a:t>
            </a:r>
            <a:endParaRPr lang="en-US" sz="2200" dirty="0"/>
          </a:p>
        </p:txBody>
      </p:sp>
    </p:spTree>
  </p:cSld>
  <p:clrMapOvr>
    <a:masterClrMapping/>
  </p:clrMapOvr>
</p:sld>
</file>

<file path=ppt/theme/theme1.xml><?xml version="1.0" encoding="utf-8"?>
<a:theme xmlns:a="http://schemas.openxmlformats.org/drawingml/2006/main" name="FYE 100 Pathfinder">
  <a:themeElements>
    <a:clrScheme name="FYE 100 Pathfinder">
      <a:dk1>
        <a:srgbClr val="17212B"/>
      </a:dk1>
      <a:lt1>
        <a:srgbClr val="FFFFFF"/>
      </a:lt1>
      <a:dk2>
        <a:srgbClr val="011D41"/>
      </a:dk2>
      <a:lt2>
        <a:srgbClr val="EAF4FB"/>
      </a:lt2>
      <a:accent1>
        <a:srgbClr val="00467F"/>
      </a:accent1>
      <a:accent2>
        <a:srgbClr val="E7A614"/>
      </a:accent2>
      <a:accent3>
        <a:srgbClr val="3BB3E5"/>
      </a:accent3>
      <a:accent4>
        <a:srgbClr val="0B5F86"/>
      </a:accent4>
      <a:accent5>
        <a:srgbClr val="FFF5DC"/>
      </a:accent5>
      <a:accent6>
        <a:srgbClr val="52606D"/>
      </a:accent6>
      <a:hlink>
        <a:srgbClr val="00467F"/>
      </a:hlink>
      <a:folHlink>
        <a:srgbClr val="0B5F86"/>
      </a:folHlink>
    </a:clrScheme>
    <a:fontScheme name="FYE 100 Pathfi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Owensboro Community &amp;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FYE 100 Module 2: Building Your Support System</dc:title>
  <dc:subject>FYE 100 instructor slides</dc:subject>
  <dc:creator>OCTC FYE 100</dc:creator>
  <cp:lastModifiedBy>OCTC FYE 100</cp:lastModifiedBy>
  <cp:revision>1</cp:revision>
  <dcterms:created xsi:type="dcterms:W3CDTF">2026-10-19T19:50:13Z</dcterms:created>
  <dcterms:modified xsi:type="dcterms:W3CDTF">2026-10-19T19:50:13Z</dcterms:modified>
</cp:coreProperties>
</file>