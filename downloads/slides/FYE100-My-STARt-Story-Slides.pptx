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STAR(T) Story.
A STAR(T) Story is one true story that shows one of the 10 Essential Skills. It has five steps: Situation, Task, Action, Result, and Transfer.
These slides follow the STAR(T) Story planning form one step at a time. Use them while you plan, practice, or record your own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Your three required skills.
Three of your four stories are assigned: Adaptability &amp; Leadership, Professionalism, and Knowledge Application. Each one gets its own story.
Name the skill this story is about. Then pick one real moment that shows it, one you can tell in 2 to 4 minutes.
Telling one of these stories? Hide the next slide (Choose your skill). Telling your choice story? Hide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Choose your skill.
Your fourth story is your choice, from the seven skills shown here.
Pick the skill that connects most honestly to a real experience. Then say in one sentence why you chose it.
Telling your choice story? Hide the previous slide (Three required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SITUATION: Set the scene.
What was going on, and where were you? Work, school, community, or family?
Give just enough context for someone who wasn't there to follow along. Two or three sentences is usually enough.
Watch out: the Situation is the setup, not the story. Keep it brief and get to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Define your role.
What were you trying to accomplish or solve? What was specifically yours to handle? Not the group's general goal, but your particular role or challenge.
Watch out: "We needed to figure it out" is a group goal. Your Task is what you were responsible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Show what you did. This is the most important step.
Use "I": I decided, I communicated, I applied, I reached out. Describe the specific things you did and the choices you made.
This is where your skill lives. Show it; don't just claim it.
Watch out: "We worked through it together" hides your contribution. Even in a group effort, describe what you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Name the outcome.
What changed, improved, or resolved because of what you did?
Results don't have to be perfect. An honest, imperfect result is more believable than a vague positive one. Name what happened.
Watch out: "It went well" is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Connect it forward. This step is unique to this course.
What does this experience mean for your next semester, your career, or your life? This is where your story becomes more than a memory. It becomes evidence of who you're becoming.
Be specific about where this skill will show up next: a particular program, a type of work, a relationship, or a responsibility.
Watch out: "This will help me in the future" is not a Transfer. Name the specific context where this skill will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ory Title">
    <p:bg>
      <p:bgPr>
        <a:solidFill>
          <a:srgbClr val="011D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931920" y="1600200"/>
            <a:ext cx="7863840" cy="1188720"/>
          </a:xfrm>
          <a:prstGeom prst="rect">
            <a:avLst/>
          </a:prstGeom>
          <a:noFill/>
          <a:ln/>
        </p:spPr>
        <p:txBody>
          <a:bodyPr wrap="square" rtlCol="0"/>
          <a:lstStyle>
            <a:lvl1pPr algn="l" indent="0" marL="0">
              <a:buNone/>
              <a:defRPr lang="en-US" sz="6000" b="1" dirty="0">
                <a:solidFill>
                  <a:srgbClr val="FFFFFF"/>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ory Ste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rtlCol="0"/>
          <a:lstStyle>
            <a:lvl1pPr algn="ctr" indent="0" marL="0">
              <a:buNone/>
              <a:defRPr lang="en-US" sz="5400" b="1" spc="400" kern="0" dirty="0">
                <a:solidFill>
                  <a:srgbClr val="FFFFFF"/>
                </a:solidFill>
              </a:defRPr>
            </a:lvl1pPr>
          </a:lstStyle>
          <a:p>
            <a:pPr algn="ctr"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cover art, owl waving a start flag">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title" hasCustomPrompt="1"/>
          </p:nvPr>
        </p:nvSpPr>
        <p:spPr>
          <a:xfrm>
            <a:off x="3931920" y="1600200"/>
            <a:ext cx="7863840" cy="1188720"/>
          </a:xfrm>
          <a:prstGeom prst="rect">
            <a:avLst/>
          </a:prstGeom>
          <a:noFill/>
          <a:ln/>
        </p:spPr>
        <p:txBody>
          <a:bodyPr wrap="square" lIns="0" tIns="0" rIns="0" bIns="0" rtlCol="0" anchor="t"/>
          <a:lstStyle/>
          <a:p>
            <a:pPr algn="l" indent="0" marL="0">
              <a:buNone/>
            </a:pPr>
            <a:r>
              <a:rPr lang="en-US" sz="6000" b="1" dirty="0">
                <a:solidFill>
                  <a:srgbClr val="FFFFFF"/>
                </a:solidFill>
              </a:rPr>
              <a:t>My STAR(T) Story</a:t>
            </a:r>
            <a:endParaRPr lang="en-US" sz="6000" dirty="0"/>
          </a:p>
        </p:txBody>
      </p:sp>
      <p:sp>
        <p:nvSpPr>
          <p:cNvPr id="4" name="Text 1"/>
          <p:cNvSpPr txBox="1"/>
          <p:nvPr/>
        </p:nvSpPr>
        <p:spPr>
          <a:xfrm>
            <a:off x="3931920" y="1097280"/>
            <a:ext cx="7680960" cy="457200"/>
          </a:xfrm>
          <a:prstGeom prst="rect">
            <a:avLst/>
          </a:prstGeom>
          <a:noFill/>
          <a:ln/>
        </p:spPr>
        <p:txBody>
          <a:bodyPr wrap="square" lIns="0" tIns="0" rIns="0" bIns="0" rtlCol="0" anchor="t"/>
          <a:lstStyle/>
          <a:p>
            <a:pPr indent="0" marL="0">
              <a:buNone/>
            </a:pPr>
            <a:r>
              <a:rPr lang="en-US" sz="2000" b="1" spc="300" kern="0" dirty="0">
                <a:solidFill>
                  <a:srgbClr val="E7A614"/>
                </a:solidFill>
                <a:latin typeface="Calibri" pitchFamily="34" charset="0"/>
                <a:ea typeface="Calibri" pitchFamily="34" charset="-122"/>
                <a:cs typeface="Calibri" pitchFamily="34" charset="-120"/>
              </a:rPr>
              <a:t>FYE 100 · STAR(T) STORIES</a:t>
            </a:r>
            <a:endParaRPr lang="en-US" sz="2000" dirty="0"/>
          </a:p>
        </p:txBody>
      </p:sp>
      <p:sp>
        <p:nvSpPr>
          <p:cNvPr id="5" name="Text 2"/>
          <p:cNvSpPr txBox="1"/>
          <p:nvPr/>
        </p:nvSpPr>
        <p:spPr>
          <a:xfrm>
            <a:off x="3931920" y="2788920"/>
            <a:ext cx="7863840" cy="548640"/>
          </a:xfrm>
          <a:prstGeom prst="rect">
            <a:avLst/>
          </a:prstGeom>
          <a:noFill/>
          <a:ln/>
        </p:spPr>
        <p:txBody>
          <a:bodyPr wrap="square" lIns="0" tIns="0" rIns="0" bIns="0" rtlCol="0" anchor="t"/>
          <a:lstStyle/>
          <a:p>
            <a:pPr indent="0" marL="0">
              <a:buNone/>
            </a:pPr>
            <a:r>
              <a:rPr lang="en-US" sz="2800" dirty="0">
                <a:solidFill>
                  <a:srgbClr val="D6EEFA"/>
                </a:solidFill>
                <a:latin typeface="Calibri" pitchFamily="34" charset="0"/>
                <a:ea typeface="Calibri" pitchFamily="34" charset="-122"/>
                <a:cs typeface="Calibri" pitchFamily="34" charset="-120"/>
              </a:rPr>
              <a:t>Situation · Task · Action · Result · Transfer</a:t>
            </a:r>
            <a:endParaRPr lang="en-US" sz="2800" dirty="0"/>
          </a:p>
        </p:txBody>
      </p:sp>
      <p:pic>
        <p:nvPicPr>
          <p:cNvPr id="6" name="Skill 1 coin" descr="Essential Skill 1: Communication">    </p:cNvPr>
          <p:cNvPicPr>
            <a:picLocks noChangeAspect="1"/>
          </p:cNvPicPr>
          <p:nvPr/>
        </p:nvPicPr>
        <p:blipFill>
          <a:blip r:embed="rId2"/>
          <a:stretch>
            <a:fillRect/>
          </a:stretch>
        </p:blipFill>
        <p:spPr>
          <a:xfrm>
            <a:off x="3931920" y="3794760"/>
            <a:ext cx="676656" cy="676656"/>
          </a:xfrm>
          <a:prstGeom prst="rect">
            <a:avLst/>
          </a:prstGeom>
        </p:spPr>
      </p:pic>
      <p:pic>
        <p:nvPicPr>
          <p:cNvPr id="7" name="Skill 2 coin" descr="Essential Skill 2: Critical &amp; Creative Thinking">    </p:cNvPr>
          <p:cNvPicPr>
            <a:picLocks noChangeAspect="1"/>
          </p:cNvPicPr>
          <p:nvPr/>
        </p:nvPicPr>
        <p:blipFill>
          <a:blip r:embed="rId3"/>
          <a:stretch>
            <a:fillRect/>
          </a:stretch>
        </p:blipFill>
        <p:spPr>
          <a:xfrm>
            <a:off x="4718304" y="3794760"/>
            <a:ext cx="676656" cy="676656"/>
          </a:xfrm>
          <a:prstGeom prst="rect">
            <a:avLst/>
          </a:prstGeom>
        </p:spPr>
      </p:pic>
      <p:pic>
        <p:nvPicPr>
          <p:cNvPr id="8" name="Skill 3 coin" descr="Essential Skill 3: Quantitative Reasoning">    </p:cNvPr>
          <p:cNvPicPr>
            <a:picLocks noChangeAspect="1"/>
          </p:cNvPicPr>
          <p:nvPr/>
        </p:nvPicPr>
        <p:blipFill>
          <a:blip r:embed="rId4"/>
          <a:stretch>
            <a:fillRect/>
          </a:stretch>
        </p:blipFill>
        <p:spPr>
          <a:xfrm>
            <a:off x="5504688" y="3794760"/>
            <a:ext cx="676656" cy="676656"/>
          </a:xfrm>
          <a:prstGeom prst="rect">
            <a:avLst/>
          </a:prstGeom>
        </p:spPr>
      </p:pic>
      <p:pic>
        <p:nvPicPr>
          <p:cNvPr id="9" name="Skill 4 coin" descr="Essential Skill 4: Interpersonal Relations">    </p:cNvPr>
          <p:cNvPicPr>
            <a:picLocks noChangeAspect="1"/>
          </p:cNvPicPr>
          <p:nvPr/>
        </p:nvPicPr>
        <p:blipFill>
          <a:blip r:embed="rId5"/>
          <a:stretch>
            <a:fillRect/>
          </a:stretch>
        </p:blipFill>
        <p:spPr>
          <a:xfrm>
            <a:off x="6291072" y="3794760"/>
            <a:ext cx="676656" cy="676656"/>
          </a:xfrm>
          <a:prstGeom prst="rect">
            <a:avLst/>
          </a:prstGeom>
        </p:spPr>
      </p:pic>
      <p:pic>
        <p:nvPicPr>
          <p:cNvPr id="10" name="Skill 5 coin" descr="Essential Skill 5: Adaptability &amp; Leadership">    </p:cNvPr>
          <p:cNvPicPr>
            <a:picLocks noChangeAspect="1"/>
          </p:cNvPicPr>
          <p:nvPr/>
        </p:nvPicPr>
        <p:blipFill>
          <a:blip r:embed="rId6"/>
          <a:stretch>
            <a:fillRect/>
          </a:stretch>
        </p:blipFill>
        <p:spPr>
          <a:xfrm>
            <a:off x="7077456" y="3794760"/>
            <a:ext cx="676656" cy="676656"/>
          </a:xfrm>
          <a:prstGeom prst="rect">
            <a:avLst/>
          </a:prstGeom>
        </p:spPr>
      </p:pic>
      <p:pic>
        <p:nvPicPr>
          <p:cNvPr id="11" name="Skill 6 coin" descr="Essential Skill 6: Professionalism">    </p:cNvPr>
          <p:cNvPicPr>
            <a:picLocks noChangeAspect="1"/>
          </p:cNvPicPr>
          <p:nvPr/>
        </p:nvPicPr>
        <p:blipFill>
          <a:blip r:embed="rId7"/>
          <a:stretch>
            <a:fillRect/>
          </a:stretch>
        </p:blipFill>
        <p:spPr>
          <a:xfrm>
            <a:off x="7863840" y="3794760"/>
            <a:ext cx="676656" cy="676656"/>
          </a:xfrm>
          <a:prstGeom prst="rect">
            <a:avLst/>
          </a:prstGeom>
        </p:spPr>
      </p:pic>
      <p:pic>
        <p:nvPicPr>
          <p:cNvPr id="12" name="Skill 7 coin" descr="Essential Skill 7: Civic Engagement">    </p:cNvPr>
          <p:cNvPicPr>
            <a:picLocks noChangeAspect="1"/>
          </p:cNvPicPr>
          <p:nvPr/>
        </p:nvPicPr>
        <p:blipFill>
          <a:blip r:embed="rId8"/>
          <a:stretch>
            <a:fillRect/>
          </a:stretch>
        </p:blipFill>
        <p:spPr>
          <a:xfrm>
            <a:off x="8650224" y="3794760"/>
            <a:ext cx="676656" cy="676656"/>
          </a:xfrm>
          <a:prstGeom prst="rect">
            <a:avLst/>
          </a:prstGeom>
        </p:spPr>
      </p:pic>
      <p:pic>
        <p:nvPicPr>
          <p:cNvPr id="13" name="Skill 8 coin" descr="Essential Skill 8: Collaboration &amp; Teamwork">    </p:cNvPr>
          <p:cNvPicPr>
            <a:picLocks noChangeAspect="1"/>
          </p:cNvPicPr>
          <p:nvPr/>
        </p:nvPicPr>
        <p:blipFill>
          <a:blip r:embed="rId9"/>
          <a:stretch>
            <a:fillRect/>
          </a:stretch>
        </p:blipFill>
        <p:spPr>
          <a:xfrm>
            <a:off x="9436608" y="3794760"/>
            <a:ext cx="676656" cy="676656"/>
          </a:xfrm>
          <a:prstGeom prst="rect">
            <a:avLst/>
          </a:prstGeom>
        </p:spPr>
      </p:pic>
      <p:pic>
        <p:nvPicPr>
          <p:cNvPr id="14" name="Skill 9 coin" descr="Essential Skill 9: Knowledge Application">    </p:cNvPr>
          <p:cNvPicPr>
            <a:picLocks noChangeAspect="1"/>
          </p:cNvPicPr>
          <p:nvPr/>
        </p:nvPicPr>
        <p:blipFill>
          <a:blip r:embed="rId10"/>
          <a:stretch>
            <a:fillRect/>
          </a:stretch>
        </p:blipFill>
        <p:spPr>
          <a:xfrm>
            <a:off x="10222992" y="3794760"/>
            <a:ext cx="676656" cy="676656"/>
          </a:xfrm>
          <a:prstGeom prst="rect">
            <a:avLst/>
          </a:prstGeom>
        </p:spPr>
      </p:pic>
      <p:pic>
        <p:nvPicPr>
          <p:cNvPr id="15" name="Skill 10 coin" descr="Essential Skill 10: Information Literacy">    </p:cNvPr>
          <p:cNvPicPr>
            <a:picLocks noChangeAspect="1"/>
          </p:cNvPicPr>
          <p:nvPr/>
        </p:nvPicPr>
        <p:blipFill>
          <a:blip r:embed="rId11"/>
          <a:stretch>
            <a:fillRect/>
          </a:stretch>
        </p:blipFill>
        <p:spPr>
          <a:xfrm>
            <a:off x="11009376" y="3794760"/>
            <a:ext cx="676656" cy="676656"/>
          </a:xfrm>
          <a:prstGeom prst="rect">
            <a:avLst/>
          </a:prstGeom>
        </p:spPr>
      </p:pic>
      <p:sp>
        <p:nvSpPr>
          <p:cNvPr id="16" name="Text 3"/>
          <p:cNvSpPr txBox="1"/>
          <p:nvPr/>
        </p:nvSpPr>
        <p:spPr>
          <a:xfrm>
            <a:off x="3931920" y="4709160"/>
            <a:ext cx="7863840" cy="548640"/>
          </a:xfrm>
          <a:prstGeom prst="rect">
            <a:avLst/>
          </a:prstGeom>
          <a:noFill/>
          <a:ln/>
        </p:spPr>
        <p:txBody>
          <a:bodyPr wrap="square" lIns="0" tIns="0" rIns="0" bIns="0" rtlCol="0" anchor="t"/>
          <a:lstStyle/>
          <a:p>
            <a:pPr indent="0" marL="0">
              <a:buNone/>
            </a:pPr>
            <a:r>
              <a:rPr lang="en-US" sz="2400" i="1" dirty="0">
                <a:solidFill>
                  <a:srgbClr val="D6EEFA"/>
                </a:solidFill>
                <a:latin typeface="Calibri" pitchFamily="34" charset="0"/>
                <a:ea typeface="Calibri" pitchFamily="34" charset="-122"/>
                <a:cs typeface="Calibri" pitchFamily="34" charset="-120"/>
              </a:rPr>
              <a:t>One true story. One skill. Five steps.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467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lIns="0" tIns="0" rIns="0" bIns="0" rtlCol="0" anchor="ctr"/>
          <a:lstStyle/>
          <a:p>
            <a:pPr algn="ctr" indent="0" marL="0">
              <a:buNone/>
            </a:pPr>
            <a:r>
              <a:rPr lang="en-US" sz="5400" b="1" spc="400" kern="0" dirty="0">
                <a:solidFill>
                  <a:srgbClr val="FFFFFF"/>
                </a:solidFill>
              </a:rPr>
              <a:t>Three required skills</a:t>
            </a:r>
            <a:endParaRPr lang="en-US" sz="5400" dirty="0"/>
          </a:p>
        </p:txBody>
      </p:sp>
      <p:sp>
        <p:nvSpPr>
          <p:cNvPr id="3" name="Text 1"/>
          <p:cNvSpPr txBox="1"/>
          <p:nvPr/>
        </p:nvSpPr>
        <p:spPr>
          <a:xfrm>
            <a:off x="1371600" y="411480"/>
            <a:ext cx="9448495" cy="457200"/>
          </a:xfrm>
          <a:prstGeom prst="rect">
            <a:avLst/>
          </a:prstGeom>
          <a:noFill/>
          <a:ln/>
        </p:spPr>
        <p:txBody>
          <a:bodyPr wrap="square" lIns="0" tIns="0" rIns="0" bIns="0" rtlCol="0" anchor="t"/>
          <a:lstStyle/>
          <a:p>
            <a:pPr algn="ctr" indent="0" marL="0">
              <a:buNone/>
            </a:pPr>
            <a:r>
              <a:rPr lang="en-US" sz="2200" b="1" spc="400" kern="0" dirty="0">
                <a:solidFill>
                  <a:srgbClr val="E7A614"/>
                </a:solidFill>
                <a:latin typeface="Calibri" pitchFamily="34" charset="0"/>
                <a:ea typeface="Calibri" pitchFamily="34" charset="-122"/>
                <a:cs typeface="Calibri" pitchFamily="34" charset="-120"/>
              </a:rPr>
              <a:t>SETUP · REQUIRED STORIES</a:t>
            </a:r>
            <a:endParaRPr lang="en-US" sz="2200" dirty="0"/>
          </a:p>
        </p:txBody>
      </p:sp>
      <p:pic>
        <p:nvPicPr>
          <p:cNvPr id="4" name="Skill 5 coin" descr="Essential Skill 5: Adaptability &amp; Leadership">    </p:cNvPr>
          <p:cNvPicPr>
            <a:picLocks noChangeAspect="1"/>
          </p:cNvPicPr>
          <p:nvPr/>
        </p:nvPicPr>
        <p:blipFill>
          <a:blip r:embed="rId1"/>
          <a:stretch>
            <a:fillRect/>
          </a:stretch>
        </p:blipFill>
        <p:spPr>
          <a:xfrm>
            <a:off x="2118208" y="868680"/>
            <a:ext cx="1188720" cy="1188720"/>
          </a:xfrm>
          <a:prstGeom prst="rect">
            <a:avLst/>
          </a:prstGeom>
        </p:spPr>
      </p:pic>
      <p:sp>
        <p:nvSpPr>
          <p:cNvPr id="5" name="Text 2"/>
          <p:cNvSpPr txBox="1"/>
          <p:nvPr/>
        </p:nvSpPr>
        <p:spPr>
          <a:xfrm>
            <a:off x="1020928" y="2103120"/>
            <a:ext cx="338328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Adaptability &amp; Leadership</a:t>
            </a:r>
            <a:endParaRPr lang="en-US" sz="2400" dirty="0"/>
          </a:p>
        </p:txBody>
      </p:sp>
      <p:pic>
        <p:nvPicPr>
          <p:cNvPr id="6" name="Skill 6 coin" descr="Essential Skill 6: Professionalism">    </p:cNvPr>
          <p:cNvPicPr>
            <a:picLocks noChangeAspect="1"/>
          </p:cNvPicPr>
          <p:nvPr/>
        </p:nvPicPr>
        <p:blipFill>
          <a:blip r:embed="rId2"/>
          <a:stretch>
            <a:fillRect/>
          </a:stretch>
        </p:blipFill>
        <p:spPr>
          <a:xfrm>
            <a:off x="5501488" y="868680"/>
            <a:ext cx="1188720" cy="1188720"/>
          </a:xfrm>
          <a:prstGeom prst="rect">
            <a:avLst/>
          </a:prstGeom>
        </p:spPr>
      </p:pic>
      <p:sp>
        <p:nvSpPr>
          <p:cNvPr id="7" name="Text 3"/>
          <p:cNvSpPr txBox="1"/>
          <p:nvPr/>
        </p:nvSpPr>
        <p:spPr>
          <a:xfrm>
            <a:off x="4404208" y="2103120"/>
            <a:ext cx="338328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Professionalism</a:t>
            </a:r>
            <a:endParaRPr lang="en-US" sz="2400" dirty="0"/>
          </a:p>
        </p:txBody>
      </p:sp>
      <p:pic>
        <p:nvPicPr>
          <p:cNvPr id="8" name="Skill 9 coin" descr="Essential Skill 9: Knowledge Application">    </p:cNvPr>
          <p:cNvPicPr>
            <a:picLocks noChangeAspect="1"/>
          </p:cNvPicPr>
          <p:nvPr/>
        </p:nvPicPr>
        <p:blipFill>
          <a:blip r:embed="rId3"/>
          <a:stretch>
            <a:fillRect/>
          </a:stretch>
        </p:blipFill>
        <p:spPr>
          <a:xfrm>
            <a:off x="8884768" y="868680"/>
            <a:ext cx="1188720" cy="1188720"/>
          </a:xfrm>
          <a:prstGeom prst="rect">
            <a:avLst/>
          </a:prstGeom>
        </p:spPr>
      </p:pic>
      <p:sp>
        <p:nvSpPr>
          <p:cNvPr id="9" name="Text 4"/>
          <p:cNvSpPr txBox="1"/>
          <p:nvPr/>
        </p:nvSpPr>
        <p:spPr>
          <a:xfrm>
            <a:off x="7787488" y="2103120"/>
            <a:ext cx="338328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Knowledge Application</a:t>
            </a:r>
            <a:endParaRPr lang="en-US" sz="2400" dirty="0"/>
          </a:p>
        </p:txBody>
      </p:sp>
      <p:sp>
        <p:nvSpPr>
          <p:cNvPr id="10" name="Text 5"/>
          <p:cNvSpPr txBox="1"/>
          <p:nvPr/>
        </p:nvSpPr>
        <p:spPr>
          <a:xfrm>
            <a:off x="1371600" y="3703320"/>
            <a:ext cx="9448495" cy="502920"/>
          </a:xfrm>
          <a:prstGeom prst="rect">
            <a:avLst/>
          </a:prstGeom>
          <a:noFill/>
          <a:ln/>
        </p:spPr>
        <p:txBody>
          <a:bodyPr wrap="square" lIns="0" tIns="0" rIns="0" bIns="0" rtlCol="0" anchor="t"/>
          <a:lstStyle/>
          <a:p>
            <a:pPr algn="ctr" indent="0" marL="0">
              <a:buNone/>
            </a:pPr>
            <a:r>
              <a:rPr lang="en-US" sz="2800" dirty="0">
                <a:solidFill>
                  <a:srgbClr val="D6EEFA"/>
                </a:solidFill>
                <a:latin typeface="Calibri" pitchFamily="34" charset="0"/>
                <a:ea typeface="Calibri" pitchFamily="34" charset="-122"/>
                <a:cs typeface="Calibri" pitchFamily="34" charset="-120"/>
              </a:rPr>
              <a:t>Each one gets its own story.</a:t>
            </a:r>
            <a:endParaRPr lang="en-US" sz="2800" dirty="0"/>
          </a:p>
        </p:txBody>
      </p:sp>
      <p:sp>
        <p:nvSpPr>
          <p:cNvPr id="11" name="Decorative: prompt card">
            <a:extLst>
              <a:ext uri="{C183D7F6-B498-43B3-948B-1728B52AA6E4}">
                <adec:decorative xmlns:adec="http://schemas.microsoft.com/office/drawing/2017/decorative" val="1"/>
              </a:ext>
            </a:extLst>
          </p:cNvPr>
          <p:cNvSpPr/>
          <p:nvPr/>
        </p:nvSpPr>
        <p:spPr>
          <a:xfrm>
            <a:off x="2194560" y="4572000"/>
            <a:ext cx="7802575" cy="1325880"/>
          </a:xfrm>
          <a:prstGeom prst="roundRect">
            <a:avLst>
              <a:gd name="adj" fmla="val 10345"/>
            </a:avLst>
          </a:prstGeom>
          <a:solidFill>
            <a:srgbClr val="FFFFFF"/>
          </a:solidFill>
          <a:ln w="31750">
            <a:solidFill>
              <a:srgbClr val="E7A614"/>
            </a:solidFill>
            <a:prstDash val="solid"/>
          </a:ln>
        </p:spPr>
      </p:sp>
      <p:sp>
        <p:nvSpPr>
          <p:cNvPr id="12" name="Text 7"/>
          <p:cNvSpPr txBox="1"/>
          <p:nvPr/>
        </p:nvSpPr>
        <p:spPr>
          <a:xfrm>
            <a:off x="2560320" y="4754880"/>
            <a:ext cx="7071055" cy="1005840"/>
          </a:xfrm>
          <a:prstGeom prst="rect">
            <a:avLst/>
          </a:prstGeom>
          <a:noFill/>
          <a:ln/>
        </p:spPr>
        <p:txBody>
          <a:bodyPr wrap="square" lIns="0" tIns="0" rIns="0" bIns="0" rtlCol="0" anchor="ctr"/>
          <a:lstStyle/>
          <a:p>
            <a:pPr algn="ctr" indent="0" marL="0">
              <a:spcBef>
                <a:spcPts val="400"/>
              </a:spcBef>
              <a:buNone/>
            </a:pPr>
            <a:r>
              <a:rPr lang="en-US" sz="2200" b="1" spc="200" kern="0" dirty="0">
                <a:solidFill>
                  <a:srgbClr val="0B5F86"/>
                </a:solidFill>
                <a:latin typeface="Calibri" pitchFamily="34" charset="0"/>
                <a:ea typeface="Calibri" pitchFamily="34" charset="-122"/>
                <a:cs typeface="Calibri" pitchFamily="34" charset="-120"/>
              </a:rPr>
              <a:t>THIS STORY SHOWS…</a:t>
            </a:r>
            <a:endParaRPr lang="en-US" sz="2200" dirty="0"/>
          </a:p>
          <a:p>
            <a:pPr algn="ctr" indent="0" marL="0">
              <a:spcBef>
                <a:spcPts val="400"/>
              </a:spcBef>
              <a:buNone/>
            </a:pPr>
            <a:r>
              <a:rPr lang="en-US" sz="2400" i="1" dirty="0">
                <a:solidFill>
                  <a:srgbClr val="52606D"/>
                </a:solidFill>
                <a:latin typeface="Calibri" pitchFamily="34" charset="0"/>
                <a:ea typeface="Calibri" pitchFamily="34" charset="-122"/>
                <a:cs typeface="Calibri" pitchFamily="34" charset="-120"/>
              </a:rPr>
              <a:t>name the skill, then one real moment that proves it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67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lIns="0" tIns="0" rIns="0" bIns="0" rtlCol="0" anchor="ctr"/>
          <a:lstStyle/>
          <a:p>
            <a:pPr algn="ctr" indent="0" marL="0">
              <a:buNone/>
            </a:pPr>
            <a:r>
              <a:rPr lang="en-US" sz="5400" b="1" spc="400" kern="0" dirty="0">
                <a:solidFill>
                  <a:srgbClr val="FFFFFF"/>
                </a:solidFill>
              </a:rPr>
              <a:t>Choose your skill</a:t>
            </a:r>
            <a:endParaRPr lang="en-US" sz="5400" dirty="0"/>
          </a:p>
        </p:txBody>
      </p:sp>
      <p:sp>
        <p:nvSpPr>
          <p:cNvPr id="3" name="Text 1"/>
          <p:cNvSpPr txBox="1"/>
          <p:nvPr/>
        </p:nvSpPr>
        <p:spPr>
          <a:xfrm>
            <a:off x="1371600" y="685800"/>
            <a:ext cx="9448495" cy="457200"/>
          </a:xfrm>
          <a:prstGeom prst="rect">
            <a:avLst/>
          </a:prstGeom>
          <a:noFill/>
          <a:ln/>
        </p:spPr>
        <p:txBody>
          <a:bodyPr wrap="square" lIns="0" tIns="0" rIns="0" bIns="0" rtlCol="0" anchor="t"/>
          <a:lstStyle/>
          <a:p>
            <a:pPr algn="ctr" indent="0" marL="0">
              <a:buNone/>
            </a:pPr>
            <a:r>
              <a:rPr lang="en-US" sz="2200" b="1" spc="400" kern="0" dirty="0">
                <a:solidFill>
                  <a:srgbClr val="E7A614"/>
                </a:solidFill>
                <a:latin typeface="Calibri" pitchFamily="34" charset="0"/>
                <a:ea typeface="Calibri" pitchFamily="34" charset="-122"/>
                <a:cs typeface="Calibri" pitchFamily="34" charset="-120"/>
              </a:rPr>
              <a:t>SETUP · YOUR CHOICE</a:t>
            </a:r>
            <a:endParaRPr lang="en-US" sz="2200" dirty="0"/>
          </a:p>
        </p:txBody>
      </p:sp>
      <p:pic>
        <p:nvPicPr>
          <p:cNvPr id="4" name="Skill 1 coin" descr="Essential Skill 1: Communication">    </p:cNvPr>
          <p:cNvPicPr>
            <a:picLocks noChangeAspect="1"/>
          </p:cNvPicPr>
          <p:nvPr/>
        </p:nvPicPr>
        <p:blipFill>
          <a:blip r:embed="rId1"/>
          <a:stretch>
            <a:fillRect/>
          </a:stretch>
        </p:blipFill>
        <p:spPr>
          <a:xfrm>
            <a:off x="1912468" y="1371600"/>
            <a:ext cx="960120" cy="960120"/>
          </a:xfrm>
          <a:prstGeom prst="rect">
            <a:avLst/>
          </a:prstGeom>
        </p:spPr>
      </p:pic>
      <p:pic>
        <p:nvPicPr>
          <p:cNvPr id="5" name="Skill 2 coin" descr="Essential Skill 2: Critical &amp; Creative Thinking">    </p:cNvPr>
          <p:cNvPicPr>
            <a:picLocks noChangeAspect="1"/>
          </p:cNvPicPr>
          <p:nvPr/>
        </p:nvPicPr>
        <p:blipFill>
          <a:blip r:embed="rId2"/>
          <a:stretch>
            <a:fillRect/>
          </a:stretch>
        </p:blipFill>
        <p:spPr>
          <a:xfrm>
            <a:off x="3146908" y="1371600"/>
            <a:ext cx="960120" cy="960120"/>
          </a:xfrm>
          <a:prstGeom prst="rect">
            <a:avLst/>
          </a:prstGeom>
        </p:spPr>
      </p:pic>
      <p:pic>
        <p:nvPicPr>
          <p:cNvPr id="6" name="Skill 3 coin" descr="Essential Skill 3: Quantitative Reasoning">    </p:cNvPr>
          <p:cNvPicPr>
            <a:picLocks noChangeAspect="1"/>
          </p:cNvPicPr>
          <p:nvPr/>
        </p:nvPicPr>
        <p:blipFill>
          <a:blip r:embed="rId3"/>
          <a:stretch>
            <a:fillRect/>
          </a:stretch>
        </p:blipFill>
        <p:spPr>
          <a:xfrm>
            <a:off x="4381348" y="1371600"/>
            <a:ext cx="960120" cy="960120"/>
          </a:xfrm>
          <a:prstGeom prst="rect">
            <a:avLst/>
          </a:prstGeom>
        </p:spPr>
      </p:pic>
      <p:pic>
        <p:nvPicPr>
          <p:cNvPr id="7" name="Skill 4 coin" descr="Essential Skill 4: Interpersonal Relations">    </p:cNvPr>
          <p:cNvPicPr>
            <a:picLocks noChangeAspect="1"/>
          </p:cNvPicPr>
          <p:nvPr/>
        </p:nvPicPr>
        <p:blipFill>
          <a:blip r:embed="rId4"/>
          <a:stretch>
            <a:fillRect/>
          </a:stretch>
        </p:blipFill>
        <p:spPr>
          <a:xfrm>
            <a:off x="5615788" y="1371600"/>
            <a:ext cx="960120" cy="960120"/>
          </a:xfrm>
          <a:prstGeom prst="rect">
            <a:avLst/>
          </a:prstGeom>
        </p:spPr>
      </p:pic>
      <p:pic>
        <p:nvPicPr>
          <p:cNvPr id="8" name="Skill 7 coin" descr="Essential Skill 7: Civic Engagement">    </p:cNvPr>
          <p:cNvPicPr>
            <a:picLocks noChangeAspect="1"/>
          </p:cNvPicPr>
          <p:nvPr/>
        </p:nvPicPr>
        <p:blipFill>
          <a:blip r:embed="rId5"/>
          <a:stretch>
            <a:fillRect/>
          </a:stretch>
        </p:blipFill>
        <p:spPr>
          <a:xfrm>
            <a:off x="6850228" y="1371600"/>
            <a:ext cx="960120" cy="960120"/>
          </a:xfrm>
          <a:prstGeom prst="rect">
            <a:avLst/>
          </a:prstGeom>
        </p:spPr>
      </p:pic>
      <p:pic>
        <p:nvPicPr>
          <p:cNvPr id="9" name="Skill 8 coin" descr="Essential Skill 8: Collaboration &amp; Teamwork">    </p:cNvPr>
          <p:cNvPicPr>
            <a:picLocks noChangeAspect="1"/>
          </p:cNvPicPr>
          <p:nvPr/>
        </p:nvPicPr>
        <p:blipFill>
          <a:blip r:embed="rId6"/>
          <a:stretch>
            <a:fillRect/>
          </a:stretch>
        </p:blipFill>
        <p:spPr>
          <a:xfrm>
            <a:off x="8084668" y="1371600"/>
            <a:ext cx="960120" cy="960120"/>
          </a:xfrm>
          <a:prstGeom prst="rect">
            <a:avLst/>
          </a:prstGeom>
        </p:spPr>
      </p:pic>
      <p:pic>
        <p:nvPicPr>
          <p:cNvPr id="10" name="Skill 10 coin" descr="Essential Skill 10: Information Literacy">    </p:cNvPr>
          <p:cNvPicPr>
            <a:picLocks noChangeAspect="1"/>
          </p:cNvPicPr>
          <p:nvPr/>
        </p:nvPicPr>
        <p:blipFill>
          <a:blip r:embed="rId7"/>
          <a:stretch>
            <a:fillRect/>
          </a:stretch>
        </p:blipFill>
        <p:spPr>
          <a:xfrm>
            <a:off x="9319108" y="1371600"/>
            <a:ext cx="960120" cy="960120"/>
          </a:xfrm>
          <a:prstGeom prst="rect">
            <a:avLst/>
          </a:prstGeom>
        </p:spPr>
      </p:pic>
      <p:sp>
        <p:nvSpPr>
          <p:cNvPr id="11" name="Text 2"/>
          <p:cNvSpPr txBox="1"/>
          <p:nvPr/>
        </p:nvSpPr>
        <p:spPr>
          <a:xfrm>
            <a:off x="1371600" y="3703320"/>
            <a:ext cx="9448495" cy="548640"/>
          </a:xfrm>
          <a:prstGeom prst="rect">
            <a:avLst/>
          </a:prstGeom>
          <a:noFill/>
          <a:ln/>
        </p:spPr>
        <p:txBody>
          <a:bodyPr wrap="square" lIns="0" tIns="0" rIns="0" bIns="0" rtlCol="0" anchor="t"/>
          <a:lstStyle/>
          <a:p>
            <a:pPr algn="ctr" indent="0" marL="0">
              <a:buNone/>
            </a:pPr>
            <a:r>
              <a:rPr lang="en-US" sz="2800" dirty="0">
                <a:solidFill>
                  <a:srgbClr val="D6EEFA"/>
                </a:solidFill>
                <a:latin typeface="Calibri" pitchFamily="34" charset="0"/>
                <a:ea typeface="Calibri" pitchFamily="34" charset="-122"/>
                <a:cs typeface="Calibri" pitchFamily="34" charset="-120"/>
              </a:rPr>
              <a:t>Pick the one skill your story shows best.</a:t>
            </a:r>
            <a:endParaRPr lang="en-US" sz="2800" dirty="0"/>
          </a:p>
        </p:txBody>
      </p:sp>
      <p:sp>
        <p:nvSpPr>
          <p:cNvPr id="12" name="Decorative: prompt card">
            <a:extLst>
              <a:ext uri="{C183D7F6-B498-43B3-948B-1728B52AA6E4}">
                <adec:decorative xmlns:adec="http://schemas.microsoft.com/office/drawing/2017/decorative" val="1"/>
              </a:ext>
            </a:extLst>
          </p:cNvPr>
          <p:cNvSpPr/>
          <p:nvPr/>
        </p:nvSpPr>
        <p:spPr>
          <a:xfrm>
            <a:off x="2194560" y="4572000"/>
            <a:ext cx="7802575" cy="1325880"/>
          </a:xfrm>
          <a:prstGeom prst="roundRect">
            <a:avLst>
              <a:gd name="adj" fmla="val 10345"/>
            </a:avLst>
          </a:prstGeom>
          <a:solidFill>
            <a:srgbClr val="FFFFFF"/>
          </a:solidFill>
          <a:ln w="31750">
            <a:solidFill>
              <a:srgbClr val="E7A614"/>
            </a:solidFill>
            <a:prstDash val="solid"/>
          </a:ln>
        </p:spPr>
      </p:sp>
      <p:sp>
        <p:nvSpPr>
          <p:cNvPr id="13" name="Text 4"/>
          <p:cNvSpPr txBox="1"/>
          <p:nvPr/>
        </p:nvSpPr>
        <p:spPr>
          <a:xfrm>
            <a:off x="2560320" y="4754880"/>
            <a:ext cx="7071055" cy="1005840"/>
          </a:xfrm>
          <a:prstGeom prst="rect">
            <a:avLst/>
          </a:prstGeom>
          <a:noFill/>
          <a:ln/>
        </p:spPr>
        <p:txBody>
          <a:bodyPr wrap="square" lIns="0" tIns="0" rIns="0" bIns="0" rtlCol="0" anchor="ctr"/>
          <a:lstStyle/>
          <a:p>
            <a:pPr algn="ctr" indent="0" marL="0">
              <a:spcBef>
                <a:spcPts val="400"/>
              </a:spcBef>
              <a:buNone/>
            </a:pPr>
            <a:r>
              <a:rPr lang="en-US" sz="2200" b="1" spc="200" kern="0" dirty="0">
                <a:solidFill>
                  <a:srgbClr val="0B5F86"/>
                </a:solidFill>
                <a:latin typeface="Calibri" pitchFamily="34" charset="0"/>
                <a:ea typeface="Calibri" pitchFamily="34" charset="-122"/>
                <a:cs typeface="Calibri" pitchFamily="34" charset="-120"/>
              </a:rPr>
              <a:t>I CHOSE THIS SKILL BECAUSE…</a:t>
            </a:r>
            <a:endParaRPr lang="en-US" sz="2200" dirty="0"/>
          </a:p>
          <a:p>
            <a:pPr algn="ctr" indent="0" marL="0">
              <a:spcBef>
                <a:spcPts val="400"/>
              </a:spcBef>
              <a:buNone/>
            </a:pPr>
            <a:r>
              <a:rPr lang="en-US" sz="2400" i="1" dirty="0">
                <a:solidFill>
                  <a:srgbClr val="52606D"/>
                </a:solidFill>
                <a:latin typeface="Calibri" pitchFamily="34" charset="0"/>
                <a:ea typeface="Calibri" pitchFamily="34" charset="-122"/>
                <a:cs typeface="Calibri" pitchFamily="34" charset="-120"/>
              </a:rPr>
              <a:t>one sentence, in your own words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65C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lIns="0" tIns="0" rIns="0" bIns="0" rtlCol="0" anchor="ctr"/>
          <a:lstStyle/>
          <a:p>
            <a:pPr algn="ctr" indent="0" marL="0">
              <a:buNone/>
            </a:pPr>
            <a:r>
              <a:rPr lang="en-US" sz="5400" b="1" spc="400" kern="0" dirty="0">
                <a:solidFill>
                  <a:srgbClr val="FFFFFF"/>
                </a:solidFill>
              </a:rPr>
              <a:t>SITUATION</a:t>
            </a:r>
            <a:endParaRPr lang="en-US" sz="5400" dirty="0"/>
          </a:p>
        </p:txBody>
      </p:sp>
      <p:sp>
        <p:nvSpPr>
          <p:cNvPr id="3" name="Decorative: letter disc">
            <a:extLst>
              <a:ext uri="{C183D7F6-B498-43B3-948B-1728B52AA6E4}">
                <adec:decorative xmlns:adec="http://schemas.microsoft.com/office/drawing/2017/decorative" val="1"/>
              </a:ext>
            </a:extLst>
          </p:cNvPr>
          <p:cNvSpPr/>
          <p:nvPr/>
        </p:nvSpPr>
        <p:spPr>
          <a:xfrm>
            <a:off x="5181448" y="685800"/>
            <a:ext cx="1828800" cy="1828800"/>
          </a:xfrm>
          <a:prstGeom prst="ellipse">
            <a:avLst/>
          </a:prstGeom>
          <a:solidFill>
            <a:srgbClr val="FFFFFF"/>
          </a:solidFill>
          <a:ln w="12700">
            <a:solidFill>
              <a:srgbClr val="FFFFFF"/>
            </a:solidFill>
            <a:prstDash val="solid"/>
          </a:ln>
        </p:spPr>
      </p:sp>
      <p:sp>
        <p:nvSpPr>
          <p:cNvPr id="4" name="Decorative: letter S">
            <a:extLst>
              <a:ext uri="{C183D7F6-B498-43B3-948B-1728B52AA6E4}">
                <adec:decorative xmlns:adec="http://schemas.microsoft.com/office/drawing/2017/decorative" val="1"/>
              </a:ext>
            </a:extLst>
          </p:cNvPr>
          <p:cNvSpPr txBox="1"/>
          <p:nvPr/>
        </p:nvSpPr>
        <p:spPr>
          <a:xfrm>
            <a:off x="5181448" y="685800"/>
            <a:ext cx="1828800" cy="1828800"/>
          </a:xfrm>
          <a:prstGeom prst="rect">
            <a:avLst/>
          </a:prstGeom>
          <a:noFill/>
          <a:ln/>
        </p:spPr>
        <p:txBody>
          <a:bodyPr wrap="square" lIns="0" tIns="0" rIns="0" bIns="0" rtlCol="0" anchor="ctr"/>
          <a:lstStyle/>
          <a:p>
            <a:pPr algn="ctr" indent="0" marL="0">
              <a:buNone/>
            </a:pPr>
            <a:r>
              <a:rPr lang="en-US" sz="11000" b="1" dirty="0">
                <a:solidFill>
                  <a:srgbClr val="1565C0"/>
                </a:solidFill>
                <a:latin typeface="Calibri" pitchFamily="34" charset="0"/>
                <a:ea typeface="Calibri" pitchFamily="34" charset="-122"/>
                <a:cs typeface="Calibri" pitchFamily="34" charset="-120"/>
              </a:rPr>
              <a:t>S</a:t>
            </a:r>
            <a:endParaRPr lang="en-US" sz="11000" dirty="0"/>
          </a:p>
        </p:txBody>
      </p:sp>
      <p:sp>
        <p:nvSpPr>
          <p:cNvPr id="5" name="Text 3"/>
          <p:cNvSpPr txBox="1"/>
          <p:nvPr/>
        </p:nvSpPr>
        <p:spPr>
          <a:xfrm>
            <a:off x="1371600" y="3611880"/>
            <a:ext cx="9448495" cy="502920"/>
          </a:xfrm>
          <a:prstGeom prst="rect">
            <a:avLst/>
          </a:prstGeom>
          <a:noFill/>
          <a:ln/>
        </p:spPr>
        <p:txBody>
          <a:bodyPr wrap="square" lIns="0" tIns="0" rIns="0" bIns="0" rtlCol="0" anchor="t"/>
          <a:lstStyle/>
          <a:p>
            <a:pPr algn="ctr" indent="0" marL="0">
              <a:buNone/>
            </a:pPr>
            <a:r>
              <a:rPr lang="en-US" sz="2800" i="1" dirty="0">
                <a:solidFill>
                  <a:srgbClr val="FFFFFF"/>
                </a:solidFill>
                <a:latin typeface="Calibri" pitchFamily="34" charset="0"/>
                <a:ea typeface="Calibri" pitchFamily="34" charset="-122"/>
                <a:cs typeface="Calibri" pitchFamily="34" charset="-120"/>
              </a:rPr>
              <a:t>Set the scene</a:t>
            </a:r>
            <a:endParaRPr lang="en-US" sz="2800" dirty="0"/>
          </a:p>
        </p:txBody>
      </p:sp>
      <p:sp>
        <p:nvSpPr>
          <p:cNvPr id="6" name="Text 4"/>
          <p:cNvSpPr txBox="1"/>
          <p:nvPr/>
        </p:nvSpPr>
        <p:spPr>
          <a:xfrm>
            <a:off x="1097280" y="4206240"/>
            <a:ext cx="9997135" cy="6858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What was going on? Where were you?</a:t>
            </a:r>
            <a:endParaRPr lang="en-US" sz="3600" dirty="0"/>
          </a:p>
        </p:txBody>
      </p:sp>
      <p:sp>
        <p:nvSpPr>
          <p:cNvPr id="7" name="Text 5"/>
          <p:cNvSpPr txBox="1"/>
          <p:nvPr/>
        </p:nvSpPr>
        <p:spPr>
          <a:xfrm>
            <a:off x="1645920" y="4892040"/>
            <a:ext cx="8899855" cy="6858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Just enough context for someone who wasn't there. Two or three sentences.</a:t>
            </a:r>
            <a:endParaRPr lang="en-US" sz="2400" dirty="0"/>
          </a:p>
        </p:txBody>
      </p:sp>
      <p:sp>
        <p:nvSpPr>
          <p:cNvPr id="8" name="Decorative: watch-out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00000">
              <a:alpha val="28000"/>
            </a:srgbClr>
          </a:solidFill>
          <a:ln/>
        </p:spPr>
      </p:sp>
      <p:sp>
        <p:nvSpPr>
          <p:cNvPr id="9" name="Text 7"/>
          <p:cNvSpPr txBox="1"/>
          <p:nvPr/>
        </p:nvSpPr>
        <p:spPr>
          <a:xfrm>
            <a:off x="731520" y="5989320"/>
            <a:ext cx="10728655" cy="868680"/>
          </a:xfrm>
          <a:prstGeom prst="rect">
            <a:avLst/>
          </a:prstGeom>
          <a:noFill/>
          <a:ln/>
        </p:spPr>
        <p:txBody>
          <a:bodyPr wrap="square" lIns="0" tIns="0" rIns="0" bIns="0" rtlCol="0" anchor="ctr"/>
          <a:lstStyle/>
          <a:p>
            <a:pPr algn="ctr" indent="0" marL="0">
              <a:buNone/>
            </a:pPr>
            <a:r>
              <a:rPr lang="en-US" sz="2200" b="1" spc="200" kern="0" dirty="0">
                <a:solidFill>
                  <a:srgbClr val="E7A614"/>
                </a:solidFill>
                <a:latin typeface="Calibri" pitchFamily="34" charset="0"/>
                <a:ea typeface="Calibri" pitchFamily="34" charset="-122"/>
                <a:cs typeface="Calibri" pitchFamily="34" charset="-120"/>
              </a:rPr>
              <a:t>WATCH OUT  </a:t>
            </a:r>
            <a:pPr algn="ctr" indent="0" marL="0">
              <a:buNone/>
            </a:pPr>
            <a:r>
              <a:rPr lang="en-US" sz="2200" dirty="0">
                <a:solidFill>
                  <a:srgbClr val="FFFFFF"/>
                </a:solidFill>
                <a:latin typeface="Calibri" pitchFamily="34" charset="0"/>
                <a:ea typeface="Calibri" pitchFamily="34" charset="-122"/>
                <a:cs typeface="Calibri" pitchFamily="34" charset="-120"/>
              </a:rPr>
              <a:t>The Situation is the setup, not the story. Keep it brief.</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796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lIns="0" tIns="0" rIns="0" bIns="0" rtlCol="0" anchor="ctr"/>
          <a:lstStyle/>
          <a:p>
            <a:pPr algn="ctr" indent="0" marL="0">
              <a:buNone/>
            </a:pPr>
            <a:r>
              <a:rPr lang="en-US" sz="5400" b="1" spc="400" kern="0" dirty="0">
                <a:solidFill>
                  <a:srgbClr val="FFFFFF"/>
                </a:solidFill>
              </a:rPr>
              <a:t>TASK</a:t>
            </a:r>
            <a:endParaRPr lang="en-US" sz="5400" dirty="0"/>
          </a:p>
        </p:txBody>
      </p:sp>
      <p:sp>
        <p:nvSpPr>
          <p:cNvPr id="3" name="Decorative: letter disc">
            <a:extLst>
              <a:ext uri="{C183D7F6-B498-43B3-948B-1728B52AA6E4}">
                <adec:decorative xmlns:adec="http://schemas.microsoft.com/office/drawing/2017/decorative" val="1"/>
              </a:ext>
            </a:extLst>
          </p:cNvPr>
          <p:cNvSpPr/>
          <p:nvPr/>
        </p:nvSpPr>
        <p:spPr>
          <a:xfrm>
            <a:off x="5181448" y="685800"/>
            <a:ext cx="1828800" cy="1828800"/>
          </a:xfrm>
          <a:prstGeom prst="ellipse">
            <a:avLst/>
          </a:prstGeom>
          <a:solidFill>
            <a:srgbClr val="FFFFFF"/>
          </a:solidFill>
          <a:ln w="12700">
            <a:solidFill>
              <a:srgbClr val="FFFFFF"/>
            </a:solidFill>
            <a:prstDash val="solid"/>
          </a:ln>
        </p:spPr>
      </p:sp>
      <p:sp>
        <p:nvSpPr>
          <p:cNvPr id="4" name="Decorative: letter T">
            <a:extLst>
              <a:ext uri="{C183D7F6-B498-43B3-948B-1728B52AA6E4}">
                <adec:decorative xmlns:adec="http://schemas.microsoft.com/office/drawing/2017/decorative" val="1"/>
              </a:ext>
            </a:extLst>
          </p:cNvPr>
          <p:cNvSpPr txBox="1"/>
          <p:nvPr/>
        </p:nvSpPr>
        <p:spPr>
          <a:xfrm>
            <a:off x="5181448" y="685800"/>
            <a:ext cx="1828800" cy="1828800"/>
          </a:xfrm>
          <a:prstGeom prst="rect">
            <a:avLst/>
          </a:prstGeom>
          <a:noFill/>
          <a:ln/>
        </p:spPr>
        <p:txBody>
          <a:bodyPr wrap="square" lIns="0" tIns="0" rIns="0" bIns="0" rtlCol="0" anchor="ctr"/>
          <a:lstStyle/>
          <a:p>
            <a:pPr algn="ctr" indent="0" marL="0">
              <a:buNone/>
            </a:pPr>
            <a:r>
              <a:rPr lang="en-US" sz="11000" b="1" dirty="0">
                <a:solidFill>
                  <a:srgbClr val="00796B"/>
                </a:solidFill>
                <a:latin typeface="Calibri" pitchFamily="34" charset="0"/>
                <a:ea typeface="Calibri" pitchFamily="34" charset="-122"/>
                <a:cs typeface="Calibri" pitchFamily="34" charset="-120"/>
              </a:rPr>
              <a:t>T</a:t>
            </a:r>
            <a:endParaRPr lang="en-US" sz="11000" dirty="0"/>
          </a:p>
        </p:txBody>
      </p:sp>
      <p:sp>
        <p:nvSpPr>
          <p:cNvPr id="5" name="Text 3"/>
          <p:cNvSpPr txBox="1"/>
          <p:nvPr/>
        </p:nvSpPr>
        <p:spPr>
          <a:xfrm>
            <a:off x="1371600" y="3611880"/>
            <a:ext cx="9448495" cy="502920"/>
          </a:xfrm>
          <a:prstGeom prst="rect">
            <a:avLst/>
          </a:prstGeom>
          <a:noFill/>
          <a:ln/>
        </p:spPr>
        <p:txBody>
          <a:bodyPr wrap="square" lIns="0" tIns="0" rIns="0" bIns="0" rtlCol="0" anchor="t"/>
          <a:lstStyle/>
          <a:p>
            <a:pPr algn="ctr" indent="0" marL="0">
              <a:buNone/>
            </a:pPr>
            <a:r>
              <a:rPr lang="en-US" sz="2800" i="1" dirty="0">
                <a:solidFill>
                  <a:srgbClr val="FFFFFF"/>
                </a:solidFill>
                <a:latin typeface="Calibri" pitchFamily="34" charset="0"/>
                <a:ea typeface="Calibri" pitchFamily="34" charset="-122"/>
                <a:cs typeface="Calibri" pitchFamily="34" charset="-120"/>
              </a:rPr>
              <a:t>Define your role</a:t>
            </a:r>
            <a:endParaRPr lang="en-US" sz="2800" dirty="0"/>
          </a:p>
        </p:txBody>
      </p:sp>
      <p:sp>
        <p:nvSpPr>
          <p:cNvPr id="6" name="Text 4"/>
          <p:cNvSpPr txBox="1"/>
          <p:nvPr/>
        </p:nvSpPr>
        <p:spPr>
          <a:xfrm>
            <a:off x="1097280" y="4206240"/>
            <a:ext cx="9997135" cy="6858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What specifically was your responsibility?</a:t>
            </a:r>
            <a:endParaRPr lang="en-US" sz="3600" dirty="0"/>
          </a:p>
        </p:txBody>
      </p:sp>
      <p:sp>
        <p:nvSpPr>
          <p:cNvPr id="7" name="Text 5"/>
          <p:cNvSpPr txBox="1"/>
          <p:nvPr/>
        </p:nvSpPr>
        <p:spPr>
          <a:xfrm>
            <a:off x="1645920" y="4892040"/>
            <a:ext cx="8899855" cy="6858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Not the group's goal. Your part of it.</a:t>
            </a:r>
            <a:endParaRPr lang="en-US" sz="2400" dirty="0"/>
          </a:p>
        </p:txBody>
      </p:sp>
      <p:sp>
        <p:nvSpPr>
          <p:cNvPr id="8" name="Decorative: watch-out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00000">
              <a:alpha val="28000"/>
            </a:srgbClr>
          </a:solidFill>
          <a:ln/>
        </p:spPr>
      </p:sp>
      <p:sp>
        <p:nvSpPr>
          <p:cNvPr id="9" name="Text 7"/>
          <p:cNvSpPr txBox="1"/>
          <p:nvPr/>
        </p:nvSpPr>
        <p:spPr>
          <a:xfrm>
            <a:off x="731520" y="5989320"/>
            <a:ext cx="10728655" cy="868680"/>
          </a:xfrm>
          <a:prstGeom prst="rect">
            <a:avLst/>
          </a:prstGeom>
          <a:noFill/>
          <a:ln/>
        </p:spPr>
        <p:txBody>
          <a:bodyPr wrap="square" lIns="0" tIns="0" rIns="0" bIns="0" rtlCol="0" anchor="ctr"/>
          <a:lstStyle/>
          <a:p>
            <a:pPr algn="ctr" indent="0" marL="0">
              <a:buNone/>
            </a:pPr>
            <a:r>
              <a:rPr lang="en-US" sz="2200" b="1" spc="200" kern="0" dirty="0">
                <a:solidFill>
                  <a:srgbClr val="E7A614"/>
                </a:solidFill>
                <a:latin typeface="Calibri" pitchFamily="34" charset="0"/>
                <a:ea typeface="Calibri" pitchFamily="34" charset="-122"/>
                <a:cs typeface="Calibri" pitchFamily="34" charset="-120"/>
              </a:rPr>
              <a:t>WATCH OUT  </a:t>
            </a:r>
            <a:pPr algn="ctr" indent="0" marL="0">
              <a:buNone/>
            </a:pPr>
            <a:r>
              <a:rPr lang="en-US" sz="2200" dirty="0">
                <a:solidFill>
                  <a:srgbClr val="FFFFFF"/>
                </a:solidFill>
                <a:latin typeface="Calibri" pitchFamily="34" charset="0"/>
                <a:ea typeface="Calibri" pitchFamily="34" charset="-122"/>
                <a:cs typeface="Calibri" pitchFamily="34" charset="-120"/>
              </a:rPr>
              <a:t>"We needed to figure it out" is a group goal.</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A7C2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lIns="0" tIns="0" rIns="0" bIns="0" rtlCol="0" anchor="ctr"/>
          <a:lstStyle/>
          <a:p>
            <a:pPr algn="ctr" indent="0" marL="0">
              <a:buNone/>
            </a:pPr>
            <a:r>
              <a:rPr lang="en-US" sz="5400" b="1" spc="400" kern="0" dirty="0">
                <a:solidFill>
                  <a:srgbClr val="FFFFFF"/>
                </a:solidFill>
              </a:rPr>
              <a:t>ACTION</a:t>
            </a:r>
            <a:endParaRPr lang="en-US" sz="5400" dirty="0"/>
          </a:p>
        </p:txBody>
      </p:sp>
      <p:sp>
        <p:nvSpPr>
          <p:cNvPr id="3" name="Decorative: letter disc">
            <a:extLst>
              <a:ext uri="{C183D7F6-B498-43B3-948B-1728B52AA6E4}">
                <adec:decorative xmlns:adec="http://schemas.microsoft.com/office/drawing/2017/decorative" val="1"/>
              </a:ext>
            </a:extLst>
          </p:cNvPr>
          <p:cNvSpPr/>
          <p:nvPr/>
        </p:nvSpPr>
        <p:spPr>
          <a:xfrm>
            <a:off x="5181448" y="685800"/>
            <a:ext cx="1828800" cy="1828800"/>
          </a:xfrm>
          <a:prstGeom prst="ellipse">
            <a:avLst/>
          </a:prstGeom>
          <a:solidFill>
            <a:srgbClr val="FFFFFF"/>
          </a:solidFill>
          <a:ln w="12700">
            <a:solidFill>
              <a:srgbClr val="FFFFFF"/>
            </a:solidFill>
            <a:prstDash val="solid"/>
          </a:ln>
        </p:spPr>
      </p:sp>
      <p:sp>
        <p:nvSpPr>
          <p:cNvPr id="4" name="Decorative: letter A">
            <a:extLst>
              <a:ext uri="{C183D7F6-B498-43B3-948B-1728B52AA6E4}">
                <adec:decorative xmlns:adec="http://schemas.microsoft.com/office/drawing/2017/decorative" val="1"/>
              </a:ext>
            </a:extLst>
          </p:cNvPr>
          <p:cNvSpPr txBox="1"/>
          <p:nvPr/>
        </p:nvSpPr>
        <p:spPr>
          <a:xfrm>
            <a:off x="5181448" y="685800"/>
            <a:ext cx="1828800" cy="1828800"/>
          </a:xfrm>
          <a:prstGeom prst="rect">
            <a:avLst/>
          </a:prstGeom>
          <a:noFill/>
          <a:ln/>
        </p:spPr>
        <p:txBody>
          <a:bodyPr wrap="square" lIns="0" tIns="0" rIns="0" bIns="0" rtlCol="0" anchor="ctr"/>
          <a:lstStyle/>
          <a:p>
            <a:pPr algn="ctr" indent="0" marL="0">
              <a:buNone/>
            </a:pPr>
            <a:r>
              <a:rPr lang="en-US" sz="11000" b="1" dirty="0">
                <a:solidFill>
                  <a:srgbClr val="4A7C22"/>
                </a:solidFill>
                <a:latin typeface="Calibri" pitchFamily="34" charset="0"/>
                <a:ea typeface="Calibri" pitchFamily="34" charset="-122"/>
                <a:cs typeface="Calibri" pitchFamily="34" charset="-120"/>
              </a:rPr>
              <a:t>A</a:t>
            </a:r>
            <a:endParaRPr lang="en-US" sz="11000" dirty="0"/>
          </a:p>
        </p:txBody>
      </p:sp>
      <p:sp>
        <p:nvSpPr>
          <p:cNvPr id="5" name="Text 3"/>
          <p:cNvSpPr txBox="1"/>
          <p:nvPr/>
        </p:nvSpPr>
        <p:spPr>
          <a:xfrm>
            <a:off x="1371600" y="3611880"/>
            <a:ext cx="9448495" cy="502920"/>
          </a:xfrm>
          <a:prstGeom prst="rect">
            <a:avLst/>
          </a:prstGeom>
          <a:noFill/>
          <a:ln/>
        </p:spPr>
        <p:txBody>
          <a:bodyPr wrap="square" lIns="0" tIns="0" rIns="0" bIns="0" rtlCol="0" anchor="t"/>
          <a:lstStyle/>
          <a:p>
            <a:pPr algn="ctr" indent="0" marL="0">
              <a:buNone/>
            </a:pPr>
            <a:r>
              <a:rPr lang="en-US" sz="2800" i="1" dirty="0">
                <a:solidFill>
                  <a:srgbClr val="FFFFFF"/>
                </a:solidFill>
                <a:latin typeface="Calibri" pitchFamily="34" charset="0"/>
                <a:ea typeface="Calibri" pitchFamily="34" charset="-122"/>
                <a:cs typeface="Calibri" pitchFamily="34" charset="-120"/>
              </a:rPr>
              <a:t>Show what you did</a:t>
            </a:r>
            <a:endParaRPr lang="en-US" sz="2800" dirty="0"/>
          </a:p>
        </p:txBody>
      </p:sp>
      <p:sp>
        <p:nvSpPr>
          <p:cNvPr id="6" name="Text 4"/>
          <p:cNvSpPr txBox="1"/>
          <p:nvPr/>
        </p:nvSpPr>
        <p:spPr>
          <a:xfrm>
            <a:off x="1097280" y="4206240"/>
            <a:ext cx="9997135" cy="6858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What did YOU specifically do?</a:t>
            </a:r>
            <a:endParaRPr lang="en-US" sz="3600" dirty="0"/>
          </a:p>
        </p:txBody>
      </p:sp>
      <p:sp>
        <p:nvSpPr>
          <p:cNvPr id="7" name="Text 5"/>
          <p:cNvSpPr txBox="1"/>
          <p:nvPr/>
        </p:nvSpPr>
        <p:spPr>
          <a:xfrm>
            <a:off x="1645920" y="4892040"/>
            <a:ext cx="8899855" cy="6858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Use "I." I decided, I reached out, I applied. This is where your skill lives.</a:t>
            </a:r>
            <a:endParaRPr lang="en-US" sz="2400" dirty="0"/>
          </a:p>
        </p:txBody>
      </p:sp>
      <p:sp>
        <p:nvSpPr>
          <p:cNvPr id="8" name="Decorative: watch-out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00000">
              <a:alpha val="28000"/>
            </a:srgbClr>
          </a:solidFill>
          <a:ln/>
        </p:spPr>
      </p:sp>
      <p:sp>
        <p:nvSpPr>
          <p:cNvPr id="9" name="Text 7"/>
          <p:cNvSpPr txBox="1"/>
          <p:nvPr/>
        </p:nvSpPr>
        <p:spPr>
          <a:xfrm>
            <a:off x="731520" y="5989320"/>
            <a:ext cx="10728655" cy="868680"/>
          </a:xfrm>
          <a:prstGeom prst="rect">
            <a:avLst/>
          </a:prstGeom>
          <a:noFill/>
          <a:ln/>
        </p:spPr>
        <p:txBody>
          <a:bodyPr wrap="square" lIns="0" tIns="0" rIns="0" bIns="0" rtlCol="0" anchor="ctr"/>
          <a:lstStyle/>
          <a:p>
            <a:pPr algn="ctr" indent="0" marL="0">
              <a:buNone/>
            </a:pPr>
            <a:r>
              <a:rPr lang="en-US" sz="2200" b="1" spc="200" kern="0" dirty="0">
                <a:solidFill>
                  <a:srgbClr val="E7A614"/>
                </a:solidFill>
                <a:latin typeface="Calibri" pitchFamily="34" charset="0"/>
                <a:ea typeface="Calibri" pitchFamily="34" charset="-122"/>
                <a:cs typeface="Calibri" pitchFamily="34" charset="-120"/>
              </a:rPr>
              <a:t>WATCH OUT  </a:t>
            </a:r>
            <a:pPr algn="ctr" indent="0" marL="0">
              <a:buNone/>
            </a:pPr>
            <a:r>
              <a:rPr lang="en-US" sz="2200" dirty="0">
                <a:solidFill>
                  <a:srgbClr val="FFFFFF"/>
                </a:solidFill>
                <a:latin typeface="Calibri" pitchFamily="34" charset="0"/>
                <a:ea typeface="Calibri" pitchFamily="34" charset="-122"/>
                <a:cs typeface="Calibri" pitchFamily="34" charset="-120"/>
              </a:rPr>
              <a:t>"We worked through it together" hides what you did.</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3FB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lIns="0" tIns="0" rIns="0" bIns="0" rtlCol="0" anchor="ctr"/>
          <a:lstStyle/>
          <a:p>
            <a:pPr algn="ctr" indent="0" marL="0">
              <a:buNone/>
            </a:pPr>
            <a:r>
              <a:rPr lang="en-US" sz="5400" b="1" spc="400" kern="0" dirty="0">
                <a:solidFill>
                  <a:srgbClr val="FFFFFF"/>
                </a:solidFill>
              </a:rPr>
              <a:t>RESULT</a:t>
            </a:r>
            <a:endParaRPr lang="en-US" sz="5400" dirty="0"/>
          </a:p>
        </p:txBody>
      </p:sp>
      <p:sp>
        <p:nvSpPr>
          <p:cNvPr id="3" name="Decorative: letter disc">
            <a:extLst>
              <a:ext uri="{C183D7F6-B498-43B3-948B-1728B52AA6E4}">
                <adec:decorative xmlns:adec="http://schemas.microsoft.com/office/drawing/2017/decorative" val="1"/>
              </a:ext>
            </a:extLst>
          </p:cNvPr>
          <p:cNvSpPr/>
          <p:nvPr/>
        </p:nvSpPr>
        <p:spPr>
          <a:xfrm>
            <a:off x="5181448" y="685800"/>
            <a:ext cx="1828800" cy="1828800"/>
          </a:xfrm>
          <a:prstGeom prst="ellipse">
            <a:avLst/>
          </a:prstGeom>
          <a:solidFill>
            <a:srgbClr val="FFFFFF"/>
          </a:solidFill>
          <a:ln w="12700">
            <a:solidFill>
              <a:srgbClr val="FFFFFF"/>
            </a:solidFill>
            <a:prstDash val="solid"/>
          </a:ln>
        </p:spPr>
      </p:sp>
      <p:sp>
        <p:nvSpPr>
          <p:cNvPr id="4" name="Decorative: letter R">
            <a:extLst>
              <a:ext uri="{C183D7F6-B498-43B3-948B-1728B52AA6E4}">
                <adec:decorative xmlns:adec="http://schemas.microsoft.com/office/drawing/2017/decorative" val="1"/>
              </a:ext>
            </a:extLst>
          </p:cNvPr>
          <p:cNvSpPr txBox="1"/>
          <p:nvPr/>
        </p:nvSpPr>
        <p:spPr>
          <a:xfrm>
            <a:off x="5181448" y="685800"/>
            <a:ext cx="1828800" cy="1828800"/>
          </a:xfrm>
          <a:prstGeom prst="rect">
            <a:avLst/>
          </a:prstGeom>
          <a:noFill/>
          <a:ln/>
        </p:spPr>
        <p:txBody>
          <a:bodyPr wrap="square" lIns="0" tIns="0" rIns="0" bIns="0" rtlCol="0" anchor="ctr"/>
          <a:lstStyle/>
          <a:p>
            <a:pPr algn="ctr" indent="0" marL="0">
              <a:buNone/>
            </a:pPr>
            <a:r>
              <a:rPr lang="en-US" sz="11000" b="1" dirty="0">
                <a:solidFill>
                  <a:srgbClr val="6A3FB5"/>
                </a:solidFill>
                <a:latin typeface="Calibri" pitchFamily="34" charset="0"/>
                <a:ea typeface="Calibri" pitchFamily="34" charset="-122"/>
                <a:cs typeface="Calibri" pitchFamily="34" charset="-120"/>
              </a:rPr>
              <a:t>R</a:t>
            </a:r>
            <a:endParaRPr lang="en-US" sz="11000" dirty="0"/>
          </a:p>
        </p:txBody>
      </p:sp>
      <p:sp>
        <p:nvSpPr>
          <p:cNvPr id="5" name="Text 3"/>
          <p:cNvSpPr txBox="1"/>
          <p:nvPr/>
        </p:nvSpPr>
        <p:spPr>
          <a:xfrm>
            <a:off x="1371600" y="3611880"/>
            <a:ext cx="9448495" cy="502920"/>
          </a:xfrm>
          <a:prstGeom prst="rect">
            <a:avLst/>
          </a:prstGeom>
          <a:noFill/>
          <a:ln/>
        </p:spPr>
        <p:txBody>
          <a:bodyPr wrap="square" lIns="0" tIns="0" rIns="0" bIns="0" rtlCol="0" anchor="t"/>
          <a:lstStyle/>
          <a:p>
            <a:pPr algn="ctr" indent="0" marL="0">
              <a:buNone/>
            </a:pPr>
            <a:r>
              <a:rPr lang="en-US" sz="2800" i="1" dirty="0">
                <a:solidFill>
                  <a:srgbClr val="FFFFFF"/>
                </a:solidFill>
                <a:latin typeface="Calibri" pitchFamily="34" charset="0"/>
                <a:ea typeface="Calibri" pitchFamily="34" charset="-122"/>
                <a:cs typeface="Calibri" pitchFamily="34" charset="-120"/>
              </a:rPr>
              <a:t>Name the outcome</a:t>
            </a:r>
            <a:endParaRPr lang="en-US" sz="2800" dirty="0"/>
          </a:p>
        </p:txBody>
      </p:sp>
      <p:sp>
        <p:nvSpPr>
          <p:cNvPr id="6" name="Text 4"/>
          <p:cNvSpPr txBox="1"/>
          <p:nvPr/>
        </p:nvSpPr>
        <p:spPr>
          <a:xfrm>
            <a:off x="1097280" y="4206240"/>
            <a:ext cx="9997135" cy="6858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What happened because of what you did?</a:t>
            </a:r>
            <a:endParaRPr lang="en-US" sz="3600" dirty="0"/>
          </a:p>
        </p:txBody>
      </p:sp>
      <p:sp>
        <p:nvSpPr>
          <p:cNvPr id="7" name="Text 5"/>
          <p:cNvSpPr txBox="1"/>
          <p:nvPr/>
        </p:nvSpPr>
        <p:spPr>
          <a:xfrm>
            <a:off x="1645920" y="4892040"/>
            <a:ext cx="8899855" cy="6858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What changed, improved, or resolved? Honest and imperfect beats vague and positive.</a:t>
            </a:r>
            <a:endParaRPr lang="en-US" sz="2400" dirty="0"/>
          </a:p>
        </p:txBody>
      </p:sp>
      <p:sp>
        <p:nvSpPr>
          <p:cNvPr id="8" name="Decorative: watch-out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00000">
              <a:alpha val="28000"/>
            </a:srgbClr>
          </a:solidFill>
          <a:ln/>
        </p:spPr>
      </p:sp>
      <p:sp>
        <p:nvSpPr>
          <p:cNvPr id="9" name="Text 7"/>
          <p:cNvSpPr txBox="1"/>
          <p:nvPr/>
        </p:nvSpPr>
        <p:spPr>
          <a:xfrm>
            <a:off x="731520" y="5989320"/>
            <a:ext cx="10728655" cy="868680"/>
          </a:xfrm>
          <a:prstGeom prst="rect">
            <a:avLst/>
          </a:prstGeom>
          <a:noFill/>
          <a:ln/>
        </p:spPr>
        <p:txBody>
          <a:bodyPr wrap="square" lIns="0" tIns="0" rIns="0" bIns="0" rtlCol="0" anchor="ctr"/>
          <a:lstStyle/>
          <a:p>
            <a:pPr algn="ctr" indent="0" marL="0">
              <a:buNone/>
            </a:pPr>
            <a:r>
              <a:rPr lang="en-US" sz="2200" b="1" spc="200" kern="0" dirty="0">
                <a:solidFill>
                  <a:srgbClr val="E7A614"/>
                </a:solidFill>
                <a:latin typeface="Calibri" pitchFamily="34" charset="0"/>
                <a:ea typeface="Calibri" pitchFamily="34" charset="-122"/>
                <a:cs typeface="Calibri" pitchFamily="34" charset="-120"/>
              </a:rPr>
              <a:t>WATCH OUT  </a:t>
            </a:r>
            <a:pPr algn="ctr" indent="0" marL="0">
              <a:buNone/>
            </a:pPr>
            <a:r>
              <a:rPr lang="en-US" sz="2200" dirty="0">
                <a:solidFill>
                  <a:srgbClr val="FFFFFF"/>
                </a:solidFill>
                <a:latin typeface="Calibri" pitchFamily="34" charset="0"/>
                <a:ea typeface="Calibri" pitchFamily="34" charset="-122"/>
                <a:cs typeface="Calibri" pitchFamily="34" charset="-120"/>
              </a:rPr>
              <a:t>"It went well" is not a result.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BF36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788920"/>
            <a:ext cx="9448495" cy="868680"/>
          </a:xfrm>
          <a:prstGeom prst="rect">
            <a:avLst/>
          </a:prstGeom>
          <a:noFill/>
          <a:ln/>
        </p:spPr>
        <p:txBody>
          <a:bodyPr wrap="square" lIns="0" tIns="0" rIns="0" bIns="0" rtlCol="0" anchor="ctr"/>
          <a:lstStyle/>
          <a:p>
            <a:pPr algn="ctr" indent="0" marL="0">
              <a:buNone/>
            </a:pPr>
            <a:r>
              <a:rPr lang="en-US" sz="5400" b="1" spc="400" kern="0" dirty="0">
                <a:solidFill>
                  <a:srgbClr val="FFFFFF"/>
                </a:solidFill>
              </a:rPr>
              <a:t>TRANSFER</a:t>
            </a:r>
            <a:endParaRPr lang="en-US" sz="5400" dirty="0"/>
          </a:p>
        </p:txBody>
      </p:sp>
      <p:sp>
        <p:nvSpPr>
          <p:cNvPr id="3" name="Decorative: letter disc">
            <a:extLst>
              <a:ext uri="{C183D7F6-B498-43B3-948B-1728B52AA6E4}">
                <adec:decorative xmlns:adec="http://schemas.microsoft.com/office/drawing/2017/decorative" val="1"/>
              </a:ext>
            </a:extLst>
          </p:cNvPr>
          <p:cNvSpPr/>
          <p:nvPr/>
        </p:nvSpPr>
        <p:spPr>
          <a:xfrm>
            <a:off x="5181448" y="685800"/>
            <a:ext cx="1828800" cy="1828800"/>
          </a:xfrm>
          <a:prstGeom prst="ellipse">
            <a:avLst/>
          </a:prstGeom>
          <a:solidFill>
            <a:srgbClr val="FFFFFF"/>
          </a:solidFill>
          <a:ln w="12700">
            <a:solidFill>
              <a:srgbClr val="FFFFFF"/>
            </a:solidFill>
            <a:prstDash val="solid"/>
          </a:ln>
        </p:spPr>
      </p:sp>
      <p:sp>
        <p:nvSpPr>
          <p:cNvPr id="4" name="Decorative: letter (T)">
            <a:extLst>
              <a:ext uri="{C183D7F6-B498-43B3-948B-1728B52AA6E4}">
                <adec:decorative xmlns:adec="http://schemas.microsoft.com/office/drawing/2017/decorative" val="1"/>
              </a:ext>
            </a:extLst>
          </p:cNvPr>
          <p:cNvSpPr txBox="1"/>
          <p:nvPr/>
        </p:nvSpPr>
        <p:spPr>
          <a:xfrm>
            <a:off x="5181448" y="685800"/>
            <a:ext cx="1828800" cy="1828800"/>
          </a:xfrm>
          <a:prstGeom prst="rect">
            <a:avLst/>
          </a:prstGeom>
          <a:noFill/>
          <a:ln/>
        </p:spPr>
        <p:txBody>
          <a:bodyPr wrap="square" lIns="0" tIns="0" rIns="0" bIns="0" rtlCol="0" anchor="ctr"/>
          <a:lstStyle/>
          <a:p>
            <a:pPr algn="ctr" indent="0" marL="0">
              <a:buNone/>
            </a:pPr>
            <a:r>
              <a:rPr lang="en-US" sz="7200" b="1" dirty="0">
                <a:solidFill>
                  <a:srgbClr val="BF360C"/>
                </a:solidFill>
                <a:latin typeface="Calibri" pitchFamily="34" charset="0"/>
                <a:ea typeface="Calibri" pitchFamily="34" charset="-122"/>
                <a:cs typeface="Calibri" pitchFamily="34" charset="-120"/>
              </a:rPr>
              <a:t>(T)</a:t>
            </a:r>
            <a:endParaRPr lang="en-US" sz="7200" dirty="0"/>
          </a:p>
        </p:txBody>
      </p:sp>
      <p:sp>
        <p:nvSpPr>
          <p:cNvPr id="5" name="Text 3"/>
          <p:cNvSpPr txBox="1"/>
          <p:nvPr/>
        </p:nvSpPr>
        <p:spPr>
          <a:xfrm>
            <a:off x="1371600" y="3611880"/>
            <a:ext cx="9448495" cy="502920"/>
          </a:xfrm>
          <a:prstGeom prst="rect">
            <a:avLst/>
          </a:prstGeom>
          <a:noFill/>
          <a:ln/>
        </p:spPr>
        <p:txBody>
          <a:bodyPr wrap="square" lIns="0" tIns="0" rIns="0" bIns="0" rtlCol="0" anchor="t"/>
          <a:lstStyle/>
          <a:p>
            <a:pPr algn="ctr" indent="0" marL="0">
              <a:buNone/>
            </a:pPr>
            <a:r>
              <a:rPr lang="en-US" sz="2800" i="1" dirty="0">
                <a:solidFill>
                  <a:srgbClr val="FFFFFF"/>
                </a:solidFill>
                <a:latin typeface="Calibri" pitchFamily="34" charset="0"/>
                <a:ea typeface="Calibri" pitchFamily="34" charset="-122"/>
                <a:cs typeface="Calibri" pitchFamily="34" charset="-120"/>
              </a:rPr>
              <a:t>Connect it forward</a:t>
            </a:r>
            <a:endParaRPr lang="en-US" sz="2800" dirty="0"/>
          </a:p>
        </p:txBody>
      </p:sp>
      <p:sp>
        <p:nvSpPr>
          <p:cNvPr id="6" name="Text 4"/>
          <p:cNvSpPr txBox="1"/>
          <p:nvPr/>
        </p:nvSpPr>
        <p:spPr>
          <a:xfrm>
            <a:off x="1097280" y="4206240"/>
            <a:ext cx="9997135" cy="6858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What does this mean for where you are going?</a:t>
            </a:r>
            <a:endParaRPr lang="en-US" sz="3600" dirty="0"/>
          </a:p>
        </p:txBody>
      </p:sp>
      <p:sp>
        <p:nvSpPr>
          <p:cNvPr id="7" name="Text 5"/>
          <p:cNvSpPr txBox="1"/>
          <p:nvPr/>
        </p:nvSpPr>
        <p:spPr>
          <a:xfrm>
            <a:off x="1645920" y="4892040"/>
            <a:ext cx="8899855" cy="68580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Name where this skill shows up next: a program, a job, a relationship, a responsibility.</a:t>
            </a:r>
            <a:endParaRPr lang="en-US" sz="2400" dirty="0"/>
          </a:p>
        </p:txBody>
      </p:sp>
      <p:sp>
        <p:nvSpPr>
          <p:cNvPr id="8" name="Decorative: watch-out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00000">
              <a:alpha val="28000"/>
            </a:srgbClr>
          </a:solidFill>
          <a:ln/>
        </p:spPr>
      </p:sp>
      <p:sp>
        <p:nvSpPr>
          <p:cNvPr id="9" name="Text 7"/>
          <p:cNvSpPr txBox="1"/>
          <p:nvPr/>
        </p:nvSpPr>
        <p:spPr>
          <a:xfrm>
            <a:off x="731520" y="5989320"/>
            <a:ext cx="10728655" cy="868680"/>
          </a:xfrm>
          <a:prstGeom prst="rect">
            <a:avLst/>
          </a:prstGeom>
          <a:noFill/>
          <a:ln/>
        </p:spPr>
        <p:txBody>
          <a:bodyPr wrap="square" lIns="0" tIns="0" rIns="0" bIns="0" rtlCol="0" anchor="ctr"/>
          <a:lstStyle/>
          <a:p>
            <a:pPr algn="ctr" indent="0" marL="0">
              <a:buNone/>
            </a:pPr>
            <a:r>
              <a:rPr lang="en-US" sz="2200" b="1" spc="200" kern="0" dirty="0">
                <a:solidFill>
                  <a:srgbClr val="E7A614"/>
                </a:solidFill>
                <a:latin typeface="Calibri" pitchFamily="34" charset="0"/>
                <a:ea typeface="Calibri" pitchFamily="34" charset="-122"/>
                <a:cs typeface="Calibri" pitchFamily="34" charset="-120"/>
              </a:rPr>
              <a:t>WATCH OUT  </a:t>
            </a:r>
            <a:pPr algn="ctr" indent="0" marL="0">
              <a:buNone/>
            </a:pPr>
            <a:r>
              <a:rPr lang="en-US" sz="2200" dirty="0">
                <a:solidFill>
                  <a:srgbClr val="FFFFFF"/>
                </a:solidFill>
                <a:latin typeface="Calibri" pitchFamily="34" charset="0"/>
                <a:ea typeface="Calibri" pitchFamily="34" charset="-122"/>
                <a:cs typeface="Calibri" pitchFamily="34" charset="-120"/>
              </a:rPr>
              <a:t>"This will help me in the future" is not a Transfer.</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STAR(T) Story</dc:title>
  <dc:subject>FYE 100 STAR(T) Stories: step-by-step slides for telling one story</dc:subject>
  <dc:creator>OCTC FYE 100</dc:creator>
  <cp:lastModifiedBy>OCTC FYE 100</cp:lastModifiedBy>
  <cp:revision>1</cp:revision>
  <dcterms:created xsi:type="dcterms:W3CDTF">2026-11-01T22:29:32Z</dcterms:created>
  <dcterms:modified xsi:type="dcterms:W3CDTF">2026-11-01T22:29:32Z</dcterms:modified>
</cp:coreProperties>
</file>