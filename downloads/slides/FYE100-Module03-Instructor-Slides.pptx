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d926cea-1166-36de-8669-28dd90e89882}">
          <p14:sldIdLst>
            <p14:sldId id="256"/>
            <p14:sldId id="257"/>
          </p14:sldIdLst>
        </p14:section>
        <p14:section name="This week" id="{e4d40338-15a8-1cad-5f34-70fe1376f0e9}">
          <p14:sldIdLst>
            <p14:sldId id="258"/>
          </p14:sldIdLst>
        </p14:section>
        <p14:section name="Lessons" id="{3c99f11a-8b40-075c-48f4-c5944cbbb6cd}">
          <p14:sldIdLst>
            <p14:sldId id="259"/>
            <p14:sldId id="260"/>
            <p14:sldId id="261"/>
            <p14:sldId id="262"/>
            <p14:sldId id="263"/>
            <p14:sldId id="264"/>
          </p14:sldIdLst>
        </p14:section>
        <p14:section name="This week's work" id="{d4882885-bc96-15ef-80eb-0f9d5461af8d}">
          <p14:sldIdLst>
            <p14:sldId id="265"/>
            <p14:sldId id="266"/>
          </p14:sldIdLst>
        </p14:section>
        <p14:section name="Discussion" id="{1a995b41-95f0-a19f-13ee-9094d52fbd5e}">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3: My Time Plan.
You have the same 168 hours as everyone else, but not the same responsibilities, the same brain, or the same energy. This module is about figuring out where your hours actually go, and how to plan around the life you really have.
The owl brought a pocket watch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Look back at Module 2: did students find their Success Coach? Merit invitations should be arriving now that add/drop is over.
Heads up: Merit Activity #1 is due with Module 4. Encourage students to pick their activity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look back at how your week really went, plan the next one from your priorities, protect your best hour, and recharge before you run out.
Two skills: Professionalism, this week's Skill Spotlight, and Adaptability &amp; Leadership.
Start the Where My Time Goes log today. Mile Marker #3 needs a few days of real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Skill Spotlight is #6, Professionalism.
It can sound like something that happens later, in an office, in different clothes. Kentucky's definition is more immediate: acting with honesty and fairness, managing your time and tasks, taking initiative, and being accountable, including for your mistakes.
It's a pattern, not a performance. Being someone people can count on, not being perfect.
Left: where most students start. You know deadlines matter and you follow through. Right: where you're headed. You actually use time management to get things done, and you take accountability when things go wrong.
This module is Professionalism in practice: time management and organization are the content.
Professionalism is one of the three assigned STAR(T) Story skills, so start noticing moments when you followed through when it wasn't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Trail Tools this week, and they do different jobs.
Where My Time Goes is looking back: an honest log of where your time and energy actually went. No judging and no fixing yet. Just notice. It feeds Mile Marker #3, Question 1.
My Week at a Glance is looking ahead: a plan for next week. It feeds Question 3. A plan built on the week you wish you had won't survive the week you actually have, so do the log first.
Lesson 3.2's three steps: name your priorities before you touch the calendar, sorted into Must, Should, and Could. Know your energy before you block your time. Block broadly and leave white space for real life.
If everything feels like a Must, it isn't. What actually has a deadline? What actually has consequences?
Both tools are fillable in the guidebook, and fillable PDFs are with the module in Blackboard. Attaching them to the Mile Marker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opens with a line worth repeating: "The bad news is time flies. The good news is you're the pilot." Days fill up because we let them.
Four moves. Find your best hour and protect it: your sharpest window goes to your most important work, with the phone out of reach. Start before you feel ready. Handle the small stuff when it shows up so it doesn't pile up. And recover instead of catastrophizing: a day that goes sideways is one day, not proof you can't do this.
Name the time-wasters from the lesson: phone scrolling, notifications, fake productivity like color-coding instead of doing, easy tasks in your best hour, and avoidance dressed up as something else.
Ask: When is your best hour? Most people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believe they're good at multitasking. What we call multitasking is really rapid task-switching, and every switch has a cost.
Research on interruptions has found it can take more than 20 minutes to get back to a task after being pulled away. Every "real quick" check of a notification can cost far more than a few seconds.
That cost has a name: switching cost. There's also transition friction, the drag of leaving one thing and starting another. For some brains, including those with ADHD, that friction can feel like a wall. Lesson 3.6 picks that up.
Try the demo from the teaching page if you have time: write "Time is the pilot" and the numbers 1 to 14 straight through, then alternate letter, number, letter, number. Compare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isn't the only resource. You can have a free afternoon and still get nothing done because something else is empty: your energy.
Five batteries. Physical: sleep, food, movement. Mental: focus and decisions, which have a daily limit. Emotional: your capacity to handle stress and conflict. Social: connection, which some people refill with people and others refill alone. Spiritual: meaning and purpose, whatever that looks like for you.
Running low is a signal to act. Running out is burnout, which the lesson describes as exhaustion, cynicism, and feeling ineffective.
Mile Marker #3, Question 2 asks which battery is most depleted and one small, realistic way to recharge it.
If a student's batteries are all empty, that's a conversation to have privately, and the Counseling Center is a good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time management advice assumes one kind of brain. If the standard strategies have never worked for you, this lesson is for you. It's also for everyone else, because understanding that brains work differently makes you a better teammate and colleague.
Neurodivergence is an umbrella term for brains that work differently from what school and work systems were designed around: ADHD, autism, dyslexia, and more. It isn't a measure of intelligence. Many people never had a formal diagnosis, and you don't need one for the strategies to help.
Four areas from the lesson: starting tasks, time blindness, working memory, and transitions. The lesson has strategies for each, and they help any brain.
If any of this sounds like you, OCTC Accessibility Services is there to help.
Note for instructors: some students will recognize themselves here for the first time. Mile Marker #3, Question 4 invites them to notice what resonated without naming a diagnosis. Keep that invitation open and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Mile Marker #3 is the main assignment. Attaching your time log or week plan is optional.
Online sections: the Where Does My Time Go? discussion. First post by Friday, replies by Monday. In-person sections: today's attendance counts.
The Student Course Feedback Survey is optional, and it helps me adjust the course while you're still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#3 has four questions.
One, your patterns: from your Where My Time Goes log, when were you most focused, where did time slip away, and what does that cost you? Use your real log, not a general statement.
Two, your energy: which of the five batteries is lowest, what's draining it, and one small, realistic way to recharge it this week.
Three, your week: from My Week at a Glance, your non-negotiables, where you put your most important work and why, and one part of the plan that reflects what you value.
Four, your self-knowledge: one thing you're learning about how you work, and one small habit to try. You don't have to name a diagnosis.
It's AI-supported. The guidebook has a fill-in form, and there's a printable handout in Blackboard.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This mirrors the online Where Does My Time Go? discussion.
Pairs for three minutes, then collect the top time-wasters on the board. Tally them: phones usually win.
Watch for students who name work, kids, or caregiving. Those are commitments, not time-wasters. Name the difference: commitments get planned around; leaks get noticed and plugged.
Close by connecting to Lesson 3.3: protect your best hour.
For online recordings: pose the questions and point students to the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3</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My Time Plan: Managing Time &amp; Energy</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Same 168 hours. Where are yours going?</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2, then look ahead to Module 3.</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3 work is due Monday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3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Where does your time go?</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History">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Look back at your real week</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ListChecks">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Plan from your priorities</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Clock">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Protect your best hour</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BatteryMedium">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Recharge before you run out</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788920"/>
            <a:ext cx="731520" cy="731520"/>
          </a:xfrm>
          <a:prstGeom prst="rect">
            <a:avLst/>
          </a:prstGeom>
        </p:spPr>
      </p:pic>
      <p:sp>
        <p:nvSpPr>
          <p:cNvPr id="19" name="Text 12"/>
          <p:cNvSpPr txBox="1"/>
          <p:nvPr/>
        </p:nvSpPr>
        <p:spPr>
          <a:xfrm>
            <a:off x="9098280" y="27432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#5 </a:t>
            </a:r>
            <a:pPr indent="0" marL="0">
              <a:buNone/>
            </a:pPr>
            <a:r>
              <a:rPr lang="en-US" sz="2000" dirty="0">
                <a:solidFill>
                  <a:schemeClr val="tx1"/>
                </a:solidFill>
              </a:rPr>
              <a:t>Adaptability &amp; Leadership</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703320"/>
            <a:ext cx="731520" cy="731520"/>
          </a:xfrm>
          <a:prstGeom prst="rect">
            <a:avLst/>
          </a:prstGeom>
        </p:spPr>
      </p:pic>
      <p:sp>
        <p:nvSpPr>
          <p:cNvPr id="21" name="Text 13"/>
          <p:cNvSpPr txBox="1"/>
          <p:nvPr/>
        </p:nvSpPr>
        <p:spPr>
          <a:xfrm>
            <a:off x="9098280" y="36576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#6 </a:t>
            </a:r>
            <a:pPr indent="0" marL="0">
              <a:buNone/>
            </a:pPr>
            <a:r>
              <a:rPr lang="en-US" sz="2000" dirty="0">
                <a:solidFill>
                  <a:schemeClr val="tx1"/>
                </a:solidFill>
              </a:rPr>
              <a:t>Professionalism</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3.1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Professionalism</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Being someone people can count on. Not being perfect.</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know deadlines matter, and you follow through on your commitments.</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use time management to finish what matters, and you own it when things go wrong.</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3.2 · TRAIL TOOLS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Look back, then look ahead</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5364328" cy="2788920"/>
          </a:xfrm>
          <a:prstGeom prst="roundRect">
            <a:avLst>
              <a:gd name="adj" fmla="val 393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68680" y="2194560"/>
            <a:ext cx="731520" cy="731520"/>
          </a:xfrm>
          <a:prstGeom prst="ellipse">
            <a:avLst/>
          </a:prstGeom>
          <a:solidFill>
            <a:srgbClr val="00467F"/>
          </a:solidFill>
          <a:ln w="12700">
            <a:solidFill>
              <a:srgbClr val="00467F"/>
            </a:solidFill>
            <a:prstDash val="solid"/>
          </a:ln>
        </p:spPr>
      </p:sp>
      <p:pic>
        <p:nvPicPr>
          <p:cNvPr id="6" name="Decorative: LuHistory">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29614" y="2355494"/>
            <a:ext cx="409651" cy="409651"/>
          </a:xfrm>
          <a:prstGeom prst="rect">
            <a:avLst/>
          </a:prstGeom>
        </p:spPr>
      </p:pic>
      <p:sp>
        <p:nvSpPr>
          <p:cNvPr id="7" name="Text 4"/>
          <p:cNvSpPr txBox="1"/>
          <p:nvPr/>
        </p:nvSpPr>
        <p:spPr>
          <a:xfrm>
            <a:off x="1783080"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Where My Time Goes</a:t>
            </a:r>
            <a:endParaRPr lang="en-US" sz="2800" dirty="0"/>
          </a:p>
        </p:txBody>
      </p:sp>
      <p:sp>
        <p:nvSpPr>
          <p:cNvPr id="8" name="Text 5"/>
          <p:cNvSpPr txBox="1"/>
          <p:nvPr/>
        </p:nvSpPr>
        <p:spPr>
          <a:xfrm>
            <a:off x="868680" y="3154680"/>
            <a:ext cx="4724248" cy="1325880"/>
          </a:xfrm>
          <a:prstGeom prst="rect">
            <a:avLst/>
          </a:prstGeom>
          <a:noFill/>
          <a:ln/>
        </p:spPr>
        <p:txBody>
          <a:bodyPr wrap="square" lIns="0" tIns="0" rIns="0" bIns="0" rtlCol="0" anchor="t"/>
          <a:lstStyle/>
          <a:p>
            <a:pPr indent="0" marL="0">
              <a:buNone/>
            </a:pPr>
            <a:r>
              <a:rPr lang="en-US" sz="2400" dirty="0">
                <a:solidFill>
                  <a:schemeClr val="tx1"/>
                </a:solidFill>
              </a:rPr>
              <a:t>Look back. Log what actually happened, day by day. No judging, no fixing yet.</a:t>
            </a:r>
            <a:endParaRPr lang="en-US" sz="2400" dirty="0"/>
          </a:p>
        </p:txBody>
      </p:sp>
      <p:sp>
        <p:nvSpPr>
          <p:cNvPr id="9" name="Decorative: card">
            <a:extLst>
              <a:ext uri="{C183D7F6-B498-43B3-948B-1728B52AA6E4}">
                <adec:decorative xmlns:adec="http://schemas.microsoft.com/office/drawing/2017/decorative" val="1"/>
              </a:ext>
            </a:extLst>
          </p:cNvPr>
          <p:cNvSpPr/>
          <p:nvPr/>
        </p:nvSpPr>
        <p:spPr>
          <a:xfrm>
            <a:off x="6278728" y="1874520"/>
            <a:ext cx="5364328" cy="2788920"/>
          </a:xfrm>
          <a:prstGeom prst="roundRect">
            <a:avLst>
              <a:gd name="adj" fmla="val 393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Decorative: icon circle">
            <a:extLst>
              <a:ext uri="{C183D7F6-B498-43B3-948B-1728B52AA6E4}">
                <adec:decorative xmlns:adec="http://schemas.microsoft.com/office/drawing/2017/decorative" val="1"/>
              </a:ext>
            </a:extLst>
          </p:cNvPr>
          <p:cNvSpPr/>
          <p:nvPr/>
        </p:nvSpPr>
        <p:spPr>
          <a:xfrm>
            <a:off x="6598768" y="2194560"/>
            <a:ext cx="731520" cy="731520"/>
          </a:xfrm>
          <a:prstGeom prst="ellipse">
            <a:avLst/>
          </a:prstGeom>
          <a:solidFill>
            <a:srgbClr val="E7A614"/>
          </a:solidFill>
          <a:ln w="12700">
            <a:solidFill>
              <a:srgbClr val="E7A614"/>
            </a:solidFill>
            <a:prstDash val="solid"/>
          </a:ln>
        </p:spPr>
      </p:sp>
      <p:pic>
        <p:nvPicPr>
          <p:cNvPr id="11" name="Decorative: LuCalendarRang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59702" y="2355494"/>
            <a:ext cx="409651" cy="409651"/>
          </a:xfrm>
          <a:prstGeom prst="rect">
            <a:avLst/>
          </a:prstGeom>
        </p:spPr>
      </p:pic>
      <p:sp>
        <p:nvSpPr>
          <p:cNvPr id="12" name="Text 8"/>
          <p:cNvSpPr txBox="1"/>
          <p:nvPr/>
        </p:nvSpPr>
        <p:spPr>
          <a:xfrm>
            <a:off x="7513168" y="2221992"/>
            <a:ext cx="3809848" cy="685800"/>
          </a:xfrm>
          <a:prstGeom prst="rect">
            <a:avLst/>
          </a:prstGeom>
          <a:noFill/>
          <a:ln/>
        </p:spPr>
        <p:txBody>
          <a:bodyPr wrap="square" lIns="0" tIns="0" rIns="0" bIns="0" rtlCol="0" anchor="ctr"/>
          <a:lstStyle/>
          <a:p>
            <a:pPr indent="0" marL="0">
              <a:buNone/>
            </a:pPr>
            <a:r>
              <a:rPr lang="en-US" sz="2800" b="1" dirty="0">
                <a:solidFill>
                  <a:schemeClr val="tx2"/>
                </a:solidFill>
              </a:rPr>
              <a:t>My Week at a Glance</a:t>
            </a:r>
            <a:endParaRPr lang="en-US" sz="2800" dirty="0"/>
          </a:p>
        </p:txBody>
      </p:sp>
      <p:sp>
        <p:nvSpPr>
          <p:cNvPr id="13" name="Text 9"/>
          <p:cNvSpPr txBox="1"/>
          <p:nvPr/>
        </p:nvSpPr>
        <p:spPr>
          <a:xfrm>
            <a:off x="6598768" y="3154680"/>
            <a:ext cx="4724248" cy="1325880"/>
          </a:xfrm>
          <a:prstGeom prst="rect">
            <a:avLst/>
          </a:prstGeom>
          <a:noFill/>
          <a:ln/>
        </p:spPr>
        <p:txBody>
          <a:bodyPr wrap="square" lIns="0" tIns="0" rIns="0" bIns="0" rtlCol="0" anchor="t"/>
          <a:lstStyle/>
          <a:p>
            <a:pPr indent="0" marL="0">
              <a:buNone/>
            </a:pPr>
            <a:r>
              <a:rPr lang="en-US" sz="2400" dirty="0">
                <a:solidFill>
                  <a:schemeClr val="tx1"/>
                </a:solidFill>
              </a:rPr>
              <a:t>Look ahead. Map your priorities into next week, around your energy.</a:t>
            </a:r>
            <a:endParaRPr lang="en-US" sz="2400" dirty="0"/>
          </a:p>
        </p:txBody>
      </p:sp>
      <p:sp>
        <p:nvSpPr>
          <p:cNvPr id="14" name="Decorative: callout">
            <a:extLst>
              <a:ext uri="{C183D7F6-B498-43B3-948B-1728B52AA6E4}">
                <adec:decorative xmlns:adec="http://schemas.microsoft.com/office/drawing/2017/decorative" val="1"/>
              </a:ext>
            </a:extLst>
          </p:cNvPr>
          <p:cNvSpPr/>
          <p:nvPr/>
        </p:nvSpPr>
        <p:spPr>
          <a:xfrm>
            <a:off x="548640" y="507492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5" name="Text 11"/>
          <p:cNvSpPr txBox="1"/>
          <p:nvPr/>
        </p:nvSpPr>
        <p:spPr>
          <a:xfrm>
            <a:off x="868680" y="518464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Must, Should, Could: name your priorities before you touch the calendar.</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3.3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Run the day (don't let it run you)</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03120"/>
            <a:ext cx="685800" cy="685800"/>
          </a:xfrm>
          <a:prstGeom prst="ellipse">
            <a:avLst/>
          </a:prstGeom>
          <a:solidFill>
            <a:srgbClr val="00467F"/>
          </a:solidFill>
          <a:ln w="12700">
            <a:solidFill>
              <a:srgbClr val="00467F"/>
            </a:solidFill>
            <a:prstDash val="solid"/>
          </a:ln>
        </p:spPr>
      </p:sp>
      <p:pic>
        <p:nvPicPr>
          <p:cNvPr id="6" name="Decorative: LuClo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53996"/>
            <a:ext cx="384048" cy="384048"/>
          </a:xfrm>
          <a:prstGeom prst="rect">
            <a:avLst/>
          </a:prstGeom>
        </p:spPr>
      </p:pic>
      <p:sp>
        <p:nvSpPr>
          <p:cNvPr id="7" name="Text 4"/>
          <p:cNvSpPr txBox="1"/>
          <p:nvPr/>
        </p:nvSpPr>
        <p:spPr>
          <a:xfrm>
            <a:off x="1737360"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Find your best hour</a:t>
            </a:r>
            <a:endParaRPr lang="en-US" sz="2400" dirty="0"/>
          </a:p>
          <a:p>
            <a:pPr indent="0" marL="0">
              <a:buNone/>
            </a:pPr>
            <a:r>
              <a:rPr lang="en-US" sz="2400" dirty="0">
                <a:solidFill>
                  <a:schemeClr val="tx1"/>
                </a:solidFill>
              </a:rPr>
              <a:t>Protect it for your most important work.</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103120"/>
            <a:ext cx="685800" cy="685800"/>
          </a:xfrm>
          <a:prstGeom prst="ellipse">
            <a:avLst/>
          </a:prstGeom>
          <a:solidFill>
            <a:srgbClr val="00467F"/>
          </a:solidFill>
          <a:ln w="12700">
            <a:solidFill>
              <a:srgbClr val="00467F"/>
            </a:solidFill>
            <a:prstDash val="solid"/>
          </a:ln>
        </p:spPr>
      </p:sp>
      <p:pic>
        <p:nvPicPr>
          <p:cNvPr id="10" name="Decorative: LuPlay">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53996"/>
            <a:ext cx="384048" cy="384048"/>
          </a:xfrm>
          <a:prstGeom prst="rect">
            <a:avLst/>
          </a:prstGeom>
        </p:spPr>
      </p:pic>
      <p:sp>
        <p:nvSpPr>
          <p:cNvPr id="11" name="Text 7"/>
          <p:cNvSpPr txBox="1"/>
          <p:nvPr/>
        </p:nvSpPr>
        <p:spPr>
          <a:xfrm>
            <a:off x="7444588"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Start before you're ready</a:t>
            </a:r>
            <a:endParaRPr lang="en-US" sz="2400" dirty="0"/>
          </a:p>
          <a:p>
            <a:pPr indent="0" marL="0">
              <a:buNone/>
            </a:pPr>
            <a:r>
              <a:rPr lang="en-US" sz="2400" dirty="0">
                <a:solidFill>
                  <a:schemeClr val="tx1"/>
                </a:solidFill>
              </a:rPr>
              <a:t>Five minutes is enough to get moving.</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4160520"/>
            <a:ext cx="685800" cy="685800"/>
          </a:xfrm>
          <a:prstGeom prst="ellipse">
            <a:avLst/>
          </a:prstGeom>
          <a:solidFill>
            <a:srgbClr val="00467F"/>
          </a:solidFill>
          <a:ln w="12700">
            <a:solidFill>
              <a:srgbClr val="00467F"/>
            </a:solidFill>
            <a:prstDash val="solid"/>
          </a:ln>
        </p:spPr>
      </p:sp>
      <p:pic>
        <p:nvPicPr>
          <p:cNvPr id="14" name="Decorative: LuCheck">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4311396"/>
            <a:ext cx="384048" cy="384048"/>
          </a:xfrm>
          <a:prstGeom prst="rect">
            <a:avLst/>
          </a:prstGeom>
        </p:spPr>
      </p:pic>
      <p:sp>
        <p:nvSpPr>
          <p:cNvPr id="15" name="Text 10"/>
          <p:cNvSpPr txBox="1"/>
          <p:nvPr/>
        </p:nvSpPr>
        <p:spPr>
          <a:xfrm>
            <a:off x="1737360"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Handle small stuff fast</a:t>
            </a:r>
            <a:endParaRPr lang="en-US" sz="2400" dirty="0"/>
          </a:p>
          <a:p>
            <a:pPr indent="0" marL="0">
              <a:buNone/>
            </a:pPr>
            <a:r>
              <a:rPr lang="en-US" sz="2400" dirty="0">
                <a:solidFill>
                  <a:schemeClr val="tx1"/>
                </a:solidFill>
              </a:rPr>
              <a:t>When it shows up, so it doesn't pile up.</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4160520"/>
            <a:ext cx="685800" cy="685800"/>
          </a:xfrm>
          <a:prstGeom prst="ellipse">
            <a:avLst/>
          </a:prstGeom>
          <a:solidFill>
            <a:srgbClr val="00467F"/>
          </a:solidFill>
          <a:ln w="12700">
            <a:solidFill>
              <a:srgbClr val="00467F"/>
            </a:solidFill>
            <a:prstDash val="solid"/>
          </a:ln>
        </p:spPr>
      </p:sp>
      <p:pic>
        <p:nvPicPr>
          <p:cNvPr id="18" name="Decorative: LuRotateCcw">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4311396"/>
            <a:ext cx="384048" cy="384048"/>
          </a:xfrm>
          <a:prstGeom prst="rect">
            <a:avLst/>
          </a:prstGeom>
        </p:spPr>
      </p:pic>
      <p:sp>
        <p:nvSpPr>
          <p:cNvPr id="19" name="Text 13"/>
          <p:cNvSpPr txBox="1"/>
          <p:nvPr/>
        </p:nvSpPr>
        <p:spPr>
          <a:xfrm>
            <a:off x="7444588"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Recover, don't catastrophize</a:t>
            </a:r>
            <a:endParaRPr lang="en-US" sz="2400" dirty="0"/>
          </a:p>
          <a:p>
            <a:pPr indent="0" marL="0">
              <a:buNone/>
            </a:pPr>
            <a:r>
              <a:rPr lang="en-US" sz="2400" dirty="0">
                <a:solidFill>
                  <a:schemeClr val="tx1"/>
                </a:solidFill>
              </a:rPr>
              <a:t>A bad day is one day. Restart.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3.4</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The multitasking myth</a:t>
            </a:r>
            <a:endParaRPr lang="en-US" sz="4000" dirty="0"/>
          </a:p>
        </p:txBody>
      </p:sp>
      <p:sp>
        <p:nvSpPr>
          <p:cNvPr id="4" name="Decorative: stat card">
            <a:extLst>
              <a:ext uri="{C183D7F6-B498-43B3-948B-1728B52AA6E4}">
                <adec:decorative xmlns:adec="http://schemas.microsoft.com/office/drawing/2017/decorative" val="1"/>
              </a:ext>
            </a:extLst>
          </p:cNvPr>
          <p:cNvSpPr/>
          <p:nvPr/>
        </p:nvSpPr>
        <p:spPr>
          <a:xfrm>
            <a:off x="548640" y="1874520"/>
            <a:ext cx="4206240" cy="2834640"/>
          </a:xfrm>
          <a:prstGeom prst="roundRect">
            <a:avLst>
              <a:gd name="adj" fmla="val 3871"/>
            </a:avLst>
          </a:prstGeom>
          <a:solidFill>
            <a:srgbClr val="011D41"/>
          </a:solidFill>
          <a:ln w="12700">
            <a:solidFill>
              <a:srgbClr val="011D41"/>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68680" y="2011680"/>
            <a:ext cx="3566160" cy="2560320"/>
          </a:xfrm>
          <a:prstGeom prst="rect">
            <a:avLst/>
          </a:prstGeom>
          <a:noFill/>
          <a:ln/>
        </p:spPr>
        <p:txBody>
          <a:bodyPr wrap="square" lIns="0" tIns="0" rIns="0" bIns="0" rtlCol="0" anchor="ctr"/>
          <a:lstStyle/>
          <a:p>
            <a:pPr indent="0" marL="0">
              <a:buNone/>
            </a:pPr>
            <a:r>
              <a:rPr lang="en-US" sz="8800" b="1" dirty="0">
                <a:solidFill>
                  <a:srgbClr val="FFC94A"/>
                </a:solidFill>
              </a:rPr>
              <a:t>20+</a:t>
            </a:r>
            <a:endParaRPr lang="en-US" sz="2400" dirty="0"/>
          </a:p>
          <a:p>
            <a:pPr indent="0" marL="0">
              <a:buNone/>
            </a:pPr>
            <a:r>
              <a:rPr lang="en-US" sz="2400" dirty="0">
                <a:solidFill>
                  <a:schemeClr val="bg1"/>
                </a:solidFill>
              </a:rPr>
              <a:t>minutes to get back on task after an interruption</a:t>
            </a:r>
            <a:endParaRPr lang="en-US" sz="2400" dirty="0"/>
          </a:p>
        </p:txBody>
      </p:sp>
      <p:sp>
        <p:nvSpPr>
          <p:cNvPr id="6" name="Decorative: definition card">
            <a:extLst>
              <a:ext uri="{C183D7F6-B498-43B3-948B-1728B52AA6E4}">
                <adec:decorative xmlns:adec="http://schemas.microsoft.com/office/drawing/2017/decorative" val="1"/>
              </a:ext>
            </a:extLst>
          </p:cNvPr>
          <p:cNvSpPr/>
          <p:nvPr/>
        </p:nvSpPr>
        <p:spPr>
          <a:xfrm>
            <a:off x="5120640" y="1874520"/>
            <a:ext cx="6522415" cy="2834640"/>
          </a:xfrm>
          <a:prstGeom prst="roundRect">
            <a:avLst>
              <a:gd name="adj" fmla="val 3871"/>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5440680" y="2148840"/>
            <a:ext cx="5882335" cy="2377440"/>
          </a:xfrm>
          <a:prstGeom prst="rect">
            <a:avLst/>
          </a:prstGeom>
          <a:noFill/>
          <a:ln/>
        </p:spPr>
        <p:txBody>
          <a:bodyPr wrap="square" lIns="0" tIns="0" rIns="0" bIns="0" rtlCol="0" anchor="t"/>
          <a:lstStyle/>
          <a:p>
            <a:pPr indent="0" marL="0">
              <a:buNone/>
            </a:pPr>
            <a:r>
              <a:rPr lang="en-US" sz="2800" b="1" dirty="0">
                <a:solidFill>
                  <a:schemeClr val="tx2"/>
                </a:solidFill>
              </a:rPr>
              <a:t>Switching cost</a:t>
            </a:r>
            <a:endParaRPr lang="en-US" sz="2400" dirty="0"/>
          </a:p>
          <a:p>
            <a:pPr indent="0" marL="0">
              <a:spcBef>
                <a:spcPts val="800"/>
              </a:spcBef>
              <a:buNone/>
            </a:pPr>
            <a:r>
              <a:rPr lang="en-US" sz="2400" dirty="0">
                <a:solidFill>
                  <a:schemeClr val="tx1"/>
                </a:solidFill>
              </a:rPr>
              <a:t>You're not doing two things at once. You're switching fast, and every switch costs time and focus.</a:t>
            </a:r>
            <a:endParaRPr lang="en-US" sz="2400" dirty="0"/>
          </a:p>
        </p:txBody>
      </p:sp>
      <p:sp>
        <p:nvSpPr>
          <p:cNvPr id="8" name="Decorative: callout">
            <a:extLst>
              <a:ext uri="{C183D7F6-B498-43B3-948B-1728B52AA6E4}">
                <adec:decorative xmlns:adec="http://schemas.microsoft.com/office/drawing/2017/decorative" val="1"/>
              </a:ext>
            </a:extLst>
          </p:cNvPr>
          <p:cNvSpPr/>
          <p:nvPr/>
        </p:nvSpPr>
        <p:spPr>
          <a:xfrm>
            <a:off x="548640" y="507492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868680" y="518464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One thing at a time. Phone out of reach.</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3.5</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five batteries</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920240"/>
            <a:ext cx="1999427" cy="1828800"/>
          </a:xfrm>
          <a:prstGeom prst="roundRect">
            <a:avLst>
              <a:gd name="adj" fmla="val 6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94560"/>
            <a:ext cx="685800" cy="685800"/>
          </a:xfrm>
          <a:prstGeom prst="ellipse">
            <a:avLst/>
          </a:prstGeom>
          <a:solidFill>
            <a:srgbClr val="00467F"/>
          </a:solidFill>
          <a:ln w="12700">
            <a:solidFill>
              <a:srgbClr val="00467F"/>
            </a:solidFill>
            <a:prstDash val="solid"/>
          </a:ln>
        </p:spPr>
      </p:sp>
      <p:pic>
        <p:nvPicPr>
          <p:cNvPr id="6" name="Decorative: LuDumbbell">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345436"/>
            <a:ext cx="384048" cy="384048"/>
          </a:xfrm>
          <a:prstGeom prst="rect">
            <a:avLst/>
          </a:prstGeom>
        </p:spPr>
      </p:pic>
      <p:sp>
        <p:nvSpPr>
          <p:cNvPr id="7" name="Text 4"/>
          <p:cNvSpPr txBox="1"/>
          <p:nvPr/>
        </p:nvSpPr>
        <p:spPr>
          <a:xfrm>
            <a:off x="822960" y="3017520"/>
            <a:ext cx="1450787" cy="548640"/>
          </a:xfrm>
          <a:prstGeom prst="rect">
            <a:avLst/>
          </a:prstGeom>
          <a:noFill/>
          <a:ln/>
        </p:spPr>
        <p:txBody>
          <a:bodyPr wrap="square" lIns="0" tIns="0" rIns="0" bIns="0" rtlCol="0" anchor="t"/>
          <a:lstStyle/>
          <a:p>
            <a:pPr indent="0" marL="0">
              <a:buNone/>
            </a:pPr>
            <a:r>
              <a:rPr lang="en-US" sz="2400" b="1" dirty="0">
                <a:solidFill>
                  <a:schemeClr val="tx2"/>
                </a:solidFill>
              </a:rPr>
              <a:t>Physical</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2822387" y="1920240"/>
            <a:ext cx="1999427" cy="1828800"/>
          </a:xfrm>
          <a:prstGeom prst="roundRect">
            <a:avLst>
              <a:gd name="adj" fmla="val 6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3096707" y="2194560"/>
            <a:ext cx="685800" cy="685800"/>
          </a:xfrm>
          <a:prstGeom prst="ellipse">
            <a:avLst/>
          </a:prstGeom>
          <a:solidFill>
            <a:srgbClr val="00467F"/>
          </a:solidFill>
          <a:ln w="12700">
            <a:solidFill>
              <a:srgbClr val="00467F"/>
            </a:solidFill>
            <a:prstDash val="solid"/>
          </a:ln>
        </p:spPr>
      </p:sp>
      <p:pic>
        <p:nvPicPr>
          <p:cNvPr id="10" name="Decorative: LuBrain">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247583" y="2345436"/>
            <a:ext cx="384048" cy="384048"/>
          </a:xfrm>
          <a:prstGeom prst="rect">
            <a:avLst/>
          </a:prstGeom>
        </p:spPr>
      </p:pic>
      <p:sp>
        <p:nvSpPr>
          <p:cNvPr id="11" name="Text 7"/>
          <p:cNvSpPr txBox="1"/>
          <p:nvPr/>
        </p:nvSpPr>
        <p:spPr>
          <a:xfrm>
            <a:off x="3096707" y="3017520"/>
            <a:ext cx="1450787" cy="548640"/>
          </a:xfrm>
          <a:prstGeom prst="rect">
            <a:avLst/>
          </a:prstGeom>
          <a:noFill/>
          <a:ln/>
        </p:spPr>
        <p:txBody>
          <a:bodyPr wrap="square" lIns="0" tIns="0" rIns="0" bIns="0" rtlCol="0" anchor="t"/>
          <a:lstStyle/>
          <a:p>
            <a:pPr indent="0" marL="0">
              <a:buNone/>
            </a:pPr>
            <a:r>
              <a:rPr lang="en-US" sz="2400" b="1" dirty="0">
                <a:solidFill>
                  <a:schemeClr val="tx2"/>
                </a:solidFill>
              </a:rPr>
              <a:t>Mental</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096134" y="1920240"/>
            <a:ext cx="1999427" cy="1828800"/>
          </a:xfrm>
          <a:prstGeom prst="roundRect">
            <a:avLst>
              <a:gd name="adj" fmla="val 6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5370454" y="2194560"/>
            <a:ext cx="685800" cy="685800"/>
          </a:xfrm>
          <a:prstGeom prst="ellipse">
            <a:avLst/>
          </a:prstGeom>
          <a:solidFill>
            <a:srgbClr val="00467F"/>
          </a:solidFill>
          <a:ln w="12700">
            <a:solidFill>
              <a:srgbClr val="00467F"/>
            </a:solidFill>
            <a:prstDash val="solid"/>
          </a:ln>
        </p:spPr>
      </p:sp>
      <p:pic>
        <p:nvPicPr>
          <p:cNvPr id="14" name="Decorative: LuHeart">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21330" y="2345436"/>
            <a:ext cx="384048" cy="384048"/>
          </a:xfrm>
          <a:prstGeom prst="rect">
            <a:avLst/>
          </a:prstGeom>
        </p:spPr>
      </p:pic>
      <p:sp>
        <p:nvSpPr>
          <p:cNvPr id="15" name="Text 10"/>
          <p:cNvSpPr txBox="1"/>
          <p:nvPr/>
        </p:nvSpPr>
        <p:spPr>
          <a:xfrm>
            <a:off x="5370454" y="3017520"/>
            <a:ext cx="1450787" cy="548640"/>
          </a:xfrm>
          <a:prstGeom prst="rect">
            <a:avLst/>
          </a:prstGeom>
          <a:noFill/>
          <a:ln/>
        </p:spPr>
        <p:txBody>
          <a:bodyPr wrap="square" lIns="0" tIns="0" rIns="0" bIns="0" rtlCol="0" anchor="t"/>
          <a:lstStyle/>
          <a:p>
            <a:pPr indent="0" marL="0">
              <a:buNone/>
            </a:pPr>
            <a:r>
              <a:rPr lang="en-US" sz="2400" b="1" dirty="0">
                <a:solidFill>
                  <a:schemeClr val="tx2"/>
                </a:solidFill>
              </a:rPr>
              <a:t>Emotional</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7369881" y="1920240"/>
            <a:ext cx="1999427" cy="1828800"/>
          </a:xfrm>
          <a:prstGeom prst="roundRect">
            <a:avLst>
              <a:gd name="adj" fmla="val 6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7644201" y="2194560"/>
            <a:ext cx="685800" cy="685800"/>
          </a:xfrm>
          <a:prstGeom prst="ellipse">
            <a:avLst/>
          </a:prstGeom>
          <a:solidFill>
            <a:srgbClr val="00467F"/>
          </a:solidFill>
          <a:ln w="12700">
            <a:solidFill>
              <a:srgbClr val="00467F"/>
            </a:solidFill>
            <a:prstDash val="solid"/>
          </a:ln>
        </p:spPr>
      </p:sp>
      <p:pic>
        <p:nvPicPr>
          <p:cNvPr id="18" name="Decorative: LuUsers">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95077" y="2345436"/>
            <a:ext cx="384048" cy="384048"/>
          </a:xfrm>
          <a:prstGeom prst="rect">
            <a:avLst/>
          </a:prstGeom>
        </p:spPr>
      </p:pic>
      <p:sp>
        <p:nvSpPr>
          <p:cNvPr id="19" name="Text 13"/>
          <p:cNvSpPr txBox="1"/>
          <p:nvPr/>
        </p:nvSpPr>
        <p:spPr>
          <a:xfrm>
            <a:off x="7644201" y="3017520"/>
            <a:ext cx="1450787" cy="548640"/>
          </a:xfrm>
          <a:prstGeom prst="rect">
            <a:avLst/>
          </a:prstGeom>
          <a:noFill/>
          <a:ln/>
        </p:spPr>
        <p:txBody>
          <a:bodyPr wrap="square" lIns="0" tIns="0" rIns="0" bIns="0" rtlCol="0" anchor="t"/>
          <a:lstStyle/>
          <a:p>
            <a:pPr indent="0" marL="0">
              <a:buNone/>
            </a:pPr>
            <a:r>
              <a:rPr lang="en-US" sz="2400" b="1" dirty="0">
                <a:solidFill>
                  <a:schemeClr val="tx2"/>
                </a:solidFill>
              </a:rPr>
              <a:t>Social</a:t>
            </a:r>
            <a:endParaRPr lang="en-US" sz="2400" dirty="0"/>
          </a:p>
        </p:txBody>
      </p:sp>
      <p:sp>
        <p:nvSpPr>
          <p:cNvPr id="20" name="Decorative: card">
            <a:extLst>
              <a:ext uri="{C183D7F6-B498-43B3-948B-1728B52AA6E4}">
                <adec:decorative xmlns:adec="http://schemas.microsoft.com/office/drawing/2017/decorative" val="1"/>
              </a:ext>
            </a:extLst>
          </p:cNvPr>
          <p:cNvSpPr/>
          <p:nvPr/>
        </p:nvSpPr>
        <p:spPr>
          <a:xfrm>
            <a:off x="9643628" y="1920240"/>
            <a:ext cx="1999427" cy="1828800"/>
          </a:xfrm>
          <a:prstGeom prst="roundRect">
            <a:avLst>
              <a:gd name="adj" fmla="val 6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21" name="Decorative: icon circle">
            <a:extLst>
              <a:ext uri="{C183D7F6-B498-43B3-948B-1728B52AA6E4}">
                <adec:decorative xmlns:adec="http://schemas.microsoft.com/office/drawing/2017/decorative" val="1"/>
              </a:ext>
            </a:extLst>
          </p:cNvPr>
          <p:cNvSpPr/>
          <p:nvPr/>
        </p:nvSpPr>
        <p:spPr>
          <a:xfrm>
            <a:off x="9917948" y="2194560"/>
            <a:ext cx="685800" cy="685800"/>
          </a:xfrm>
          <a:prstGeom prst="ellipse">
            <a:avLst/>
          </a:prstGeom>
          <a:solidFill>
            <a:srgbClr val="00467F"/>
          </a:solidFill>
          <a:ln w="12700">
            <a:solidFill>
              <a:srgbClr val="00467F"/>
            </a:solidFill>
            <a:prstDash val="solid"/>
          </a:ln>
        </p:spPr>
      </p:sp>
      <p:pic>
        <p:nvPicPr>
          <p:cNvPr id="22" name="Decorative: LuSu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068824" y="2345436"/>
            <a:ext cx="384048" cy="384048"/>
          </a:xfrm>
          <a:prstGeom prst="rect">
            <a:avLst/>
          </a:prstGeom>
        </p:spPr>
      </p:pic>
      <p:sp>
        <p:nvSpPr>
          <p:cNvPr id="23" name="Text 16"/>
          <p:cNvSpPr txBox="1"/>
          <p:nvPr/>
        </p:nvSpPr>
        <p:spPr>
          <a:xfrm>
            <a:off x="9917948" y="3017520"/>
            <a:ext cx="1450787" cy="548640"/>
          </a:xfrm>
          <a:prstGeom prst="rect">
            <a:avLst/>
          </a:prstGeom>
          <a:noFill/>
          <a:ln/>
        </p:spPr>
        <p:txBody>
          <a:bodyPr wrap="square" lIns="0" tIns="0" rIns="0" bIns="0" rtlCol="0" anchor="t"/>
          <a:lstStyle/>
          <a:p>
            <a:pPr indent="0" marL="0">
              <a:buNone/>
            </a:pPr>
            <a:r>
              <a:rPr lang="en-US" sz="2400" b="1" dirty="0">
                <a:solidFill>
                  <a:schemeClr val="tx2"/>
                </a:solidFill>
              </a:rPr>
              <a:t>Spiritual</a:t>
            </a:r>
            <a:endParaRPr lang="en-US" sz="2400" dirty="0"/>
          </a:p>
        </p:txBody>
      </p:sp>
      <p:sp>
        <p:nvSpPr>
          <p:cNvPr id="24" name="Decorative: callout">
            <a:extLst>
              <a:ext uri="{C183D7F6-B498-43B3-948B-1728B52AA6E4}">
                <adec:decorative xmlns:adec="http://schemas.microsoft.com/office/drawing/2017/decorative" val="1"/>
              </a:ext>
            </a:extLst>
          </p:cNvPr>
          <p:cNvSpPr/>
          <p:nvPr/>
        </p:nvSpPr>
        <p:spPr>
          <a:xfrm>
            <a:off x="548640" y="411480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5" name="Text 18"/>
          <p:cNvSpPr txBox="1"/>
          <p:nvPr/>
        </p:nvSpPr>
        <p:spPr>
          <a:xfrm>
            <a:off x="868680" y="422452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Running low is a signal. Running out is burnout.</a:t>
            </a:r>
            <a:endParaRPr lang="en-US" sz="2400" dirty="0"/>
          </a:p>
        </p:txBody>
      </p:sp>
      <p:sp>
        <p:nvSpPr>
          <p:cNvPr id="26" name="Text 19"/>
          <p:cNvSpPr txBox="1"/>
          <p:nvPr/>
        </p:nvSpPr>
        <p:spPr>
          <a:xfrm>
            <a:off x="548640" y="5166360"/>
            <a:ext cx="11094415" cy="548640"/>
          </a:xfrm>
          <a:prstGeom prst="rect">
            <a:avLst/>
          </a:prstGeom>
          <a:noFill/>
          <a:ln/>
        </p:spPr>
        <p:txBody>
          <a:bodyPr wrap="square" lIns="0" tIns="0" rIns="0" bIns="0" rtlCol="0" anchor="t"/>
          <a:lstStyle/>
          <a:p>
            <a:pPr indent="0" marL="0">
              <a:buNone/>
            </a:pPr>
            <a:r>
              <a:rPr lang="en-US" sz="2400" i="1" dirty="0">
                <a:solidFill>
                  <a:schemeClr val="accent1"/>
                </a:solidFill>
              </a:rPr>
              <a:t>Which one is lowest right now, and what is one small way to recharge it?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3.6</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brain, your way</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03120"/>
            <a:ext cx="685800" cy="685800"/>
          </a:xfrm>
          <a:prstGeom prst="ellipse">
            <a:avLst/>
          </a:prstGeom>
          <a:solidFill>
            <a:srgbClr val="00467F"/>
          </a:solidFill>
          <a:ln w="12700">
            <a:solidFill>
              <a:srgbClr val="00467F"/>
            </a:solidFill>
            <a:prstDash val="solid"/>
          </a:ln>
        </p:spPr>
      </p:sp>
      <p:pic>
        <p:nvPicPr>
          <p:cNvPr id="6" name="Decorative: LuRocke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53996"/>
            <a:ext cx="384048" cy="384048"/>
          </a:xfrm>
          <a:prstGeom prst="rect">
            <a:avLst/>
          </a:prstGeom>
        </p:spPr>
      </p:pic>
      <p:sp>
        <p:nvSpPr>
          <p:cNvPr id="7" name="Text 4"/>
          <p:cNvSpPr txBox="1"/>
          <p:nvPr/>
        </p:nvSpPr>
        <p:spPr>
          <a:xfrm>
            <a:off x="1737360"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Starting is hard</a:t>
            </a:r>
            <a:endParaRPr lang="en-US" sz="2400" dirty="0"/>
          </a:p>
          <a:p>
            <a:pPr indent="0" marL="0">
              <a:buNone/>
            </a:pPr>
            <a:r>
              <a:rPr lang="en-US" sz="2400" dirty="0">
                <a:solidFill>
                  <a:schemeClr val="tx1"/>
                </a:solidFill>
              </a:rPr>
              <a:t>Task initiation takes real effort for some brains.</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8288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103120"/>
            <a:ext cx="685800" cy="685800"/>
          </a:xfrm>
          <a:prstGeom prst="ellipse">
            <a:avLst/>
          </a:prstGeom>
          <a:solidFill>
            <a:srgbClr val="00467F"/>
          </a:solidFill>
          <a:ln w="12700">
            <a:solidFill>
              <a:srgbClr val="00467F"/>
            </a:solidFill>
            <a:prstDash val="solid"/>
          </a:ln>
        </p:spPr>
      </p:sp>
      <p:pic>
        <p:nvPicPr>
          <p:cNvPr id="10" name="Decorative: LuHourglass">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53996"/>
            <a:ext cx="384048" cy="384048"/>
          </a:xfrm>
          <a:prstGeom prst="rect">
            <a:avLst/>
          </a:prstGeom>
        </p:spPr>
      </p:pic>
      <p:sp>
        <p:nvSpPr>
          <p:cNvPr id="11" name="Text 7"/>
          <p:cNvSpPr txBox="1"/>
          <p:nvPr/>
        </p:nvSpPr>
        <p:spPr>
          <a:xfrm>
            <a:off x="7444588" y="20299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Time feels different</a:t>
            </a:r>
            <a:endParaRPr lang="en-US" sz="2400" dirty="0"/>
          </a:p>
          <a:p>
            <a:pPr indent="0" marL="0">
              <a:buNone/>
            </a:pPr>
            <a:r>
              <a:rPr lang="en-US" sz="2400" dirty="0">
                <a:solidFill>
                  <a:schemeClr val="tx1"/>
                </a:solidFill>
              </a:rPr>
              <a:t>Time blindness: ten minutes can feel like three hours.</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4160520"/>
            <a:ext cx="685800" cy="685800"/>
          </a:xfrm>
          <a:prstGeom prst="ellipse">
            <a:avLst/>
          </a:prstGeom>
          <a:solidFill>
            <a:srgbClr val="00467F"/>
          </a:solidFill>
          <a:ln w="12700">
            <a:solidFill>
              <a:srgbClr val="00467F"/>
            </a:solidFill>
            <a:prstDash val="solid"/>
          </a:ln>
        </p:spPr>
      </p:sp>
      <p:pic>
        <p:nvPicPr>
          <p:cNvPr id="14" name="Decorative: LuStickyNot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4311396"/>
            <a:ext cx="384048" cy="384048"/>
          </a:xfrm>
          <a:prstGeom prst="rect">
            <a:avLst/>
          </a:prstGeom>
        </p:spPr>
      </p:pic>
      <p:sp>
        <p:nvSpPr>
          <p:cNvPr id="15" name="Text 10"/>
          <p:cNvSpPr txBox="1"/>
          <p:nvPr/>
        </p:nvSpPr>
        <p:spPr>
          <a:xfrm>
            <a:off x="1737360"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Holding things in mind</a:t>
            </a:r>
            <a:endParaRPr lang="en-US" sz="2400" dirty="0"/>
          </a:p>
          <a:p>
            <a:pPr indent="0" marL="0">
              <a:buNone/>
            </a:pPr>
            <a:r>
              <a:rPr lang="en-US" sz="2400" dirty="0">
                <a:solidFill>
                  <a:schemeClr val="tx1"/>
                </a:solidFill>
              </a:rPr>
              <a:t>Working memory: write it down, every time.</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886200"/>
            <a:ext cx="5387188" cy="1783080"/>
          </a:xfrm>
          <a:prstGeom prst="roundRect">
            <a:avLst>
              <a:gd name="adj" fmla="val 615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4160520"/>
            <a:ext cx="685800" cy="685800"/>
          </a:xfrm>
          <a:prstGeom prst="ellipse">
            <a:avLst/>
          </a:prstGeom>
          <a:solidFill>
            <a:srgbClr val="00467F"/>
          </a:solidFill>
          <a:ln w="12700">
            <a:solidFill>
              <a:srgbClr val="00467F"/>
            </a:solidFill>
            <a:prstDash val="solid"/>
          </a:ln>
        </p:spPr>
      </p:sp>
      <p:pic>
        <p:nvPicPr>
          <p:cNvPr id="18" name="Decorative: LuShuffl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4311396"/>
            <a:ext cx="384048" cy="384048"/>
          </a:xfrm>
          <a:prstGeom prst="rect">
            <a:avLst/>
          </a:prstGeom>
        </p:spPr>
      </p:pic>
      <p:sp>
        <p:nvSpPr>
          <p:cNvPr id="19" name="Text 13"/>
          <p:cNvSpPr txBox="1"/>
          <p:nvPr/>
        </p:nvSpPr>
        <p:spPr>
          <a:xfrm>
            <a:off x="7444588" y="4087368"/>
            <a:ext cx="3969868" cy="1463040"/>
          </a:xfrm>
          <a:prstGeom prst="rect">
            <a:avLst/>
          </a:prstGeom>
          <a:noFill/>
          <a:ln/>
        </p:spPr>
        <p:txBody>
          <a:bodyPr wrap="square" lIns="0" tIns="0" rIns="0" bIns="0" rtlCol="0" anchor="t"/>
          <a:lstStyle/>
          <a:p>
            <a:pPr indent="0" marL="0">
              <a:buNone/>
            </a:pPr>
            <a:r>
              <a:rPr lang="en-US" sz="2600" b="1" dirty="0">
                <a:solidFill>
                  <a:schemeClr val="tx2"/>
                </a:solidFill>
              </a:rPr>
              <a:t>Switching gears</a:t>
            </a:r>
            <a:endParaRPr lang="en-US" sz="2400" dirty="0"/>
          </a:p>
          <a:p>
            <a:pPr indent="0" marL="0">
              <a:buNone/>
            </a:pPr>
            <a:r>
              <a:rPr lang="en-US" sz="2400" dirty="0">
                <a:solidFill>
                  <a:schemeClr val="tx1"/>
                </a:solidFill>
              </a:rPr>
              <a:t>Transitions take more effort. Build in buffers.</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Flag">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#3: Managing My Time &amp; Energy</a:t>
            </a:r>
            <a:endParaRPr lang="en-US" sz="2400" dirty="0"/>
          </a:p>
          <a:p>
            <a:pPr indent="0" marL="0">
              <a:buNone/>
            </a:pPr>
            <a:r>
              <a:rPr lang="en-US" sz="2000" dirty="0">
                <a:solidFill>
                  <a:schemeClr val="accent6"/>
                </a:solidFill>
              </a:rPr>
              <a:t>Four questions. Attaching your log or plan is optional.</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MessagesSquare">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Online sections: Where Does My Time Go?</a:t>
            </a:r>
            <a:endParaRPr lang="en-US" sz="2400" dirty="0"/>
          </a:p>
          <a:p>
            <a:pPr indent="0" marL="0">
              <a:buNone/>
            </a:pPr>
            <a:r>
              <a:rPr lang="en-US" sz="2000" dirty="0">
                <a:solidFill>
                  <a:schemeClr val="accent6"/>
                </a:solidFill>
              </a:rPr>
              <a:t>First post Friday, replies Monday</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88620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4" name="Decorative: LuClipboardList">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4098341"/>
            <a:ext cx="307238" cy="307238"/>
          </a:xfrm>
          <a:prstGeom prst="rect">
            <a:avLst/>
          </a:prstGeom>
        </p:spPr>
      </p:pic>
      <p:sp>
        <p:nvSpPr>
          <p:cNvPr id="15" name="Text 10"/>
          <p:cNvSpPr txBox="1"/>
          <p:nvPr/>
        </p:nvSpPr>
        <p:spPr>
          <a:xfrm>
            <a:off x="1508760" y="394106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Optional: Student Course Feedback Survey</a:t>
            </a:r>
            <a:endParaRPr lang="en-US" sz="2400" dirty="0"/>
          </a:p>
          <a:p>
            <a:pPr indent="0" marL="0">
              <a:buNone/>
            </a:pPr>
            <a:r>
              <a:rPr lang="en-US" sz="2000" dirty="0">
                <a:solidFill>
                  <a:schemeClr val="accent6"/>
                </a:solidFill>
              </a:rPr>
              <a:t>Tell your instructor what is working so far</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Managing My Time &amp; Energy</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patterns: one time-waster from your log, and what it costs you</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862072"/>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86207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86207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energy: your lowest battery, and one way to recharge it</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849624"/>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84962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84962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week: your non-negotiables, and where your best work goes</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837176"/>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83717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83717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Your self-knowledge: one thing you are learning, and one habit to try</a:t>
            </a:r>
            <a:endParaRPr lang="en-US" sz="2400" dirty="0"/>
          </a:p>
        </p:txBody>
      </p:sp>
      <p:sp>
        <p:nvSpPr>
          <p:cNvPr id="16"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Use AI to think it through. Write it in your own words.</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Start with your log.</a:t>
            </a:r>
            <a:endParaRPr lang="en-US" sz="2200" dirty="0"/>
          </a:p>
          <a:p>
            <a:pPr indent="0" marL="0">
              <a:spcAft>
                <a:spcPts val="1000"/>
              </a:spcAft>
              <a:buNone/>
            </a:pPr>
            <a:r>
              <a:rPr lang="en-US" sz="2200" dirty="0">
                <a:solidFill>
                  <a:schemeClr val="tx1"/>
                </a:solidFill>
              </a:rPr>
              <a:t>Question 1 needs real entries, so start tracking early in the week.</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Where did the hour go?</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Where did time slip away this week? Name the culprit.</a:t>
            </a:r>
            <a:endParaRPr lang="en-US" sz="2400" dirty="0"/>
          </a:p>
          <a:p>
            <a:pPr marL="342900" indent="-342900">
              <a:spcAft>
                <a:spcPts val="1200"/>
              </a:spcAft>
              <a:buSzPct val="100000"/>
              <a:buFont typeface="+mj-lt"/>
              <a:buAutoNum type="arabicPeriod" startAt="1"/>
            </a:pPr>
            <a:r>
              <a:rPr lang="en-US" sz="2400" dirty="0">
                <a:solidFill>
                  <a:schemeClr val="bg1"/>
                </a:solidFill>
              </a:rPr>
              <a:t>When is your best hour, and what would it take to protect it?</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we'll tally the top time-wasters.</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3: My Time Plan: Managing Time &amp; Energy</dc:title>
  <dc:subject>FYE 100 instructor slides</dc:subject>
  <dc:creator>OCTC FYE 100</dc:creator>
  <cp:lastModifiedBy>OCTC FYE 100</cp:lastModifiedBy>
  <cp:revision>1</cp:revision>
  <dcterms:created xsi:type="dcterms:W3CDTF">2026-10-19T20:09:10Z</dcterms:created>
  <dcterms:modified xsi:type="dcterms:W3CDTF">2026-10-19T20:09:10Z</dcterms:modified>
</cp:coreProperties>
</file>