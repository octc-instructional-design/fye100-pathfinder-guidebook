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5461f87-07ba-7ca1-93e4-086ed45ddafc}">
          <p14:sldIdLst>
            <p14:sldId id="256"/>
            <p14:sldId id="257"/>
          </p14:sldIdLst>
        </p14:section>
        <p14:section name="This week" id="{b64ced68-8c01-e529-d2d5-af246e598c2b}">
          <p14:sldIdLst>
            <p14:sldId id="258"/>
          </p14:sldIdLst>
        </p14:section>
        <p14:section name="Lessons" id="{85d162b1-85f0-50e4-8dd2-2a21afa3adf7}">
          <p14:sldIdLst>
            <p14:sldId id="259"/>
            <p14:sldId id="260"/>
            <p14:sldId id="261"/>
            <p14:sldId id="262"/>
            <p14:sldId id="263"/>
            <p14:sldId id="264"/>
          </p14:sldIdLst>
        </p14:section>
        <p14:section name="This week's work" id="{8686e85d-db23-5c6a-8e43-2e31c82055cd}">
          <p14:sldIdLst>
            <p14:sldId id="265"/>
            <p14:sldId id="266"/>
          </p14:sldIdLst>
        </p14:section>
        <p14:section name="Discussion" id="{f7391ea5-1e36-9848-3b6d-3767fece4c68}">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4: Your Academic Toolkit.
This week is about the tools that make college work: study strategies that actually stick, a way to check whether information is legit, and a clear-eyed look at how AI can creep into your work.
The owl is studying, with a magnifying glass for checking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SLIDE. Edit the announcements box before class. Hide this slide when recording for online sections (right-click the slide, Hide Slide).
Merit Activity #1 is due with this module. Remind students to use the Activity #1 submission link on the Merit platform; there are three.
Online sections: if you're hosting a virtual meet-up for Merit this week, put the date and time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week: study strategies that stick, the SIFT method for checking information, and AI creep. Merit Activity #1 is also due.
Two skills: Information Literacy, this week's Skill Spotlight, and Professionalism.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already have a toolkit, free with your KCTCS account. This Trail Tip shows how to use it for school.
OneNote is your digital Trapper Keeper: one notebook per course, with a section per module. OneDrive keeps your files saved and on every device, so a dead laptop isn't a lost paper. Teams is communication that isn't email: chats, calls, and some instructors' office hours or meet-ups. Copilot is AI with your school account; the lesson lists good ways to use it for school.
Tie back to Module 1: Word on OneDrive and OneNote are also how you keep a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week's Skill Spotlight is #10, Information Literacy.
We live in the most information-rich moment in history, and one of the most polluted. AI answers sound confident. Social media shows you what's engaging, not what's accurate. News, opinion, and marketing can look identical.
Information Literacy cuts through that: asking the right questions, finding credible sources, and evaluating what you read, without doubting everything.
Left: where most students start. Right: where you're headed. The shift is from surface credibility to checking bias, expertise, and point of view.
It shows up in every class and every job, and it's this week's AI Chat: Is This Legit?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strategies with strong research behind them.
Retrieval practice: test yourself before the test does. Close the notes and write what you remember, or use practice questions.
Spaced practice: come back to material over several days instead of one long session.
Elaborative interrogation, or simply asking why: keep asking why something is true until it makes sense.
Interleaving: mix problem types or topics on purpose instead of doing all of one kind.
The trap: rereading, highlighting, and cramming feel productive because the material feels familiar. Familiar isn't the same as remembered.
Mile Marker #4 asks students to try one strategy this week and report honestly on what happened, then write a SMART goal to keep it going.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SIFT is four moves for evaluating any information, including what AI tells you.
Stop is the hardest one, because everything is designed to keep you moving: headlines provoke, AI answers feel complete, and social media rewards the fast share. Stopping means pausing before your first reaction becomes your conclusion, not doubting everything.
Investigate the source: who's behind this, and what's their expertise or agenda? Find better coverage: what do other trusted sources say? Trace claims, quotes, and images back to the original.
For AI: the confidence comes from how it writes, not from evidence. Pause before you use it.
This sets up the AI Chat, Is This Legit?, a role-play where students practice SIFT. Remind them to read the source document in Blackboard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happens to almost everyone. A student asks AI for topic ideas. Then an outline. Then a sample introduction "just to see." Then to polish a paragraph. By the end, they can't say how much of the paper is theirs. They weren't trying to cheat. The line moved one small step at a time.
That's AI creep. The Creep Meter shows the stages: brainstorming, outlining, drafting, revising, rewriting, submitting. The farther AI moves into creating the work, the higher the stakes, and the more transparency matters.
The fix: set your boundary before you start, based on the assignment's AI use label, and notice if you drift.
Mile Marker #4, Question 4 asks where your AI use landed this week, and whether that's where you meant to land. Not using AI is a complete answer. Honesty is what earns the credit, not landing at one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Technology made recording easy. That doesn't make it automatic.
Three principles. Respect the course: check the syllabus and ask your instructor first. Respect the people: classmates and instructors share things in class they wouldn't post publicly. Respect your own learning: recording a lecture isn't the same as learning it, and you still have to engage.
AI note-takers are a separate conversation, because they record, transcribe, and often store or share what they hear. Ask before you use one.
If you have an accommodation that includes recording, Accessibility Services and your instructor will work that out with you.
Use this slide to state your own section's recording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due Monday by 11:59 PM Central.
The AI Chat, Is This Legit?, is a role-play where you practice SIFT. Read the source document in Blackboard before you start.
Mile Marker #4 is the main assignment.
Merit Activity #1: submit your reflection on the Merit platform, using the link for Activity #1. The Merit Guide in the back of the guidebook covers what counts and what proof to include.
In-person sections: today's attendance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 Marker #4 has four questions.
One: the study strategy, habit, or tool you focused on this week, and why. Be specific: "I tried reviewing my notes out loud the night before class," not "I studied more."
Two: how you actually used it and what you noticed. Honest beats hopeful.
Three: one SMART goal for keeping it going: specific, measurable, achievable, relevant, and time-bound.
Four: where your AI use landed on the Creep Meter this week, in any course, and whether that's where you meant to land. Not using AI is a complete answer.
It's AI-supported, but the answer to Question 4 must be in your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In-person discussion, tied to SIFT and the AI Chat.
Pairs for three minutes, then ask for two or three examples. Common answers: health claims, celebrity news, AI-generated images.
For each example, ask which SIFT move would have caught it. Usually it's Stop or Trace.
For online recordings: pose the questions as a lead-in to the AI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YE Title">
    <p:bg>
      <p:bgPr>
        <a:solidFill>
          <a:srgbClr val="011D4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3931920" y="1051560"/>
            <a:ext cx="7680960" cy="457200"/>
          </a:xfrm>
          <a:prstGeom prst="rect">
            <a:avLst/>
          </a:prstGeom>
          <a:noFill/>
          <a:ln/>
        </p:spPr>
        <p:txBody>
          <a:bodyPr wrap="square" rtlCol="0"/>
          <a:lstStyle>
            <a:lvl1pPr algn="l" indent="0" marL="0">
              <a:buNone/>
              <a:defRPr lang="en-US" sz="2000" b="1" spc="300" kern="0" dirty="0">
                <a:solidFill>
                  <a:schemeClr val="accent2"/>
                </a:solidFill>
              </a:defRPr>
            </a:lvl1pPr>
          </a:lstStyle>
          <a:p>
            <a:pPr algn="l" indent="0" marL="0">
              <a:buNone/>
            </a:pPr>
            <a:endParaRPr lang="en-US" sz="2000" dirty="0"/>
          </a:p>
        </p:txBody>
      </p:sp>
      <p:sp>
        <p:nvSpPr>
          <p:cNvPr id="3" name="Text 0"/>
          <p:cNvSpPr/>
          <p:nvPr>
            <p:ph idx="101" type="title" hasCustomPrompt="1"/>
          </p:nvPr>
        </p:nvSpPr>
        <p:spPr>
          <a:xfrm>
            <a:off x="3931920" y="1554480"/>
            <a:ext cx="7680960" cy="20116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0"/>
          <p:cNvSpPr/>
          <p:nvPr>
            <p:ph idx="102" type="body" hasCustomPrompt="1"/>
          </p:nvPr>
        </p:nvSpPr>
        <p:spPr>
          <a:xfrm>
            <a:off x="3931920" y="3611880"/>
            <a:ext cx="6949440" cy="1005840"/>
          </a:xfrm>
          <a:prstGeom prst="rect">
            <a:avLst/>
          </a:prstGeom>
          <a:noFill/>
          <a:ln/>
        </p:spPr>
        <p:txBody>
          <a:bodyPr wrap="square" rtlCol="0"/>
          <a:lstStyle>
            <a:lvl1pPr algn="l" indent="0" marL="0">
              <a:buNone/>
              <a:defRPr lang="en-US" sz="3200" dirty="0">
                <a:solidFill>
                  <a:srgbClr val="D6EEFA"/>
                </a:solidFill>
              </a:defRPr>
            </a:lvl1pPr>
          </a:lstStyle>
          <a:p>
            <a:pPr algn="l" indent="0" marL="0">
              <a:buNone/>
            </a:pPr>
            <a:endParaRPr lang="en-US" sz="3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YE 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rtlCol="0"/>
          <a:lstStyle>
            <a:lvl1pPr algn="l" indent="0" marL="0">
              <a:buNone/>
              <a:defRPr lang="en-US" sz="2000" b="1" spc="300" kern="0" dirty="0">
                <a:solidFill>
                  <a:schemeClr val="accent4"/>
                </a:solidFill>
              </a:defRPr>
            </a:lvl1pPr>
          </a:lstStyle>
          <a:p>
            <a:pPr algn="l" indent="0" marL="0">
              <a:buNone/>
            </a:pP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rtlCol="0"/>
          <a:lstStyle>
            <a:lvl1pPr algn="l" indent="0" marL="0">
              <a:buNone/>
              <a:defRPr lang="en-US" sz="4000" b="1" dirty="0">
                <a:solidFill>
                  <a:schemeClr val="tx2"/>
                </a:solidFill>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YE Discussion">
    <p:bg>
      <p:bgPr>
        <a:solidFill>
          <a:srgbClr val="011D4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3931920" y="640080"/>
            <a:ext cx="7680960" cy="411480"/>
          </a:xfrm>
          <a:prstGeom prst="rect">
            <a:avLst/>
          </a:prstGeom>
          <a:noFill/>
          <a:ln/>
        </p:spPr>
        <p:txBody>
          <a:bodyPr wrap="square" rtlCol="0"/>
          <a:lstStyle>
            <a:lvl1pPr algn="l" indent="0" marL="0">
              <a:buNone/>
              <a:defRPr lang="en-US" sz="2000" b="1" spc="300" kern="0" dirty="0">
                <a:solidFill>
                  <a:schemeClr val="accent2"/>
                </a:solidFill>
              </a:defRPr>
            </a:lvl1pPr>
          </a:lstStyle>
          <a:p>
            <a:pPr algn="l" indent="0" marL="0">
              <a:buNone/>
            </a:pPr>
            <a:endParaRPr lang="en-US" sz="2000" dirty="0"/>
          </a:p>
        </p:txBody>
      </p:sp>
      <p:sp>
        <p:nvSpPr>
          <p:cNvPr id="3" name="Text 0"/>
          <p:cNvSpPr/>
          <p:nvPr>
            <p:ph idx="101" type="title" hasCustomPrompt="1"/>
          </p:nvPr>
        </p:nvSpPr>
        <p:spPr>
          <a:xfrm>
            <a:off x="3931920" y="1097280"/>
            <a:ext cx="768096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Decorative: module cover art">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0" type="body" hasCustomPrompt="1"/>
          </p:nvPr>
        </p:nvSpPr>
        <p:spPr>
          <a:xfrm>
            <a:off x="3931920" y="1051560"/>
            <a:ext cx="7680960" cy="457200"/>
          </a:xfrm>
          <a:prstGeom prst="rect">
            <a:avLst/>
          </a:prstGeom>
          <a:noFill/>
          <a:ln/>
        </p:spPr>
        <p:txBody>
          <a:bodyPr wrap="square" lIns="0" tIns="0" rIns="0" bIns="0" rtlCol="0"/>
          <a:lstStyle/>
          <a:p>
            <a:pPr algn="l" indent="0" marL="0">
              <a:buNone/>
            </a:pPr>
            <a:r>
              <a:rPr lang="en-US" sz="2000" b="1" spc="300" kern="0" dirty="0">
                <a:solidFill>
                  <a:schemeClr val="accent2"/>
                </a:solidFill>
              </a:rPr>
              <a:t>MODULE 4</a:t>
            </a:r>
            <a:endParaRPr lang="en-US" sz="2000" dirty="0"/>
          </a:p>
        </p:txBody>
      </p:sp>
      <p:sp>
        <p:nvSpPr>
          <p:cNvPr id="4" name="Text 0"/>
          <p:cNvSpPr/>
          <p:nvPr>
            <p:ph idx="101" type="title" hasCustomPrompt="1"/>
          </p:nvPr>
        </p:nvSpPr>
        <p:spPr>
          <a:xfrm>
            <a:off x="3931920" y="1554480"/>
            <a:ext cx="7680960" cy="2011680"/>
          </a:xfrm>
          <a:prstGeom prst="rect">
            <a:avLst/>
          </a:prstGeom>
          <a:noFill/>
          <a:ln/>
        </p:spPr>
        <p:txBody>
          <a:bodyPr wrap="square" lIns="0" tIns="0" rIns="0" bIns="0" rtlCol="0" anchor="t"/>
          <a:lstStyle/>
          <a:p>
            <a:pPr algn="l" indent="0" marL="0">
              <a:buNone/>
            </a:pPr>
            <a:r>
              <a:rPr lang="en-US" sz="5400" b="1" dirty="0">
                <a:solidFill>
                  <a:schemeClr val="bg1"/>
                </a:solidFill>
              </a:rPr>
              <a:t>Your Academic Toolkit</a:t>
            </a:r>
            <a:endParaRPr lang="en-US" sz="5400" dirty="0"/>
          </a:p>
        </p:txBody>
      </p:sp>
      <p:sp>
        <p:nvSpPr>
          <p:cNvPr id="5" name="Text 0"/>
          <p:cNvSpPr/>
          <p:nvPr>
            <p:ph idx="102" type="body" hasCustomPrompt="1"/>
          </p:nvPr>
        </p:nvSpPr>
        <p:spPr>
          <a:xfrm>
            <a:off x="3931920" y="3611880"/>
            <a:ext cx="6949440" cy="1005840"/>
          </a:xfrm>
          <a:prstGeom prst="rect">
            <a:avLst/>
          </a:prstGeom>
          <a:noFill/>
          <a:ln/>
        </p:spPr>
        <p:txBody>
          <a:bodyPr wrap="square" lIns="0" tIns="0" rIns="0" bIns="0" rtlCol="0" anchor="t"/>
          <a:lstStyle/>
          <a:p>
            <a:pPr algn="l" indent="0" marL="0">
              <a:buNone/>
            </a:pPr>
            <a:r>
              <a:rPr lang="en-US" sz="3200" dirty="0">
                <a:solidFill>
                  <a:srgbClr val="D6EEFA"/>
                </a:solidFill>
              </a:rPr>
              <a:t>The right tools, and how to use them.</a:t>
            </a:r>
            <a:endParaRPr lang="en-US" sz="3200" dirty="0"/>
          </a:p>
        </p:txBody>
      </p:sp>
      <p:sp>
        <p:nvSpPr>
          <p:cNvPr id="6" name="Instructor and section (edit me)"/>
          <p:cNvSpPr txBox="1"/>
          <p:nvPr/>
        </p:nvSpPr>
        <p:spPr>
          <a:xfrm>
            <a:off x="3931920" y="4709160"/>
            <a:ext cx="5486400" cy="411480"/>
          </a:xfrm>
          <a:prstGeom prst="rect">
            <a:avLst/>
          </a:prstGeom>
          <a:noFill/>
          <a:ln/>
        </p:spPr>
        <p:txBody>
          <a:bodyPr wrap="square" lIns="0" tIns="0" rIns="0" bIns="0" rtlCol="0" anchor="t"/>
          <a:lstStyle/>
          <a:p>
            <a:pPr indent="0" marL="0">
              <a:buNone/>
            </a:pPr>
            <a:r>
              <a:rPr lang="en-US" sz="2000" dirty="0">
                <a:solidFill>
                  <a:srgbClr val="D6EEFA"/>
                </a:solidFill>
              </a:rPr>
              <a:t>Instructor name  ·  Section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INSTRUCTOR SLIDE · HOUSEKEEPING</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Breaking Camp</a:t>
            </a:r>
            <a:endParaRPr lang="en-US" sz="4000" dirty="0"/>
          </a:p>
        </p:txBody>
      </p:sp>
      <p:sp>
        <p:nvSpPr>
          <p:cNvPr id="4" name="Text 2"/>
          <p:cNvSpPr txBox="1"/>
          <p:nvPr/>
        </p:nvSpPr>
        <p:spPr>
          <a:xfrm>
            <a:off x="548640" y="1645920"/>
            <a:ext cx="10515600" cy="457200"/>
          </a:xfrm>
          <a:prstGeom prst="rect">
            <a:avLst/>
          </a:prstGeom>
          <a:noFill/>
          <a:ln/>
        </p:spPr>
        <p:txBody>
          <a:bodyPr wrap="square" lIns="0" tIns="0" rIns="0" bIns="0" rtlCol="0" anchor="t"/>
          <a:lstStyle/>
          <a:p>
            <a:pPr indent="0" marL="0">
              <a:buNone/>
            </a:pPr>
            <a:r>
              <a:rPr lang="en-US" sz="2400" i="1" dirty="0">
                <a:solidFill>
                  <a:schemeClr val="accent6"/>
                </a:solidFill>
              </a:rPr>
              <a:t>Pack up Module 3, then look ahead to Module 4.</a:t>
            </a:r>
            <a:endParaRPr lang="en-US" sz="2400" dirty="0"/>
          </a:p>
        </p:txBody>
      </p:sp>
      <p:sp>
        <p:nvSpPr>
          <p:cNvPr id="5" name="Decorative: announcements panel">
            <a:extLst>
              <a:ext uri="{C183D7F6-B498-43B3-948B-1728B52AA6E4}">
                <adec:decorative xmlns:adec="http://schemas.microsoft.com/office/drawing/2017/decorative" val="1"/>
              </a:ext>
            </a:extLst>
          </p:cNvPr>
          <p:cNvSpPr/>
          <p:nvPr/>
        </p:nvSpPr>
        <p:spPr>
          <a:xfrm>
            <a:off x="548640" y="2331720"/>
            <a:ext cx="6949440" cy="3749040"/>
          </a:xfrm>
          <a:prstGeom prst="roundRect">
            <a:avLst>
              <a:gd name="adj" fmla="val 2927"/>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6" name="Text 4"/>
          <p:cNvSpPr txBox="1"/>
          <p:nvPr/>
        </p:nvSpPr>
        <p:spPr>
          <a:xfrm>
            <a:off x="868680" y="2560320"/>
            <a:ext cx="6400800" cy="411480"/>
          </a:xfrm>
          <a:prstGeom prst="rect">
            <a:avLst/>
          </a:prstGeom>
          <a:noFill/>
          <a:ln/>
        </p:spPr>
        <p:txBody>
          <a:bodyPr wrap="square" lIns="0" tIns="0" rIns="0" bIns="0" rtlCol="0" anchor="t"/>
          <a:lstStyle/>
          <a:p>
            <a:pPr indent="0" marL="0">
              <a:buNone/>
            </a:pPr>
            <a:r>
              <a:rPr lang="en-US" sz="2800" b="1" dirty="0">
                <a:solidFill>
                  <a:schemeClr val="tx2"/>
                </a:solidFill>
              </a:rPr>
              <a:t>Announcements</a:t>
            </a:r>
            <a:endParaRPr lang="en-US" sz="2800" dirty="0"/>
          </a:p>
        </p:txBody>
      </p:sp>
      <p:sp>
        <p:nvSpPr>
          <p:cNvPr id="7" name="Announcements (edit me)"/>
          <p:cNvSpPr txBox="1"/>
          <p:nvPr/>
        </p:nvSpPr>
        <p:spPr>
          <a:xfrm>
            <a:off x="868680" y="3063240"/>
            <a:ext cx="6400800" cy="2743200"/>
          </a:xfrm>
          <a:prstGeom prst="rect">
            <a:avLst/>
          </a:prstGeom>
          <a:noFill/>
          <a:ln/>
        </p:spPr>
        <p:txBody>
          <a:bodyPr wrap="square" lIns="0" tIns="0" rIns="0" bIns="0" rtlCol="0" anchor="t"/>
          <a:lstStyle/>
          <a:p>
            <a:pPr indent="0" marL="0">
              <a:buNone/>
            </a:pPr>
            <a:r>
              <a:rPr lang="en-US" sz="2400" dirty="0">
                <a:solidFill>
                  <a:schemeClr val="accent6"/>
                </a:solidFill>
              </a:rPr>
              <a:t>Add this week's announcements here.</a:t>
            </a:r>
            <a:endParaRPr lang="en-US" sz="2400" dirty="0"/>
          </a:p>
          <a:p>
            <a:pPr indent="0" marL="0">
              <a:buNone/>
            </a:pPr>
            <a:r>
              <a:rPr lang="en-US" sz="2400" dirty="0">
                <a:solidFill>
                  <a:schemeClr val="accent6"/>
                </a:solidFill>
              </a:rPr>
              <a:t>Grades posted, office hours, campus dates.</a:t>
            </a:r>
            <a:endParaRPr lang="en-US" sz="2400" dirty="0"/>
          </a:p>
        </p:txBody>
      </p:sp>
      <p:sp>
        <p:nvSpPr>
          <p:cNvPr id="8" name="Decorative: looking ahead panel">
            <a:extLst>
              <a:ext uri="{C183D7F6-B498-43B3-948B-1728B52AA6E4}">
                <adec:decorative xmlns:adec="http://schemas.microsoft.com/office/drawing/2017/decorative" val="1"/>
              </a:ext>
            </a:extLst>
          </p:cNvPr>
          <p:cNvSpPr/>
          <p:nvPr/>
        </p:nvSpPr>
        <p:spPr>
          <a:xfrm>
            <a:off x="7818120" y="2331720"/>
            <a:ext cx="3824935" cy="3749040"/>
          </a:xfrm>
          <a:prstGeom prst="roundRect">
            <a:avLst>
              <a:gd name="adj" fmla="val 2927"/>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9" name="Decorative: icon circle">
            <a:extLst>
              <a:ext uri="{C183D7F6-B498-43B3-948B-1728B52AA6E4}">
                <adec:decorative xmlns:adec="http://schemas.microsoft.com/office/drawing/2017/decorative" val="1"/>
              </a:ext>
            </a:extLst>
          </p:cNvPr>
          <p:cNvSpPr/>
          <p:nvPr/>
        </p:nvSpPr>
        <p:spPr>
          <a:xfrm>
            <a:off x="8138160" y="2606040"/>
            <a:ext cx="731520" cy="731520"/>
          </a:xfrm>
          <a:prstGeom prst="ellipse">
            <a:avLst/>
          </a:prstGeom>
          <a:solidFill>
            <a:srgbClr val="E7A614"/>
          </a:solidFill>
          <a:ln w="12700">
            <a:solidFill>
              <a:srgbClr val="E7A614"/>
            </a:solidFill>
            <a:prstDash val="solid"/>
          </a:ln>
        </p:spPr>
      </p:sp>
      <p:pic>
        <p:nvPicPr>
          <p:cNvPr id="10" name="Decorative: LuCalendarCheck">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299094" y="2766974"/>
            <a:ext cx="409651" cy="409651"/>
          </a:xfrm>
          <a:prstGeom prst="rect">
            <a:avLst/>
          </a:prstGeom>
        </p:spPr>
      </p:pic>
      <p:sp>
        <p:nvSpPr>
          <p:cNvPr id="11" name="Text 8"/>
          <p:cNvSpPr txBox="1"/>
          <p:nvPr/>
        </p:nvSpPr>
        <p:spPr>
          <a:xfrm>
            <a:off x="8138160" y="3474720"/>
            <a:ext cx="3291840" cy="411480"/>
          </a:xfrm>
          <a:prstGeom prst="rect">
            <a:avLst/>
          </a:prstGeom>
          <a:noFill/>
          <a:ln/>
        </p:spPr>
        <p:txBody>
          <a:bodyPr wrap="square" lIns="0" tIns="0" rIns="0" bIns="0" rtlCol="0" anchor="t"/>
          <a:lstStyle/>
          <a:p>
            <a:pPr indent="0" marL="0">
              <a:buNone/>
            </a:pPr>
            <a:r>
              <a:rPr lang="en-US" sz="2800" b="1" dirty="0">
                <a:solidFill>
                  <a:schemeClr val="tx2"/>
                </a:solidFill>
              </a:rPr>
              <a:t>Looking ahead</a:t>
            </a:r>
            <a:endParaRPr lang="en-US" sz="2800" dirty="0"/>
          </a:p>
        </p:txBody>
      </p:sp>
      <p:sp>
        <p:nvSpPr>
          <p:cNvPr id="12" name="Text 9"/>
          <p:cNvSpPr txBox="1"/>
          <p:nvPr/>
        </p:nvSpPr>
        <p:spPr>
          <a:xfrm>
            <a:off x="8138160" y="3977640"/>
            <a:ext cx="3291840" cy="2011680"/>
          </a:xfrm>
          <a:prstGeom prst="rect">
            <a:avLst/>
          </a:prstGeom>
          <a:noFill/>
          <a:ln/>
        </p:spPr>
        <p:txBody>
          <a:bodyPr wrap="square" lIns="0" tIns="0" rIns="0" bIns="0" rtlCol="0" anchor="t"/>
          <a:lstStyle/>
          <a:p>
            <a:pPr indent="0" marL="0">
              <a:buNone/>
            </a:pPr>
            <a:r>
              <a:rPr lang="en-US" sz="2400" dirty="0">
                <a:solidFill>
                  <a:schemeClr val="tx1"/>
                </a:solidFill>
              </a:rPr>
              <a:t>Module 4 work and Merit Activity #1 are due Monday by 11:59 PM Central.</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MODULE 4 · THIS WEEK</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Study smarter, check everything</a:t>
            </a:r>
            <a:endParaRPr lang="en-US" sz="4000" dirty="0"/>
          </a:p>
        </p:txBody>
      </p:sp>
      <p:sp>
        <p:nvSpPr>
          <p:cNvPr id="4" name="Decorative: icon circle">
            <a:extLst>
              <a:ext uri="{C183D7F6-B498-43B3-948B-1728B52AA6E4}">
                <adec:decorative xmlns:adec="http://schemas.microsoft.com/office/drawing/2017/decorative" val="1"/>
              </a:ext>
            </a:extLst>
          </p:cNvPr>
          <p:cNvSpPr/>
          <p:nvPr/>
        </p:nvSpPr>
        <p:spPr>
          <a:xfrm>
            <a:off x="548640" y="1965960"/>
            <a:ext cx="685800" cy="685800"/>
          </a:xfrm>
          <a:prstGeom prst="ellipse">
            <a:avLst/>
          </a:prstGeom>
          <a:solidFill>
            <a:srgbClr val="00467F"/>
          </a:solidFill>
          <a:ln w="12700">
            <a:solidFill>
              <a:srgbClr val="00467F"/>
            </a:solidFill>
            <a:prstDash val="solid"/>
          </a:ln>
        </p:spPr>
      </p:sp>
      <p:pic>
        <p:nvPicPr>
          <p:cNvPr id="5" name="Decorative: LuBrain">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99516" y="2116836"/>
            <a:ext cx="384048" cy="384048"/>
          </a:xfrm>
          <a:prstGeom prst="rect">
            <a:avLst/>
          </a:prstGeom>
        </p:spPr>
      </p:pic>
      <p:sp>
        <p:nvSpPr>
          <p:cNvPr id="6" name="Text 3"/>
          <p:cNvSpPr txBox="1"/>
          <p:nvPr/>
        </p:nvSpPr>
        <p:spPr>
          <a:xfrm>
            <a:off x="1463040" y="2075688"/>
            <a:ext cx="6035040" cy="548640"/>
          </a:xfrm>
          <a:prstGeom prst="rect">
            <a:avLst/>
          </a:prstGeom>
          <a:noFill/>
          <a:ln/>
        </p:spPr>
        <p:txBody>
          <a:bodyPr wrap="square" lIns="0" tIns="0" rIns="0" bIns="0" rtlCol="0" anchor="ctr"/>
          <a:lstStyle/>
          <a:p>
            <a:pPr indent="0" marL="0">
              <a:buNone/>
            </a:pPr>
            <a:r>
              <a:rPr lang="en-US" sz="2400" dirty="0">
                <a:solidFill>
                  <a:schemeClr val="tx1"/>
                </a:solidFill>
              </a:rPr>
              <a:t>Study strategies that stick</a:t>
            </a:r>
            <a:endParaRPr lang="en-US" sz="2400" dirty="0"/>
          </a:p>
        </p:txBody>
      </p:sp>
      <p:sp>
        <p:nvSpPr>
          <p:cNvPr id="7" name="Decorative: icon circle">
            <a:extLst>
              <a:ext uri="{C183D7F6-B498-43B3-948B-1728B52AA6E4}">
                <adec:decorative xmlns:adec="http://schemas.microsoft.com/office/drawing/2017/decorative" val="1"/>
              </a:ext>
            </a:extLst>
          </p:cNvPr>
          <p:cNvSpPr/>
          <p:nvPr/>
        </p:nvSpPr>
        <p:spPr>
          <a:xfrm>
            <a:off x="548640" y="2926080"/>
            <a:ext cx="685800" cy="685800"/>
          </a:xfrm>
          <a:prstGeom prst="ellipse">
            <a:avLst/>
          </a:prstGeom>
          <a:solidFill>
            <a:srgbClr val="00467F"/>
          </a:solidFill>
          <a:ln w="12700">
            <a:solidFill>
              <a:srgbClr val="00467F"/>
            </a:solidFill>
            <a:prstDash val="solid"/>
          </a:ln>
        </p:spPr>
      </p:sp>
      <p:pic>
        <p:nvPicPr>
          <p:cNvPr id="8" name="Decorative: LuSearch">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99516" y="3076956"/>
            <a:ext cx="384048" cy="384048"/>
          </a:xfrm>
          <a:prstGeom prst="rect">
            <a:avLst/>
          </a:prstGeom>
        </p:spPr>
      </p:pic>
      <p:sp>
        <p:nvSpPr>
          <p:cNvPr id="9" name="Text 5"/>
          <p:cNvSpPr txBox="1"/>
          <p:nvPr/>
        </p:nvSpPr>
        <p:spPr>
          <a:xfrm>
            <a:off x="1463040" y="3035808"/>
            <a:ext cx="6035040" cy="548640"/>
          </a:xfrm>
          <a:prstGeom prst="rect">
            <a:avLst/>
          </a:prstGeom>
          <a:noFill/>
          <a:ln/>
        </p:spPr>
        <p:txBody>
          <a:bodyPr wrap="square" lIns="0" tIns="0" rIns="0" bIns="0" rtlCol="0" anchor="ctr"/>
          <a:lstStyle/>
          <a:p>
            <a:pPr indent="0" marL="0">
              <a:buNone/>
            </a:pPr>
            <a:r>
              <a:rPr lang="en-US" sz="2400" dirty="0">
                <a:solidFill>
                  <a:schemeClr val="tx1"/>
                </a:solidFill>
              </a:rPr>
              <a:t>SIFT before you trust</a:t>
            </a:r>
            <a:endParaRPr lang="en-US" sz="2400" dirty="0"/>
          </a:p>
        </p:txBody>
      </p:sp>
      <p:sp>
        <p:nvSpPr>
          <p:cNvPr id="10" name="Decorative: icon circle">
            <a:extLst>
              <a:ext uri="{C183D7F6-B498-43B3-948B-1728B52AA6E4}">
                <adec:decorative xmlns:adec="http://schemas.microsoft.com/office/drawing/2017/decorative" val="1"/>
              </a:ext>
            </a:extLst>
          </p:cNvPr>
          <p:cNvSpPr/>
          <p:nvPr/>
        </p:nvSpPr>
        <p:spPr>
          <a:xfrm>
            <a:off x="548640" y="3886200"/>
            <a:ext cx="685800" cy="685800"/>
          </a:xfrm>
          <a:prstGeom prst="ellipse">
            <a:avLst/>
          </a:prstGeom>
          <a:solidFill>
            <a:srgbClr val="00467F"/>
          </a:solidFill>
          <a:ln w="12700">
            <a:solidFill>
              <a:srgbClr val="00467F"/>
            </a:solidFill>
            <a:prstDash val="solid"/>
          </a:ln>
        </p:spPr>
      </p:sp>
      <p:pic>
        <p:nvPicPr>
          <p:cNvPr id="11" name="Decorative: LuGauge">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99516" y="4037076"/>
            <a:ext cx="384048" cy="384048"/>
          </a:xfrm>
          <a:prstGeom prst="rect">
            <a:avLst/>
          </a:prstGeom>
        </p:spPr>
      </p:pic>
      <p:sp>
        <p:nvSpPr>
          <p:cNvPr id="12" name="Text 7"/>
          <p:cNvSpPr txBox="1"/>
          <p:nvPr/>
        </p:nvSpPr>
        <p:spPr>
          <a:xfrm>
            <a:off x="1463040" y="3995928"/>
            <a:ext cx="6035040" cy="548640"/>
          </a:xfrm>
          <a:prstGeom prst="rect">
            <a:avLst/>
          </a:prstGeom>
          <a:noFill/>
          <a:ln/>
        </p:spPr>
        <p:txBody>
          <a:bodyPr wrap="square" lIns="0" tIns="0" rIns="0" bIns="0" rtlCol="0" anchor="ctr"/>
          <a:lstStyle/>
          <a:p>
            <a:pPr indent="0" marL="0">
              <a:buNone/>
            </a:pPr>
            <a:r>
              <a:rPr lang="en-US" sz="2400" dirty="0">
                <a:solidFill>
                  <a:schemeClr val="tx1"/>
                </a:solidFill>
              </a:rPr>
              <a:t>Watch for AI creep</a:t>
            </a:r>
            <a:endParaRPr lang="en-US" sz="2400" dirty="0"/>
          </a:p>
        </p:txBody>
      </p:sp>
      <p:sp>
        <p:nvSpPr>
          <p:cNvPr id="13" name="Decorative: icon circle">
            <a:extLst>
              <a:ext uri="{C183D7F6-B498-43B3-948B-1728B52AA6E4}">
                <adec:decorative xmlns:adec="http://schemas.microsoft.com/office/drawing/2017/decorative" val="1"/>
              </a:ext>
            </a:extLst>
          </p:cNvPr>
          <p:cNvSpPr/>
          <p:nvPr/>
        </p:nvSpPr>
        <p:spPr>
          <a:xfrm>
            <a:off x="548640" y="4846320"/>
            <a:ext cx="685800" cy="685800"/>
          </a:xfrm>
          <a:prstGeom prst="ellipse">
            <a:avLst/>
          </a:prstGeom>
          <a:solidFill>
            <a:srgbClr val="00467F"/>
          </a:solidFill>
          <a:ln w="12700">
            <a:solidFill>
              <a:srgbClr val="00467F"/>
            </a:solidFill>
            <a:prstDash val="solid"/>
          </a:ln>
        </p:spPr>
      </p:sp>
      <p:pic>
        <p:nvPicPr>
          <p:cNvPr id="14" name="Decorative: LuAward">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99516" y="4997196"/>
            <a:ext cx="384048" cy="384048"/>
          </a:xfrm>
          <a:prstGeom prst="rect">
            <a:avLst/>
          </a:prstGeom>
        </p:spPr>
      </p:pic>
      <p:sp>
        <p:nvSpPr>
          <p:cNvPr id="15" name="Text 9"/>
          <p:cNvSpPr txBox="1"/>
          <p:nvPr/>
        </p:nvSpPr>
        <p:spPr>
          <a:xfrm>
            <a:off x="1463040" y="4956048"/>
            <a:ext cx="6035040" cy="548640"/>
          </a:xfrm>
          <a:prstGeom prst="rect">
            <a:avLst/>
          </a:prstGeom>
          <a:noFill/>
          <a:ln/>
        </p:spPr>
        <p:txBody>
          <a:bodyPr wrap="square" lIns="0" tIns="0" rIns="0" bIns="0" rtlCol="0" anchor="ctr"/>
          <a:lstStyle/>
          <a:p>
            <a:pPr indent="0" marL="0">
              <a:buNone/>
            </a:pPr>
            <a:r>
              <a:rPr lang="en-US" sz="2400" dirty="0">
                <a:solidFill>
                  <a:schemeClr val="tx1"/>
                </a:solidFill>
              </a:rPr>
              <a:t>Merit Activity #1 is due</a:t>
            </a:r>
            <a:endParaRPr lang="en-US" sz="2400" dirty="0"/>
          </a:p>
        </p:txBody>
      </p:sp>
      <p:sp>
        <p:nvSpPr>
          <p:cNvPr id="16" name="Decorative: skills panel">
            <a:extLst>
              <a:ext uri="{C183D7F6-B498-43B3-948B-1728B52AA6E4}">
                <adec:decorative xmlns:adec="http://schemas.microsoft.com/office/drawing/2017/decorative" val="1"/>
              </a:ext>
            </a:extLst>
          </p:cNvPr>
          <p:cNvSpPr/>
          <p:nvPr/>
        </p:nvSpPr>
        <p:spPr>
          <a:xfrm>
            <a:off x="7863840" y="1965960"/>
            <a:ext cx="3779215" cy="3840480"/>
          </a:xfrm>
          <a:prstGeom prst="roundRect">
            <a:avLst>
              <a:gd name="adj" fmla="val 290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7" name="Text 11"/>
          <p:cNvSpPr txBox="1"/>
          <p:nvPr/>
        </p:nvSpPr>
        <p:spPr>
          <a:xfrm>
            <a:off x="8183880" y="2194560"/>
            <a:ext cx="3291840" cy="411480"/>
          </a:xfrm>
          <a:prstGeom prst="rect">
            <a:avLst/>
          </a:prstGeom>
          <a:noFill/>
          <a:ln/>
        </p:spPr>
        <p:txBody>
          <a:bodyPr wrap="square" lIns="0" tIns="0" rIns="0" bIns="0" rtlCol="0" anchor="t"/>
          <a:lstStyle/>
          <a:p>
            <a:pPr indent="0" marL="0">
              <a:buNone/>
            </a:pPr>
            <a:r>
              <a:rPr lang="en-US" sz="2800" b="1" dirty="0">
                <a:solidFill>
                  <a:schemeClr val="tx2"/>
                </a:solidFill>
              </a:rPr>
              <a:t>Skills you'll build</a:t>
            </a:r>
            <a:endParaRPr lang="en-US" sz="2800" dirty="0"/>
          </a:p>
        </p:txBody>
      </p:sp>
      <p:pic>
        <p:nvPicPr>
          <p:cNvPr id="18" name="Decorative: skill coin">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183880" y="2788920"/>
            <a:ext cx="731520" cy="731520"/>
          </a:xfrm>
          <a:prstGeom prst="rect">
            <a:avLst/>
          </a:prstGeom>
        </p:spPr>
      </p:pic>
      <p:sp>
        <p:nvSpPr>
          <p:cNvPr id="19" name="Text 12"/>
          <p:cNvSpPr txBox="1"/>
          <p:nvPr/>
        </p:nvSpPr>
        <p:spPr>
          <a:xfrm>
            <a:off x="9098280" y="2743200"/>
            <a:ext cx="2514600" cy="822960"/>
          </a:xfrm>
          <a:prstGeom prst="rect">
            <a:avLst/>
          </a:prstGeom>
          <a:noFill/>
          <a:ln/>
        </p:spPr>
        <p:txBody>
          <a:bodyPr wrap="square" lIns="0" tIns="0" rIns="0" bIns="0" rtlCol="0" anchor="ctr"/>
          <a:lstStyle/>
          <a:p>
            <a:pPr indent="0" marL="0">
              <a:buNone/>
            </a:pPr>
            <a:r>
              <a:rPr lang="en-US" sz="2000" b="1" dirty="0">
                <a:solidFill>
                  <a:schemeClr val="accent4"/>
                </a:solidFill>
              </a:rPr>
              <a:t>#6 </a:t>
            </a:r>
            <a:pPr indent="0" marL="0">
              <a:buNone/>
            </a:pPr>
            <a:r>
              <a:rPr lang="en-US" sz="2000" dirty="0">
                <a:solidFill>
                  <a:schemeClr val="tx1"/>
                </a:solidFill>
              </a:rPr>
              <a:t>Professionalism</a:t>
            </a:r>
            <a:endParaRPr lang="en-US" sz="2000" dirty="0"/>
          </a:p>
        </p:txBody>
      </p:sp>
      <p:pic>
        <p:nvPicPr>
          <p:cNvPr id="20" name="Decorative: skill coin">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8183880" y="3703320"/>
            <a:ext cx="731520" cy="731520"/>
          </a:xfrm>
          <a:prstGeom prst="rect">
            <a:avLst/>
          </a:prstGeom>
        </p:spPr>
      </p:pic>
      <p:sp>
        <p:nvSpPr>
          <p:cNvPr id="21" name="Text 13"/>
          <p:cNvSpPr txBox="1"/>
          <p:nvPr/>
        </p:nvSpPr>
        <p:spPr>
          <a:xfrm>
            <a:off x="9098280" y="3657600"/>
            <a:ext cx="2514600" cy="822960"/>
          </a:xfrm>
          <a:prstGeom prst="rect">
            <a:avLst/>
          </a:prstGeom>
          <a:noFill/>
          <a:ln/>
        </p:spPr>
        <p:txBody>
          <a:bodyPr wrap="square" lIns="0" tIns="0" rIns="0" bIns="0" rtlCol="0" anchor="ctr"/>
          <a:lstStyle/>
          <a:p>
            <a:pPr indent="0" marL="0">
              <a:buNone/>
            </a:pPr>
            <a:r>
              <a:rPr lang="en-US" sz="2000" b="1" dirty="0">
                <a:solidFill>
                  <a:schemeClr val="accent4"/>
                </a:solidFill>
              </a:rPr>
              <a:t>#10 </a:t>
            </a:r>
            <a:pPr indent="0" marL="0">
              <a:buNone/>
            </a:pPr>
            <a:r>
              <a:rPr lang="en-US" sz="2000" dirty="0">
                <a:solidFill>
                  <a:schemeClr val="tx1"/>
                </a:solidFill>
              </a:rPr>
              <a:t>Information Literacy</a:t>
            </a:r>
            <a:endParaRPr lang="en-US" sz="20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TRAIL TIP</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Your Office 365 toolkit</a:t>
            </a:r>
            <a:endParaRPr lang="en-US" sz="4000" dirty="0"/>
          </a:p>
        </p:txBody>
      </p:sp>
      <p:sp>
        <p:nvSpPr>
          <p:cNvPr id="4" name="Decorative: card">
            <a:extLst>
              <a:ext uri="{C183D7F6-B498-43B3-948B-1728B52AA6E4}">
                <adec:decorative xmlns:adec="http://schemas.microsoft.com/office/drawing/2017/decorative" val="1"/>
              </a:ext>
            </a:extLst>
          </p:cNvPr>
          <p:cNvSpPr/>
          <p:nvPr/>
        </p:nvSpPr>
        <p:spPr>
          <a:xfrm>
            <a:off x="548640" y="1874520"/>
            <a:ext cx="2567864" cy="2743200"/>
          </a:xfrm>
          <a:prstGeom prst="roundRect">
            <a:avLst>
              <a:gd name="adj" fmla="val 427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5" name="Decorative: icon circle">
            <a:extLst>
              <a:ext uri="{C183D7F6-B498-43B3-948B-1728B52AA6E4}">
                <adec:decorative xmlns:adec="http://schemas.microsoft.com/office/drawing/2017/decorative" val="1"/>
              </a:ext>
            </a:extLst>
          </p:cNvPr>
          <p:cNvSpPr/>
          <p:nvPr/>
        </p:nvSpPr>
        <p:spPr>
          <a:xfrm>
            <a:off x="822960" y="2148840"/>
            <a:ext cx="685800" cy="685800"/>
          </a:xfrm>
          <a:prstGeom prst="ellipse">
            <a:avLst/>
          </a:prstGeom>
          <a:solidFill>
            <a:srgbClr val="00467F"/>
          </a:solidFill>
          <a:ln w="12700">
            <a:solidFill>
              <a:srgbClr val="00467F"/>
            </a:solidFill>
            <a:prstDash val="solid"/>
          </a:ln>
        </p:spPr>
      </p:sp>
      <p:pic>
        <p:nvPicPr>
          <p:cNvPr id="6" name="Decorative: LuNotebookPen">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73836" y="2299716"/>
            <a:ext cx="384048" cy="384048"/>
          </a:xfrm>
          <a:prstGeom prst="rect">
            <a:avLst/>
          </a:prstGeom>
        </p:spPr>
      </p:pic>
      <p:sp>
        <p:nvSpPr>
          <p:cNvPr id="7" name="Text 4"/>
          <p:cNvSpPr txBox="1"/>
          <p:nvPr/>
        </p:nvSpPr>
        <p:spPr>
          <a:xfrm>
            <a:off x="822960" y="2971800"/>
            <a:ext cx="2019224" cy="1463040"/>
          </a:xfrm>
          <a:prstGeom prst="rect">
            <a:avLst/>
          </a:prstGeom>
          <a:noFill/>
          <a:ln/>
        </p:spPr>
        <p:txBody>
          <a:bodyPr wrap="square" lIns="0" tIns="0" rIns="0" bIns="0" rtlCol="0" anchor="t"/>
          <a:lstStyle/>
          <a:p>
            <a:pPr indent="0" marL="0">
              <a:buNone/>
            </a:pPr>
            <a:r>
              <a:rPr lang="en-US" sz="2600" b="1" dirty="0">
                <a:solidFill>
                  <a:schemeClr val="tx2"/>
                </a:solidFill>
              </a:rPr>
              <a:t>OneNote</a:t>
            </a:r>
            <a:endParaRPr lang="en-US" sz="2400" dirty="0"/>
          </a:p>
          <a:p>
            <a:pPr indent="0" marL="0">
              <a:spcBef>
                <a:spcPts val="600"/>
              </a:spcBef>
              <a:buNone/>
            </a:pPr>
            <a:r>
              <a:rPr lang="en-US" sz="2400" dirty="0">
                <a:solidFill>
                  <a:schemeClr val="tx1"/>
                </a:solidFill>
              </a:rPr>
              <a:t>One notebook per course.</a:t>
            </a:r>
            <a:endParaRPr lang="en-US" sz="2400" dirty="0"/>
          </a:p>
        </p:txBody>
      </p:sp>
      <p:sp>
        <p:nvSpPr>
          <p:cNvPr id="8" name="Decorative: card">
            <a:extLst>
              <a:ext uri="{C183D7F6-B498-43B3-948B-1728B52AA6E4}">
                <adec:decorative xmlns:adec="http://schemas.microsoft.com/office/drawing/2017/decorative" val="1"/>
              </a:ext>
            </a:extLst>
          </p:cNvPr>
          <p:cNvSpPr/>
          <p:nvPr/>
        </p:nvSpPr>
        <p:spPr>
          <a:xfrm>
            <a:off x="3390824" y="1874520"/>
            <a:ext cx="2567864" cy="2743200"/>
          </a:xfrm>
          <a:prstGeom prst="roundRect">
            <a:avLst>
              <a:gd name="adj" fmla="val 427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9" name="Decorative: icon circle">
            <a:extLst>
              <a:ext uri="{C183D7F6-B498-43B3-948B-1728B52AA6E4}">
                <adec:decorative xmlns:adec="http://schemas.microsoft.com/office/drawing/2017/decorative" val="1"/>
              </a:ext>
            </a:extLst>
          </p:cNvPr>
          <p:cNvSpPr/>
          <p:nvPr/>
        </p:nvSpPr>
        <p:spPr>
          <a:xfrm>
            <a:off x="3665144" y="2148840"/>
            <a:ext cx="685800" cy="685800"/>
          </a:xfrm>
          <a:prstGeom prst="ellipse">
            <a:avLst/>
          </a:prstGeom>
          <a:solidFill>
            <a:srgbClr val="00467F"/>
          </a:solidFill>
          <a:ln w="12700">
            <a:solidFill>
              <a:srgbClr val="00467F"/>
            </a:solidFill>
            <a:prstDash val="solid"/>
          </a:ln>
        </p:spPr>
      </p:sp>
      <p:pic>
        <p:nvPicPr>
          <p:cNvPr id="10" name="Decorative: LuCloud">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816020" y="2299716"/>
            <a:ext cx="384048" cy="384048"/>
          </a:xfrm>
          <a:prstGeom prst="rect">
            <a:avLst/>
          </a:prstGeom>
        </p:spPr>
      </p:pic>
      <p:sp>
        <p:nvSpPr>
          <p:cNvPr id="11" name="Text 7"/>
          <p:cNvSpPr txBox="1"/>
          <p:nvPr/>
        </p:nvSpPr>
        <p:spPr>
          <a:xfrm>
            <a:off x="3665144" y="2971800"/>
            <a:ext cx="2019224" cy="1463040"/>
          </a:xfrm>
          <a:prstGeom prst="rect">
            <a:avLst/>
          </a:prstGeom>
          <a:noFill/>
          <a:ln/>
        </p:spPr>
        <p:txBody>
          <a:bodyPr wrap="square" lIns="0" tIns="0" rIns="0" bIns="0" rtlCol="0" anchor="t"/>
          <a:lstStyle/>
          <a:p>
            <a:pPr indent="0" marL="0">
              <a:buNone/>
            </a:pPr>
            <a:r>
              <a:rPr lang="en-US" sz="2600" b="1" dirty="0">
                <a:solidFill>
                  <a:schemeClr val="tx2"/>
                </a:solidFill>
              </a:rPr>
              <a:t>OneDrive</a:t>
            </a:r>
            <a:endParaRPr lang="en-US" sz="2400" dirty="0"/>
          </a:p>
          <a:p>
            <a:pPr indent="0" marL="0">
              <a:spcBef>
                <a:spcPts val="600"/>
              </a:spcBef>
              <a:buNone/>
            </a:pPr>
            <a:r>
              <a:rPr lang="en-US" sz="2400" dirty="0">
                <a:solidFill>
                  <a:schemeClr val="tx1"/>
                </a:solidFill>
              </a:rPr>
              <a:t>Saved, and on every device.</a:t>
            </a:r>
            <a:endParaRPr lang="en-US" sz="2400" dirty="0"/>
          </a:p>
        </p:txBody>
      </p:sp>
      <p:sp>
        <p:nvSpPr>
          <p:cNvPr id="12" name="Decorative: card">
            <a:extLst>
              <a:ext uri="{C183D7F6-B498-43B3-948B-1728B52AA6E4}">
                <adec:decorative xmlns:adec="http://schemas.microsoft.com/office/drawing/2017/decorative" val="1"/>
              </a:ext>
            </a:extLst>
          </p:cNvPr>
          <p:cNvSpPr/>
          <p:nvPr/>
        </p:nvSpPr>
        <p:spPr>
          <a:xfrm>
            <a:off x="6233008" y="1874520"/>
            <a:ext cx="2567864" cy="2743200"/>
          </a:xfrm>
          <a:prstGeom prst="roundRect">
            <a:avLst>
              <a:gd name="adj" fmla="val 427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3" name="Decorative: icon circle">
            <a:extLst>
              <a:ext uri="{C183D7F6-B498-43B3-948B-1728B52AA6E4}">
                <adec:decorative xmlns:adec="http://schemas.microsoft.com/office/drawing/2017/decorative" val="1"/>
              </a:ext>
            </a:extLst>
          </p:cNvPr>
          <p:cNvSpPr/>
          <p:nvPr/>
        </p:nvSpPr>
        <p:spPr>
          <a:xfrm>
            <a:off x="6507328" y="2148840"/>
            <a:ext cx="685800" cy="685800"/>
          </a:xfrm>
          <a:prstGeom prst="ellipse">
            <a:avLst/>
          </a:prstGeom>
          <a:solidFill>
            <a:srgbClr val="00467F"/>
          </a:solidFill>
          <a:ln w="12700">
            <a:solidFill>
              <a:srgbClr val="00467F"/>
            </a:solidFill>
            <a:prstDash val="solid"/>
          </a:ln>
        </p:spPr>
      </p:sp>
      <p:pic>
        <p:nvPicPr>
          <p:cNvPr id="14" name="Decorative: LuMessagesSquare">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658204" y="2299716"/>
            <a:ext cx="384048" cy="384048"/>
          </a:xfrm>
          <a:prstGeom prst="rect">
            <a:avLst/>
          </a:prstGeom>
        </p:spPr>
      </p:pic>
      <p:sp>
        <p:nvSpPr>
          <p:cNvPr id="15" name="Text 10"/>
          <p:cNvSpPr txBox="1"/>
          <p:nvPr/>
        </p:nvSpPr>
        <p:spPr>
          <a:xfrm>
            <a:off x="6507328" y="2971800"/>
            <a:ext cx="2019224" cy="1463040"/>
          </a:xfrm>
          <a:prstGeom prst="rect">
            <a:avLst/>
          </a:prstGeom>
          <a:noFill/>
          <a:ln/>
        </p:spPr>
        <p:txBody>
          <a:bodyPr wrap="square" lIns="0" tIns="0" rIns="0" bIns="0" rtlCol="0" anchor="t"/>
          <a:lstStyle/>
          <a:p>
            <a:pPr indent="0" marL="0">
              <a:buNone/>
            </a:pPr>
            <a:r>
              <a:rPr lang="en-US" sz="2600" b="1" dirty="0">
                <a:solidFill>
                  <a:schemeClr val="tx2"/>
                </a:solidFill>
              </a:rPr>
              <a:t>Teams</a:t>
            </a:r>
            <a:endParaRPr lang="en-US" sz="2400" dirty="0"/>
          </a:p>
          <a:p>
            <a:pPr indent="0" marL="0">
              <a:spcBef>
                <a:spcPts val="600"/>
              </a:spcBef>
              <a:buNone/>
            </a:pPr>
            <a:r>
              <a:rPr lang="en-US" sz="2400" dirty="0">
                <a:solidFill>
                  <a:schemeClr val="tx1"/>
                </a:solidFill>
              </a:rPr>
              <a:t>Chat, calls, and meet-ups.</a:t>
            </a:r>
            <a:endParaRPr lang="en-US" sz="2400" dirty="0"/>
          </a:p>
        </p:txBody>
      </p:sp>
      <p:sp>
        <p:nvSpPr>
          <p:cNvPr id="16" name="Decorative: card">
            <a:extLst>
              <a:ext uri="{C183D7F6-B498-43B3-948B-1728B52AA6E4}">
                <adec:decorative xmlns:adec="http://schemas.microsoft.com/office/drawing/2017/decorative" val="1"/>
              </a:ext>
            </a:extLst>
          </p:cNvPr>
          <p:cNvSpPr/>
          <p:nvPr/>
        </p:nvSpPr>
        <p:spPr>
          <a:xfrm>
            <a:off x="9075191" y="1874520"/>
            <a:ext cx="2567864" cy="2743200"/>
          </a:xfrm>
          <a:prstGeom prst="roundRect">
            <a:avLst>
              <a:gd name="adj" fmla="val 427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7" name="Decorative: icon circle">
            <a:extLst>
              <a:ext uri="{C183D7F6-B498-43B3-948B-1728B52AA6E4}">
                <adec:decorative xmlns:adec="http://schemas.microsoft.com/office/drawing/2017/decorative" val="1"/>
              </a:ext>
            </a:extLst>
          </p:cNvPr>
          <p:cNvSpPr/>
          <p:nvPr/>
        </p:nvSpPr>
        <p:spPr>
          <a:xfrm>
            <a:off x="9349511" y="2148840"/>
            <a:ext cx="685800" cy="685800"/>
          </a:xfrm>
          <a:prstGeom prst="ellipse">
            <a:avLst/>
          </a:prstGeom>
          <a:solidFill>
            <a:srgbClr val="00467F"/>
          </a:solidFill>
          <a:ln w="12700">
            <a:solidFill>
              <a:srgbClr val="00467F"/>
            </a:solidFill>
            <a:prstDash val="solid"/>
          </a:ln>
        </p:spPr>
      </p:sp>
      <p:pic>
        <p:nvPicPr>
          <p:cNvPr id="18" name="Decorative: LuSparkles">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00387" y="2299716"/>
            <a:ext cx="384048" cy="384048"/>
          </a:xfrm>
          <a:prstGeom prst="rect">
            <a:avLst/>
          </a:prstGeom>
        </p:spPr>
      </p:pic>
      <p:sp>
        <p:nvSpPr>
          <p:cNvPr id="19" name="Text 13"/>
          <p:cNvSpPr txBox="1"/>
          <p:nvPr/>
        </p:nvSpPr>
        <p:spPr>
          <a:xfrm>
            <a:off x="9349511" y="2971800"/>
            <a:ext cx="2019224" cy="1463040"/>
          </a:xfrm>
          <a:prstGeom prst="rect">
            <a:avLst/>
          </a:prstGeom>
          <a:noFill/>
          <a:ln/>
        </p:spPr>
        <p:txBody>
          <a:bodyPr wrap="square" lIns="0" tIns="0" rIns="0" bIns="0" rtlCol="0" anchor="t"/>
          <a:lstStyle/>
          <a:p>
            <a:pPr indent="0" marL="0">
              <a:buNone/>
            </a:pPr>
            <a:r>
              <a:rPr lang="en-US" sz="2600" b="1" dirty="0">
                <a:solidFill>
                  <a:schemeClr val="tx2"/>
                </a:solidFill>
              </a:rPr>
              <a:t>Copilot</a:t>
            </a:r>
            <a:endParaRPr lang="en-US" sz="2400" dirty="0"/>
          </a:p>
          <a:p>
            <a:pPr indent="0" marL="0">
              <a:spcBef>
                <a:spcPts val="600"/>
              </a:spcBef>
              <a:buNone/>
            </a:pPr>
            <a:r>
              <a:rPr lang="en-US" sz="2400" dirty="0">
                <a:solidFill>
                  <a:schemeClr val="tx1"/>
                </a:solidFill>
              </a:rPr>
              <a:t>AI with your school login.</a:t>
            </a:r>
            <a:endParaRPr lang="en-US" sz="2400" dirty="0"/>
          </a:p>
        </p:txBody>
      </p:sp>
      <p:sp>
        <p:nvSpPr>
          <p:cNvPr id="20" name="Decorative: callout">
            <a:extLst>
              <a:ext uri="{C183D7F6-B498-43B3-948B-1728B52AA6E4}">
                <adec:decorative xmlns:adec="http://schemas.microsoft.com/office/drawing/2017/decorative" val="1"/>
              </a:ext>
            </a:extLst>
          </p:cNvPr>
          <p:cNvSpPr/>
          <p:nvPr/>
        </p:nvSpPr>
        <p:spPr>
          <a:xfrm>
            <a:off x="548640" y="4983480"/>
            <a:ext cx="11094415" cy="822960"/>
          </a:xfrm>
          <a:prstGeom prst="roundRect">
            <a:avLst>
              <a:gd name="adj" fmla="val 13333"/>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21" name="Text 15"/>
          <p:cNvSpPr txBox="1"/>
          <p:nvPr/>
        </p:nvSpPr>
        <p:spPr>
          <a:xfrm>
            <a:off x="868680" y="5093208"/>
            <a:ext cx="10454335" cy="603504"/>
          </a:xfrm>
          <a:prstGeom prst="rect">
            <a:avLst/>
          </a:prstGeom>
          <a:noFill/>
          <a:ln/>
        </p:spPr>
        <p:txBody>
          <a:bodyPr wrap="square" lIns="0" tIns="0" rIns="0" bIns="0" rtlCol="0" anchor="ctr"/>
          <a:lstStyle/>
          <a:p>
            <a:pPr indent="0" marL="0">
              <a:buNone/>
            </a:pPr>
            <a:r>
              <a:rPr lang="en-US" sz="2400" b="1" dirty="0">
                <a:solidFill>
                  <a:schemeClr val="tx2"/>
                </a:solidFill>
              </a:rPr>
              <a:t>All free with your KCTCS account.</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4.1 · SKILL SPOTLIGHT</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Information Literacy</a:t>
            </a:r>
            <a:endParaRPr lang="en-US" sz="4000" dirty="0"/>
          </a:p>
        </p:txBody>
      </p:sp>
      <p:pic>
        <p:nvPicPr>
          <p:cNvPr id="4" name="Decorative: skill coin">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548640" y="1920240"/>
            <a:ext cx="1188720" cy="1188720"/>
          </a:xfrm>
          <a:prstGeom prst="rect">
            <a:avLst/>
          </a:prstGeom>
        </p:spPr>
      </p:pic>
      <p:sp>
        <p:nvSpPr>
          <p:cNvPr id="5" name="Text 2"/>
          <p:cNvSpPr txBox="1"/>
          <p:nvPr/>
        </p:nvSpPr>
        <p:spPr>
          <a:xfrm>
            <a:off x="2011680" y="1965960"/>
            <a:ext cx="9601200" cy="1097280"/>
          </a:xfrm>
          <a:prstGeom prst="rect">
            <a:avLst/>
          </a:prstGeom>
          <a:noFill/>
          <a:ln/>
        </p:spPr>
        <p:txBody>
          <a:bodyPr wrap="square" lIns="0" tIns="0" rIns="0" bIns="0" rtlCol="0" anchor="ctr"/>
          <a:lstStyle/>
          <a:p>
            <a:pPr indent="0" marL="0">
              <a:buNone/>
            </a:pPr>
            <a:r>
              <a:rPr lang="en-US" sz="2600" dirty="0">
                <a:solidFill>
                  <a:schemeClr val="tx1"/>
                </a:solidFill>
              </a:rPr>
              <a:t>Finding, evaluating, and responsibly using information to make good decisions.</a:t>
            </a:r>
            <a:endParaRPr lang="en-US" sz="2600" dirty="0"/>
          </a:p>
        </p:txBody>
      </p:sp>
      <p:sp>
        <p:nvSpPr>
          <p:cNvPr id="6" name="Decorative: benchmark card">
            <a:extLst>
              <a:ext uri="{C183D7F6-B498-43B3-948B-1728B52AA6E4}">
                <adec:decorative xmlns:adec="http://schemas.microsoft.com/office/drawing/2017/decorative" val="1"/>
              </a:ext>
            </a:extLst>
          </p:cNvPr>
          <p:cNvSpPr/>
          <p:nvPr/>
        </p:nvSpPr>
        <p:spPr>
          <a:xfrm>
            <a:off x="548640" y="3429000"/>
            <a:ext cx="5090008" cy="2514600"/>
          </a:xfrm>
          <a:prstGeom prst="roundRect">
            <a:avLst>
              <a:gd name="adj" fmla="val 4364"/>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868680" y="3703320"/>
            <a:ext cx="4449928" cy="2057400"/>
          </a:xfrm>
          <a:prstGeom prst="rect">
            <a:avLst/>
          </a:prstGeom>
          <a:noFill/>
          <a:ln/>
        </p:spPr>
        <p:txBody>
          <a:bodyPr wrap="square" lIns="0" tIns="0" rIns="0" bIns="0" rtlCol="0" anchor="t"/>
          <a:lstStyle/>
          <a:p>
            <a:pPr indent="0" marL="0">
              <a:buNone/>
            </a:pPr>
            <a:r>
              <a:rPr lang="en-US" sz="2000" b="1" spc="200" kern="0" dirty="0">
                <a:solidFill>
                  <a:schemeClr val="accent4"/>
                </a:solidFill>
              </a:rPr>
              <a:t>WHERE YOU START</a:t>
            </a:r>
            <a:endParaRPr lang="en-US" sz="2400" dirty="0"/>
          </a:p>
          <a:p>
            <a:pPr indent="0" marL="0">
              <a:buNone/>
            </a:pPr>
            <a:r>
              <a:rPr lang="en-US" sz="2400" dirty="0">
                <a:solidFill>
                  <a:schemeClr val="tx1"/>
                </a:solidFill>
              </a:rPr>
              <a:t>You can name a source's strengths and weaknesses, and tell where information came from.</a:t>
            </a:r>
            <a:endParaRPr lang="en-US" sz="2400" dirty="0"/>
          </a:p>
        </p:txBody>
      </p:sp>
      <p:pic>
        <p:nvPicPr>
          <p:cNvPr id="8" name="Decorative: arrow">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821528" y="4411980"/>
            <a:ext cx="548640" cy="548640"/>
          </a:xfrm>
          <a:prstGeom prst="rect">
            <a:avLst/>
          </a:prstGeom>
        </p:spPr>
      </p:pic>
      <p:sp>
        <p:nvSpPr>
          <p:cNvPr id="9" name="Decorative: milestone card">
            <a:extLst>
              <a:ext uri="{C183D7F6-B498-43B3-948B-1728B52AA6E4}">
                <adec:decorative xmlns:adec="http://schemas.microsoft.com/office/drawing/2017/decorative" val="1"/>
              </a:ext>
            </a:extLst>
          </p:cNvPr>
          <p:cNvSpPr/>
          <p:nvPr/>
        </p:nvSpPr>
        <p:spPr>
          <a:xfrm>
            <a:off x="6553048" y="3429000"/>
            <a:ext cx="5090008" cy="2514600"/>
          </a:xfrm>
          <a:prstGeom prst="roundRect">
            <a:avLst>
              <a:gd name="adj" fmla="val 4364"/>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0" name="Text 6"/>
          <p:cNvSpPr txBox="1"/>
          <p:nvPr/>
        </p:nvSpPr>
        <p:spPr>
          <a:xfrm>
            <a:off x="6873088" y="3703320"/>
            <a:ext cx="4449928" cy="2057400"/>
          </a:xfrm>
          <a:prstGeom prst="rect">
            <a:avLst/>
          </a:prstGeom>
          <a:noFill/>
          <a:ln/>
        </p:spPr>
        <p:txBody>
          <a:bodyPr wrap="square" lIns="0" tIns="0" rIns="0" bIns="0" rtlCol="0" anchor="t"/>
          <a:lstStyle/>
          <a:p>
            <a:pPr indent="0" marL="0">
              <a:buNone/>
            </a:pPr>
            <a:r>
              <a:rPr lang="en-US" sz="2000" b="1" spc="200" kern="0" dirty="0">
                <a:solidFill>
                  <a:srgbClr val="7A5500"/>
                </a:solidFill>
              </a:rPr>
              <a:t>WHERE YOU'RE HEADED</a:t>
            </a:r>
            <a:endParaRPr lang="en-US" sz="2400" dirty="0"/>
          </a:p>
          <a:p>
            <a:pPr indent="0" marL="0">
              <a:buNone/>
            </a:pPr>
            <a:r>
              <a:rPr lang="en-US" sz="2400" dirty="0">
                <a:solidFill>
                  <a:schemeClr val="tx1"/>
                </a:solidFill>
              </a:rPr>
              <a:t>You check sources for bias, expertise, and point of view, and use them to make well-informed decisions.</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4.2</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Study strategies that actually work</a:t>
            </a:r>
            <a:endParaRPr lang="en-US" sz="4000" dirty="0"/>
          </a:p>
        </p:txBody>
      </p:sp>
      <p:sp>
        <p:nvSpPr>
          <p:cNvPr id="4" name="Decorative: card">
            <a:extLst>
              <a:ext uri="{C183D7F6-B498-43B3-948B-1728B52AA6E4}">
                <adec:decorative xmlns:adec="http://schemas.microsoft.com/office/drawing/2017/decorative" val="1"/>
              </a:ext>
            </a:extLst>
          </p:cNvPr>
          <p:cNvSpPr/>
          <p:nvPr/>
        </p:nvSpPr>
        <p:spPr>
          <a:xfrm>
            <a:off x="548640" y="1783080"/>
            <a:ext cx="5387188" cy="1463040"/>
          </a:xfrm>
          <a:prstGeom prst="roundRect">
            <a:avLst>
              <a:gd name="adj" fmla="val 7500"/>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5" name="Decorative: icon circle">
            <a:extLst>
              <a:ext uri="{C183D7F6-B498-43B3-948B-1728B52AA6E4}">
                <adec:decorative xmlns:adec="http://schemas.microsoft.com/office/drawing/2017/decorative" val="1"/>
              </a:ext>
            </a:extLst>
          </p:cNvPr>
          <p:cNvSpPr/>
          <p:nvPr/>
        </p:nvSpPr>
        <p:spPr>
          <a:xfrm>
            <a:off x="822960" y="2057400"/>
            <a:ext cx="685800" cy="685800"/>
          </a:xfrm>
          <a:prstGeom prst="ellipse">
            <a:avLst/>
          </a:prstGeom>
          <a:solidFill>
            <a:srgbClr val="00467F"/>
          </a:solidFill>
          <a:ln w="12700">
            <a:solidFill>
              <a:srgbClr val="00467F"/>
            </a:solidFill>
            <a:prstDash val="solid"/>
          </a:ln>
        </p:spPr>
      </p:sp>
      <p:pic>
        <p:nvPicPr>
          <p:cNvPr id="6" name="Decorative: LuCircleHelp">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73836" y="2208276"/>
            <a:ext cx="384048" cy="384048"/>
          </a:xfrm>
          <a:prstGeom prst="rect">
            <a:avLst/>
          </a:prstGeom>
        </p:spPr>
      </p:pic>
      <p:sp>
        <p:nvSpPr>
          <p:cNvPr id="7" name="Text 4"/>
          <p:cNvSpPr txBox="1"/>
          <p:nvPr/>
        </p:nvSpPr>
        <p:spPr>
          <a:xfrm>
            <a:off x="1737360" y="1984248"/>
            <a:ext cx="3969868" cy="1143000"/>
          </a:xfrm>
          <a:prstGeom prst="rect">
            <a:avLst/>
          </a:prstGeom>
          <a:noFill/>
          <a:ln/>
        </p:spPr>
        <p:txBody>
          <a:bodyPr wrap="square" lIns="0" tIns="0" rIns="0" bIns="0" rtlCol="0" anchor="t"/>
          <a:lstStyle/>
          <a:p>
            <a:pPr indent="0" marL="0">
              <a:buNone/>
            </a:pPr>
            <a:r>
              <a:rPr lang="en-US" sz="2600" b="1" dirty="0">
                <a:solidFill>
                  <a:schemeClr val="tx2"/>
                </a:solidFill>
              </a:rPr>
              <a:t>Retrieval practice</a:t>
            </a:r>
            <a:endParaRPr lang="en-US" sz="2400" dirty="0"/>
          </a:p>
          <a:p>
            <a:pPr indent="0" marL="0">
              <a:buNone/>
            </a:pPr>
            <a:r>
              <a:rPr lang="en-US" sz="2400" dirty="0">
                <a:solidFill>
                  <a:schemeClr val="tx1"/>
                </a:solidFill>
              </a:rPr>
              <a:t>Test yourself before the test tests you.</a:t>
            </a:r>
            <a:endParaRPr lang="en-US" sz="2400" dirty="0"/>
          </a:p>
        </p:txBody>
      </p:sp>
      <p:sp>
        <p:nvSpPr>
          <p:cNvPr id="8" name="Decorative: card">
            <a:extLst>
              <a:ext uri="{C183D7F6-B498-43B3-948B-1728B52AA6E4}">
                <adec:decorative xmlns:adec="http://schemas.microsoft.com/office/drawing/2017/decorative" val="1"/>
              </a:ext>
            </a:extLst>
          </p:cNvPr>
          <p:cNvSpPr/>
          <p:nvPr/>
        </p:nvSpPr>
        <p:spPr>
          <a:xfrm>
            <a:off x="6255868" y="1783080"/>
            <a:ext cx="5387188" cy="1463040"/>
          </a:xfrm>
          <a:prstGeom prst="roundRect">
            <a:avLst>
              <a:gd name="adj" fmla="val 7500"/>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9" name="Decorative: icon circle">
            <a:extLst>
              <a:ext uri="{C183D7F6-B498-43B3-948B-1728B52AA6E4}">
                <adec:decorative xmlns:adec="http://schemas.microsoft.com/office/drawing/2017/decorative" val="1"/>
              </a:ext>
            </a:extLst>
          </p:cNvPr>
          <p:cNvSpPr/>
          <p:nvPr/>
        </p:nvSpPr>
        <p:spPr>
          <a:xfrm>
            <a:off x="6530188" y="2057400"/>
            <a:ext cx="685800" cy="685800"/>
          </a:xfrm>
          <a:prstGeom prst="ellipse">
            <a:avLst/>
          </a:prstGeom>
          <a:solidFill>
            <a:srgbClr val="00467F"/>
          </a:solidFill>
          <a:ln w="12700">
            <a:solidFill>
              <a:srgbClr val="00467F"/>
            </a:solidFill>
            <a:prstDash val="solid"/>
          </a:ln>
        </p:spPr>
      </p:sp>
      <p:pic>
        <p:nvPicPr>
          <p:cNvPr id="10" name="Decorative: LuCalendarClock">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681064" y="2208276"/>
            <a:ext cx="384048" cy="384048"/>
          </a:xfrm>
          <a:prstGeom prst="rect">
            <a:avLst/>
          </a:prstGeom>
        </p:spPr>
      </p:pic>
      <p:sp>
        <p:nvSpPr>
          <p:cNvPr id="11" name="Text 7"/>
          <p:cNvSpPr txBox="1"/>
          <p:nvPr/>
        </p:nvSpPr>
        <p:spPr>
          <a:xfrm>
            <a:off x="7444588" y="1984248"/>
            <a:ext cx="3969868" cy="1143000"/>
          </a:xfrm>
          <a:prstGeom prst="rect">
            <a:avLst/>
          </a:prstGeom>
          <a:noFill/>
          <a:ln/>
        </p:spPr>
        <p:txBody>
          <a:bodyPr wrap="square" lIns="0" tIns="0" rIns="0" bIns="0" rtlCol="0" anchor="t"/>
          <a:lstStyle/>
          <a:p>
            <a:pPr indent="0" marL="0">
              <a:buNone/>
            </a:pPr>
            <a:r>
              <a:rPr lang="en-US" sz="2600" b="1" dirty="0">
                <a:solidFill>
                  <a:schemeClr val="tx2"/>
                </a:solidFill>
              </a:rPr>
              <a:t>Spaced practice</a:t>
            </a:r>
            <a:endParaRPr lang="en-US" sz="2400" dirty="0"/>
          </a:p>
          <a:p>
            <a:pPr indent="0" marL="0">
              <a:buNone/>
            </a:pPr>
            <a:r>
              <a:rPr lang="en-US" sz="2400" dirty="0">
                <a:solidFill>
                  <a:schemeClr val="tx1"/>
                </a:solidFill>
              </a:rPr>
              <a:t>Come back before you forget.</a:t>
            </a:r>
            <a:endParaRPr lang="en-US" sz="2400" dirty="0"/>
          </a:p>
        </p:txBody>
      </p:sp>
      <p:sp>
        <p:nvSpPr>
          <p:cNvPr id="12" name="Decorative: card">
            <a:extLst>
              <a:ext uri="{C183D7F6-B498-43B3-948B-1728B52AA6E4}">
                <adec:decorative xmlns:adec="http://schemas.microsoft.com/office/drawing/2017/decorative" val="1"/>
              </a:ext>
            </a:extLst>
          </p:cNvPr>
          <p:cNvSpPr/>
          <p:nvPr/>
        </p:nvSpPr>
        <p:spPr>
          <a:xfrm>
            <a:off x="548640" y="3520440"/>
            <a:ext cx="5387188" cy="1463040"/>
          </a:xfrm>
          <a:prstGeom prst="roundRect">
            <a:avLst>
              <a:gd name="adj" fmla="val 7500"/>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3" name="Decorative: icon circle">
            <a:extLst>
              <a:ext uri="{C183D7F6-B498-43B3-948B-1728B52AA6E4}">
                <adec:decorative xmlns:adec="http://schemas.microsoft.com/office/drawing/2017/decorative" val="1"/>
              </a:ext>
            </a:extLst>
          </p:cNvPr>
          <p:cNvSpPr/>
          <p:nvPr/>
        </p:nvSpPr>
        <p:spPr>
          <a:xfrm>
            <a:off x="822960" y="3794760"/>
            <a:ext cx="685800" cy="685800"/>
          </a:xfrm>
          <a:prstGeom prst="ellipse">
            <a:avLst/>
          </a:prstGeom>
          <a:solidFill>
            <a:srgbClr val="00467F"/>
          </a:solidFill>
          <a:ln w="12700">
            <a:solidFill>
              <a:srgbClr val="00467F"/>
            </a:solidFill>
            <a:prstDash val="solid"/>
          </a:ln>
        </p:spPr>
      </p:sp>
      <p:pic>
        <p:nvPicPr>
          <p:cNvPr id="14" name="Decorative: LuMessageCircleQuestion">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73836" y="3945636"/>
            <a:ext cx="384048" cy="384048"/>
          </a:xfrm>
          <a:prstGeom prst="rect">
            <a:avLst/>
          </a:prstGeom>
        </p:spPr>
      </p:pic>
      <p:sp>
        <p:nvSpPr>
          <p:cNvPr id="15" name="Text 10"/>
          <p:cNvSpPr txBox="1"/>
          <p:nvPr/>
        </p:nvSpPr>
        <p:spPr>
          <a:xfrm>
            <a:off x="1737360" y="3721608"/>
            <a:ext cx="3969868" cy="1143000"/>
          </a:xfrm>
          <a:prstGeom prst="rect">
            <a:avLst/>
          </a:prstGeom>
          <a:noFill/>
          <a:ln/>
        </p:spPr>
        <p:txBody>
          <a:bodyPr wrap="square" lIns="0" tIns="0" rIns="0" bIns="0" rtlCol="0" anchor="t"/>
          <a:lstStyle/>
          <a:p>
            <a:pPr indent="0" marL="0">
              <a:buNone/>
            </a:pPr>
            <a:r>
              <a:rPr lang="en-US" sz="2600" b="1" dirty="0">
                <a:solidFill>
                  <a:schemeClr val="tx2"/>
                </a:solidFill>
              </a:rPr>
              <a:t>Ask why</a:t>
            </a:r>
            <a:endParaRPr lang="en-US" sz="2400" dirty="0"/>
          </a:p>
          <a:p>
            <a:pPr indent="0" marL="0">
              <a:buNone/>
            </a:pPr>
            <a:r>
              <a:rPr lang="en-US" sz="2400" dirty="0">
                <a:solidFill>
                  <a:schemeClr val="tx1"/>
                </a:solidFill>
              </a:rPr>
              <a:t>Keep asking until it makes sense.</a:t>
            </a:r>
            <a:endParaRPr lang="en-US" sz="2400" dirty="0"/>
          </a:p>
        </p:txBody>
      </p:sp>
      <p:sp>
        <p:nvSpPr>
          <p:cNvPr id="16" name="Decorative: card">
            <a:extLst>
              <a:ext uri="{C183D7F6-B498-43B3-948B-1728B52AA6E4}">
                <adec:decorative xmlns:adec="http://schemas.microsoft.com/office/drawing/2017/decorative" val="1"/>
              </a:ext>
            </a:extLst>
          </p:cNvPr>
          <p:cNvSpPr/>
          <p:nvPr/>
        </p:nvSpPr>
        <p:spPr>
          <a:xfrm>
            <a:off x="6255868" y="3520440"/>
            <a:ext cx="5387188" cy="1463040"/>
          </a:xfrm>
          <a:prstGeom prst="roundRect">
            <a:avLst>
              <a:gd name="adj" fmla="val 7500"/>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7" name="Decorative: icon circle">
            <a:extLst>
              <a:ext uri="{C183D7F6-B498-43B3-948B-1728B52AA6E4}">
                <adec:decorative xmlns:adec="http://schemas.microsoft.com/office/drawing/2017/decorative" val="1"/>
              </a:ext>
            </a:extLst>
          </p:cNvPr>
          <p:cNvSpPr/>
          <p:nvPr/>
        </p:nvSpPr>
        <p:spPr>
          <a:xfrm>
            <a:off x="6530188" y="3794760"/>
            <a:ext cx="685800" cy="685800"/>
          </a:xfrm>
          <a:prstGeom prst="ellipse">
            <a:avLst/>
          </a:prstGeom>
          <a:solidFill>
            <a:srgbClr val="00467F"/>
          </a:solidFill>
          <a:ln w="12700">
            <a:solidFill>
              <a:srgbClr val="00467F"/>
            </a:solidFill>
            <a:prstDash val="solid"/>
          </a:ln>
        </p:spPr>
      </p:sp>
      <p:pic>
        <p:nvPicPr>
          <p:cNvPr id="18" name="Decorative: LuShuffle">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681064" y="3945636"/>
            <a:ext cx="384048" cy="384048"/>
          </a:xfrm>
          <a:prstGeom prst="rect">
            <a:avLst/>
          </a:prstGeom>
        </p:spPr>
      </p:pic>
      <p:sp>
        <p:nvSpPr>
          <p:cNvPr id="19" name="Text 13"/>
          <p:cNvSpPr txBox="1"/>
          <p:nvPr/>
        </p:nvSpPr>
        <p:spPr>
          <a:xfrm>
            <a:off x="7444588" y="3721608"/>
            <a:ext cx="3969868" cy="1143000"/>
          </a:xfrm>
          <a:prstGeom prst="rect">
            <a:avLst/>
          </a:prstGeom>
          <a:noFill/>
          <a:ln/>
        </p:spPr>
        <p:txBody>
          <a:bodyPr wrap="square" lIns="0" tIns="0" rIns="0" bIns="0" rtlCol="0" anchor="t"/>
          <a:lstStyle/>
          <a:p>
            <a:pPr indent="0" marL="0">
              <a:buNone/>
            </a:pPr>
            <a:r>
              <a:rPr lang="en-US" sz="2600" b="1" dirty="0">
                <a:solidFill>
                  <a:schemeClr val="tx2"/>
                </a:solidFill>
              </a:rPr>
              <a:t>Interleaving</a:t>
            </a:r>
            <a:endParaRPr lang="en-US" sz="2400" dirty="0"/>
          </a:p>
          <a:p>
            <a:pPr indent="0" marL="0">
              <a:buNone/>
            </a:pPr>
            <a:r>
              <a:rPr lang="en-US" sz="2400" dirty="0">
                <a:solidFill>
                  <a:schemeClr val="tx1"/>
                </a:solidFill>
              </a:rPr>
              <a:t>Mix topics on purpose.</a:t>
            </a:r>
            <a:endParaRPr lang="en-US" sz="2400" dirty="0"/>
          </a:p>
        </p:txBody>
      </p:sp>
      <p:sp>
        <p:nvSpPr>
          <p:cNvPr id="20" name="Decorative: callout">
            <a:extLst>
              <a:ext uri="{C183D7F6-B498-43B3-948B-1728B52AA6E4}">
                <adec:decorative xmlns:adec="http://schemas.microsoft.com/office/drawing/2017/decorative" val="1"/>
              </a:ext>
            </a:extLst>
          </p:cNvPr>
          <p:cNvSpPr/>
          <p:nvPr/>
        </p:nvSpPr>
        <p:spPr>
          <a:xfrm>
            <a:off x="548640" y="5349240"/>
            <a:ext cx="11094415" cy="822960"/>
          </a:xfrm>
          <a:prstGeom prst="roundRect">
            <a:avLst>
              <a:gd name="adj" fmla="val 13333"/>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21" name="Text 15"/>
          <p:cNvSpPr txBox="1"/>
          <p:nvPr/>
        </p:nvSpPr>
        <p:spPr>
          <a:xfrm>
            <a:off x="868680" y="5458968"/>
            <a:ext cx="10454335" cy="603504"/>
          </a:xfrm>
          <a:prstGeom prst="rect">
            <a:avLst/>
          </a:prstGeom>
          <a:noFill/>
          <a:ln/>
        </p:spPr>
        <p:txBody>
          <a:bodyPr wrap="square" lIns="0" tIns="0" rIns="0" bIns="0" rtlCol="0" anchor="ctr"/>
          <a:lstStyle/>
          <a:p>
            <a:pPr indent="0" marL="0">
              <a:buNone/>
            </a:pPr>
            <a:r>
              <a:rPr lang="en-US" sz="2400" b="1" dirty="0">
                <a:solidFill>
                  <a:schemeClr val="tx2"/>
                </a:solidFill>
              </a:rPr>
              <a:t>Rereading, highlighting, and cramming feel productive. They aren't.</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4.3</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SIFT: stop before you scroll</a:t>
            </a:r>
            <a:endParaRPr lang="en-US" sz="4000" dirty="0"/>
          </a:p>
        </p:txBody>
      </p:sp>
      <p:sp>
        <p:nvSpPr>
          <p:cNvPr id="4" name="Decorative: SIFT card">
            <a:extLst>
              <a:ext uri="{C183D7F6-B498-43B3-948B-1728B52AA6E4}">
                <adec:decorative xmlns:adec="http://schemas.microsoft.com/office/drawing/2017/decorative" val="1"/>
              </a:ext>
            </a:extLst>
          </p:cNvPr>
          <p:cNvSpPr/>
          <p:nvPr/>
        </p:nvSpPr>
        <p:spPr>
          <a:xfrm>
            <a:off x="548640" y="1828800"/>
            <a:ext cx="2567864" cy="3017520"/>
          </a:xfrm>
          <a:prstGeom prst="roundRect">
            <a:avLst>
              <a:gd name="adj" fmla="val 4273"/>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5" name="Letter S"/>
          <p:cNvSpPr txBox="1"/>
          <p:nvPr/>
        </p:nvSpPr>
        <p:spPr>
          <a:xfrm>
            <a:off x="822960" y="1965960"/>
            <a:ext cx="1097280" cy="1005840"/>
          </a:xfrm>
          <a:prstGeom prst="rect">
            <a:avLst/>
          </a:prstGeom>
          <a:noFill/>
          <a:ln/>
        </p:spPr>
        <p:txBody>
          <a:bodyPr wrap="square" lIns="0" tIns="0" rIns="0" bIns="0" rtlCol="0" anchor="t"/>
          <a:lstStyle/>
          <a:p>
            <a:pPr indent="0" marL="0">
              <a:buNone/>
            </a:pPr>
            <a:r>
              <a:rPr lang="en-US" sz="6600" b="1" dirty="0">
                <a:solidFill>
                  <a:srgbClr val="7A5500"/>
                </a:solidFill>
              </a:rPr>
              <a:t>S</a:t>
            </a:r>
            <a:endParaRPr lang="en-US" sz="6600" dirty="0"/>
          </a:p>
        </p:txBody>
      </p:sp>
      <p:sp>
        <p:nvSpPr>
          <p:cNvPr id="6" name="Text 4"/>
          <p:cNvSpPr txBox="1"/>
          <p:nvPr/>
        </p:nvSpPr>
        <p:spPr>
          <a:xfrm>
            <a:off x="822960" y="2971800"/>
            <a:ext cx="2019224" cy="1828800"/>
          </a:xfrm>
          <a:prstGeom prst="rect">
            <a:avLst/>
          </a:prstGeom>
          <a:noFill/>
          <a:ln/>
        </p:spPr>
        <p:txBody>
          <a:bodyPr wrap="square" lIns="0" tIns="0" rIns="0" bIns="0" rtlCol="0" anchor="t"/>
          <a:lstStyle/>
          <a:p>
            <a:pPr indent="0" marL="0">
              <a:buNone/>
            </a:pPr>
            <a:r>
              <a:rPr lang="en-US" sz="2600" b="1" dirty="0">
                <a:solidFill>
                  <a:schemeClr val="tx2"/>
                </a:solidFill>
              </a:rPr>
              <a:t>Stop</a:t>
            </a:r>
            <a:endParaRPr lang="en-US" sz="2400" dirty="0"/>
          </a:p>
          <a:p>
            <a:pPr indent="0" marL="0">
              <a:spcBef>
                <a:spcPts val="600"/>
              </a:spcBef>
              <a:buNone/>
            </a:pPr>
            <a:r>
              <a:rPr lang="en-US" sz="2400" dirty="0">
                <a:solidFill>
                  <a:schemeClr val="tx1"/>
                </a:solidFill>
              </a:rPr>
              <a:t>Pause before you react or share.</a:t>
            </a:r>
            <a:endParaRPr lang="en-US" sz="2400" dirty="0"/>
          </a:p>
        </p:txBody>
      </p:sp>
      <p:sp>
        <p:nvSpPr>
          <p:cNvPr id="7" name="Decorative: SIFT card">
            <a:extLst>
              <a:ext uri="{C183D7F6-B498-43B3-948B-1728B52AA6E4}">
                <adec:decorative xmlns:adec="http://schemas.microsoft.com/office/drawing/2017/decorative" val="1"/>
              </a:ext>
            </a:extLst>
          </p:cNvPr>
          <p:cNvSpPr/>
          <p:nvPr/>
        </p:nvSpPr>
        <p:spPr>
          <a:xfrm>
            <a:off x="3390824" y="1828800"/>
            <a:ext cx="2567864" cy="3017520"/>
          </a:xfrm>
          <a:prstGeom prst="roundRect">
            <a:avLst>
              <a:gd name="adj" fmla="val 427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8" name="Letter I"/>
          <p:cNvSpPr txBox="1"/>
          <p:nvPr/>
        </p:nvSpPr>
        <p:spPr>
          <a:xfrm>
            <a:off x="3665144" y="1965960"/>
            <a:ext cx="1097280" cy="1005840"/>
          </a:xfrm>
          <a:prstGeom prst="rect">
            <a:avLst/>
          </a:prstGeom>
          <a:noFill/>
          <a:ln/>
        </p:spPr>
        <p:txBody>
          <a:bodyPr wrap="square" lIns="0" tIns="0" rIns="0" bIns="0" rtlCol="0" anchor="t"/>
          <a:lstStyle/>
          <a:p>
            <a:pPr indent="0" marL="0">
              <a:buNone/>
            </a:pPr>
            <a:r>
              <a:rPr lang="en-US" sz="6600" b="1" dirty="0">
                <a:solidFill>
                  <a:schemeClr val="accent1"/>
                </a:solidFill>
              </a:rPr>
              <a:t>I</a:t>
            </a:r>
            <a:endParaRPr lang="en-US" sz="6600" dirty="0"/>
          </a:p>
        </p:txBody>
      </p:sp>
      <p:sp>
        <p:nvSpPr>
          <p:cNvPr id="9" name="Text 7"/>
          <p:cNvSpPr txBox="1"/>
          <p:nvPr/>
        </p:nvSpPr>
        <p:spPr>
          <a:xfrm>
            <a:off x="3665144" y="2971800"/>
            <a:ext cx="2019224" cy="1828800"/>
          </a:xfrm>
          <a:prstGeom prst="rect">
            <a:avLst/>
          </a:prstGeom>
          <a:noFill/>
          <a:ln/>
        </p:spPr>
        <p:txBody>
          <a:bodyPr wrap="square" lIns="0" tIns="0" rIns="0" bIns="0" rtlCol="0" anchor="t"/>
          <a:lstStyle/>
          <a:p>
            <a:pPr indent="0" marL="0">
              <a:buNone/>
            </a:pPr>
            <a:r>
              <a:rPr lang="en-US" sz="2600" b="1" dirty="0">
                <a:solidFill>
                  <a:schemeClr val="tx2"/>
                </a:solidFill>
              </a:rPr>
              <a:t>Investigate the source</a:t>
            </a:r>
            <a:endParaRPr lang="en-US" sz="2400" dirty="0"/>
          </a:p>
          <a:p>
            <a:pPr indent="0" marL="0">
              <a:spcBef>
                <a:spcPts val="600"/>
              </a:spcBef>
              <a:buNone/>
            </a:pPr>
            <a:r>
              <a:rPr lang="en-US" sz="2400" dirty="0">
                <a:solidFill>
                  <a:schemeClr val="tx1"/>
                </a:solidFill>
              </a:rPr>
              <a:t>Who is behind this?</a:t>
            </a:r>
            <a:endParaRPr lang="en-US" sz="2400" dirty="0"/>
          </a:p>
        </p:txBody>
      </p:sp>
      <p:sp>
        <p:nvSpPr>
          <p:cNvPr id="10" name="Decorative: SIFT card">
            <a:extLst>
              <a:ext uri="{C183D7F6-B498-43B3-948B-1728B52AA6E4}">
                <adec:decorative xmlns:adec="http://schemas.microsoft.com/office/drawing/2017/decorative" val="1"/>
              </a:ext>
            </a:extLst>
          </p:cNvPr>
          <p:cNvSpPr/>
          <p:nvPr/>
        </p:nvSpPr>
        <p:spPr>
          <a:xfrm>
            <a:off x="6233008" y="1828800"/>
            <a:ext cx="2567864" cy="3017520"/>
          </a:xfrm>
          <a:prstGeom prst="roundRect">
            <a:avLst>
              <a:gd name="adj" fmla="val 427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1" name="Letter F"/>
          <p:cNvSpPr txBox="1"/>
          <p:nvPr/>
        </p:nvSpPr>
        <p:spPr>
          <a:xfrm>
            <a:off x="6507328" y="1965960"/>
            <a:ext cx="1097280" cy="1005840"/>
          </a:xfrm>
          <a:prstGeom prst="rect">
            <a:avLst/>
          </a:prstGeom>
          <a:noFill/>
          <a:ln/>
        </p:spPr>
        <p:txBody>
          <a:bodyPr wrap="square" lIns="0" tIns="0" rIns="0" bIns="0" rtlCol="0" anchor="t"/>
          <a:lstStyle/>
          <a:p>
            <a:pPr indent="0" marL="0">
              <a:buNone/>
            </a:pPr>
            <a:r>
              <a:rPr lang="en-US" sz="6600" b="1" dirty="0">
                <a:solidFill>
                  <a:schemeClr val="accent1"/>
                </a:solidFill>
              </a:rPr>
              <a:t>F</a:t>
            </a:r>
            <a:endParaRPr lang="en-US" sz="6600" dirty="0"/>
          </a:p>
        </p:txBody>
      </p:sp>
      <p:sp>
        <p:nvSpPr>
          <p:cNvPr id="12" name="Text 10"/>
          <p:cNvSpPr txBox="1"/>
          <p:nvPr/>
        </p:nvSpPr>
        <p:spPr>
          <a:xfrm>
            <a:off x="6507328" y="2971800"/>
            <a:ext cx="2019224" cy="1828800"/>
          </a:xfrm>
          <a:prstGeom prst="rect">
            <a:avLst/>
          </a:prstGeom>
          <a:noFill/>
          <a:ln/>
        </p:spPr>
        <p:txBody>
          <a:bodyPr wrap="square" lIns="0" tIns="0" rIns="0" bIns="0" rtlCol="0" anchor="t"/>
          <a:lstStyle/>
          <a:p>
            <a:pPr indent="0" marL="0">
              <a:buNone/>
            </a:pPr>
            <a:r>
              <a:rPr lang="en-US" sz="2600" b="1" dirty="0">
                <a:solidFill>
                  <a:schemeClr val="tx2"/>
                </a:solidFill>
              </a:rPr>
              <a:t>Find better coverage</a:t>
            </a:r>
            <a:endParaRPr lang="en-US" sz="2400" dirty="0"/>
          </a:p>
          <a:p>
            <a:pPr indent="0" marL="0">
              <a:spcBef>
                <a:spcPts val="600"/>
              </a:spcBef>
              <a:buNone/>
            </a:pPr>
            <a:r>
              <a:rPr lang="en-US" sz="2400" dirty="0">
                <a:solidFill>
                  <a:schemeClr val="tx1"/>
                </a:solidFill>
              </a:rPr>
              <a:t>What do other sources say?</a:t>
            </a:r>
            <a:endParaRPr lang="en-US" sz="2400" dirty="0"/>
          </a:p>
        </p:txBody>
      </p:sp>
      <p:sp>
        <p:nvSpPr>
          <p:cNvPr id="13" name="Decorative: SIFT card">
            <a:extLst>
              <a:ext uri="{C183D7F6-B498-43B3-948B-1728B52AA6E4}">
                <adec:decorative xmlns:adec="http://schemas.microsoft.com/office/drawing/2017/decorative" val="1"/>
              </a:ext>
            </a:extLst>
          </p:cNvPr>
          <p:cNvSpPr/>
          <p:nvPr/>
        </p:nvSpPr>
        <p:spPr>
          <a:xfrm>
            <a:off x="9075191" y="1828800"/>
            <a:ext cx="2567864" cy="3017520"/>
          </a:xfrm>
          <a:prstGeom prst="roundRect">
            <a:avLst>
              <a:gd name="adj" fmla="val 427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4" name="Letter T"/>
          <p:cNvSpPr txBox="1"/>
          <p:nvPr/>
        </p:nvSpPr>
        <p:spPr>
          <a:xfrm>
            <a:off x="9349511" y="1965960"/>
            <a:ext cx="1097280" cy="1005840"/>
          </a:xfrm>
          <a:prstGeom prst="rect">
            <a:avLst/>
          </a:prstGeom>
          <a:noFill/>
          <a:ln/>
        </p:spPr>
        <p:txBody>
          <a:bodyPr wrap="square" lIns="0" tIns="0" rIns="0" bIns="0" rtlCol="0" anchor="t"/>
          <a:lstStyle/>
          <a:p>
            <a:pPr indent="0" marL="0">
              <a:buNone/>
            </a:pPr>
            <a:r>
              <a:rPr lang="en-US" sz="6600" b="1" dirty="0">
                <a:solidFill>
                  <a:schemeClr val="accent1"/>
                </a:solidFill>
              </a:rPr>
              <a:t>T</a:t>
            </a:r>
            <a:endParaRPr lang="en-US" sz="6600" dirty="0"/>
          </a:p>
        </p:txBody>
      </p:sp>
      <p:sp>
        <p:nvSpPr>
          <p:cNvPr id="15" name="Text 13"/>
          <p:cNvSpPr txBox="1"/>
          <p:nvPr/>
        </p:nvSpPr>
        <p:spPr>
          <a:xfrm>
            <a:off x="9349511" y="2971800"/>
            <a:ext cx="2019224" cy="1828800"/>
          </a:xfrm>
          <a:prstGeom prst="rect">
            <a:avLst/>
          </a:prstGeom>
          <a:noFill/>
          <a:ln/>
        </p:spPr>
        <p:txBody>
          <a:bodyPr wrap="square" lIns="0" tIns="0" rIns="0" bIns="0" rtlCol="0" anchor="t"/>
          <a:lstStyle/>
          <a:p>
            <a:pPr indent="0" marL="0">
              <a:buNone/>
            </a:pPr>
            <a:r>
              <a:rPr lang="en-US" sz="2600" b="1" dirty="0">
                <a:solidFill>
                  <a:schemeClr val="tx2"/>
                </a:solidFill>
              </a:rPr>
              <a:t>Trace it</a:t>
            </a:r>
            <a:endParaRPr lang="en-US" sz="2400" dirty="0"/>
          </a:p>
          <a:p>
            <a:pPr indent="0" marL="0">
              <a:spcBef>
                <a:spcPts val="600"/>
              </a:spcBef>
              <a:buNone/>
            </a:pPr>
            <a:r>
              <a:rPr lang="en-US" sz="2400" dirty="0">
                <a:solidFill>
                  <a:schemeClr val="tx1"/>
                </a:solidFill>
              </a:rPr>
              <a:t>Go back to the original claim, quote, or image.</a:t>
            </a:r>
            <a:endParaRPr lang="en-US" sz="2400" dirty="0"/>
          </a:p>
        </p:txBody>
      </p:sp>
      <p:sp>
        <p:nvSpPr>
          <p:cNvPr id="16" name="Decorative: callout">
            <a:extLst>
              <a:ext uri="{C183D7F6-B498-43B3-948B-1728B52AA6E4}">
                <adec:decorative xmlns:adec="http://schemas.microsoft.com/office/drawing/2017/decorative" val="1"/>
              </a:ext>
            </a:extLst>
          </p:cNvPr>
          <p:cNvSpPr/>
          <p:nvPr/>
        </p:nvSpPr>
        <p:spPr>
          <a:xfrm>
            <a:off x="548640" y="5212080"/>
            <a:ext cx="11094415" cy="822960"/>
          </a:xfrm>
          <a:prstGeom prst="roundRect">
            <a:avLst>
              <a:gd name="adj" fmla="val 13333"/>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7" name="Text 15"/>
          <p:cNvSpPr txBox="1"/>
          <p:nvPr/>
        </p:nvSpPr>
        <p:spPr>
          <a:xfrm>
            <a:off x="868680" y="5321808"/>
            <a:ext cx="10454335" cy="603504"/>
          </a:xfrm>
          <a:prstGeom prst="rect">
            <a:avLst/>
          </a:prstGeom>
          <a:noFill/>
          <a:ln/>
        </p:spPr>
        <p:txBody>
          <a:bodyPr wrap="square" lIns="0" tIns="0" rIns="0" bIns="0" rtlCol="0" anchor="ctr"/>
          <a:lstStyle/>
          <a:p>
            <a:pPr indent="0" marL="0">
              <a:buNone/>
            </a:pPr>
            <a:r>
              <a:rPr lang="en-US" sz="2400" b="1" dirty="0">
                <a:solidFill>
                  <a:schemeClr val="tx2"/>
                </a:solidFill>
              </a:rPr>
              <a:t>AI sounds confident because of how it writes, not because it's right. SIFT it too.</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LESSON 4.4</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Beware of the creep</a:t>
            </a:r>
            <a:endParaRPr lang="en-US" sz="4000" dirty="0"/>
          </a:p>
        </p:txBody>
      </p:sp>
      <p:sp>
        <p:nvSpPr>
          <p:cNvPr id="4" name="Text 2"/>
          <p:cNvSpPr txBox="1"/>
          <p:nvPr/>
        </p:nvSpPr>
        <p:spPr>
          <a:xfrm>
            <a:off x="548640" y="1783080"/>
            <a:ext cx="11094415" cy="548640"/>
          </a:xfrm>
          <a:prstGeom prst="rect">
            <a:avLst/>
          </a:prstGeom>
          <a:noFill/>
          <a:ln/>
        </p:spPr>
        <p:txBody>
          <a:bodyPr wrap="square" lIns="0" tIns="0" rIns="0" bIns="0" rtlCol="0" anchor="t"/>
          <a:lstStyle/>
          <a:p>
            <a:pPr indent="0" marL="0">
              <a:buNone/>
            </a:pPr>
            <a:r>
              <a:rPr lang="en-US" sz="2600" dirty="0">
                <a:solidFill>
                  <a:schemeClr val="tx1"/>
                </a:solidFill>
              </a:rPr>
              <a:t>AI creep: AI's role in your work grows one small, reasonable step at a time.</a:t>
            </a:r>
            <a:endParaRPr lang="en-US" sz="2600" dirty="0"/>
          </a:p>
        </p:txBody>
      </p:sp>
      <p:sp>
        <p:nvSpPr>
          <p:cNvPr id="5" name="Decorative: creep meter step">
            <a:extLst>
              <a:ext uri="{C183D7F6-B498-43B3-948B-1728B52AA6E4}">
                <adec:decorative xmlns:adec="http://schemas.microsoft.com/office/drawing/2017/decorative" val="1"/>
              </a:ext>
            </a:extLst>
          </p:cNvPr>
          <p:cNvSpPr/>
          <p:nvPr/>
        </p:nvSpPr>
        <p:spPr>
          <a:xfrm>
            <a:off x="548640" y="2606040"/>
            <a:ext cx="1734769" cy="1097280"/>
          </a:xfrm>
          <a:prstGeom prst="roundRect">
            <a:avLst>
              <a:gd name="adj" fmla="val 10000"/>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6" name="Text 4"/>
          <p:cNvSpPr txBox="1"/>
          <p:nvPr/>
        </p:nvSpPr>
        <p:spPr>
          <a:xfrm>
            <a:off x="548640" y="2606040"/>
            <a:ext cx="1734769" cy="1097280"/>
          </a:xfrm>
          <a:prstGeom prst="rect">
            <a:avLst/>
          </a:prstGeom>
          <a:noFill/>
          <a:ln/>
        </p:spPr>
        <p:txBody>
          <a:bodyPr wrap="square" lIns="0" tIns="0" rIns="0" bIns="0" rtlCol="0" anchor="ctr"/>
          <a:lstStyle/>
          <a:p>
            <a:pPr algn="ctr" indent="0" marL="0">
              <a:buNone/>
            </a:pPr>
            <a:r>
              <a:rPr lang="en-US" sz="2000" b="1" dirty="0">
                <a:solidFill>
                  <a:schemeClr val="tx2"/>
                </a:solidFill>
              </a:rPr>
              <a:t>Brainstorming</a:t>
            </a:r>
            <a:endParaRPr lang="en-US" sz="2000" dirty="0"/>
          </a:p>
        </p:txBody>
      </p:sp>
      <p:sp>
        <p:nvSpPr>
          <p:cNvPr id="7" name="Decorative: creep meter step">
            <a:extLst>
              <a:ext uri="{C183D7F6-B498-43B3-948B-1728B52AA6E4}">
                <adec:decorative xmlns:adec="http://schemas.microsoft.com/office/drawing/2017/decorative" val="1"/>
              </a:ext>
            </a:extLst>
          </p:cNvPr>
          <p:cNvSpPr/>
          <p:nvPr/>
        </p:nvSpPr>
        <p:spPr>
          <a:xfrm>
            <a:off x="2420569" y="2606040"/>
            <a:ext cx="1734769" cy="1097280"/>
          </a:xfrm>
          <a:prstGeom prst="roundRect">
            <a:avLst>
              <a:gd name="adj" fmla="val 10000"/>
            </a:avLst>
          </a:prstGeom>
          <a:solidFill>
            <a:srgbClr val="D6EAF7"/>
          </a:solidFill>
          <a:ln w="12700">
            <a:solidFill>
              <a:srgbClr val="D6EAF7"/>
            </a:solidFill>
            <a:prstDash val="solid"/>
          </a:ln>
          <a:effectLst>
            <a:outerShdw sx="100000" sy="100000" kx="0" ky="0" algn="bl" rotWithShape="0" blurRad="101600" dist="25400" dir="5400000">
              <a:srgbClr val="000000">
                <a:alpha val="12000"/>
              </a:srgbClr>
            </a:outerShdw>
          </a:effectLst>
        </p:spPr>
      </p:sp>
      <p:sp>
        <p:nvSpPr>
          <p:cNvPr id="8" name="Text 6"/>
          <p:cNvSpPr txBox="1"/>
          <p:nvPr/>
        </p:nvSpPr>
        <p:spPr>
          <a:xfrm>
            <a:off x="2420569" y="2606040"/>
            <a:ext cx="1734769" cy="1097280"/>
          </a:xfrm>
          <a:prstGeom prst="rect">
            <a:avLst/>
          </a:prstGeom>
          <a:noFill/>
          <a:ln/>
        </p:spPr>
        <p:txBody>
          <a:bodyPr wrap="square" lIns="0" tIns="0" rIns="0" bIns="0" rtlCol="0" anchor="ctr"/>
          <a:lstStyle/>
          <a:p>
            <a:pPr algn="ctr" indent="0" marL="0">
              <a:buNone/>
            </a:pPr>
            <a:r>
              <a:rPr lang="en-US" sz="2000" b="1" dirty="0">
                <a:solidFill>
                  <a:schemeClr val="tx2"/>
                </a:solidFill>
              </a:rPr>
              <a:t>Outlining</a:t>
            </a:r>
            <a:endParaRPr lang="en-US" sz="2000" dirty="0"/>
          </a:p>
        </p:txBody>
      </p:sp>
      <p:sp>
        <p:nvSpPr>
          <p:cNvPr id="9" name="Decorative: creep meter step">
            <a:extLst>
              <a:ext uri="{C183D7F6-B498-43B3-948B-1728B52AA6E4}">
                <adec:decorative xmlns:adec="http://schemas.microsoft.com/office/drawing/2017/decorative" val="1"/>
              </a:ext>
            </a:extLst>
          </p:cNvPr>
          <p:cNvSpPr/>
          <p:nvPr/>
        </p:nvSpPr>
        <p:spPr>
          <a:xfrm>
            <a:off x="4292498" y="2606040"/>
            <a:ext cx="1734769" cy="1097280"/>
          </a:xfrm>
          <a:prstGeom prst="roundRect">
            <a:avLst>
              <a:gd name="adj" fmla="val 10000"/>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0" name="Text 8"/>
          <p:cNvSpPr txBox="1"/>
          <p:nvPr/>
        </p:nvSpPr>
        <p:spPr>
          <a:xfrm>
            <a:off x="4292498" y="2606040"/>
            <a:ext cx="1734769" cy="1097280"/>
          </a:xfrm>
          <a:prstGeom prst="rect">
            <a:avLst/>
          </a:prstGeom>
          <a:noFill/>
          <a:ln/>
        </p:spPr>
        <p:txBody>
          <a:bodyPr wrap="square" lIns="0" tIns="0" rIns="0" bIns="0" rtlCol="0" anchor="ctr"/>
          <a:lstStyle/>
          <a:p>
            <a:pPr algn="ctr" indent="0" marL="0">
              <a:buNone/>
            </a:pPr>
            <a:r>
              <a:rPr lang="en-US" sz="2000" b="1" dirty="0">
                <a:solidFill>
                  <a:schemeClr val="tx2"/>
                </a:solidFill>
              </a:rPr>
              <a:t>Drafting</a:t>
            </a:r>
            <a:endParaRPr lang="en-US" sz="2000" dirty="0"/>
          </a:p>
        </p:txBody>
      </p:sp>
      <p:sp>
        <p:nvSpPr>
          <p:cNvPr id="11" name="Decorative: creep meter step">
            <a:extLst>
              <a:ext uri="{C183D7F6-B498-43B3-948B-1728B52AA6E4}">
                <adec:decorative xmlns:adec="http://schemas.microsoft.com/office/drawing/2017/decorative" val="1"/>
              </a:ext>
            </a:extLst>
          </p:cNvPr>
          <p:cNvSpPr/>
          <p:nvPr/>
        </p:nvSpPr>
        <p:spPr>
          <a:xfrm>
            <a:off x="6164428" y="2606040"/>
            <a:ext cx="1734769" cy="1097280"/>
          </a:xfrm>
          <a:prstGeom prst="roundRect">
            <a:avLst>
              <a:gd name="adj" fmla="val 10000"/>
            </a:avLst>
          </a:prstGeom>
          <a:solidFill>
            <a:srgbClr val="FBE7B5"/>
          </a:solidFill>
          <a:ln w="12700">
            <a:solidFill>
              <a:srgbClr val="FBE7B5"/>
            </a:solidFill>
            <a:prstDash val="solid"/>
          </a:ln>
          <a:effectLst>
            <a:outerShdw sx="100000" sy="100000" kx="0" ky="0" algn="bl" rotWithShape="0" blurRad="101600" dist="25400" dir="5400000">
              <a:srgbClr val="000000">
                <a:alpha val="12000"/>
              </a:srgbClr>
            </a:outerShdw>
          </a:effectLst>
        </p:spPr>
      </p:sp>
      <p:sp>
        <p:nvSpPr>
          <p:cNvPr id="12" name="Text 10"/>
          <p:cNvSpPr txBox="1"/>
          <p:nvPr/>
        </p:nvSpPr>
        <p:spPr>
          <a:xfrm>
            <a:off x="6164428" y="2606040"/>
            <a:ext cx="1734769" cy="1097280"/>
          </a:xfrm>
          <a:prstGeom prst="rect">
            <a:avLst/>
          </a:prstGeom>
          <a:noFill/>
          <a:ln/>
        </p:spPr>
        <p:txBody>
          <a:bodyPr wrap="square" lIns="0" tIns="0" rIns="0" bIns="0" rtlCol="0" anchor="ctr"/>
          <a:lstStyle/>
          <a:p>
            <a:pPr algn="ctr" indent="0" marL="0">
              <a:buNone/>
            </a:pPr>
            <a:r>
              <a:rPr lang="en-US" sz="2000" b="1" dirty="0">
                <a:solidFill>
                  <a:schemeClr val="tx2"/>
                </a:solidFill>
              </a:rPr>
              <a:t>Revising</a:t>
            </a:r>
            <a:endParaRPr lang="en-US" sz="2000" dirty="0"/>
          </a:p>
        </p:txBody>
      </p:sp>
      <p:sp>
        <p:nvSpPr>
          <p:cNvPr id="13" name="Decorative: creep meter step">
            <a:extLst>
              <a:ext uri="{C183D7F6-B498-43B3-948B-1728B52AA6E4}">
                <adec:decorative xmlns:adec="http://schemas.microsoft.com/office/drawing/2017/decorative" val="1"/>
              </a:ext>
            </a:extLst>
          </p:cNvPr>
          <p:cNvSpPr/>
          <p:nvPr/>
        </p:nvSpPr>
        <p:spPr>
          <a:xfrm>
            <a:off x="8036357" y="2606040"/>
            <a:ext cx="1734769" cy="1097280"/>
          </a:xfrm>
          <a:prstGeom prst="roundRect">
            <a:avLst>
              <a:gd name="adj" fmla="val 10000"/>
            </a:avLst>
          </a:prstGeom>
          <a:solidFill>
            <a:srgbClr val="F6D27E"/>
          </a:solidFill>
          <a:ln w="12700">
            <a:solidFill>
              <a:srgbClr val="F6D27E"/>
            </a:solidFill>
            <a:prstDash val="solid"/>
          </a:ln>
          <a:effectLst>
            <a:outerShdw sx="100000" sy="100000" kx="0" ky="0" algn="bl" rotWithShape="0" blurRad="101600" dist="25400" dir="5400000">
              <a:srgbClr val="000000">
                <a:alpha val="12000"/>
              </a:srgbClr>
            </a:outerShdw>
          </a:effectLst>
        </p:spPr>
      </p:sp>
      <p:sp>
        <p:nvSpPr>
          <p:cNvPr id="14" name="Text 12"/>
          <p:cNvSpPr txBox="1"/>
          <p:nvPr/>
        </p:nvSpPr>
        <p:spPr>
          <a:xfrm>
            <a:off x="8036357" y="2606040"/>
            <a:ext cx="1734769" cy="1097280"/>
          </a:xfrm>
          <a:prstGeom prst="rect">
            <a:avLst/>
          </a:prstGeom>
          <a:noFill/>
          <a:ln/>
        </p:spPr>
        <p:txBody>
          <a:bodyPr wrap="square" lIns="0" tIns="0" rIns="0" bIns="0" rtlCol="0" anchor="ctr"/>
          <a:lstStyle/>
          <a:p>
            <a:pPr algn="ctr" indent="0" marL="0">
              <a:buNone/>
            </a:pPr>
            <a:r>
              <a:rPr lang="en-US" sz="2000" b="1" dirty="0">
                <a:solidFill>
                  <a:schemeClr val="tx2"/>
                </a:solidFill>
              </a:rPr>
              <a:t>Rewriting</a:t>
            </a:r>
            <a:endParaRPr lang="en-US" sz="2000" dirty="0"/>
          </a:p>
        </p:txBody>
      </p:sp>
      <p:sp>
        <p:nvSpPr>
          <p:cNvPr id="15" name="Decorative: creep meter step">
            <a:extLst>
              <a:ext uri="{C183D7F6-B498-43B3-948B-1728B52AA6E4}">
                <adec:decorative xmlns:adec="http://schemas.microsoft.com/office/drawing/2017/decorative" val="1"/>
              </a:ext>
            </a:extLst>
          </p:cNvPr>
          <p:cNvSpPr/>
          <p:nvPr/>
        </p:nvSpPr>
        <p:spPr>
          <a:xfrm>
            <a:off x="9908286" y="2606040"/>
            <a:ext cx="1734769" cy="1097280"/>
          </a:xfrm>
          <a:prstGeom prst="roundRect">
            <a:avLst>
              <a:gd name="adj" fmla="val 10000"/>
            </a:avLst>
          </a:prstGeom>
          <a:solidFill>
            <a:srgbClr val="E7A614"/>
          </a:solidFill>
          <a:ln w="12700">
            <a:solidFill>
              <a:srgbClr val="E7A614"/>
            </a:solidFill>
            <a:prstDash val="solid"/>
          </a:ln>
          <a:effectLst>
            <a:outerShdw sx="100000" sy="100000" kx="0" ky="0" algn="bl" rotWithShape="0" blurRad="101600" dist="25400" dir="5400000">
              <a:srgbClr val="000000">
                <a:alpha val="12000"/>
              </a:srgbClr>
            </a:outerShdw>
          </a:effectLst>
        </p:spPr>
      </p:sp>
      <p:sp>
        <p:nvSpPr>
          <p:cNvPr id="16" name="Text 14"/>
          <p:cNvSpPr txBox="1"/>
          <p:nvPr/>
        </p:nvSpPr>
        <p:spPr>
          <a:xfrm>
            <a:off x="9908286" y="2606040"/>
            <a:ext cx="1734769" cy="1097280"/>
          </a:xfrm>
          <a:prstGeom prst="rect">
            <a:avLst/>
          </a:prstGeom>
          <a:noFill/>
          <a:ln/>
        </p:spPr>
        <p:txBody>
          <a:bodyPr wrap="square" lIns="0" tIns="0" rIns="0" bIns="0" rtlCol="0" anchor="ctr"/>
          <a:lstStyle/>
          <a:p>
            <a:pPr algn="ctr" indent="0" marL="0">
              <a:buNone/>
            </a:pPr>
            <a:r>
              <a:rPr lang="en-US" sz="2000" b="1" dirty="0">
                <a:solidFill>
                  <a:schemeClr val="tx2"/>
                </a:solidFill>
              </a:rPr>
              <a:t>Submitting</a:t>
            </a:r>
            <a:endParaRPr lang="en-US" sz="2000" dirty="0"/>
          </a:p>
        </p:txBody>
      </p:sp>
      <p:sp>
        <p:nvSpPr>
          <p:cNvPr id="17" name="Text 15"/>
          <p:cNvSpPr txBox="1"/>
          <p:nvPr/>
        </p:nvSpPr>
        <p:spPr>
          <a:xfrm>
            <a:off x="548640" y="3794760"/>
            <a:ext cx="2743200" cy="411480"/>
          </a:xfrm>
          <a:prstGeom prst="rect">
            <a:avLst/>
          </a:prstGeom>
          <a:noFill/>
          <a:ln/>
        </p:spPr>
        <p:txBody>
          <a:bodyPr wrap="square" lIns="0" tIns="0" rIns="0" bIns="0" rtlCol="0" anchor="t"/>
          <a:lstStyle/>
          <a:p>
            <a:pPr indent="0" marL="0">
              <a:buNone/>
            </a:pPr>
            <a:r>
              <a:rPr lang="en-US" sz="2000" dirty="0">
                <a:solidFill>
                  <a:schemeClr val="accent6"/>
                </a:solidFill>
              </a:rPr>
              <a:t>Lower stakes</a:t>
            </a:r>
            <a:endParaRPr lang="en-US" sz="2000" dirty="0"/>
          </a:p>
        </p:txBody>
      </p:sp>
      <p:sp>
        <p:nvSpPr>
          <p:cNvPr id="18" name="Text 16"/>
          <p:cNvSpPr txBox="1"/>
          <p:nvPr/>
        </p:nvSpPr>
        <p:spPr>
          <a:xfrm>
            <a:off x="8899855" y="3794760"/>
            <a:ext cx="2743200" cy="411480"/>
          </a:xfrm>
          <a:prstGeom prst="rect">
            <a:avLst/>
          </a:prstGeom>
          <a:noFill/>
          <a:ln/>
        </p:spPr>
        <p:txBody>
          <a:bodyPr wrap="square" lIns="0" tIns="0" rIns="0" bIns="0" rtlCol="0" anchor="t"/>
          <a:lstStyle/>
          <a:p>
            <a:pPr algn="r" indent="0" marL="0">
              <a:buNone/>
            </a:pPr>
            <a:r>
              <a:rPr lang="en-US" sz="2000" dirty="0">
                <a:solidFill>
                  <a:schemeClr val="accent6"/>
                </a:solidFill>
              </a:rPr>
              <a:t>Higher stakes</a:t>
            </a:r>
            <a:endParaRPr lang="en-US" sz="2000" dirty="0"/>
          </a:p>
        </p:txBody>
      </p:sp>
      <p:sp>
        <p:nvSpPr>
          <p:cNvPr id="19" name="Decorative: callout">
            <a:extLst>
              <a:ext uri="{C183D7F6-B498-43B3-948B-1728B52AA6E4}">
                <adec:decorative xmlns:adec="http://schemas.microsoft.com/office/drawing/2017/decorative" val="1"/>
              </a:ext>
            </a:extLst>
          </p:cNvPr>
          <p:cNvSpPr/>
          <p:nvPr/>
        </p:nvSpPr>
        <p:spPr>
          <a:xfrm>
            <a:off x="548640" y="4754880"/>
            <a:ext cx="11094415" cy="822960"/>
          </a:xfrm>
          <a:prstGeom prst="roundRect">
            <a:avLst>
              <a:gd name="adj" fmla="val 13333"/>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20" name="Text 18"/>
          <p:cNvSpPr txBox="1"/>
          <p:nvPr/>
        </p:nvSpPr>
        <p:spPr>
          <a:xfrm>
            <a:off x="868680" y="4864608"/>
            <a:ext cx="10454335" cy="603504"/>
          </a:xfrm>
          <a:prstGeom prst="rect">
            <a:avLst/>
          </a:prstGeom>
          <a:noFill/>
          <a:ln/>
        </p:spPr>
        <p:txBody>
          <a:bodyPr wrap="square" lIns="0" tIns="0" rIns="0" bIns="0" rtlCol="0" anchor="ctr"/>
          <a:lstStyle/>
          <a:p>
            <a:pPr indent="0" marL="0">
              <a:buNone/>
            </a:pPr>
            <a:r>
              <a:rPr lang="en-US" sz="2400" b="1" dirty="0">
                <a:solidFill>
                  <a:schemeClr val="tx2"/>
                </a:solidFill>
              </a:rPr>
              <a:t>Set your boundary before you open the chat.</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TRAIL TIP</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Recording in class: ask first</a:t>
            </a:r>
            <a:endParaRPr lang="en-US" sz="4000" dirty="0"/>
          </a:p>
        </p:txBody>
      </p:sp>
      <p:sp>
        <p:nvSpPr>
          <p:cNvPr id="4" name="Decorative: icon circle">
            <a:extLst>
              <a:ext uri="{C183D7F6-B498-43B3-948B-1728B52AA6E4}">
                <adec:decorative xmlns:adec="http://schemas.microsoft.com/office/drawing/2017/decorative" val="1"/>
              </a:ext>
            </a:extLst>
          </p:cNvPr>
          <p:cNvSpPr/>
          <p:nvPr/>
        </p:nvSpPr>
        <p:spPr>
          <a:xfrm>
            <a:off x="548640" y="1920240"/>
            <a:ext cx="548640" cy="548640"/>
          </a:xfrm>
          <a:prstGeom prst="ellipse">
            <a:avLst/>
          </a:prstGeom>
          <a:solidFill>
            <a:srgbClr val="00467F"/>
          </a:solidFill>
          <a:ln w="12700">
            <a:solidFill>
              <a:srgbClr val="00467F"/>
            </a:solidFill>
            <a:prstDash val="solid"/>
          </a:ln>
        </p:spPr>
      </p:sp>
      <p:pic>
        <p:nvPicPr>
          <p:cNvPr id="5" name="Decorative: LuBookOpen">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69341" y="2040941"/>
            <a:ext cx="307238" cy="307238"/>
          </a:xfrm>
          <a:prstGeom prst="rect">
            <a:avLst/>
          </a:prstGeom>
        </p:spPr>
      </p:pic>
      <p:sp>
        <p:nvSpPr>
          <p:cNvPr id="6" name="Text 3"/>
          <p:cNvSpPr txBox="1"/>
          <p:nvPr/>
        </p:nvSpPr>
        <p:spPr>
          <a:xfrm>
            <a:off x="1325880" y="1920240"/>
            <a:ext cx="10241280" cy="548640"/>
          </a:xfrm>
          <a:prstGeom prst="rect">
            <a:avLst/>
          </a:prstGeom>
          <a:noFill/>
          <a:ln/>
        </p:spPr>
        <p:txBody>
          <a:bodyPr wrap="square" lIns="0" tIns="0" rIns="0" bIns="0" rtlCol="0" anchor="ctr"/>
          <a:lstStyle/>
          <a:p>
            <a:pPr indent="0" marL="0">
              <a:buNone/>
            </a:pPr>
            <a:r>
              <a:rPr lang="en-US" sz="2400" b="1" dirty="0">
                <a:solidFill>
                  <a:schemeClr val="tx2"/>
                </a:solidFill>
              </a:rPr>
              <a:t>Respect the course</a:t>
            </a:r>
            <a:pPr indent="0" marL="0">
              <a:buNone/>
            </a:pPr>
            <a:r>
              <a:rPr lang="en-US" sz="2400" dirty="0">
                <a:solidFill>
                  <a:schemeClr val="tx1"/>
                </a:solidFill>
              </a:rPr>
              <a:t>: check the syllabus, and ask your instructor</a:t>
            </a:r>
            <a:endParaRPr lang="en-US" sz="2400" dirty="0"/>
          </a:p>
        </p:txBody>
      </p:sp>
      <p:sp>
        <p:nvSpPr>
          <p:cNvPr id="7" name="Decorative: icon circle">
            <a:extLst>
              <a:ext uri="{C183D7F6-B498-43B3-948B-1728B52AA6E4}">
                <adec:decorative xmlns:adec="http://schemas.microsoft.com/office/drawing/2017/decorative" val="1"/>
              </a:ext>
            </a:extLst>
          </p:cNvPr>
          <p:cNvSpPr/>
          <p:nvPr/>
        </p:nvSpPr>
        <p:spPr>
          <a:xfrm>
            <a:off x="548640" y="2788920"/>
            <a:ext cx="548640" cy="548640"/>
          </a:xfrm>
          <a:prstGeom prst="ellipse">
            <a:avLst/>
          </a:prstGeom>
          <a:solidFill>
            <a:srgbClr val="00467F"/>
          </a:solidFill>
          <a:ln w="12700">
            <a:solidFill>
              <a:srgbClr val="00467F"/>
            </a:solidFill>
            <a:prstDash val="solid"/>
          </a:ln>
        </p:spPr>
      </p:sp>
      <p:pic>
        <p:nvPicPr>
          <p:cNvPr id="8" name="Decorative: LuUsers">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69341" y="2909621"/>
            <a:ext cx="307238" cy="307238"/>
          </a:xfrm>
          <a:prstGeom prst="rect">
            <a:avLst/>
          </a:prstGeom>
        </p:spPr>
      </p:pic>
      <p:sp>
        <p:nvSpPr>
          <p:cNvPr id="9" name="Text 5"/>
          <p:cNvSpPr txBox="1"/>
          <p:nvPr/>
        </p:nvSpPr>
        <p:spPr>
          <a:xfrm>
            <a:off x="1325880" y="2788920"/>
            <a:ext cx="10241280" cy="548640"/>
          </a:xfrm>
          <a:prstGeom prst="rect">
            <a:avLst/>
          </a:prstGeom>
          <a:noFill/>
          <a:ln/>
        </p:spPr>
        <p:txBody>
          <a:bodyPr wrap="square" lIns="0" tIns="0" rIns="0" bIns="0" rtlCol="0" anchor="ctr"/>
          <a:lstStyle/>
          <a:p>
            <a:pPr indent="0" marL="0">
              <a:buNone/>
            </a:pPr>
            <a:r>
              <a:rPr lang="en-US" sz="2400" b="1" dirty="0">
                <a:solidFill>
                  <a:schemeClr val="tx2"/>
                </a:solidFill>
              </a:rPr>
              <a:t>Respect the people</a:t>
            </a:r>
            <a:pPr indent="0" marL="0">
              <a:buNone/>
            </a:pPr>
            <a:r>
              <a:rPr lang="en-US" sz="2400" dirty="0">
                <a:solidFill>
                  <a:schemeClr val="tx1"/>
                </a:solidFill>
              </a:rPr>
              <a:t>: your classmates and instructor didn't sign up to be recorded</a:t>
            </a:r>
            <a:endParaRPr lang="en-US" sz="2400" dirty="0"/>
          </a:p>
        </p:txBody>
      </p:sp>
      <p:sp>
        <p:nvSpPr>
          <p:cNvPr id="10" name="Decorative: icon circle">
            <a:extLst>
              <a:ext uri="{C183D7F6-B498-43B3-948B-1728B52AA6E4}">
                <adec:decorative xmlns:adec="http://schemas.microsoft.com/office/drawing/2017/decorative" val="1"/>
              </a:ext>
            </a:extLst>
          </p:cNvPr>
          <p:cNvSpPr/>
          <p:nvPr/>
        </p:nvSpPr>
        <p:spPr>
          <a:xfrm>
            <a:off x="548640" y="3657600"/>
            <a:ext cx="548640" cy="548640"/>
          </a:xfrm>
          <a:prstGeom prst="ellipse">
            <a:avLst/>
          </a:prstGeom>
          <a:solidFill>
            <a:srgbClr val="00467F"/>
          </a:solidFill>
          <a:ln w="12700">
            <a:solidFill>
              <a:srgbClr val="00467F"/>
            </a:solidFill>
            <a:prstDash val="solid"/>
          </a:ln>
        </p:spPr>
      </p:sp>
      <p:pic>
        <p:nvPicPr>
          <p:cNvPr id="11" name="Decorative: LuBrain">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69341" y="3778301"/>
            <a:ext cx="307238" cy="307238"/>
          </a:xfrm>
          <a:prstGeom prst="rect">
            <a:avLst/>
          </a:prstGeom>
        </p:spPr>
      </p:pic>
      <p:sp>
        <p:nvSpPr>
          <p:cNvPr id="12" name="Text 7"/>
          <p:cNvSpPr txBox="1"/>
          <p:nvPr/>
        </p:nvSpPr>
        <p:spPr>
          <a:xfrm>
            <a:off x="1325880" y="3657600"/>
            <a:ext cx="10241280" cy="548640"/>
          </a:xfrm>
          <a:prstGeom prst="rect">
            <a:avLst/>
          </a:prstGeom>
          <a:noFill/>
          <a:ln/>
        </p:spPr>
        <p:txBody>
          <a:bodyPr wrap="square" lIns="0" tIns="0" rIns="0" bIns="0" rtlCol="0" anchor="ctr"/>
          <a:lstStyle/>
          <a:p>
            <a:pPr indent="0" marL="0">
              <a:buNone/>
            </a:pPr>
            <a:r>
              <a:rPr lang="en-US" sz="2400" b="1" dirty="0">
                <a:solidFill>
                  <a:schemeClr val="tx2"/>
                </a:solidFill>
              </a:rPr>
              <a:t>Respect your learning</a:t>
            </a:r>
            <a:pPr indent="0" marL="0">
              <a:buNone/>
            </a:pPr>
            <a:r>
              <a:rPr lang="en-US" sz="2400" dirty="0">
                <a:solidFill>
                  <a:schemeClr val="tx1"/>
                </a:solidFill>
              </a:rPr>
              <a:t>: a recording isn't the same as learning it</a:t>
            </a:r>
            <a:endParaRPr lang="en-US" sz="2400" dirty="0"/>
          </a:p>
        </p:txBody>
      </p:sp>
      <p:sp>
        <p:nvSpPr>
          <p:cNvPr id="13" name="Decorative: callout">
            <a:extLst>
              <a:ext uri="{C183D7F6-B498-43B3-948B-1728B52AA6E4}">
                <adec:decorative xmlns:adec="http://schemas.microsoft.com/office/drawing/2017/decorative" val="1"/>
              </a:ext>
            </a:extLst>
          </p:cNvPr>
          <p:cNvSpPr/>
          <p:nvPr/>
        </p:nvSpPr>
        <p:spPr>
          <a:xfrm>
            <a:off x="548640" y="4663440"/>
            <a:ext cx="11094415" cy="822960"/>
          </a:xfrm>
          <a:prstGeom prst="roundRect">
            <a:avLst>
              <a:gd name="adj" fmla="val 13333"/>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4" name="Text 9"/>
          <p:cNvSpPr txBox="1"/>
          <p:nvPr/>
        </p:nvSpPr>
        <p:spPr>
          <a:xfrm>
            <a:off x="868680" y="4773168"/>
            <a:ext cx="10454335" cy="603504"/>
          </a:xfrm>
          <a:prstGeom prst="rect">
            <a:avLst/>
          </a:prstGeom>
          <a:noFill/>
          <a:ln/>
        </p:spPr>
        <p:txBody>
          <a:bodyPr wrap="square" lIns="0" tIns="0" rIns="0" bIns="0" rtlCol="0" anchor="ctr"/>
          <a:lstStyle/>
          <a:p>
            <a:pPr indent="0" marL="0">
              <a:buNone/>
            </a:pPr>
            <a:r>
              <a:rPr lang="en-US" sz="2400" b="1" dirty="0">
                <a:solidFill>
                  <a:schemeClr val="tx2"/>
                </a:solidFill>
              </a:rPr>
              <a:t>AI note-takers record and share too. Ask before you turn one on.</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ASSIGNMENTS</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Due Monday by 11:59 PM Central</a:t>
            </a:r>
            <a:endParaRPr lang="en-US" sz="4000" dirty="0"/>
          </a:p>
        </p:txBody>
      </p:sp>
      <p:sp>
        <p:nvSpPr>
          <p:cNvPr id="4" name="Decorative: assignment row">
            <a:extLst>
              <a:ext uri="{C183D7F6-B498-43B3-948B-1728B52AA6E4}">
                <adec:decorative xmlns:adec="http://schemas.microsoft.com/office/drawing/2017/decorative" val="1"/>
              </a:ext>
            </a:extLst>
          </p:cNvPr>
          <p:cNvSpPr/>
          <p:nvPr/>
        </p:nvSpPr>
        <p:spPr>
          <a:xfrm>
            <a:off x="548640" y="1874520"/>
            <a:ext cx="11094415" cy="841248"/>
          </a:xfrm>
          <a:prstGeom prst="roundRect">
            <a:avLst>
              <a:gd name="adj" fmla="val 130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5" name="Decorative: icon circle">
            <a:extLst>
              <a:ext uri="{C183D7F6-B498-43B3-948B-1728B52AA6E4}">
                <adec:decorative xmlns:adec="http://schemas.microsoft.com/office/drawing/2017/decorative" val="1"/>
              </a:ext>
            </a:extLst>
          </p:cNvPr>
          <p:cNvSpPr/>
          <p:nvPr/>
        </p:nvSpPr>
        <p:spPr>
          <a:xfrm>
            <a:off x="731520" y="1965960"/>
            <a:ext cx="548640" cy="548640"/>
          </a:xfrm>
          <a:prstGeom prst="ellipse">
            <a:avLst/>
          </a:prstGeom>
          <a:solidFill>
            <a:srgbClr val="00467F"/>
          </a:solidFill>
          <a:ln w="12700">
            <a:solidFill>
              <a:srgbClr val="00467F"/>
            </a:solidFill>
            <a:prstDash val="solid"/>
          </a:ln>
        </p:spPr>
      </p:sp>
      <p:pic>
        <p:nvPicPr>
          <p:cNvPr id="6" name="Decorative: LuBot">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52221" y="2086661"/>
            <a:ext cx="307238" cy="307238"/>
          </a:xfrm>
          <a:prstGeom prst="rect">
            <a:avLst/>
          </a:prstGeom>
        </p:spPr>
      </p:pic>
      <p:sp>
        <p:nvSpPr>
          <p:cNvPr id="7" name="Text 4"/>
          <p:cNvSpPr txBox="1"/>
          <p:nvPr/>
        </p:nvSpPr>
        <p:spPr>
          <a:xfrm>
            <a:off x="1508760" y="1929384"/>
            <a:ext cx="9814255" cy="731520"/>
          </a:xfrm>
          <a:prstGeom prst="rect">
            <a:avLst/>
          </a:prstGeom>
          <a:noFill/>
          <a:ln/>
        </p:spPr>
        <p:txBody>
          <a:bodyPr wrap="square" lIns="0" tIns="0" rIns="0" bIns="0" rtlCol="0" anchor="ctr"/>
          <a:lstStyle/>
          <a:p>
            <a:pPr indent="0" marL="0">
              <a:buNone/>
            </a:pPr>
            <a:r>
              <a:rPr lang="en-US" sz="2400" b="1" dirty="0">
                <a:solidFill>
                  <a:schemeClr val="tx2"/>
                </a:solidFill>
              </a:rPr>
              <a:t>AI Chat: Is This Legit?</a:t>
            </a:r>
            <a:endParaRPr lang="en-US" sz="2400" dirty="0"/>
          </a:p>
          <a:p>
            <a:pPr indent="0" marL="0">
              <a:buNone/>
            </a:pPr>
            <a:r>
              <a:rPr lang="en-US" sz="2000" dirty="0">
                <a:solidFill>
                  <a:schemeClr val="accent6"/>
                </a:solidFill>
              </a:rPr>
              <a:t>Read the source document in Blackboard first</a:t>
            </a:r>
            <a:endParaRPr lang="en-US" sz="2400" dirty="0"/>
          </a:p>
        </p:txBody>
      </p:sp>
      <p:sp>
        <p:nvSpPr>
          <p:cNvPr id="8" name="Decorative: assignment row">
            <a:extLst>
              <a:ext uri="{C183D7F6-B498-43B3-948B-1728B52AA6E4}">
                <adec:decorative xmlns:adec="http://schemas.microsoft.com/office/drawing/2017/decorative" val="1"/>
              </a:ext>
            </a:extLst>
          </p:cNvPr>
          <p:cNvSpPr/>
          <p:nvPr/>
        </p:nvSpPr>
        <p:spPr>
          <a:xfrm>
            <a:off x="548640" y="2880360"/>
            <a:ext cx="11094415" cy="841248"/>
          </a:xfrm>
          <a:prstGeom prst="roundRect">
            <a:avLst>
              <a:gd name="adj" fmla="val 130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9" name="Decorative: icon circle">
            <a:extLst>
              <a:ext uri="{C183D7F6-B498-43B3-948B-1728B52AA6E4}">
                <adec:decorative xmlns:adec="http://schemas.microsoft.com/office/drawing/2017/decorative" val="1"/>
              </a:ext>
            </a:extLst>
          </p:cNvPr>
          <p:cNvSpPr/>
          <p:nvPr/>
        </p:nvSpPr>
        <p:spPr>
          <a:xfrm>
            <a:off x="731520" y="2971800"/>
            <a:ext cx="548640" cy="548640"/>
          </a:xfrm>
          <a:prstGeom prst="ellipse">
            <a:avLst/>
          </a:prstGeom>
          <a:solidFill>
            <a:srgbClr val="00467F"/>
          </a:solidFill>
          <a:ln w="12700">
            <a:solidFill>
              <a:srgbClr val="00467F"/>
            </a:solidFill>
            <a:prstDash val="solid"/>
          </a:ln>
        </p:spPr>
      </p:sp>
      <p:pic>
        <p:nvPicPr>
          <p:cNvPr id="10" name="Decorative: LuFlag">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52221" y="3092501"/>
            <a:ext cx="307238" cy="307238"/>
          </a:xfrm>
          <a:prstGeom prst="rect">
            <a:avLst/>
          </a:prstGeom>
        </p:spPr>
      </p:pic>
      <p:sp>
        <p:nvSpPr>
          <p:cNvPr id="11" name="Text 7"/>
          <p:cNvSpPr txBox="1"/>
          <p:nvPr/>
        </p:nvSpPr>
        <p:spPr>
          <a:xfrm>
            <a:off x="1508760" y="2935224"/>
            <a:ext cx="9814255" cy="731520"/>
          </a:xfrm>
          <a:prstGeom prst="rect">
            <a:avLst/>
          </a:prstGeom>
          <a:noFill/>
          <a:ln/>
        </p:spPr>
        <p:txBody>
          <a:bodyPr wrap="square" lIns="0" tIns="0" rIns="0" bIns="0" rtlCol="0" anchor="ctr"/>
          <a:lstStyle/>
          <a:p>
            <a:pPr indent="0" marL="0">
              <a:buNone/>
            </a:pPr>
            <a:r>
              <a:rPr lang="en-US" sz="2400" b="1" dirty="0">
                <a:solidFill>
                  <a:schemeClr val="tx2"/>
                </a:solidFill>
              </a:rPr>
              <a:t>Mile Marker #4: My Academic Toolkit</a:t>
            </a:r>
            <a:endParaRPr lang="en-US" sz="2400" dirty="0"/>
          </a:p>
          <a:p>
            <a:pPr indent="0" marL="0">
              <a:buNone/>
            </a:pPr>
            <a:r>
              <a:rPr lang="en-US" sz="2000" dirty="0">
                <a:solidFill>
                  <a:schemeClr val="accent6"/>
                </a:solidFill>
              </a:rPr>
              <a:t>Four questions, including a SMART goal</a:t>
            </a:r>
            <a:endParaRPr lang="en-US" sz="2400" dirty="0"/>
          </a:p>
        </p:txBody>
      </p:sp>
      <p:sp>
        <p:nvSpPr>
          <p:cNvPr id="12" name="Decorative: assignment row">
            <a:extLst>
              <a:ext uri="{C183D7F6-B498-43B3-948B-1728B52AA6E4}">
                <adec:decorative xmlns:adec="http://schemas.microsoft.com/office/drawing/2017/decorative" val="1"/>
              </a:ext>
            </a:extLst>
          </p:cNvPr>
          <p:cNvSpPr/>
          <p:nvPr/>
        </p:nvSpPr>
        <p:spPr>
          <a:xfrm>
            <a:off x="548640" y="3886200"/>
            <a:ext cx="11094415" cy="841248"/>
          </a:xfrm>
          <a:prstGeom prst="roundRect">
            <a:avLst>
              <a:gd name="adj" fmla="val 13043"/>
            </a:avLst>
          </a:prstGeom>
          <a:solidFill>
            <a:srgbClr val="EAF4FB"/>
          </a:solidFill>
          <a:ln w="12700">
            <a:solidFill>
              <a:srgbClr val="EAF4FB"/>
            </a:solidFill>
            <a:prstDash val="solid"/>
          </a:ln>
          <a:effectLst>
            <a:outerShdw sx="100000" sy="100000" kx="0" ky="0" algn="bl" rotWithShape="0" blurRad="101600" dist="25400" dir="5400000">
              <a:srgbClr val="000000">
                <a:alpha val="12000"/>
              </a:srgbClr>
            </a:outerShdw>
          </a:effectLst>
        </p:spPr>
      </p:sp>
      <p:sp>
        <p:nvSpPr>
          <p:cNvPr id="13" name="Decorative: icon circle">
            <a:extLst>
              <a:ext uri="{C183D7F6-B498-43B3-948B-1728B52AA6E4}">
                <adec:decorative xmlns:adec="http://schemas.microsoft.com/office/drawing/2017/decorative" val="1"/>
              </a:ext>
            </a:extLst>
          </p:cNvPr>
          <p:cNvSpPr/>
          <p:nvPr/>
        </p:nvSpPr>
        <p:spPr>
          <a:xfrm>
            <a:off x="731520" y="3977640"/>
            <a:ext cx="548640" cy="548640"/>
          </a:xfrm>
          <a:prstGeom prst="ellipse">
            <a:avLst/>
          </a:prstGeom>
          <a:solidFill>
            <a:srgbClr val="00467F"/>
          </a:solidFill>
          <a:ln w="12700">
            <a:solidFill>
              <a:srgbClr val="00467F"/>
            </a:solidFill>
            <a:prstDash val="solid"/>
          </a:ln>
        </p:spPr>
      </p:sp>
      <p:pic>
        <p:nvPicPr>
          <p:cNvPr id="14" name="Decorative: LuAward">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52221" y="4098341"/>
            <a:ext cx="307238" cy="307238"/>
          </a:xfrm>
          <a:prstGeom prst="rect">
            <a:avLst/>
          </a:prstGeom>
        </p:spPr>
      </p:pic>
      <p:sp>
        <p:nvSpPr>
          <p:cNvPr id="15" name="Text 10"/>
          <p:cNvSpPr txBox="1"/>
          <p:nvPr/>
        </p:nvSpPr>
        <p:spPr>
          <a:xfrm>
            <a:off x="1508760" y="3941064"/>
            <a:ext cx="9814255" cy="731520"/>
          </a:xfrm>
          <a:prstGeom prst="rect">
            <a:avLst/>
          </a:prstGeom>
          <a:noFill/>
          <a:ln/>
        </p:spPr>
        <p:txBody>
          <a:bodyPr wrap="square" lIns="0" tIns="0" rIns="0" bIns="0" rtlCol="0" anchor="ctr"/>
          <a:lstStyle/>
          <a:p>
            <a:pPr indent="0" marL="0">
              <a:buNone/>
            </a:pPr>
            <a:r>
              <a:rPr lang="en-US" sz="2400" b="1" dirty="0">
                <a:solidFill>
                  <a:schemeClr val="tx2"/>
                </a:solidFill>
              </a:rPr>
              <a:t>Merit Activity #1</a:t>
            </a:r>
            <a:endParaRPr lang="en-US" sz="2400" dirty="0"/>
          </a:p>
          <a:p>
            <a:pPr indent="0" marL="0">
              <a:buNone/>
            </a:pPr>
            <a:r>
              <a:rPr lang="en-US" sz="2000" dirty="0">
                <a:solidFill>
                  <a:schemeClr val="accent6"/>
                </a:solidFill>
              </a:rPr>
              <a:t>Submit your reflection on the Merit platform, using the Activity #1 link</a:t>
            </a:r>
            <a:endParaRPr lang="en-US" sz="24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9144000" cy="384048"/>
          </a:xfrm>
          <a:prstGeom prst="rect">
            <a:avLst/>
          </a:prstGeom>
          <a:noFill/>
          <a:ln/>
        </p:spPr>
        <p:txBody>
          <a:bodyPr wrap="square" lIns="0" tIns="0" rIns="0" bIns="0" rtlCol="0"/>
          <a:lstStyle/>
          <a:p>
            <a:pPr algn="l" indent="0" marL="0">
              <a:buNone/>
            </a:pPr>
            <a:r>
              <a:rPr lang="en-US" sz="2000" b="1" spc="300" kern="0" dirty="0">
                <a:solidFill>
                  <a:schemeClr val="accent4"/>
                </a:solidFill>
              </a:rPr>
              <a:t>MILE MARKER #4</a:t>
            </a:r>
            <a:endParaRPr lang="en-US" sz="2000" dirty="0"/>
          </a:p>
        </p:txBody>
      </p:sp>
      <p:sp>
        <p:nvSpPr>
          <p:cNvPr id="3" name="Text 0"/>
          <p:cNvSpPr/>
          <p:nvPr>
            <p:ph idx="101" type="title" hasCustomPrompt="1"/>
          </p:nvPr>
        </p:nvSpPr>
        <p:spPr>
          <a:xfrm>
            <a:off x="548640" y="804672"/>
            <a:ext cx="11094415" cy="868680"/>
          </a:xfrm>
          <a:prstGeom prst="rect">
            <a:avLst/>
          </a:prstGeom>
          <a:noFill/>
          <a:ln/>
        </p:spPr>
        <p:txBody>
          <a:bodyPr wrap="square" lIns="0" tIns="0" rIns="0" bIns="0" rtlCol="0" anchor="t">
            <a:normAutofit/>
          </a:bodyPr>
          <a:lstStyle/>
          <a:p>
            <a:pPr algn="l" indent="0" marL="0">
              <a:buNone/>
            </a:pPr>
            <a:r>
              <a:rPr lang="en-US" sz="4000" b="1" dirty="0">
                <a:solidFill>
                  <a:schemeClr val="tx2"/>
                </a:solidFill>
              </a:rPr>
              <a:t>My Academic Toolkit</a:t>
            </a:r>
            <a:endParaRPr lang="en-US" sz="4000" dirty="0"/>
          </a:p>
        </p:txBody>
      </p:sp>
      <p:sp>
        <p:nvSpPr>
          <p:cNvPr id="4" name="Decorative: number circle">
            <a:extLst>
              <a:ext uri="{C183D7F6-B498-43B3-948B-1728B52AA6E4}">
                <adec:decorative xmlns:adec="http://schemas.microsoft.com/office/drawing/2017/decorative" val="1"/>
              </a:ext>
            </a:extLst>
          </p:cNvPr>
          <p:cNvSpPr/>
          <p:nvPr/>
        </p:nvSpPr>
        <p:spPr>
          <a:xfrm>
            <a:off x="548640" y="1874520"/>
            <a:ext cx="566928" cy="566928"/>
          </a:xfrm>
          <a:prstGeom prst="ellipse">
            <a:avLst/>
          </a:prstGeom>
          <a:solidFill>
            <a:srgbClr val="E7A614"/>
          </a:solidFill>
          <a:ln w="12700">
            <a:solidFill>
              <a:srgbClr val="E7A614"/>
            </a:solidFill>
            <a:prstDash val="solid"/>
          </a:ln>
        </p:spPr>
      </p:sp>
      <p:sp>
        <p:nvSpPr>
          <p:cNvPr id="5" name="Question 1 number"/>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400" b="1" dirty="0">
                <a:solidFill>
                  <a:schemeClr val="tx2"/>
                </a:solidFill>
              </a:rPr>
              <a:t>1</a:t>
            </a:r>
            <a:endParaRPr lang="en-US" sz="2400" dirty="0"/>
          </a:p>
        </p:txBody>
      </p:sp>
      <p:sp>
        <p:nvSpPr>
          <p:cNvPr id="6" name="Text 4"/>
          <p:cNvSpPr txBox="1"/>
          <p:nvPr/>
        </p:nvSpPr>
        <p:spPr>
          <a:xfrm>
            <a:off x="1389888" y="1874520"/>
            <a:ext cx="6839712" cy="566928"/>
          </a:xfrm>
          <a:prstGeom prst="rect">
            <a:avLst/>
          </a:prstGeom>
          <a:noFill/>
          <a:ln/>
        </p:spPr>
        <p:txBody>
          <a:bodyPr wrap="square" lIns="0" tIns="0" rIns="0" bIns="0" rtlCol="0" anchor="ctr"/>
          <a:lstStyle/>
          <a:p>
            <a:pPr indent="0" marL="0">
              <a:buNone/>
            </a:pPr>
            <a:r>
              <a:rPr lang="en-US" sz="2400" b="1" dirty="0">
                <a:solidFill>
                  <a:schemeClr val="tx2"/>
                </a:solidFill>
              </a:rPr>
              <a:t>The study strategy or tool you tried, and why</a:t>
            </a:r>
            <a:endParaRPr lang="en-US" sz="2400" dirty="0"/>
          </a:p>
        </p:txBody>
      </p:sp>
      <p:sp>
        <p:nvSpPr>
          <p:cNvPr id="7" name="Decorative: number circle">
            <a:extLst>
              <a:ext uri="{C183D7F6-B498-43B3-948B-1728B52AA6E4}">
                <adec:decorative xmlns:adec="http://schemas.microsoft.com/office/drawing/2017/decorative" val="1"/>
              </a:ext>
            </a:extLst>
          </p:cNvPr>
          <p:cNvSpPr/>
          <p:nvPr/>
        </p:nvSpPr>
        <p:spPr>
          <a:xfrm>
            <a:off x="548640" y="2862072"/>
            <a:ext cx="566928" cy="566928"/>
          </a:xfrm>
          <a:prstGeom prst="ellipse">
            <a:avLst/>
          </a:prstGeom>
          <a:solidFill>
            <a:srgbClr val="E7A614"/>
          </a:solidFill>
          <a:ln w="12700">
            <a:solidFill>
              <a:srgbClr val="E7A614"/>
            </a:solidFill>
            <a:prstDash val="solid"/>
          </a:ln>
        </p:spPr>
      </p:sp>
      <p:sp>
        <p:nvSpPr>
          <p:cNvPr id="8" name="Question 2 number"/>
          <p:cNvSpPr txBox="1"/>
          <p:nvPr/>
        </p:nvSpPr>
        <p:spPr>
          <a:xfrm>
            <a:off x="548640" y="2862072"/>
            <a:ext cx="566928" cy="566928"/>
          </a:xfrm>
          <a:prstGeom prst="rect">
            <a:avLst/>
          </a:prstGeom>
          <a:noFill/>
          <a:ln/>
        </p:spPr>
        <p:txBody>
          <a:bodyPr wrap="square" lIns="0" tIns="0" rIns="0" bIns="0" rtlCol="0" anchor="ctr"/>
          <a:lstStyle/>
          <a:p>
            <a:pPr algn="ctr" indent="0" marL="0">
              <a:buNone/>
            </a:pPr>
            <a:r>
              <a:rPr lang="en-US" sz="2400" b="1" dirty="0">
                <a:solidFill>
                  <a:schemeClr val="tx2"/>
                </a:solidFill>
              </a:rPr>
              <a:t>2</a:t>
            </a:r>
            <a:endParaRPr lang="en-US" sz="2400" dirty="0"/>
          </a:p>
        </p:txBody>
      </p:sp>
      <p:sp>
        <p:nvSpPr>
          <p:cNvPr id="9" name="Text 7"/>
          <p:cNvSpPr txBox="1"/>
          <p:nvPr/>
        </p:nvSpPr>
        <p:spPr>
          <a:xfrm>
            <a:off x="1389888" y="2862072"/>
            <a:ext cx="6839712" cy="566928"/>
          </a:xfrm>
          <a:prstGeom prst="rect">
            <a:avLst/>
          </a:prstGeom>
          <a:noFill/>
          <a:ln/>
        </p:spPr>
        <p:txBody>
          <a:bodyPr wrap="square" lIns="0" tIns="0" rIns="0" bIns="0" rtlCol="0" anchor="ctr"/>
          <a:lstStyle/>
          <a:p>
            <a:pPr indent="0" marL="0">
              <a:buNone/>
            </a:pPr>
            <a:r>
              <a:rPr lang="en-US" sz="2400" b="1" dirty="0">
                <a:solidFill>
                  <a:schemeClr val="tx2"/>
                </a:solidFill>
              </a:rPr>
              <a:t>How you used it, and what you noticed</a:t>
            </a:r>
            <a:endParaRPr lang="en-US" sz="2400" dirty="0"/>
          </a:p>
        </p:txBody>
      </p:sp>
      <p:sp>
        <p:nvSpPr>
          <p:cNvPr id="10" name="Decorative: number circle">
            <a:extLst>
              <a:ext uri="{C183D7F6-B498-43B3-948B-1728B52AA6E4}">
                <adec:decorative xmlns:adec="http://schemas.microsoft.com/office/drawing/2017/decorative" val="1"/>
              </a:ext>
            </a:extLst>
          </p:cNvPr>
          <p:cNvSpPr/>
          <p:nvPr/>
        </p:nvSpPr>
        <p:spPr>
          <a:xfrm>
            <a:off x="548640" y="3849624"/>
            <a:ext cx="566928" cy="566928"/>
          </a:xfrm>
          <a:prstGeom prst="ellipse">
            <a:avLst/>
          </a:prstGeom>
          <a:solidFill>
            <a:srgbClr val="E7A614"/>
          </a:solidFill>
          <a:ln w="12700">
            <a:solidFill>
              <a:srgbClr val="E7A614"/>
            </a:solidFill>
            <a:prstDash val="solid"/>
          </a:ln>
        </p:spPr>
      </p:sp>
      <p:sp>
        <p:nvSpPr>
          <p:cNvPr id="11" name="Question 3 number"/>
          <p:cNvSpPr txBox="1"/>
          <p:nvPr/>
        </p:nvSpPr>
        <p:spPr>
          <a:xfrm>
            <a:off x="548640" y="3849624"/>
            <a:ext cx="566928" cy="566928"/>
          </a:xfrm>
          <a:prstGeom prst="rect">
            <a:avLst/>
          </a:prstGeom>
          <a:noFill/>
          <a:ln/>
        </p:spPr>
        <p:txBody>
          <a:bodyPr wrap="square" lIns="0" tIns="0" rIns="0" bIns="0" rtlCol="0" anchor="ctr"/>
          <a:lstStyle/>
          <a:p>
            <a:pPr algn="ctr" indent="0" marL="0">
              <a:buNone/>
            </a:pPr>
            <a:r>
              <a:rPr lang="en-US" sz="2400" b="1" dirty="0">
                <a:solidFill>
                  <a:schemeClr val="tx2"/>
                </a:solidFill>
              </a:rPr>
              <a:t>3</a:t>
            </a:r>
            <a:endParaRPr lang="en-US" sz="2400" dirty="0"/>
          </a:p>
        </p:txBody>
      </p:sp>
      <p:sp>
        <p:nvSpPr>
          <p:cNvPr id="12" name="Text 10"/>
          <p:cNvSpPr txBox="1"/>
          <p:nvPr/>
        </p:nvSpPr>
        <p:spPr>
          <a:xfrm>
            <a:off x="1389888" y="3849624"/>
            <a:ext cx="6839712" cy="566928"/>
          </a:xfrm>
          <a:prstGeom prst="rect">
            <a:avLst/>
          </a:prstGeom>
          <a:noFill/>
          <a:ln/>
        </p:spPr>
        <p:txBody>
          <a:bodyPr wrap="square" lIns="0" tIns="0" rIns="0" bIns="0" rtlCol="0" anchor="ctr"/>
          <a:lstStyle/>
          <a:p>
            <a:pPr indent="0" marL="0">
              <a:buNone/>
            </a:pPr>
            <a:r>
              <a:rPr lang="en-US" sz="2400" b="1" dirty="0">
                <a:solidFill>
                  <a:schemeClr val="tx2"/>
                </a:solidFill>
              </a:rPr>
              <a:t>One SMART goal to keep it going</a:t>
            </a:r>
            <a:endParaRPr lang="en-US" sz="2400" dirty="0"/>
          </a:p>
        </p:txBody>
      </p:sp>
      <p:sp>
        <p:nvSpPr>
          <p:cNvPr id="13" name="Decorative: number circle">
            <a:extLst>
              <a:ext uri="{C183D7F6-B498-43B3-948B-1728B52AA6E4}">
                <adec:decorative xmlns:adec="http://schemas.microsoft.com/office/drawing/2017/decorative" val="1"/>
              </a:ext>
            </a:extLst>
          </p:cNvPr>
          <p:cNvSpPr/>
          <p:nvPr/>
        </p:nvSpPr>
        <p:spPr>
          <a:xfrm>
            <a:off x="548640" y="4837176"/>
            <a:ext cx="566928" cy="566928"/>
          </a:xfrm>
          <a:prstGeom prst="ellipse">
            <a:avLst/>
          </a:prstGeom>
          <a:solidFill>
            <a:srgbClr val="E7A614"/>
          </a:solidFill>
          <a:ln w="12700">
            <a:solidFill>
              <a:srgbClr val="E7A614"/>
            </a:solidFill>
            <a:prstDash val="solid"/>
          </a:ln>
        </p:spPr>
      </p:sp>
      <p:sp>
        <p:nvSpPr>
          <p:cNvPr id="14" name="Question 4 number"/>
          <p:cNvSpPr txBox="1"/>
          <p:nvPr/>
        </p:nvSpPr>
        <p:spPr>
          <a:xfrm>
            <a:off x="548640" y="4837176"/>
            <a:ext cx="566928" cy="566928"/>
          </a:xfrm>
          <a:prstGeom prst="rect">
            <a:avLst/>
          </a:prstGeom>
          <a:noFill/>
          <a:ln/>
        </p:spPr>
        <p:txBody>
          <a:bodyPr wrap="square" lIns="0" tIns="0" rIns="0" bIns="0" rtlCol="0" anchor="ctr"/>
          <a:lstStyle/>
          <a:p>
            <a:pPr algn="ctr" indent="0" marL="0">
              <a:buNone/>
            </a:pPr>
            <a:r>
              <a:rPr lang="en-US" sz="2400" b="1" dirty="0">
                <a:solidFill>
                  <a:schemeClr val="tx2"/>
                </a:solidFill>
              </a:rPr>
              <a:t>4</a:t>
            </a:r>
            <a:endParaRPr lang="en-US" sz="2400" dirty="0"/>
          </a:p>
        </p:txBody>
      </p:sp>
      <p:sp>
        <p:nvSpPr>
          <p:cNvPr id="15" name="Text 13"/>
          <p:cNvSpPr txBox="1"/>
          <p:nvPr/>
        </p:nvSpPr>
        <p:spPr>
          <a:xfrm>
            <a:off x="1389888" y="4837176"/>
            <a:ext cx="6839712" cy="566928"/>
          </a:xfrm>
          <a:prstGeom prst="rect">
            <a:avLst/>
          </a:prstGeom>
          <a:noFill/>
          <a:ln/>
        </p:spPr>
        <p:txBody>
          <a:bodyPr wrap="square" lIns="0" tIns="0" rIns="0" bIns="0" rtlCol="0" anchor="ctr"/>
          <a:lstStyle/>
          <a:p>
            <a:pPr indent="0" marL="0">
              <a:buNone/>
            </a:pPr>
            <a:r>
              <a:rPr lang="en-US" sz="2400" b="1" dirty="0">
                <a:solidFill>
                  <a:schemeClr val="tx2"/>
                </a:solidFill>
              </a:rPr>
              <a:t>Where your AI use landed on the Creep Meter</a:t>
            </a:r>
            <a:endParaRPr lang="en-US" sz="2400" dirty="0"/>
          </a:p>
        </p:txBody>
      </p:sp>
      <p:sp>
        <p:nvSpPr>
          <p:cNvPr id="16" name="Decorative: mile marker details panel">
            <a:extLst>
              <a:ext uri="{C183D7F6-B498-43B3-948B-1728B52AA6E4}">
                <adec:decorative xmlns:adec="http://schemas.microsoft.com/office/drawing/2017/decorative" val="1"/>
              </a:ext>
            </a:extLst>
          </p:cNvPr>
          <p:cNvSpPr/>
          <p:nvPr/>
        </p:nvSpPr>
        <p:spPr>
          <a:xfrm>
            <a:off x="8229600" y="1874520"/>
            <a:ext cx="3413455" cy="3794760"/>
          </a:xfrm>
          <a:prstGeom prst="roundRect">
            <a:avLst>
              <a:gd name="adj" fmla="val 3215"/>
            </a:avLst>
          </a:prstGeom>
          <a:solidFill>
            <a:srgbClr val="FFF5DC"/>
          </a:solidFill>
          <a:ln w="12700">
            <a:solidFill>
              <a:srgbClr val="FFF5DC"/>
            </a:solidFill>
            <a:prstDash val="solid"/>
          </a:ln>
          <a:effectLst>
            <a:outerShdw sx="100000" sy="100000" kx="0" ky="0" algn="bl" rotWithShape="0" blurRad="101600" dist="25400" dir="5400000">
              <a:srgbClr val="000000">
                <a:alpha val="12000"/>
              </a:srgbClr>
            </a:outerShdw>
          </a:effectLst>
        </p:spPr>
      </p:sp>
      <p:sp>
        <p:nvSpPr>
          <p:cNvPr id="17" name="Text 15"/>
          <p:cNvSpPr txBox="1"/>
          <p:nvPr/>
        </p:nvSpPr>
        <p:spPr>
          <a:xfrm>
            <a:off x="8503920" y="2103120"/>
            <a:ext cx="2864815" cy="3383280"/>
          </a:xfrm>
          <a:prstGeom prst="rect">
            <a:avLst/>
          </a:prstGeom>
          <a:noFill/>
          <a:ln/>
        </p:spPr>
        <p:txBody>
          <a:bodyPr wrap="square" lIns="0" tIns="0" rIns="0" bIns="0" rtlCol="0" anchor="t"/>
          <a:lstStyle/>
          <a:p>
            <a:pPr indent="0" marL="0">
              <a:spcAft>
                <a:spcPts val="1000"/>
              </a:spcAft>
              <a:buNone/>
            </a:pPr>
            <a:r>
              <a:rPr lang="en-US" sz="2200" b="1" dirty="0">
                <a:solidFill>
                  <a:srgbClr val="7A5500"/>
                </a:solidFill>
              </a:rPr>
              <a:t>AI use: AI-supported</a:t>
            </a:r>
            <a:endParaRPr lang="en-US" sz="2200" dirty="0"/>
          </a:p>
          <a:p>
            <a:pPr indent="0" marL="0">
              <a:spcAft>
                <a:spcPts val="1000"/>
              </a:spcAft>
              <a:buNone/>
            </a:pPr>
            <a:r>
              <a:rPr lang="en-US" sz="2200" dirty="0">
                <a:solidFill>
                  <a:schemeClr val="tx1"/>
                </a:solidFill>
              </a:rPr>
              <a:t>Use AI to think it through. Write it in your own words.</a:t>
            </a:r>
            <a:endParaRPr lang="en-US" sz="2200" dirty="0"/>
          </a:p>
          <a:p>
            <a:pPr indent="0" marL="0">
              <a:spcAft>
                <a:spcPts val="1000"/>
              </a:spcAft>
              <a:buNone/>
            </a:pPr>
            <a:r>
              <a:rPr lang="en-US" sz="1000" dirty="0">
                <a:solidFill>
                  <a:schemeClr val="tx1"/>
                </a:solidFill>
              </a:rPr>
              <a:t> </a:t>
            </a:r>
            <a:endParaRPr lang="en-US" sz="2200" dirty="0"/>
          </a:p>
          <a:p>
            <a:pPr indent="0" marL="0">
              <a:spcAft>
                <a:spcPts val="1000"/>
              </a:spcAft>
              <a:buNone/>
            </a:pPr>
            <a:r>
              <a:rPr lang="en-US" sz="2200" b="1" dirty="0">
                <a:solidFill>
                  <a:srgbClr val="7A5500"/>
                </a:solidFill>
              </a:rPr>
              <a:t>Honest beats impressive.</a:t>
            </a:r>
            <a:endParaRPr lang="en-US" sz="2200" dirty="0"/>
          </a:p>
          <a:p>
            <a:pPr indent="0" marL="0">
              <a:spcAft>
                <a:spcPts val="1000"/>
              </a:spcAft>
              <a:buNone/>
            </a:pPr>
            <a:r>
              <a:rPr lang="en-US" sz="2200" dirty="0">
                <a:solidFill>
                  <a:schemeClr val="tx1"/>
                </a:solidFill>
              </a:rPr>
              <a:t>No AI this week? Say so.</a:t>
            </a:r>
            <a:endParaRPr lang="en-US" sz="2200" dirty="0"/>
          </a:p>
        </p:txBody>
      </p:sp>
      <p:sp>
        <p:nvSpPr>
          <p:cNvPr id="25" name="Slide Number Placeholder 0"/>
          <p:cNvSpPr>
            <a:spLocks noGrp="1"/>
          </p:cNvSpPr>
          <p:nvPr>
            <p:ph type="sldNum" sz="quarter" idx="4294967295"/>
          </p:nvPr>
        </p:nvSpPr>
        <p:spPr>
          <a:xfrm>
            <a:off x="11185855" y="6355080"/>
            <a:ext cx="548640" cy="320040"/>
          </a:xfrm>
          <a:prstGeom prst="rect">
            <a:avLst/>
          </a:prstGeom>
          <a:extLst>
            <a:ext uri="{C572A759-6A51-4108-AA02-DFA0A04FC94B}">
              <ma14:wrappingTextBoxFlag xmlns:ma14="http://schemas.microsoft.com/office/mac/drawingml/2011/main" val="0"/>
            </a:ext>
          </a:extLst>
        </p:spPr>
        <p:txBody>
          <a:bodyPr/>
          <a:lstStyle>
            <a:lvl1pPr>
              <a:defRPr sz="1400">
                <a:solidFill>
                  <a:srgbClr val="52606D"/>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Decorative: module cover art">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0" type="body" hasCustomPrompt="1"/>
          </p:nvPr>
        </p:nvSpPr>
        <p:spPr>
          <a:xfrm>
            <a:off x="3931920" y="640080"/>
            <a:ext cx="7680960" cy="411480"/>
          </a:xfrm>
          <a:prstGeom prst="rect">
            <a:avLst/>
          </a:prstGeom>
          <a:noFill/>
          <a:ln/>
        </p:spPr>
        <p:txBody>
          <a:bodyPr wrap="square" lIns="0" tIns="0" rIns="0" bIns="0" rtlCol="0"/>
          <a:lstStyle/>
          <a:p>
            <a:pPr algn="l" indent="0" marL="0">
              <a:buNone/>
            </a:pPr>
            <a:r>
              <a:rPr lang="en-US" sz="2000" b="1" spc="300" kern="0" dirty="0">
                <a:solidFill>
                  <a:schemeClr val="accent2"/>
                </a:solidFill>
              </a:rPr>
              <a:t>TALK IT THROUGH · IN CLASS</a:t>
            </a:r>
            <a:endParaRPr lang="en-US" sz="2000" dirty="0"/>
          </a:p>
        </p:txBody>
      </p:sp>
      <p:sp>
        <p:nvSpPr>
          <p:cNvPr id="4" name="Text 0"/>
          <p:cNvSpPr/>
          <p:nvPr>
            <p:ph idx="101" type="title" hasCustomPrompt="1"/>
          </p:nvPr>
        </p:nvSpPr>
        <p:spPr>
          <a:xfrm>
            <a:off x="3931920" y="1097280"/>
            <a:ext cx="7680960" cy="1371600"/>
          </a:xfrm>
          <a:prstGeom prst="rect">
            <a:avLst/>
          </a:prstGeom>
          <a:noFill/>
          <a:ln/>
        </p:spPr>
        <p:txBody>
          <a:bodyPr wrap="square" lIns="0" tIns="0" rIns="0" bIns="0" rtlCol="0" anchor="t"/>
          <a:lstStyle/>
          <a:p>
            <a:pPr algn="l" indent="0" marL="0">
              <a:buNone/>
            </a:pPr>
            <a:r>
              <a:rPr lang="en-US" sz="4000" b="1" dirty="0">
                <a:solidFill>
                  <a:schemeClr val="bg1"/>
                </a:solidFill>
              </a:rPr>
              <a:t>Would you have shared it?</a:t>
            </a:r>
            <a:endParaRPr lang="en-US" sz="4000" dirty="0"/>
          </a:p>
        </p:txBody>
      </p:sp>
      <p:sp>
        <p:nvSpPr>
          <p:cNvPr id="5" name="Discussion questions"/>
          <p:cNvSpPr txBox="1"/>
          <p:nvPr/>
        </p:nvSpPr>
        <p:spPr>
          <a:xfrm>
            <a:off x="3931920" y="2697480"/>
            <a:ext cx="7589520" cy="182880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2400" dirty="0">
                <a:solidFill>
                  <a:schemeClr val="bg1"/>
                </a:solidFill>
              </a:rPr>
              <a:t>What's something you saw online lately that you believed at first?</a:t>
            </a:r>
            <a:endParaRPr lang="en-US" sz="2400" dirty="0"/>
          </a:p>
          <a:p>
            <a:pPr marL="342900" indent="-342900">
              <a:spcAft>
                <a:spcPts val="1200"/>
              </a:spcAft>
              <a:buSzPct val="100000"/>
              <a:buFont typeface="+mj-lt"/>
              <a:buAutoNum type="arabicPeriod" startAt="1"/>
            </a:pPr>
            <a:r>
              <a:rPr lang="en-US" sz="2400" dirty="0">
                <a:solidFill>
                  <a:schemeClr val="bg1"/>
                </a:solidFill>
              </a:rPr>
              <a:t>What made you stop, or what would have? Which SIFT move fits?</a:t>
            </a:r>
            <a:endParaRPr lang="en-US" sz="2400" dirty="0"/>
          </a:p>
        </p:txBody>
      </p:sp>
      <p:sp>
        <p:nvSpPr>
          <p:cNvPr id="6" name="Text 3"/>
          <p:cNvSpPr txBox="1"/>
          <p:nvPr/>
        </p:nvSpPr>
        <p:spPr>
          <a:xfrm>
            <a:off x="3931920" y="4617720"/>
            <a:ext cx="5120640" cy="731520"/>
          </a:xfrm>
          <a:prstGeom prst="rect">
            <a:avLst/>
          </a:prstGeom>
          <a:noFill/>
          <a:ln/>
        </p:spPr>
        <p:txBody>
          <a:bodyPr wrap="square" lIns="0" tIns="0" rIns="0" bIns="0" rtlCol="0" anchor="t"/>
          <a:lstStyle/>
          <a:p>
            <a:pPr indent="0" marL="0">
              <a:buNone/>
            </a:pPr>
            <a:r>
              <a:rPr lang="en-US" sz="2200" i="1" dirty="0">
                <a:solidFill>
                  <a:srgbClr val="D6EEFA"/>
                </a:solidFill>
              </a:rPr>
              <a:t>Talk with a partner for 3 minutes, then share one example with the room.</a:t>
            </a:r>
            <a:endParaRPr lang="en-US" sz="2200" dirty="0"/>
          </a:p>
        </p:txBody>
      </p:sp>
    </p:spTree>
  </p:cSld>
  <p:clrMapOvr>
    <a:masterClrMapping/>
  </p:clrMapOvr>
</p:sld>
</file>

<file path=ppt/theme/theme1.xml><?xml version="1.0" encoding="utf-8"?>
<a:theme xmlns:a="http://schemas.openxmlformats.org/drawingml/2006/main" name="FYE 100 Pathfinder">
  <a:themeElements>
    <a:clrScheme name="FYE 100 Pathfinder">
      <a:dk1>
        <a:srgbClr val="17212B"/>
      </a:dk1>
      <a:lt1>
        <a:srgbClr val="FFFFFF"/>
      </a:lt1>
      <a:dk2>
        <a:srgbClr val="011D41"/>
      </a:dk2>
      <a:lt2>
        <a:srgbClr val="EAF4FB"/>
      </a:lt2>
      <a:accent1>
        <a:srgbClr val="00467F"/>
      </a:accent1>
      <a:accent2>
        <a:srgbClr val="E7A614"/>
      </a:accent2>
      <a:accent3>
        <a:srgbClr val="3BB3E5"/>
      </a:accent3>
      <a:accent4>
        <a:srgbClr val="0B5F86"/>
      </a:accent4>
      <a:accent5>
        <a:srgbClr val="FFF5DC"/>
      </a:accent5>
      <a:accent6>
        <a:srgbClr val="52606D"/>
      </a:accent6>
      <a:hlink>
        <a:srgbClr val="00467F"/>
      </a:hlink>
      <a:folHlink>
        <a:srgbClr val="0B5F86"/>
      </a:folHlink>
    </a:clrScheme>
    <a:fontScheme name="FYE 100 Pathfinder">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Owensboro Community &amp; Technical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FYE 100 Module 4: Your Academic Toolkit</dc:title>
  <dc:subject>FYE 100 instructor slides</dc:subject>
  <dc:creator>OCTC FYE 100</dc:creator>
  <cp:lastModifiedBy>OCTC FYE 100</cp:lastModifiedBy>
  <cp:revision>1</cp:revision>
  <dcterms:created xsi:type="dcterms:W3CDTF">2026-10-19T20:09:10Z</dcterms:created>
  <dcterms:modified xsi:type="dcterms:W3CDTF">2026-10-19T20:09:10Z</dcterms:modified>
</cp:coreProperties>
</file>