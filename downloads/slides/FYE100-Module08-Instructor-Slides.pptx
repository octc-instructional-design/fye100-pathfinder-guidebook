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b533fad-1668-0c75-3f4e-948955648922}">
          <p14:sldIdLst>
            <p14:sldId id="256"/>
            <p14:sldId id="257"/>
          </p14:sldIdLst>
        </p14:section>
        <p14:section name="This week" id="{eac3502b-62c2-1c20-8e90-5d41302999b7}">
          <p14:sldIdLst>
            <p14:sldId id="258"/>
          </p14:sldIdLst>
        </p14:section>
        <p14:section name="Lessons" id="{51bbe77b-1638-186f-d62c-7e6a6e5f0d08}">
          <p14:sldIdLst>
            <p14:sldId id="259"/>
            <p14:sldId id="260"/>
            <p14:sldId id="261"/>
            <p14:sldId id="262"/>
            <p14:sldId id="263"/>
          </p14:sldIdLst>
        </p14:section>
        <p14:section name="This week's work" id="{c07d64fc-6380-cabd-45d8-106ac6d87da0}">
          <p14:sldIdLst>
            <p14:sldId id="264"/>
            <p14:sldId id="265"/>
          </p14:sldIdLst>
        </p14:section>
        <p14:section name="Discussion" id="{329639ad-9c60-d138-5b5e-c408ae4cccdd}">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8: Explore Your Career Options.
Not the career you're supposed to want. The one that actually fits who you are and the life you want. This week you'll research one career in depth and take an honest look at the fit.
The owl has binoculars: it's scouting what's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Edit the announcements box before class. Hide this slide when recording for online sections (right-click the slide, Hide Slide).
Spring break follows this module. Remind students that Module 8 is due before break, and that Module 9 picks up after.
Registration for next semester is coming. If you know the opening date, put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 start with the life you want, research one career well, check the fit honestly, and get two practical things done: a Handshake profile and an early start on registration.
Four skills, with Communication as the Skill Spotlight.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week's Skill Spotlight is #1, Communication.
Left: where most students start. You ask questions to clarify, express ideas in writing, and share in one-on-one or small-group conversations. Right: where you're headed. You listen with focused attention and notice nonverbal signals, write with clear structure and correct mechanics, and take part in formal conversations with peers and professionals by offering your own ideas.
The shift is from reacting to engaging. Come with something; leave with something.
Career research is Communication in practice: reading sources closely, writing it up clearly, and preparing questions for real people in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fit takes more than something that sounds cool or pays well.
Career fit is how well a career's real demands match who you are and how you want to live. Six parts. You already have the first three: interests from Module 6, strengths and values from Module 7. The Career Research Guide adds work environment, life management (schedule, pace, physical demands), and education fit.
Think in directions, not job titles: a career cluster like health care, skilled trades, or human services gives you options and room to change course.
And start with the life you want: security, time with people you love, where you live, what your mornings look like. That's this week's AI Chat with Coach Pathfinder: What Future Do You Want Your Career to Make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tools, two jobs.
Career Coach is the local picture: regional salary, job outlook, and the OCTC programs connected to a career. Start there, with your results from Module 6.
O*NET OnLine goes deeper on what the work actually involves: tasks, skills, work context.
Students research one career in depth and fill in all five sections of the Career Research Guide. That guide is Part 1 of Mile Marker #8.
On AI: use it to question your assumptions about a career, but get the facts, especially numbers, from your research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Handshake is the career platform OCTC uses to connect students with local and regional employers: part-time and full-time jobs, internships, career fairs, and hiring events.
Most students wait until they're actively job hunting. The ones who set it up early and look around have a head start.
Scan the code and sign in with your KCTCS username and password; there's no separate account. Fill in the essentials, add your interests, add a short bio and a photo, and copy your profile link. That's this week's Handshake task.
Once you're set up, look at jobs and internships, the resume tools, employers, and upcoming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Classes fill faster than most first-year students expect, especially general education courses and the ones your program requires.
Know when registration opens: look it up on the OCTC academic calendar, and put it in your phone with a reminder a week ahead.
Meet with your Success Coach first. Bring the plan and questions from Module 6.
Then register as soon as your window opens.
Tie-in: the course's extra credit is submitting your next-semester schedule after meeting with your Success Coach. Details are in Blackboard.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due Monday by 11:59 PM Central.
The Handshake task: set up your profile and share the link.
The AI Chat with Coach Pathfinder is a short conversation about what you want your career to make possible.
Mile Marker #8 has two parts: upload your completed Career Research Guide, then answer three questions. A submission without the guide is incomplete.
Extra credit, the only extra credit in the course: meet with your Success Coach, build your next-semester schedule, and submit a screenshot. Details in Blackboard.
In-person sections: today's attendance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 Marker #8 has two parts.
Part 1: the Career Research Guide, all five sections, researched with Career Coach and O*NET. Upload it with the Mile Marker.
Part 2, three questions. One: the headline version of what you found: education, regional salary, outlook, and work environment. Two: does it fit? Connect your research to your strengths, values, and work style from Modules 6 and 7. Three: one clear area of alignment, one area of friction, and the one question you still need answered.
Honest beats impressive. Naming friction is part of a good fit analysis, not a sign you chose wrong.
There's a handout with both parts in Blackboard for students who want one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In-person discussion. This mirrors the AI Chat question, so it's a good warm-up for it.
Pairs for three minutes. Encourage specifics: what time they wake up, who's around, where they live.
Ask a few students to share what their career would need to give them. Common answers: steady hours, enough money to stop worrying, time with family, work that matters.
Connect it back: the career is the tool; the life is the point.
For online recordings: pose the questions as a lead-in to the AI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YE Title">
    <p:bg>
      <p:bgPr>
        <a:solidFill>
          <a:srgbClr val="011D4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931920" y="1051560"/>
            <a:ext cx="7680960" cy="457200"/>
          </a:xfrm>
          <a:prstGeom prst="rect">
            <a:avLst/>
          </a:prstGeom>
          <a:noFill/>
          <a:ln/>
        </p:spPr>
        <p:txBody>
          <a:bodyPr wrap="square" rtlCol="0"/>
          <a:lstStyle>
            <a:lvl1pPr algn="l" indent="0" marL="0">
              <a:buNone/>
              <a:defRPr lang="en-US" sz="2000" b="1" spc="300" kern="0" dirty="0">
                <a:solidFill>
                  <a:schemeClr val="accent2"/>
                </a:solidFill>
              </a:defRPr>
            </a:lvl1pPr>
          </a:lstStyle>
          <a:p>
            <a:pPr algn="l" indent="0" marL="0">
              <a:buNone/>
            </a:pPr>
            <a:endParaRPr lang="en-US" sz="2000" dirty="0"/>
          </a:p>
        </p:txBody>
      </p:sp>
      <p:sp>
        <p:nvSpPr>
          <p:cNvPr id="3" name="Text 0"/>
          <p:cNvSpPr/>
          <p:nvPr>
            <p:ph idx="101" type="title" hasCustomPrompt="1"/>
          </p:nvPr>
        </p:nvSpPr>
        <p:spPr>
          <a:xfrm>
            <a:off x="3931920" y="1554480"/>
            <a:ext cx="7680960" cy="20116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3931920" y="3611880"/>
            <a:ext cx="6949440" cy="1005840"/>
          </a:xfrm>
          <a:prstGeom prst="rect">
            <a:avLst/>
          </a:prstGeom>
          <a:noFill/>
          <a:ln/>
        </p:spPr>
        <p:txBody>
          <a:bodyPr wrap="square" rtlCol="0"/>
          <a:lstStyle>
            <a:lvl1pPr algn="l" indent="0" marL="0">
              <a:buNone/>
              <a:defRPr lang="en-US" sz="3200" dirty="0">
                <a:solidFill>
                  <a:srgbClr val="D6EEFA"/>
                </a:solidFill>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YE 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rtlCol="0"/>
          <a:lstStyle>
            <a:lvl1pPr algn="l" indent="0" marL="0">
              <a:buNone/>
              <a:defRPr lang="en-US" sz="2000" b="1" spc="300" kern="0" dirty="0">
                <a:solidFill>
                  <a:schemeClr val="accent4"/>
                </a:solidFill>
              </a:defRPr>
            </a:lvl1pPr>
          </a:lstStyle>
          <a:p>
            <a:pPr algn="l" indent="0" marL="0">
              <a:buNone/>
            </a:pP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rtlCol="0"/>
          <a:lstStyle>
            <a:lvl1pPr algn="l" indent="0" marL="0">
              <a:buNone/>
              <a:defRPr lang="en-US" sz="4000" b="1" dirty="0">
                <a:solidFill>
                  <a:schemeClr val="tx2"/>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YE Discussion">
    <p:bg>
      <p:bgPr>
        <a:solidFill>
          <a:srgbClr val="011D4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931920" y="640080"/>
            <a:ext cx="7680960" cy="411480"/>
          </a:xfrm>
          <a:prstGeom prst="rect">
            <a:avLst/>
          </a:prstGeom>
          <a:noFill/>
          <a:ln/>
        </p:spPr>
        <p:txBody>
          <a:bodyPr wrap="square" rtlCol="0"/>
          <a:lstStyle>
            <a:lvl1pPr algn="l" indent="0" marL="0">
              <a:buNone/>
              <a:defRPr lang="en-US" sz="2000" b="1" spc="300" kern="0" dirty="0">
                <a:solidFill>
                  <a:schemeClr val="accent2"/>
                </a:solidFill>
              </a:defRPr>
            </a:lvl1pPr>
          </a:lstStyle>
          <a:p>
            <a:pPr algn="l" indent="0" marL="0">
              <a:buNone/>
            </a:pPr>
            <a:endParaRPr lang="en-US" sz="2000" dirty="0"/>
          </a:p>
        </p:txBody>
      </p:sp>
      <p:sp>
        <p:nvSpPr>
          <p:cNvPr id="3" name="Text 0"/>
          <p:cNvSpPr/>
          <p:nvPr>
            <p:ph idx="101" type="title" hasCustomPrompt="1"/>
          </p:nvPr>
        </p:nvSpPr>
        <p:spPr>
          <a:xfrm>
            <a:off x="3931920" y="1097280"/>
            <a:ext cx="768096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Decorative: module cover ar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3931920" y="1051560"/>
            <a:ext cx="7680960" cy="457200"/>
          </a:xfrm>
          <a:prstGeom prst="rect">
            <a:avLst/>
          </a:prstGeom>
          <a:noFill/>
          <a:ln/>
        </p:spPr>
        <p:txBody>
          <a:bodyPr wrap="square" lIns="0" tIns="0" rIns="0" bIns="0" rtlCol="0"/>
          <a:lstStyle/>
          <a:p>
            <a:pPr algn="l" indent="0" marL="0">
              <a:buNone/>
            </a:pPr>
            <a:r>
              <a:rPr lang="en-US" sz="2000" b="1" spc="300" kern="0" dirty="0">
                <a:solidFill>
                  <a:schemeClr val="accent2"/>
                </a:solidFill>
              </a:rPr>
              <a:t>MODULE 8</a:t>
            </a:r>
            <a:endParaRPr lang="en-US" sz="2000" dirty="0"/>
          </a:p>
        </p:txBody>
      </p:sp>
      <p:sp>
        <p:nvSpPr>
          <p:cNvPr id="4" name="Text 0"/>
          <p:cNvSpPr/>
          <p:nvPr>
            <p:ph idx="101" type="title" hasCustomPrompt="1"/>
          </p:nvPr>
        </p:nvSpPr>
        <p:spPr>
          <a:xfrm>
            <a:off x="3931920" y="1554480"/>
            <a:ext cx="7680960" cy="2011680"/>
          </a:xfrm>
          <a:prstGeom prst="rect">
            <a:avLst/>
          </a:prstGeom>
          <a:noFill/>
          <a:ln/>
        </p:spPr>
        <p:txBody>
          <a:bodyPr wrap="square" lIns="0" tIns="0" rIns="0" bIns="0" rtlCol="0" anchor="t"/>
          <a:lstStyle/>
          <a:p>
            <a:pPr algn="l" indent="0" marL="0">
              <a:buNone/>
            </a:pPr>
            <a:r>
              <a:rPr lang="en-US" sz="5400" b="1" dirty="0">
                <a:solidFill>
                  <a:schemeClr val="bg1"/>
                </a:solidFill>
              </a:rPr>
              <a:t>Explore Your Career Options</a:t>
            </a:r>
            <a:endParaRPr lang="en-US" sz="5400" dirty="0"/>
          </a:p>
        </p:txBody>
      </p:sp>
      <p:sp>
        <p:nvSpPr>
          <p:cNvPr id="5" name="Text 0"/>
          <p:cNvSpPr/>
          <p:nvPr>
            <p:ph idx="102" type="body" hasCustomPrompt="1"/>
          </p:nvPr>
        </p:nvSpPr>
        <p:spPr>
          <a:xfrm>
            <a:off x="3931920" y="3611880"/>
            <a:ext cx="6949440" cy="1005840"/>
          </a:xfrm>
          <a:prstGeom prst="rect">
            <a:avLst/>
          </a:prstGeom>
          <a:noFill/>
          <a:ln/>
        </p:spPr>
        <p:txBody>
          <a:bodyPr wrap="square" lIns="0" tIns="0" rIns="0" bIns="0" rtlCol="0" anchor="t"/>
          <a:lstStyle/>
          <a:p>
            <a:pPr algn="l" indent="0" marL="0">
              <a:buNone/>
            </a:pPr>
            <a:r>
              <a:rPr lang="en-US" sz="3200" dirty="0">
                <a:solidFill>
                  <a:srgbClr val="D6EEFA"/>
                </a:solidFill>
              </a:rPr>
              <a:t>The one that actually fits who you are.</a:t>
            </a:r>
            <a:endParaRPr lang="en-US" sz="3200" dirty="0"/>
          </a:p>
        </p:txBody>
      </p:sp>
      <p:sp>
        <p:nvSpPr>
          <p:cNvPr id="6" name="Instructor and section (edit me)"/>
          <p:cNvSpPr txBox="1"/>
          <p:nvPr/>
        </p:nvSpPr>
        <p:spPr>
          <a:xfrm>
            <a:off x="3931920" y="4709160"/>
            <a:ext cx="5486400" cy="411480"/>
          </a:xfrm>
          <a:prstGeom prst="rect">
            <a:avLst/>
          </a:prstGeom>
          <a:noFill/>
          <a:ln/>
        </p:spPr>
        <p:txBody>
          <a:bodyPr wrap="square" lIns="0" tIns="0" rIns="0" bIns="0" rtlCol="0" anchor="t"/>
          <a:lstStyle/>
          <a:p>
            <a:pPr indent="0" marL="0">
              <a:buNone/>
            </a:pPr>
            <a:r>
              <a:rPr lang="en-US" sz="2000" dirty="0">
                <a:solidFill>
                  <a:srgbClr val="D6EEFA"/>
                </a:solidFill>
              </a:rPr>
              <a:t>Instructor name  ·  Section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INSTRUCTOR SLIDE · HOUSEKEEPING</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Breaking Camp</a:t>
            </a:r>
            <a:endParaRPr lang="en-US" sz="4000" dirty="0"/>
          </a:p>
        </p:txBody>
      </p:sp>
      <p:sp>
        <p:nvSpPr>
          <p:cNvPr id="4" name="Text 2"/>
          <p:cNvSpPr txBox="1"/>
          <p:nvPr/>
        </p:nvSpPr>
        <p:spPr>
          <a:xfrm>
            <a:off x="548640" y="1645920"/>
            <a:ext cx="10515600" cy="457200"/>
          </a:xfrm>
          <a:prstGeom prst="rect">
            <a:avLst/>
          </a:prstGeom>
          <a:noFill/>
          <a:ln/>
        </p:spPr>
        <p:txBody>
          <a:bodyPr wrap="square" lIns="0" tIns="0" rIns="0" bIns="0" rtlCol="0" anchor="t"/>
          <a:lstStyle/>
          <a:p>
            <a:pPr indent="0" marL="0">
              <a:buNone/>
            </a:pPr>
            <a:r>
              <a:rPr lang="en-US" sz="2400" i="1" dirty="0">
                <a:solidFill>
                  <a:schemeClr val="accent6"/>
                </a:solidFill>
              </a:rPr>
              <a:t>Pack up Module 7, then look ahead to Module 8.</a:t>
            </a:r>
            <a:endParaRPr lang="en-US" sz="2400" dirty="0"/>
          </a:p>
        </p:txBody>
      </p:sp>
      <p:sp>
        <p:nvSpPr>
          <p:cNvPr id="5" name="Decorative: announcements panel">
            <a:extLst>
              <a:ext uri="{C183D7F6-B498-43B3-948B-1728B52AA6E4}">
                <adec:decorative xmlns:adec="http://schemas.microsoft.com/office/drawing/2017/decorative" val="1"/>
              </a:ext>
            </a:extLst>
          </p:cNvPr>
          <p:cNvSpPr/>
          <p:nvPr/>
        </p:nvSpPr>
        <p:spPr>
          <a:xfrm>
            <a:off x="548640" y="2331720"/>
            <a:ext cx="6949440" cy="3749040"/>
          </a:xfrm>
          <a:prstGeom prst="roundRect">
            <a:avLst>
              <a:gd name="adj" fmla="val 2927"/>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6" name="Text 4"/>
          <p:cNvSpPr txBox="1"/>
          <p:nvPr/>
        </p:nvSpPr>
        <p:spPr>
          <a:xfrm>
            <a:off x="868680" y="2560320"/>
            <a:ext cx="6400800" cy="411480"/>
          </a:xfrm>
          <a:prstGeom prst="rect">
            <a:avLst/>
          </a:prstGeom>
          <a:noFill/>
          <a:ln/>
        </p:spPr>
        <p:txBody>
          <a:bodyPr wrap="square" lIns="0" tIns="0" rIns="0" bIns="0" rtlCol="0" anchor="t"/>
          <a:lstStyle/>
          <a:p>
            <a:pPr indent="0" marL="0">
              <a:buNone/>
            </a:pPr>
            <a:r>
              <a:rPr lang="en-US" sz="2800" b="1" dirty="0">
                <a:solidFill>
                  <a:schemeClr val="tx2"/>
                </a:solidFill>
              </a:rPr>
              <a:t>Announcements</a:t>
            </a:r>
            <a:endParaRPr lang="en-US" sz="2800" dirty="0"/>
          </a:p>
        </p:txBody>
      </p:sp>
      <p:sp>
        <p:nvSpPr>
          <p:cNvPr id="7" name="Announcements (edit me)"/>
          <p:cNvSpPr txBox="1"/>
          <p:nvPr/>
        </p:nvSpPr>
        <p:spPr>
          <a:xfrm>
            <a:off x="868680" y="3063240"/>
            <a:ext cx="6400800" cy="2743200"/>
          </a:xfrm>
          <a:prstGeom prst="rect">
            <a:avLst/>
          </a:prstGeom>
          <a:noFill/>
          <a:ln/>
        </p:spPr>
        <p:txBody>
          <a:bodyPr wrap="square" lIns="0" tIns="0" rIns="0" bIns="0" rtlCol="0" anchor="t"/>
          <a:lstStyle/>
          <a:p>
            <a:pPr indent="0" marL="0">
              <a:buNone/>
            </a:pPr>
            <a:r>
              <a:rPr lang="en-US" sz="2400" dirty="0">
                <a:solidFill>
                  <a:schemeClr val="accent6"/>
                </a:solidFill>
              </a:rPr>
              <a:t>Add this week's announcements here.</a:t>
            </a:r>
            <a:endParaRPr lang="en-US" sz="2400" dirty="0"/>
          </a:p>
          <a:p>
            <a:pPr indent="0" marL="0">
              <a:buNone/>
            </a:pPr>
            <a:r>
              <a:rPr lang="en-US" sz="2400" dirty="0">
                <a:solidFill>
                  <a:schemeClr val="accent6"/>
                </a:solidFill>
              </a:rPr>
              <a:t>Grades posted, office hours, campus dates.</a:t>
            </a:r>
            <a:endParaRPr lang="en-US" sz="2400" dirty="0"/>
          </a:p>
        </p:txBody>
      </p:sp>
      <p:sp>
        <p:nvSpPr>
          <p:cNvPr id="8" name="Decorative: looking ahead panel">
            <a:extLst>
              <a:ext uri="{C183D7F6-B498-43B3-948B-1728B52AA6E4}">
                <adec:decorative xmlns:adec="http://schemas.microsoft.com/office/drawing/2017/decorative" val="1"/>
              </a:ext>
            </a:extLst>
          </p:cNvPr>
          <p:cNvSpPr/>
          <p:nvPr/>
        </p:nvSpPr>
        <p:spPr>
          <a:xfrm>
            <a:off x="7818120" y="2331720"/>
            <a:ext cx="3824935" cy="3749040"/>
          </a:xfrm>
          <a:prstGeom prst="roundRect">
            <a:avLst>
              <a:gd name="adj" fmla="val 2927"/>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8138160" y="2606040"/>
            <a:ext cx="731520" cy="731520"/>
          </a:xfrm>
          <a:prstGeom prst="ellipse">
            <a:avLst/>
          </a:prstGeom>
          <a:solidFill>
            <a:srgbClr val="E7A614"/>
          </a:solidFill>
          <a:ln w="12700">
            <a:solidFill>
              <a:srgbClr val="E7A614"/>
            </a:solidFill>
            <a:prstDash val="solid"/>
          </a:ln>
        </p:spPr>
      </p:sp>
      <p:pic>
        <p:nvPicPr>
          <p:cNvPr id="10" name="Decorative: LuCalendarCheck">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299094" y="2766974"/>
            <a:ext cx="409651" cy="409651"/>
          </a:xfrm>
          <a:prstGeom prst="rect">
            <a:avLst/>
          </a:prstGeom>
        </p:spPr>
      </p:pic>
      <p:sp>
        <p:nvSpPr>
          <p:cNvPr id="11" name="Text 8"/>
          <p:cNvSpPr txBox="1"/>
          <p:nvPr/>
        </p:nvSpPr>
        <p:spPr>
          <a:xfrm>
            <a:off x="8138160" y="3474720"/>
            <a:ext cx="3291840" cy="411480"/>
          </a:xfrm>
          <a:prstGeom prst="rect">
            <a:avLst/>
          </a:prstGeom>
          <a:noFill/>
          <a:ln/>
        </p:spPr>
        <p:txBody>
          <a:bodyPr wrap="square" lIns="0" tIns="0" rIns="0" bIns="0" rtlCol="0" anchor="t"/>
          <a:lstStyle/>
          <a:p>
            <a:pPr indent="0" marL="0">
              <a:buNone/>
            </a:pPr>
            <a:r>
              <a:rPr lang="en-US" sz="2800" b="1" dirty="0">
                <a:solidFill>
                  <a:schemeClr val="tx2"/>
                </a:solidFill>
              </a:rPr>
              <a:t>Looking ahead</a:t>
            </a:r>
            <a:endParaRPr lang="en-US" sz="2800" dirty="0"/>
          </a:p>
        </p:txBody>
      </p:sp>
      <p:sp>
        <p:nvSpPr>
          <p:cNvPr id="12" name="Text 9"/>
          <p:cNvSpPr txBox="1"/>
          <p:nvPr/>
        </p:nvSpPr>
        <p:spPr>
          <a:xfrm>
            <a:off x="8138160" y="3977640"/>
            <a:ext cx="3291840" cy="2011680"/>
          </a:xfrm>
          <a:prstGeom prst="rect">
            <a:avLst/>
          </a:prstGeom>
          <a:noFill/>
          <a:ln/>
        </p:spPr>
        <p:txBody>
          <a:bodyPr wrap="square" lIns="0" tIns="0" rIns="0" bIns="0" rtlCol="0" anchor="t"/>
          <a:lstStyle/>
          <a:p>
            <a:pPr indent="0" marL="0">
              <a:buNone/>
            </a:pPr>
            <a:r>
              <a:rPr lang="en-US" sz="2400" dirty="0">
                <a:solidFill>
                  <a:schemeClr val="tx1"/>
                </a:solidFill>
              </a:rPr>
              <a:t>Module 8 work is due Monday by 11:59 PM Central. Spring break comes after this module.</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MODULE 8 · THIS WEEK</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Find a career that fits your life</a:t>
            </a:r>
            <a:endParaRPr lang="en-US" sz="4000" dirty="0"/>
          </a:p>
        </p:txBody>
      </p:sp>
      <p:sp>
        <p:nvSpPr>
          <p:cNvPr id="4" name="Decorative: icon circle">
            <a:extLst>
              <a:ext uri="{C183D7F6-B498-43B3-948B-1728B52AA6E4}">
                <adec:decorative xmlns:adec="http://schemas.microsoft.com/office/drawing/2017/decorative" val="1"/>
              </a:ext>
            </a:extLst>
          </p:cNvPr>
          <p:cNvSpPr/>
          <p:nvPr/>
        </p:nvSpPr>
        <p:spPr>
          <a:xfrm>
            <a:off x="548640" y="1965960"/>
            <a:ext cx="685800" cy="685800"/>
          </a:xfrm>
          <a:prstGeom prst="ellipse">
            <a:avLst/>
          </a:prstGeom>
          <a:solidFill>
            <a:srgbClr val="00467F"/>
          </a:solidFill>
          <a:ln w="12700">
            <a:solidFill>
              <a:srgbClr val="00467F"/>
            </a:solidFill>
            <a:prstDash val="solid"/>
          </a:ln>
        </p:spPr>
      </p:sp>
      <p:pic>
        <p:nvPicPr>
          <p:cNvPr id="5" name="Decorative: LuSunrise">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99516" y="2116836"/>
            <a:ext cx="384048" cy="384048"/>
          </a:xfrm>
          <a:prstGeom prst="rect">
            <a:avLst/>
          </a:prstGeom>
        </p:spPr>
      </p:pic>
      <p:sp>
        <p:nvSpPr>
          <p:cNvPr id="6" name="Text 3"/>
          <p:cNvSpPr txBox="1"/>
          <p:nvPr/>
        </p:nvSpPr>
        <p:spPr>
          <a:xfrm>
            <a:off x="1463040" y="2075688"/>
            <a:ext cx="6035040" cy="548640"/>
          </a:xfrm>
          <a:prstGeom prst="rect">
            <a:avLst/>
          </a:prstGeom>
          <a:noFill/>
          <a:ln/>
        </p:spPr>
        <p:txBody>
          <a:bodyPr wrap="square" lIns="0" tIns="0" rIns="0" bIns="0" rtlCol="0" anchor="ctr"/>
          <a:lstStyle/>
          <a:p>
            <a:pPr indent="0" marL="0">
              <a:buNone/>
            </a:pPr>
            <a:r>
              <a:rPr lang="en-US" sz="2400" dirty="0">
                <a:solidFill>
                  <a:schemeClr val="tx1"/>
                </a:solidFill>
              </a:rPr>
              <a:t>Start with the life you want</a:t>
            </a:r>
            <a:endParaRPr lang="en-US" sz="2400" dirty="0"/>
          </a:p>
        </p:txBody>
      </p:sp>
      <p:sp>
        <p:nvSpPr>
          <p:cNvPr id="7" name="Decorative: icon circle">
            <a:extLst>
              <a:ext uri="{C183D7F6-B498-43B3-948B-1728B52AA6E4}">
                <adec:decorative xmlns:adec="http://schemas.microsoft.com/office/drawing/2017/decorative" val="1"/>
              </a:ext>
            </a:extLst>
          </p:cNvPr>
          <p:cNvSpPr/>
          <p:nvPr/>
        </p:nvSpPr>
        <p:spPr>
          <a:xfrm>
            <a:off x="548640" y="2926080"/>
            <a:ext cx="685800" cy="685800"/>
          </a:xfrm>
          <a:prstGeom prst="ellipse">
            <a:avLst/>
          </a:prstGeom>
          <a:solidFill>
            <a:srgbClr val="00467F"/>
          </a:solidFill>
          <a:ln w="12700">
            <a:solidFill>
              <a:srgbClr val="00467F"/>
            </a:solidFill>
            <a:prstDash val="solid"/>
          </a:ln>
        </p:spPr>
      </p:sp>
      <p:pic>
        <p:nvPicPr>
          <p:cNvPr id="8" name="Decorative: LuSearch">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9516" y="3076956"/>
            <a:ext cx="384048" cy="384048"/>
          </a:xfrm>
          <a:prstGeom prst="rect">
            <a:avLst/>
          </a:prstGeom>
        </p:spPr>
      </p:pic>
      <p:sp>
        <p:nvSpPr>
          <p:cNvPr id="9" name="Text 5"/>
          <p:cNvSpPr txBox="1"/>
          <p:nvPr/>
        </p:nvSpPr>
        <p:spPr>
          <a:xfrm>
            <a:off x="1463040" y="3035808"/>
            <a:ext cx="6035040" cy="548640"/>
          </a:xfrm>
          <a:prstGeom prst="rect">
            <a:avLst/>
          </a:prstGeom>
          <a:noFill/>
          <a:ln/>
        </p:spPr>
        <p:txBody>
          <a:bodyPr wrap="square" lIns="0" tIns="0" rIns="0" bIns="0" rtlCol="0" anchor="ctr"/>
          <a:lstStyle/>
          <a:p>
            <a:pPr indent="0" marL="0">
              <a:buNone/>
            </a:pPr>
            <a:r>
              <a:rPr lang="en-US" sz="2400" dirty="0">
                <a:solidFill>
                  <a:schemeClr val="tx1"/>
                </a:solidFill>
              </a:rPr>
              <a:t>Research one career, well</a:t>
            </a:r>
            <a:endParaRPr lang="en-US" sz="2400" dirty="0"/>
          </a:p>
        </p:txBody>
      </p:sp>
      <p:sp>
        <p:nvSpPr>
          <p:cNvPr id="10" name="Decorative: icon circle">
            <a:extLst>
              <a:ext uri="{C183D7F6-B498-43B3-948B-1728B52AA6E4}">
                <adec:decorative xmlns:adec="http://schemas.microsoft.com/office/drawing/2017/decorative" val="1"/>
              </a:ext>
            </a:extLst>
          </p:cNvPr>
          <p:cNvSpPr/>
          <p:nvPr/>
        </p:nvSpPr>
        <p:spPr>
          <a:xfrm>
            <a:off x="548640" y="3886200"/>
            <a:ext cx="685800" cy="685800"/>
          </a:xfrm>
          <a:prstGeom prst="ellipse">
            <a:avLst/>
          </a:prstGeom>
          <a:solidFill>
            <a:srgbClr val="00467F"/>
          </a:solidFill>
          <a:ln w="12700">
            <a:solidFill>
              <a:srgbClr val="00467F"/>
            </a:solidFill>
            <a:prstDash val="solid"/>
          </a:ln>
        </p:spPr>
      </p:sp>
      <p:pic>
        <p:nvPicPr>
          <p:cNvPr id="11" name="Decorative: LuScale">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99516" y="4037076"/>
            <a:ext cx="384048" cy="384048"/>
          </a:xfrm>
          <a:prstGeom prst="rect">
            <a:avLst/>
          </a:prstGeom>
        </p:spPr>
      </p:pic>
      <p:sp>
        <p:nvSpPr>
          <p:cNvPr id="12" name="Text 7"/>
          <p:cNvSpPr txBox="1"/>
          <p:nvPr/>
        </p:nvSpPr>
        <p:spPr>
          <a:xfrm>
            <a:off x="1463040" y="3995928"/>
            <a:ext cx="6035040" cy="548640"/>
          </a:xfrm>
          <a:prstGeom prst="rect">
            <a:avLst/>
          </a:prstGeom>
          <a:noFill/>
          <a:ln/>
        </p:spPr>
        <p:txBody>
          <a:bodyPr wrap="square" lIns="0" tIns="0" rIns="0" bIns="0" rtlCol="0" anchor="ctr"/>
          <a:lstStyle/>
          <a:p>
            <a:pPr indent="0" marL="0">
              <a:buNone/>
            </a:pPr>
            <a:r>
              <a:rPr lang="en-US" sz="2400" dirty="0">
                <a:solidFill>
                  <a:schemeClr val="tx1"/>
                </a:solidFill>
              </a:rPr>
              <a:t>Check the fit honestly</a:t>
            </a:r>
            <a:endParaRPr lang="en-US" sz="2400" dirty="0"/>
          </a:p>
        </p:txBody>
      </p:sp>
      <p:sp>
        <p:nvSpPr>
          <p:cNvPr id="13" name="Decorative: icon circle">
            <a:extLst>
              <a:ext uri="{C183D7F6-B498-43B3-948B-1728B52AA6E4}">
                <adec:decorative xmlns:adec="http://schemas.microsoft.com/office/drawing/2017/decorative" val="1"/>
              </a:ext>
            </a:extLst>
          </p:cNvPr>
          <p:cNvSpPr/>
          <p:nvPr/>
        </p:nvSpPr>
        <p:spPr>
          <a:xfrm>
            <a:off x="548640" y="4846320"/>
            <a:ext cx="685800" cy="685800"/>
          </a:xfrm>
          <a:prstGeom prst="ellipse">
            <a:avLst/>
          </a:prstGeom>
          <a:solidFill>
            <a:srgbClr val="00467F"/>
          </a:solidFill>
          <a:ln w="12700">
            <a:solidFill>
              <a:srgbClr val="00467F"/>
            </a:solidFill>
            <a:prstDash val="solid"/>
          </a:ln>
        </p:spPr>
      </p:sp>
      <p:pic>
        <p:nvPicPr>
          <p:cNvPr id="14" name="Decorative: LuCalendarCheck">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99516" y="4997196"/>
            <a:ext cx="384048" cy="384048"/>
          </a:xfrm>
          <a:prstGeom prst="rect">
            <a:avLst/>
          </a:prstGeom>
        </p:spPr>
      </p:pic>
      <p:sp>
        <p:nvSpPr>
          <p:cNvPr id="15" name="Text 9"/>
          <p:cNvSpPr txBox="1"/>
          <p:nvPr/>
        </p:nvSpPr>
        <p:spPr>
          <a:xfrm>
            <a:off x="1463040" y="4956048"/>
            <a:ext cx="6035040" cy="548640"/>
          </a:xfrm>
          <a:prstGeom prst="rect">
            <a:avLst/>
          </a:prstGeom>
          <a:noFill/>
          <a:ln/>
        </p:spPr>
        <p:txBody>
          <a:bodyPr wrap="square" lIns="0" tIns="0" rIns="0" bIns="0" rtlCol="0" anchor="ctr"/>
          <a:lstStyle/>
          <a:p>
            <a:pPr indent="0" marL="0">
              <a:buNone/>
            </a:pPr>
            <a:r>
              <a:rPr lang="en-US" sz="2400" dirty="0">
                <a:solidFill>
                  <a:schemeClr val="tx1"/>
                </a:solidFill>
              </a:rPr>
              <a:t>Set up Handshake, register early</a:t>
            </a:r>
            <a:endParaRPr lang="en-US" sz="2400" dirty="0"/>
          </a:p>
        </p:txBody>
      </p:sp>
      <p:sp>
        <p:nvSpPr>
          <p:cNvPr id="16" name="Decorative: skills panel">
            <a:extLst>
              <a:ext uri="{C183D7F6-B498-43B3-948B-1728B52AA6E4}">
                <adec:decorative xmlns:adec="http://schemas.microsoft.com/office/drawing/2017/decorative" val="1"/>
              </a:ext>
            </a:extLst>
          </p:cNvPr>
          <p:cNvSpPr/>
          <p:nvPr/>
        </p:nvSpPr>
        <p:spPr>
          <a:xfrm>
            <a:off x="7863840" y="1965960"/>
            <a:ext cx="3779215" cy="3840480"/>
          </a:xfrm>
          <a:prstGeom prst="roundRect">
            <a:avLst>
              <a:gd name="adj" fmla="val 290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Text 11"/>
          <p:cNvSpPr txBox="1"/>
          <p:nvPr/>
        </p:nvSpPr>
        <p:spPr>
          <a:xfrm>
            <a:off x="8183880" y="2194560"/>
            <a:ext cx="3291840" cy="411480"/>
          </a:xfrm>
          <a:prstGeom prst="rect">
            <a:avLst/>
          </a:prstGeom>
          <a:noFill/>
          <a:ln/>
        </p:spPr>
        <p:txBody>
          <a:bodyPr wrap="square" lIns="0" tIns="0" rIns="0" bIns="0" rtlCol="0" anchor="t"/>
          <a:lstStyle/>
          <a:p>
            <a:pPr indent="0" marL="0">
              <a:buNone/>
            </a:pPr>
            <a:r>
              <a:rPr lang="en-US" sz="2800" b="1" dirty="0">
                <a:solidFill>
                  <a:schemeClr val="tx2"/>
                </a:solidFill>
              </a:rPr>
              <a:t>Skills you'll build</a:t>
            </a:r>
            <a:endParaRPr lang="en-US" sz="2800" dirty="0"/>
          </a:p>
        </p:txBody>
      </p:sp>
      <p:pic>
        <p:nvPicPr>
          <p:cNvPr id="18" name="Decorative: skill coin">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183880" y="2697480"/>
            <a:ext cx="621792" cy="621792"/>
          </a:xfrm>
          <a:prstGeom prst="rect">
            <a:avLst/>
          </a:prstGeom>
        </p:spPr>
      </p:pic>
      <p:sp>
        <p:nvSpPr>
          <p:cNvPr id="19" name="Text 12"/>
          <p:cNvSpPr txBox="1"/>
          <p:nvPr/>
        </p:nvSpPr>
        <p:spPr>
          <a:xfrm>
            <a:off x="8988552" y="2651760"/>
            <a:ext cx="2624328" cy="713232"/>
          </a:xfrm>
          <a:prstGeom prst="rect">
            <a:avLst/>
          </a:prstGeom>
          <a:noFill/>
          <a:ln/>
        </p:spPr>
        <p:txBody>
          <a:bodyPr wrap="square" lIns="0" tIns="0" rIns="0" bIns="0" rtlCol="0" anchor="ctr"/>
          <a:lstStyle/>
          <a:p>
            <a:pPr indent="0" marL="0">
              <a:buNone/>
            </a:pPr>
            <a:r>
              <a:rPr lang="en-US" sz="2000" b="1" dirty="0">
                <a:solidFill>
                  <a:schemeClr val="accent4"/>
                </a:solidFill>
              </a:rPr>
              <a:t>#1 </a:t>
            </a:r>
            <a:pPr indent="0" marL="0">
              <a:buNone/>
            </a:pPr>
            <a:r>
              <a:rPr lang="en-US" sz="2000" dirty="0">
                <a:solidFill>
                  <a:schemeClr val="tx1"/>
                </a:solidFill>
              </a:rPr>
              <a:t>Communication</a:t>
            </a:r>
            <a:endParaRPr lang="en-US" sz="2000" dirty="0"/>
          </a:p>
        </p:txBody>
      </p:sp>
      <p:pic>
        <p:nvPicPr>
          <p:cNvPr id="20" name="Decorative: skill coin">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183880" y="3429000"/>
            <a:ext cx="621792" cy="621792"/>
          </a:xfrm>
          <a:prstGeom prst="rect">
            <a:avLst/>
          </a:prstGeom>
        </p:spPr>
      </p:pic>
      <p:sp>
        <p:nvSpPr>
          <p:cNvPr id="21" name="Text 13"/>
          <p:cNvSpPr txBox="1"/>
          <p:nvPr/>
        </p:nvSpPr>
        <p:spPr>
          <a:xfrm>
            <a:off x="8988552" y="3383280"/>
            <a:ext cx="2624328" cy="713232"/>
          </a:xfrm>
          <a:prstGeom prst="rect">
            <a:avLst/>
          </a:prstGeom>
          <a:noFill/>
          <a:ln/>
        </p:spPr>
        <p:txBody>
          <a:bodyPr wrap="square" lIns="0" tIns="0" rIns="0" bIns="0" rtlCol="0" anchor="ctr"/>
          <a:lstStyle/>
          <a:p>
            <a:pPr indent="0" marL="0">
              <a:buNone/>
            </a:pPr>
            <a:r>
              <a:rPr lang="en-US" sz="2000" b="1" dirty="0">
                <a:solidFill>
                  <a:schemeClr val="accent4"/>
                </a:solidFill>
              </a:rPr>
              <a:t>#2 </a:t>
            </a:r>
            <a:pPr indent="0" marL="0">
              <a:buNone/>
            </a:pPr>
            <a:r>
              <a:rPr lang="en-US" sz="2000" dirty="0">
                <a:solidFill>
                  <a:schemeClr val="tx1"/>
                </a:solidFill>
              </a:rPr>
              <a:t>Critical &amp; Creative Thinking</a:t>
            </a:r>
            <a:endParaRPr lang="en-US" sz="2000" dirty="0"/>
          </a:p>
        </p:txBody>
      </p:sp>
      <p:pic>
        <p:nvPicPr>
          <p:cNvPr id="22" name="Decorative: skill coin">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183880" y="4160520"/>
            <a:ext cx="621792" cy="621792"/>
          </a:xfrm>
          <a:prstGeom prst="rect">
            <a:avLst/>
          </a:prstGeom>
        </p:spPr>
      </p:pic>
      <p:sp>
        <p:nvSpPr>
          <p:cNvPr id="23" name="Text 14"/>
          <p:cNvSpPr txBox="1"/>
          <p:nvPr/>
        </p:nvSpPr>
        <p:spPr>
          <a:xfrm>
            <a:off x="8988552" y="4114800"/>
            <a:ext cx="2624328" cy="713232"/>
          </a:xfrm>
          <a:prstGeom prst="rect">
            <a:avLst/>
          </a:prstGeom>
          <a:noFill/>
          <a:ln/>
        </p:spPr>
        <p:txBody>
          <a:bodyPr wrap="square" lIns="0" tIns="0" rIns="0" bIns="0" rtlCol="0" anchor="ctr"/>
          <a:lstStyle/>
          <a:p>
            <a:pPr indent="0" marL="0">
              <a:buNone/>
            </a:pPr>
            <a:r>
              <a:rPr lang="en-US" sz="2000" b="1" dirty="0">
                <a:solidFill>
                  <a:schemeClr val="accent4"/>
                </a:solidFill>
              </a:rPr>
              <a:t>#6 </a:t>
            </a:r>
            <a:pPr indent="0" marL="0">
              <a:buNone/>
            </a:pPr>
            <a:r>
              <a:rPr lang="en-US" sz="2000" dirty="0">
                <a:solidFill>
                  <a:schemeClr val="tx1"/>
                </a:solidFill>
              </a:rPr>
              <a:t>Professionalism</a:t>
            </a:r>
            <a:endParaRPr lang="en-US" sz="2000" dirty="0"/>
          </a:p>
        </p:txBody>
      </p:sp>
      <p:pic>
        <p:nvPicPr>
          <p:cNvPr id="24" name="Decorative: skill coin">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8183880" y="4892040"/>
            <a:ext cx="621792" cy="621792"/>
          </a:xfrm>
          <a:prstGeom prst="rect">
            <a:avLst/>
          </a:prstGeom>
        </p:spPr>
      </p:pic>
      <p:sp>
        <p:nvSpPr>
          <p:cNvPr id="25" name="Text 15"/>
          <p:cNvSpPr txBox="1"/>
          <p:nvPr/>
        </p:nvSpPr>
        <p:spPr>
          <a:xfrm>
            <a:off x="8988552" y="4846320"/>
            <a:ext cx="2624328" cy="713232"/>
          </a:xfrm>
          <a:prstGeom prst="rect">
            <a:avLst/>
          </a:prstGeom>
          <a:noFill/>
          <a:ln/>
        </p:spPr>
        <p:txBody>
          <a:bodyPr wrap="square" lIns="0" tIns="0" rIns="0" bIns="0" rtlCol="0" anchor="ctr"/>
          <a:lstStyle/>
          <a:p>
            <a:pPr indent="0" marL="0">
              <a:buNone/>
            </a:pPr>
            <a:r>
              <a:rPr lang="en-US" sz="2000" b="1" dirty="0">
                <a:solidFill>
                  <a:schemeClr val="accent4"/>
                </a:solidFill>
              </a:rPr>
              <a:t>#10 </a:t>
            </a:r>
            <a:pPr indent="0" marL="0">
              <a:buNone/>
            </a:pPr>
            <a:r>
              <a:rPr lang="en-US" sz="2000" dirty="0">
                <a:solidFill>
                  <a:schemeClr val="tx1"/>
                </a:solidFill>
              </a:rPr>
              <a:t>Information Literacy</a:t>
            </a:r>
            <a:endParaRPr lang="en-US" sz="20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8.1 · SKILL SPOTLIGHT</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Communication</a:t>
            </a:r>
            <a:endParaRPr lang="en-US" sz="4000" dirty="0"/>
          </a:p>
        </p:txBody>
      </p:sp>
      <p:pic>
        <p:nvPicPr>
          <p:cNvPr id="4" name="Decorative: skill coin">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548640" y="1920240"/>
            <a:ext cx="1188720" cy="1188720"/>
          </a:xfrm>
          <a:prstGeom prst="rect">
            <a:avLst/>
          </a:prstGeom>
        </p:spPr>
      </p:pic>
      <p:sp>
        <p:nvSpPr>
          <p:cNvPr id="5" name="Text 2"/>
          <p:cNvSpPr txBox="1"/>
          <p:nvPr/>
        </p:nvSpPr>
        <p:spPr>
          <a:xfrm>
            <a:off x="2011680" y="1965960"/>
            <a:ext cx="9601200" cy="1097280"/>
          </a:xfrm>
          <a:prstGeom prst="rect">
            <a:avLst/>
          </a:prstGeom>
          <a:noFill/>
          <a:ln/>
        </p:spPr>
        <p:txBody>
          <a:bodyPr wrap="square" lIns="0" tIns="0" rIns="0" bIns="0" rtlCol="0" anchor="ctr"/>
          <a:lstStyle/>
          <a:p>
            <a:pPr indent="0" marL="0">
              <a:buNone/>
            </a:pPr>
            <a:r>
              <a:rPr lang="en-US" sz="2600" dirty="0">
                <a:solidFill>
                  <a:schemeClr val="tx1"/>
                </a:solidFill>
              </a:rPr>
              <a:t>Showing up in the conversation as someone worth listening to.</a:t>
            </a:r>
            <a:endParaRPr lang="en-US" sz="2600" dirty="0"/>
          </a:p>
        </p:txBody>
      </p:sp>
      <p:sp>
        <p:nvSpPr>
          <p:cNvPr id="6" name="Decorative: benchmark card">
            <a:extLst>
              <a:ext uri="{C183D7F6-B498-43B3-948B-1728B52AA6E4}">
                <adec:decorative xmlns:adec="http://schemas.microsoft.com/office/drawing/2017/decorative" val="1"/>
              </a:ext>
            </a:extLst>
          </p:cNvPr>
          <p:cNvSpPr/>
          <p:nvPr/>
        </p:nvSpPr>
        <p:spPr>
          <a:xfrm>
            <a:off x="548640" y="3429000"/>
            <a:ext cx="5090008" cy="2514600"/>
          </a:xfrm>
          <a:prstGeom prst="roundRect">
            <a:avLst>
              <a:gd name="adj" fmla="val 436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868680" y="3703320"/>
            <a:ext cx="4449928" cy="2057400"/>
          </a:xfrm>
          <a:prstGeom prst="rect">
            <a:avLst/>
          </a:prstGeom>
          <a:noFill/>
          <a:ln/>
        </p:spPr>
        <p:txBody>
          <a:bodyPr wrap="square" lIns="0" tIns="0" rIns="0" bIns="0" rtlCol="0" anchor="t"/>
          <a:lstStyle/>
          <a:p>
            <a:pPr indent="0" marL="0">
              <a:buNone/>
            </a:pPr>
            <a:r>
              <a:rPr lang="en-US" sz="2000" b="1" spc="200" kern="0" dirty="0">
                <a:solidFill>
                  <a:schemeClr val="accent4"/>
                </a:solidFill>
              </a:rPr>
              <a:t>WHERE YOU START</a:t>
            </a:r>
            <a:endParaRPr lang="en-US" sz="2400" dirty="0"/>
          </a:p>
          <a:p>
            <a:pPr indent="0" marL="0">
              <a:buNone/>
            </a:pPr>
            <a:r>
              <a:rPr lang="en-US" sz="2400" dirty="0">
                <a:solidFill>
                  <a:schemeClr val="tx1"/>
                </a:solidFill>
              </a:rPr>
              <a:t>You ask questions to clarify, and you share ideas one-on-one or in small groups.</a:t>
            </a:r>
            <a:endParaRPr lang="en-US" sz="2400" dirty="0"/>
          </a:p>
        </p:txBody>
      </p:sp>
      <p:pic>
        <p:nvPicPr>
          <p:cNvPr id="8" name="Decorative: arrow">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821528" y="4411980"/>
            <a:ext cx="548640" cy="548640"/>
          </a:xfrm>
          <a:prstGeom prst="rect">
            <a:avLst/>
          </a:prstGeom>
        </p:spPr>
      </p:pic>
      <p:sp>
        <p:nvSpPr>
          <p:cNvPr id="9" name="Decorative: milestone card">
            <a:extLst>
              <a:ext uri="{C183D7F6-B498-43B3-948B-1728B52AA6E4}">
                <adec:decorative xmlns:adec="http://schemas.microsoft.com/office/drawing/2017/decorative" val="1"/>
              </a:ext>
            </a:extLst>
          </p:cNvPr>
          <p:cNvSpPr/>
          <p:nvPr/>
        </p:nvSpPr>
        <p:spPr>
          <a:xfrm>
            <a:off x="6553048" y="3429000"/>
            <a:ext cx="5090008" cy="2514600"/>
          </a:xfrm>
          <a:prstGeom prst="roundRect">
            <a:avLst>
              <a:gd name="adj" fmla="val 4364"/>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0" name="Text 6"/>
          <p:cNvSpPr txBox="1"/>
          <p:nvPr/>
        </p:nvSpPr>
        <p:spPr>
          <a:xfrm>
            <a:off x="6873088" y="3703320"/>
            <a:ext cx="4449928" cy="2057400"/>
          </a:xfrm>
          <a:prstGeom prst="rect">
            <a:avLst/>
          </a:prstGeom>
          <a:noFill/>
          <a:ln/>
        </p:spPr>
        <p:txBody>
          <a:bodyPr wrap="square" lIns="0" tIns="0" rIns="0" bIns="0" rtlCol="0" anchor="t"/>
          <a:lstStyle/>
          <a:p>
            <a:pPr indent="0" marL="0">
              <a:buNone/>
            </a:pPr>
            <a:r>
              <a:rPr lang="en-US" sz="2000" b="1" spc="200" kern="0" dirty="0">
                <a:solidFill>
                  <a:srgbClr val="7A5500"/>
                </a:solidFill>
              </a:rPr>
              <a:t>WHERE YOU'RE HEADED</a:t>
            </a:r>
            <a:endParaRPr lang="en-US" sz="2400" dirty="0"/>
          </a:p>
          <a:p>
            <a:pPr indent="0" marL="0">
              <a:buNone/>
            </a:pPr>
            <a:r>
              <a:rPr lang="en-US" sz="2400" dirty="0">
                <a:solidFill>
                  <a:schemeClr val="tx1"/>
                </a:solidFill>
              </a:rPr>
              <a:t>You listen closely, write with clear structure, and bring your own ideas to professional conversations.</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8.2</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Start with the life you want</a:t>
            </a:r>
            <a:endParaRPr lang="en-US" sz="4000" dirty="0"/>
          </a:p>
        </p:txBody>
      </p:sp>
      <p:sp>
        <p:nvSpPr>
          <p:cNvPr id="4" name="Decorative: fit factor">
            <a:extLst>
              <a:ext uri="{C183D7F6-B498-43B3-948B-1728B52AA6E4}">
                <adec:decorative xmlns:adec="http://schemas.microsoft.com/office/drawing/2017/decorative" val="1"/>
              </a:ext>
            </a:extLst>
          </p:cNvPr>
          <p:cNvSpPr/>
          <p:nvPr/>
        </p:nvSpPr>
        <p:spPr>
          <a:xfrm>
            <a:off x="548640" y="1874520"/>
            <a:ext cx="3515258" cy="868680"/>
          </a:xfrm>
          <a:prstGeom prst="roundRect">
            <a:avLst>
              <a:gd name="adj" fmla="val 12632"/>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822960" y="1874520"/>
            <a:ext cx="2966618" cy="868680"/>
          </a:xfrm>
          <a:prstGeom prst="rect">
            <a:avLst/>
          </a:prstGeom>
          <a:noFill/>
          <a:ln/>
        </p:spPr>
        <p:txBody>
          <a:bodyPr wrap="square" lIns="0" tIns="0" rIns="0" bIns="0" rtlCol="0" anchor="ctr"/>
          <a:lstStyle/>
          <a:p>
            <a:pPr algn="ctr" indent="0" marL="0">
              <a:buNone/>
            </a:pPr>
            <a:r>
              <a:rPr lang="en-US" sz="2600" b="1" dirty="0">
                <a:solidFill>
                  <a:schemeClr val="tx2"/>
                </a:solidFill>
              </a:rPr>
              <a:t>Interests</a:t>
            </a:r>
            <a:endParaRPr lang="en-US" sz="2600" dirty="0"/>
          </a:p>
        </p:txBody>
      </p:sp>
      <p:sp>
        <p:nvSpPr>
          <p:cNvPr id="6" name="Decorative: fit factor">
            <a:extLst>
              <a:ext uri="{C183D7F6-B498-43B3-948B-1728B52AA6E4}">
                <adec:decorative xmlns:adec="http://schemas.microsoft.com/office/drawing/2017/decorative" val="1"/>
              </a:ext>
            </a:extLst>
          </p:cNvPr>
          <p:cNvSpPr/>
          <p:nvPr/>
        </p:nvSpPr>
        <p:spPr>
          <a:xfrm>
            <a:off x="4338218" y="1874520"/>
            <a:ext cx="3515258" cy="868680"/>
          </a:xfrm>
          <a:prstGeom prst="roundRect">
            <a:avLst>
              <a:gd name="adj" fmla="val 12632"/>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4612538" y="1874520"/>
            <a:ext cx="2966618" cy="868680"/>
          </a:xfrm>
          <a:prstGeom prst="rect">
            <a:avLst/>
          </a:prstGeom>
          <a:noFill/>
          <a:ln/>
        </p:spPr>
        <p:txBody>
          <a:bodyPr wrap="square" lIns="0" tIns="0" rIns="0" bIns="0" rtlCol="0" anchor="ctr"/>
          <a:lstStyle/>
          <a:p>
            <a:pPr algn="ctr" indent="0" marL="0">
              <a:buNone/>
            </a:pPr>
            <a:r>
              <a:rPr lang="en-US" sz="2600" b="1" dirty="0">
                <a:solidFill>
                  <a:schemeClr val="tx2"/>
                </a:solidFill>
              </a:rPr>
              <a:t>Strengths</a:t>
            </a:r>
            <a:endParaRPr lang="en-US" sz="2600" dirty="0"/>
          </a:p>
        </p:txBody>
      </p:sp>
      <p:sp>
        <p:nvSpPr>
          <p:cNvPr id="8" name="Decorative: fit factor">
            <a:extLst>
              <a:ext uri="{C183D7F6-B498-43B3-948B-1728B52AA6E4}">
                <adec:decorative xmlns:adec="http://schemas.microsoft.com/office/drawing/2017/decorative" val="1"/>
              </a:ext>
            </a:extLst>
          </p:cNvPr>
          <p:cNvSpPr/>
          <p:nvPr/>
        </p:nvSpPr>
        <p:spPr>
          <a:xfrm>
            <a:off x="8127797" y="1874520"/>
            <a:ext cx="3515258" cy="868680"/>
          </a:xfrm>
          <a:prstGeom prst="roundRect">
            <a:avLst>
              <a:gd name="adj" fmla="val 12632"/>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Text 7"/>
          <p:cNvSpPr txBox="1"/>
          <p:nvPr/>
        </p:nvSpPr>
        <p:spPr>
          <a:xfrm>
            <a:off x="8402117" y="1874520"/>
            <a:ext cx="2966618" cy="868680"/>
          </a:xfrm>
          <a:prstGeom prst="rect">
            <a:avLst/>
          </a:prstGeom>
          <a:noFill/>
          <a:ln/>
        </p:spPr>
        <p:txBody>
          <a:bodyPr wrap="square" lIns="0" tIns="0" rIns="0" bIns="0" rtlCol="0" anchor="ctr"/>
          <a:lstStyle/>
          <a:p>
            <a:pPr algn="ctr" indent="0" marL="0">
              <a:buNone/>
            </a:pPr>
            <a:r>
              <a:rPr lang="en-US" sz="2600" b="1" dirty="0">
                <a:solidFill>
                  <a:schemeClr val="tx2"/>
                </a:solidFill>
              </a:rPr>
              <a:t>Values</a:t>
            </a:r>
            <a:endParaRPr lang="en-US" sz="2600" dirty="0"/>
          </a:p>
        </p:txBody>
      </p:sp>
      <p:sp>
        <p:nvSpPr>
          <p:cNvPr id="10" name="Decorative: fit factor">
            <a:extLst>
              <a:ext uri="{C183D7F6-B498-43B3-948B-1728B52AA6E4}">
                <adec:decorative xmlns:adec="http://schemas.microsoft.com/office/drawing/2017/decorative" val="1"/>
              </a:ext>
            </a:extLst>
          </p:cNvPr>
          <p:cNvSpPr/>
          <p:nvPr/>
        </p:nvSpPr>
        <p:spPr>
          <a:xfrm>
            <a:off x="548640" y="2971800"/>
            <a:ext cx="3515258" cy="868680"/>
          </a:xfrm>
          <a:prstGeom prst="roundRect">
            <a:avLst>
              <a:gd name="adj" fmla="val 12632"/>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1" name="Text 9"/>
          <p:cNvSpPr txBox="1"/>
          <p:nvPr/>
        </p:nvSpPr>
        <p:spPr>
          <a:xfrm>
            <a:off x="822960" y="2971800"/>
            <a:ext cx="2966618" cy="868680"/>
          </a:xfrm>
          <a:prstGeom prst="rect">
            <a:avLst/>
          </a:prstGeom>
          <a:noFill/>
          <a:ln/>
        </p:spPr>
        <p:txBody>
          <a:bodyPr wrap="square" lIns="0" tIns="0" rIns="0" bIns="0" rtlCol="0" anchor="ctr"/>
          <a:lstStyle/>
          <a:p>
            <a:pPr algn="ctr" indent="0" marL="0">
              <a:buNone/>
            </a:pPr>
            <a:r>
              <a:rPr lang="en-US" sz="2600" b="1" dirty="0">
                <a:solidFill>
                  <a:schemeClr val="tx2"/>
                </a:solidFill>
              </a:rPr>
              <a:t>Work environment</a:t>
            </a:r>
            <a:endParaRPr lang="en-US" sz="2600" dirty="0"/>
          </a:p>
        </p:txBody>
      </p:sp>
      <p:sp>
        <p:nvSpPr>
          <p:cNvPr id="12" name="Decorative: fit factor">
            <a:extLst>
              <a:ext uri="{C183D7F6-B498-43B3-948B-1728B52AA6E4}">
                <adec:decorative xmlns:adec="http://schemas.microsoft.com/office/drawing/2017/decorative" val="1"/>
              </a:ext>
            </a:extLst>
          </p:cNvPr>
          <p:cNvSpPr/>
          <p:nvPr/>
        </p:nvSpPr>
        <p:spPr>
          <a:xfrm>
            <a:off x="4338218" y="2971800"/>
            <a:ext cx="3515258" cy="868680"/>
          </a:xfrm>
          <a:prstGeom prst="roundRect">
            <a:avLst>
              <a:gd name="adj" fmla="val 12632"/>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3" name="Text 11"/>
          <p:cNvSpPr txBox="1"/>
          <p:nvPr/>
        </p:nvSpPr>
        <p:spPr>
          <a:xfrm>
            <a:off x="4612538" y="2971800"/>
            <a:ext cx="2966618" cy="868680"/>
          </a:xfrm>
          <a:prstGeom prst="rect">
            <a:avLst/>
          </a:prstGeom>
          <a:noFill/>
          <a:ln/>
        </p:spPr>
        <p:txBody>
          <a:bodyPr wrap="square" lIns="0" tIns="0" rIns="0" bIns="0" rtlCol="0" anchor="ctr"/>
          <a:lstStyle/>
          <a:p>
            <a:pPr algn="ctr" indent="0" marL="0">
              <a:buNone/>
            </a:pPr>
            <a:r>
              <a:rPr lang="en-US" sz="2600" b="1" dirty="0">
                <a:solidFill>
                  <a:schemeClr val="tx2"/>
                </a:solidFill>
              </a:rPr>
              <a:t>Life management</a:t>
            </a:r>
            <a:endParaRPr lang="en-US" sz="2600" dirty="0"/>
          </a:p>
        </p:txBody>
      </p:sp>
      <p:sp>
        <p:nvSpPr>
          <p:cNvPr id="14" name="Decorative: fit factor">
            <a:extLst>
              <a:ext uri="{C183D7F6-B498-43B3-948B-1728B52AA6E4}">
                <adec:decorative xmlns:adec="http://schemas.microsoft.com/office/drawing/2017/decorative" val="1"/>
              </a:ext>
            </a:extLst>
          </p:cNvPr>
          <p:cNvSpPr/>
          <p:nvPr/>
        </p:nvSpPr>
        <p:spPr>
          <a:xfrm>
            <a:off x="8127797" y="2971800"/>
            <a:ext cx="3515258" cy="868680"/>
          </a:xfrm>
          <a:prstGeom prst="roundRect">
            <a:avLst>
              <a:gd name="adj" fmla="val 12632"/>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5" name="Text 13"/>
          <p:cNvSpPr txBox="1"/>
          <p:nvPr/>
        </p:nvSpPr>
        <p:spPr>
          <a:xfrm>
            <a:off x="8402117" y="2971800"/>
            <a:ext cx="2966618" cy="868680"/>
          </a:xfrm>
          <a:prstGeom prst="rect">
            <a:avLst/>
          </a:prstGeom>
          <a:noFill/>
          <a:ln/>
        </p:spPr>
        <p:txBody>
          <a:bodyPr wrap="square" lIns="0" tIns="0" rIns="0" bIns="0" rtlCol="0" anchor="ctr"/>
          <a:lstStyle/>
          <a:p>
            <a:pPr algn="ctr" indent="0" marL="0">
              <a:buNone/>
            </a:pPr>
            <a:r>
              <a:rPr lang="en-US" sz="2600" b="1" dirty="0">
                <a:solidFill>
                  <a:schemeClr val="tx2"/>
                </a:solidFill>
              </a:rPr>
              <a:t>Education fit</a:t>
            </a:r>
            <a:endParaRPr lang="en-US" sz="2600" dirty="0"/>
          </a:p>
        </p:txBody>
      </p:sp>
      <p:sp>
        <p:nvSpPr>
          <p:cNvPr id="16" name="Text 14"/>
          <p:cNvSpPr txBox="1"/>
          <p:nvPr/>
        </p:nvSpPr>
        <p:spPr>
          <a:xfrm>
            <a:off x="548640" y="4206240"/>
            <a:ext cx="11094415" cy="731520"/>
          </a:xfrm>
          <a:prstGeom prst="rect">
            <a:avLst/>
          </a:prstGeom>
          <a:noFill/>
          <a:ln/>
        </p:spPr>
        <p:txBody>
          <a:bodyPr wrap="square" lIns="0" tIns="0" rIns="0" bIns="0" rtlCol="0" anchor="t"/>
          <a:lstStyle/>
          <a:p>
            <a:pPr indent="0" marL="0">
              <a:buNone/>
            </a:pPr>
            <a:r>
              <a:rPr lang="en-US" sz="2400" dirty="0">
                <a:solidFill>
                  <a:schemeClr val="tx1"/>
                </a:solidFill>
              </a:rPr>
              <a:t>Career fit: how well a career's real demands match who you are and how you want to live.</a:t>
            </a:r>
            <a:endParaRPr lang="en-US" sz="2400" dirty="0"/>
          </a:p>
        </p:txBody>
      </p:sp>
      <p:sp>
        <p:nvSpPr>
          <p:cNvPr id="17" name="Decorative: callout">
            <a:extLst>
              <a:ext uri="{C183D7F6-B498-43B3-948B-1728B52AA6E4}">
                <adec:decorative xmlns:adec="http://schemas.microsoft.com/office/drawing/2017/decorative" val="1"/>
              </a:ext>
            </a:extLst>
          </p:cNvPr>
          <p:cNvSpPr/>
          <p:nvPr/>
        </p:nvSpPr>
        <p:spPr>
          <a:xfrm>
            <a:off x="548640" y="512064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8" name="Text 16"/>
          <p:cNvSpPr txBox="1"/>
          <p:nvPr/>
        </p:nvSpPr>
        <p:spPr>
          <a:xfrm>
            <a:off x="868680" y="523036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The career is the tool. The life is the point.</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8.2</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Two research tools</a:t>
            </a:r>
            <a:endParaRPr lang="en-US" sz="4000" dirty="0"/>
          </a:p>
        </p:txBody>
      </p:sp>
      <p:sp>
        <p:nvSpPr>
          <p:cNvPr id="4" name="Decorative: card">
            <a:extLst>
              <a:ext uri="{C183D7F6-B498-43B3-948B-1728B52AA6E4}">
                <adec:decorative xmlns:adec="http://schemas.microsoft.com/office/drawing/2017/decorative" val="1"/>
              </a:ext>
            </a:extLst>
          </p:cNvPr>
          <p:cNvSpPr/>
          <p:nvPr/>
        </p:nvSpPr>
        <p:spPr>
          <a:xfrm>
            <a:off x="548640" y="1874520"/>
            <a:ext cx="5364328" cy="2743200"/>
          </a:xfrm>
          <a:prstGeom prst="roundRect">
            <a:avLst>
              <a:gd name="adj" fmla="val 400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68680" y="2194560"/>
            <a:ext cx="731520" cy="731520"/>
          </a:xfrm>
          <a:prstGeom prst="ellipse">
            <a:avLst/>
          </a:prstGeom>
          <a:solidFill>
            <a:srgbClr val="00467F"/>
          </a:solidFill>
          <a:ln w="12700">
            <a:solidFill>
              <a:srgbClr val="00467F"/>
            </a:solidFill>
            <a:prstDash val="solid"/>
          </a:ln>
        </p:spPr>
      </p:sp>
      <p:pic>
        <p:nvPicPr>
          <p:cNvPr id="6" name="Decorative: LuMapPin">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029614" y="2355494"/>
            <a:ext cx="409651" cy="409651"/>
          </a:xfrm>
          <a:prstGeom prst="rect">
            <a:avLst/>
          </a:prstGeom>
        </p:spPr>
      </p:pic>
      <p:sp>
        <p:nvSpPr>
          <p:cNvPr id="7" name="Text 4"/>
          <p:cNvSpPr txBox="1"/>
          <p:nvPr/>
        </p:nvSpPr>
        <p:spPr>
          <a:xfrm>
            <a:off x="1783080" y="2221992"/>
            <a:ext cx="3809848" cy="685800"/>
          </a:xfrm>
          <a:prstGeom prst="rect">
            <a:avLst/>
          </a:prstGeom>
          <a:noFill/>
          <a:ln/>
        </p:spPr>
        <p:txBody>
          <a:bodyPr wrap="square" lIns="0" tIns="0" rIns="0" bIns="0" rtlCol="0" anchor="ctr"/>
          <a:lstStyle/>
          <a:p>
            <a:pPr indent="0" marL="0">
              <a:buNone/>
            </a:pPr>
            <a:r>
              <a:rPr lang="en-US" sz="2800" b="1" dirty="0">
                <a:solidFill>
                  <a:schemeClr val="tx2"/>
                </a:solidFill>
              </a:rPr>
              <a:t>Career Coach</a:t>
            </a:r>
            <a:endParaRPr lang="en-US" sz="2800" dirty="0"/>
          </a:p>
        </p:txBody>
      </p:sp>
      <p:sp>
        <p:nvSpPr>
          <p:cNvPr id="8" name="Text 5"/>
          <p:cNvSpPr txBox="1"/>
          <p:nvPr/>
        </p:nvSpPr>
        <p:spPr>
          <a:xfrm>
            <a:off x="868680" y="3154680"/>
            <a:ext cx="4724248" cy="1280160"/>
          </a:xfrm>
          <a:prstGeom prst="rect">
            <a:avLst/>
          </a:prstGeom>
          <a:noFill/>
          <a:ln/>
        </p:spPr>
        <p:txBody>
          <a:bodyPr wrap="square" lIns="0" tIns="0" rIns="0" bIns="0" rtlCol="0" anchor="t"/>
          <a:lstStyle/>
          <a:p>
            <a:pPr indent="0" marL="0">
              <a:buNone/>
            </a:pPr>
            <a:r>
              <a:rPr lang="en-US" sz="2400" dirty="0">
                <a:solidFill>
                  <a:schemeClr val="tx1"/>
                </a:solidFill>
              </a:rPr>
              <a:t>The local picture: regional pay, job outlook, and OCTC programs.</a:t>
            </a:r>
            <a:endParaRPr lang="en-US" sz="2400" dirty="0"/>
          </a:p>
        </p:txBody>
      </p:sp>
      <p:sp>
        <p:nvSpPr>
          <p:cNvPr id="9" name="Decorative: card">
            <a:extLst>
              <a:ext uri="{C183D7F6-B498-43B3-948B-1728B52AA6E4}">
                <adec:decorative xmlns:adec="http://schemas.microsoft.com/office/drawing/2017/decorative" val="1"/>
              </a:ext>
            </a:extLst>
          </p:cNvPr>
          <p:cNvSpPr/>
          <p:nvPr/>
        </p:nvSpPr>
        <p:spPr>
          <a:xfrm>
            <a:off x="6278728" y="1874520"/>
            <a:ext cx="5364328" cy="2743200"/>
          </a:xfrm>
          <a:prstGeom prst="roundRect">
            <a:avLst>
              <a:gd name="adj" fmla="val 4000"/>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0" name="Decorative: icon circle">
            <a:extLst>
              <a:ext uri="{C183D7F6-B498-43B3-948B-1728B52AA6E4}">
                <adec:decorative xmlns:adec="http://schemas.microsoft.com/office/drawing/2017/decorative" val="1"/>
              </a:ext>
            </a:extLst>
          </p:cNvPr>
          <p:cNvSpPr/>
          <p:nvPr/>
        </p:nvSpPr>
        <p:spPr>
          <a:xfrm>
            <a:off x="6598768" y="2194560"/>
            <a:ext cx="731520" cy="731520"/>
          </a:xfrm>
          <a:prstGeom prst="ellipse">
            <a:avLst/>
          </a:prstGeom>
          <a:solidFill>
            <a:srgbClr val="E7A614"/>
          </a:solidFill>
          <a:ln w="12700">
            <a:solidFill>
              <a:srgbClr val="E7A614"/>
            </a:solidFill>
            <a:prstDash val="solid"/>
          </a:ln>
        </p:spPr>
      </p:sp>
      <p:pic>
        <p:nvPicPr>
          <p:cNvPr id="11" name="Decorative: LuBriefcase">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759702" y="2355494"/>
            <a:ext cx="409651" cy="409651"/>
          </a:xfrm>
          <a:prstGeom prst="rect">
            <a:avLst/>
          </a:prstGeom>
        </p:spPr>
      </p:pic>
      <p:sp>
        <p:nvSpPr>
          <p:cNvPr id="12" name="Text 8"/>
          <p:cNvSpPr txBox="1"/>
          <p:nvPr/>
        </p:nvSpPr>
        <p:spPr>
          <a:xfrm>
            <a:off x="7513168" y="2221992"/>
            <a:ext cx="3809848" cy="685800"/>
          </a:xfrm>
          <a:prstGeom prst="rect">
            <a:avLst/>
          </a:prstGeom>
          <a:noFill/>
          <a:ln/>
        </p:spPr>
        <p:txBody>
          <a:bodyPr wrap="square" lIns="0" tIns="0" rIns="0" bIns="0" rtlCol="0" anchor="ctr"/>
          <a:lstStyle/>
          <a:p>
            <a:pPr indent="0" marL="0">
              <a:buNone/>
            </a:pPr>
            <a:r>
              <a:rPr lang="en-US" sz="2800" b="1" dirty="0">
                <a:solidFill>
                  <a:schemeClr val="tx2"/>
                </a:solidFill>
              </a:rPr>
              <a:t>O*NET OnLine</a:t>
            </a:r>
            <a:endParaRPr lang="en-US" sz="2800" dirty="0"/>
          </a:p>
        </p:txBody>
      </p:sp>
      <p:sp>
        <p:nvSpPr>
          <p:cNvPr id="13" name="Text 9"/>
          <p:cNvSpPr txBox="1"/>
          <p:nvPr/>
        </p:nvSpPr>
        <p:spPr>
          <a:xfrm>
            <a:off x="6598768" y="3154680"/>
            <a:ext cx="4724248" cy="1280160"/>
          </a:xfrm>
          <a:prstGeom prst="rect">
            <a:avLst/>
          </a:prstGeom>
          <a:noFill/>
          <a:ln/>
        </p:spPr>
        <p:txBody>
          <a:bodyPr wrap="square" lIns="0" tIns="0" rIns="0" bIns="0" rtlCol="0" anchor="t"/>
          <a:lstStyle/>
          <a:p>
            <a:pPr indent="0" marL="0">
              <a:buNone/>
            </a:pPr>
            <a:r>
              <a:rPr lang="en-US" sz="2400" dirty="0">
                <a:solidFill>
                  <a:schemeClr val="tx1"/>
                </a:solidFill>
              </a:rPr>
              <a:t>What the work actually involves, day to day.</a:t>
            </a:r>
            <a:endParaRPr lang="en-US" sz="2400" dirty="0"/>
          </a:p>
        </p:txBody>
      </p:sp>
      <p:sp>
        <p:nvSpPr>
          <p:cNvPr id="14" name="Decorative: callout">
            <a:extLst>
              <a:ext uri="{C183D7F6-B498-43B3-948B-1728B52AA6E4}">
                <adec:decorative xmlns:adec="http://schemas.microsoft.com/office/drawing/2017/decorative" val="1"/>
              </a:ext>
            </a:extLst>
          </p:cNvPr>
          <p:cNvSpPr/>
          <p:nvPr/>
        </p:nvSpPr>
        <p:spPr>
          <a:xfrm>
            <a:off x="548640" y="502920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5" name="Text 11"/>
          <p:cNvSpPr txBox="1"/>
          <p:nvPr/>
        </p:nvSpPr>
        <p:spPr>
          <a:xfrm>
            <a:off x="868680" y="513892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Get your facts from sources, not AI. Check every number against your research.</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TRAIL TIP</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Set up your Handshake profile</a:t>
            </a:r>
            <a:endParaRPr lang="en-US" sz="4000" dirty="0"/>
          </a:p>
        </p:txBody>
      </p:sp>
      <p:sp>
        <p:nvSpPr>
          <p:cNvPr id="4" name="Decorative: QR panel">
            <a:extLst>
              <a:ext uri="{C183D7F6-B498-43B3-948B-1728B52AA6E4}">
                <adec:decorative xmlns:adec="http://schemas.microsoft.com/office/drawing/2017/decorative" val="1"/>
              </a:ext>
            </a:extLst>
          </p:cNvPr>
          <p:cNvSpPr/>
          <p:nvPr/>
        </p:nvSpPr>
        <p:spPr>
          <a:xfrm>
            <a:off x="8534095" y="1828800"/>
            <a:ext cx="3108960" cy="4023360"/>
          </a:xfrm>
          <a:prstGeom prst="roundRect">
            <a:avLst>
              <a:gd name="adj" fmla="val 3529"/>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8762695" y="1965960"/>
            <a:ext cx="2651760" cy="685800"/>
          </a:xfrm>
          <a:prstGeom prst="rect">
            <a:avLst/>
          </a:prstGeom>
          <a:noFill/>
          <a:ln/>
        </p:spPr>
        <p:txBody>
          <a:bodyPr wrap="square" lIns="0" tIns="0" rIns="0" bIns="0" rtlCol="0" anchor="ctr"/>
          <a:lstStyle/>
          <a:p>
            <a:pPr algn="ctr" indent="0" marL="0">
              <a:buNone/>
            </a:pPr>
            <a:r>
              <a:rPr lang="en-US" sz="2000" b="1" dirty="0">
                <a:solidFill>
                  <a:schemeClr val="tx2"/>
                </a:solidFill>
              </a:rPr>
              <a:t>Scan for Handshake</a:t>
            </a:r>
            <a:endParaRPr lang="en-US" sz="2000" dirty="0"/>
          </a:p>
        </p:txBody>
      </p:sp>
      <p:sp>
        <p:nvSpPr>
          <p:cNvPr id="6" name="Decorative: QR frame">
            <a:extLst>
              <a:ext uri="{C183D7F6-B498-43B3-948B-1728B52AA6E4}">
                <adec:decorative xmlns:adec="http://schemas.microsoft.com/office/drawing/2017/decorative" val="1"/>
              </a:ext>
            </a:extLst>
          </p:cNvPr>
          <p:cNvSpPr/>
          <p:nvPr/>
        </p:nvSpPr>
        <p:spPr>
          <a:xfrm>
            <a:off x="8973007" y="2633472"/>
            <a:ext cx="2231136" cy="2231136"/>
          </a:xfrm>
          <a:prstGeom prst="roundRect">
            <a:avLst>
              <a:gd name="adj" fmla="val 4098"/>
            </a:avLst>
          </a:prstGeom>
          <a:solidFill>
            <a:srgbClr val="FFFFFF"/>
          </a:solidFill>
          <a:ln w="12700">
            <a:solidFill>
              <a:srgbClr val="D9E2EA"/>
            </a:solidFill>
            <a:prstDash val="solid"/>
          </a:ln>
        </p:spPr>
      </p:sp>
      <p:pic>
        <p:nvPicPr>
          <p:cNvPr id="7" name="QR code: Scan for Handshake" descr="QR code for Scan for Handshake: https://octc.joinhandshake.com/login">    </p:cNvPr>
          <p:cNvPicPr>
            <a:picLocks noChangeAspect="1"/>
          </p:cNvPicPr>
          <p:nvPr/>
        </p:nvPicPr>
        <p:blipFill>
          <a:blip r:embed="rId1"/>
          <a:stretch>
            <a:fillRect/>
          </a:stretch>
        </p:blipFill>
        <p:spPr>
          <a:xfrm>
            <a:off x="9082735" y="2743200"/>
            <a:ext cx="2011680" cy="2011680"/>
          </a:xfrm>
          <a:prstGeom prst="rect">
            <a:avLst/>
          </a:prstGeom>
        </p:spPr>
      </p:pic>
      <p:sp>
        <p:nvSpPr>
          <p:cNvPr id="8" name="Address: Scan for Handshake"/>
          <p:cNvSpPr txBox="1"/>
          <p:nvPr/>
        </p:nvSpPr>
        <p:spPr>
          <a:xfrm>
            <a:off x="8534095" y="4892040"/>
            <a:ext cx="3108960" cy="731520"/>
          </a:xfrm>
          <a:prstGeom prst="rect">
            <a:avLst/>
          </a:prstGeom>
          <a:noFill/>
          <a:ln/>
        </p:spPr>
        <p:txBody>
          <a:bodyPr wrap="square" lIns="0" tIns="0" rIns="0" bIns="0" rtlCol="0" anchor="t"/>
          <a:lstStyle/>
          <a:p>
            <a:pPr algn="ctr" indent="0" marL="0">
              <a:buNone/>
            </a:pPr>
            <a:r>
              <a:rPr lang="en-US" sz="2000" dirty="0">
                <a:solidFill>
                  <a:schemeClr val="accent6"/>
                </a:solidFill>
              </a:rPr>
              <a:t>octc.joinhandshake.com</a:t>
            </a:r>
            <a:endParaRPr lang="en-US" sz="2000" dirty="0"/>
          </a:p>
        </p:txBody>
      </p:sp>
      <p:sp>
        <p:nvSpPr>
          <p:cNvPr id="9" name="Decorative: icon circle">
            <a:extLst>
              <a:ext uri="{C183D7F6-B498-43B3-948B-1728B52AA6E4}">
                <adec:decorative xmlns:adec="http://schemas.microsoft.com/office/drawing/2017/decorative" val="1"/>
              </a:ext>
            </a:extLst>
          </p:cNvPr>
          <p:cNvSpPr/>
          <p:nvPr/>
        </p:nvSpPr>
        <p:spPr>
          <a:xfrm>
            <a:off x="548640" y="1828800"/>
            <a:ext cx="548640" cy="548640"/>
          </a:xfrm>
          <a:prstGeom prst="ellipse">
            <a:avLst/>
          </a:prstGeom>
          <a:solidFill>
            <a:srgbClr val="00467F"/>
          </a:solidFill>
          <a:ln w="12700">
            <a:solidFill>
              <a:srgbClr val="00467F"/>
            </a:solidFill>
            <a:prstDash val="solid"/>
          </a:ln>
        </p:spPr>
      </p:sp>
      <p:pic>
        <p:nvPicPr>
          <p:cNvPr id="10" name="Decorative: LuLogIn">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9341" y="1949501"/>
            <a:ext cx="307238" cy="307238"/>
          </a:xfrm>
          <a:prstGeom prst="rect">
            <a:avLst/>
          </a:prstGeom>
        </p:spPr>
      </p:pic>
      <p:sp>
        <p:nvSpPr>
          <p:cNvPr id="11" name="Text 7"/>
          <p:cNvSpPr txBox="1"/>
          <p:nvPr/>
        </p:nvSpPr>
        <p:spPr>
          <a:xfrm>
            <a:off x="1325880" y="1828800"/>
            <a:ext cx="6888175"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Sign in</a:t>
            </a:r>
            <a:pPr indent="0" marL="0">
              <a:buNone/>
            </a:pPr>
            <a:r>
              <a:rPr lang="en-US" sz="2400" dirty="0">
                <a:solidFill>
                  <a:schemeClr val="tx1"/>
                </a:solidFill>
              </a:rPr>
              <a:t>: with your KCTCS login</a:t>
            </a:r>
            <a:endParaRPr lang="en-US" sz="2400" dirty="0"/>
          </a:p>
        </p:txBody>
      </p:sp>
      <p:sp>
        <p:nvSpPr>
          <p:cNvPr id="12" name="Decorative: icon circle">
            <a:extLst>
              <a:ext uri="{C183D7F6-B498-43B3-948B-1728B52AA6E4}">
                <adec:decorative xmlns:adec="http://schemas.microsoft.com/office/drawing/2017/decorative" val="1"/>
              </a:ext>
            </a:extLst>
          </p:cNvPr>
          <p:cNvSpPr/>
          <p:nvPr/>
        </p:nvSpPr>
        <p:spPr>
          <a:xfrm>
            <a:off x="548640" y="2560320"/>
            <a:ext cx="548640" cy="548640"/>
          </a:xfrm>
          <a:prstGeom prst="ellipse">
            <a:avLst/>
          </a:prstGeom>
          <a:solidFill>
            <a:srgbClr val="00467F"/>
          </a:solidFill>
          <a:ln w="12700">
            <a:solidFill>
              <a:srgbClr val="00467F"/>
            </a:solidFill>
            <a:prstDash val="solid"/>
          </a:ln>
        </p:spPr>
      </p:sp>
      <p:pic>
        <p:nvPicPr>
          <p:cNvPr id="13" name="Decorative: LuUserPen">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69341" y="2681021"/>
            <a:ext cx="307238" cy="307238"/>
          </a:xfrm>
          <a:prstGeom prst="rect">
            <a:avLst/>
          </a:prstGeom>
        </p:spPr>
      </p:pic>
      <p:sp>
        <p:nvSpPr>
          <p:cNvPr id="14" name="Text 9"/>
          <p:cNvSpPr txBox="1"/>
          <p:nvPr/>
        </p:nvSpPr>
        <p:spPr>
          <a:xfrm>
            <a:off x="1325880" y="2560320"/>
            <a:ext cx="6888175"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Fill in the essentials</a:t>
            </a:r>
            <a:pPr indent="0" marL="0">
              <a:buNone/>
            </a:pPr>
            <a:endParaRPr lang="en-US" sz="2400" dirty="0"/>
          </a:p>
        </p:txBody>
      </p:sp>
      <p:sp>
        <p:nvSpPr>
          <p:cNvPr id="15" name="Decorative: icon circle">
            <a:extLst>
              <a:ext uri="{C183D7F6-B498-43B3-948B-1728B52AA6E4}">
                <adec:decorative xmlns:adec="http://schemas.microsoft.com/office/drawing/2017/decorative" val="1"/>
              </a:ext>
            </a:extLst>
          </p:cNvPr>
          <p:cNvSpPr/>
          <p:nvPr/>
        </p:nvSpPr>
        <p:spPr>
          <a:xfrm>
            <a:off x="548640" y="3291840"/>
            <a:ext cx="548640" cy="548640"/>
          </a:xfrm>
          <a:prstGeom prst="ellipse">
            <a:avLst/>
          </a:prstGeom>
          <a:solidFill>
            <a:srgbClr val="00467F"/>
          </a:solidFill>
          <a:ln w="12700">
            <a:solidFill>
              <a:srgbClr val="00467F"/>
            </a:solidFill>
            <a:prstDash val="solid"/>
          </a:ln>
        </p:spPr>
      </p:sp>
      <p:pic>
        <p:nvPicPr>
          <p:cNvPr id="16" name="Decorative: LuHeart">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9341" y="3412541"/>
            <a:ext cx="307238" cy="307238"/>
          </a:xfrm>
          <a:prstGeom prst="rect">
            <a:avLst/>
          </a:prstGeom>
        </p:spPr>
      </p:pic>
      <p:sp>
        <p:nvSpPr>
          <p:cNvPr id="17" name="Text 11"/>
          <p:cNvSpPr txBox="1"/>
          <p:nvPr/>
        </p:nvSpPr>
        <p:spPr>
          <a:xfrm>
            <a:off x="1325880" y="3291840"/>
            <a:ext cx="6888175"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Add your interests</a:t>
            </a:r>
            <a:pPr indent="0" marL="0">
              <a:buNone/>
            </a:pPr>
            <a:endParaRPr lang="en-US" sz="2400" dirty="0"/>
          </a:p>
        </p:txBody>
      </p:sp>
      <p:sp>
        <p:nvSpPr>
          <p:cNvPr id="18" name="Decorative: icon circle">
            <a:extLst>
              <a:ext uri="{C183D7F6-B498-43B3-948B-1728B52AA6E4}">
                <adec:decorative xmlns:adec="http://schemas.microsoft.com/office/drawing/2017/decorative" val="1"/>
              </a:ext>
            </a:extLst>
          </p:cNvPr>
          <p:cNvSpPr/>
          <p:nvPr/>
        </p:nvSpPr>
        <p:spPr>
          <a:xfrm>
            <a:off x="548640" y="4023360"/>
            <a:ext cx="548640" cy="548640"/>
          </a:xfrm>
          <a:prstGeom prst="ellipse">
            <a:avLst/>
          </a:prstGeom>
          <a:solidFill>
            <a:srgbClr val="00467F"/>
          </a:solidFill>
          <a:ln w="12700">
            <a:solidFill>
              <a:srgbClr val="00467F"/>
            </a:solidFill>
            <a:prstDash val="solid"/>
          </a:ln>
        </p:spPr>
      </p:sp>
      <p:pic>
        <p:nvPicPr>
          <p:cNvPr id="19" name="Decorative: LuCamera">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69341" y="4144061"/>
            <a:ext cx="307238" cy="307238"/>
          </a:xfrm>
          <a:prstGeom prst="rect">
            <a:avLst/>
          </a:prstGeom>
        </p:spPr>
      </p:pic>
      <p:sp>
        <p:nvSpPr>
          <p:cNvPr id="20" name="Text 13"/>
          <p:cNvSpPr txBox="1"/>
          <p:nvPr/>
        </p:nvSpPr>
        <p:spPr>
          <a:xfrm>
            <a:off x="1325880" y="4023360"/>
            <a:ext cx="6888175"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Add a short bio</a:t>
            </a:r>
            <a:pPr indent="0" marL="0">
              <a:buNone/>
            </a:pPr>
            <a:r>
              <a:rPr lang="en-US" sz="2400" dirty="0">
                <a:solidFill>
                  <a:schemeClr val="tx1"/>
                </a:solidFill>
              </a:rPr>
              <a:t>: and a photo</a:t>
            </a:r>
            <a:endParaRPr lang="en-US" sz="2400" dirty="0"/>
          </a:p>
        </p:txBody>
      </p:sp>
      <p:sp>
        <p:nvSpPr>
          <p:cNvPr id="21" name="Decorative: icon circle">
            <a:extLst>
              <a:ext uri="{C183D7F6-B498-43B3-948B-1728B52AA6E4}">
                <adec:decorative xmlns:adec="http://schemas.microsoft.com/office/drawing/2017/decorative" val="1"/>
              </a:ext>
            </a:extLst>
          </p:cNvPr>
          <p:cNvSpPr/>
          <p:nvPr/>
        </p:nvSpPr>
        <p:spPr>
          <a:xfrm>
            <a:off x="548640" y="4754880"/>
            <a:ext cx="548640" cy="548640"/>
          </a:xfrm>
          <a:prstGeom prst="ellipse">
            <a:avLst/>
          </a:prstGeom>
          <a:solidFill>
            <a:srgbClr val="00467F"/>
          </a:solidFill>
          <a:ln w="12700">
            <a:solidFill>
              <a:srgbClr val="00467F"/>
            </a:solidFill>
            <a:prstDash val="solid"/>
          </a:ln>
        </p:spPr>
      </p:sp>
      <p:pic>
        <p:nvPicPr>
          <p:cNvPr id="22" name="Decorative: LuLink">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69341" y="4875581"/>
            <a:ext cx="307238" cy="307238"/>
          </a:xfrm>
          <a:prstGeom prst="rect">
            <a:avLst/>
          </a:prstGeom>
        </p:spPr>
      </p:pic>
      <p:sp>
        <p:nvSpPr>
          <p:cNvPr id="23" name="Text 15"/>
          <p:cNvSpPr txBox="1"/>
          <p:nvPr/>
        </p:nvSpPr>
        <p:spPr>
          <a:xfrm>
            <a:off x="1325880" y="4754880"/>
            <a:ext cx="6888175"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Copy your profile link</a:t>
            </a:r>
            <a:pPr indent="0" marL="0">
              <a:buNone/>
            </a:pPr>
            <a:r>
              <a:rPr lang="en-US" sz="2400" dirty="0">
                <a:solidFill>
                  <a:schemeClr val="tx1"/>
                </a:solidFill>
              </a:rPr>
              <a:t>: for the task</a:t>
            </a:r>
            <a:endParaRPr lang="en-US" sz="2400" dirty="0"/>
          </a:p>
        </p:txBody>
      </p:sp>
      <p:sp>
        <p:nvSpPr>
          <p:cNvPr id="24" name="Text 16"/>
          <p:cNvSpPr txBox="1"/>
          <p:nvPr/>
        </p:nvSpPr>
        <p:spPr>
          <a:xfrm>
            <a:off x="548640" y="5577840"/>
            <a:ext cx="7665415" cy="457200"/>
          </a:xfrm>
          <a:prstGeom prst="rect">
            <a:avLst/>
          </a:prstGeom>
          <a:noFill/>
          <a:ln/>
        </p:spPr>
        <p:txBody>
          <a:bodyPr wrap="square" lIns="0" tIns="0" rIns="0" bIns="0" rtlCol="0" anchor="t"/>
          <a:lstStyle/>
          <a:p>
            <a:pPr indent="0" marL="0">
              <a:buNone/>
            </a:pPr>
            <a:r>
              <a:rPr lang="en-US" sz="2200" i="1" dirty="0">
                <a:solidFill>
                  <a:schemeClr val="accent6"/>
                </a:solidFill>
              </a:rPr>
              <a:t>Jobs, internships, career fairs, and local employers.</a:t>
            </a:r>
            <a:endParaRPr lang="en-US" sz="22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TRAIL TIP</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Register early for next semester</a:t>
            </a:r>
            <a:endParaRPr lang="en-US" sz="4000" dirty="0"/>
          </a:p>
        </p:txBody>
      </p:sp>
      <p:sp>
        <p:nvSpPr>
          <p:cNvPr id="4" name="Decorative: icon circle">
            <a:extLst>
              <a:ext uri="{C183D7F6-B498-43B3-948B-1728B52AA6E4}">
                <adec:decorative xmlns:adec="http://schemas.microsoft.com/office/drawing/2017/decorative" val="1"/>
              </a:ext>
            </a:extLst>
          </p:cNvPr>
          <p:cNvSpPr/>
          <p:nvPr/>
        </p:nvSpPr>
        <p:spPr>
          <a:xfrm>
            <a:off x="548640" y="1965960"/>
            <a:ext cx="548640" cy="548640"/>
          </a:xfrm>
          <a:prstGeom prst="ellipse">
            <a:avLst/>
          </a:prstGeom>
          <a:solidFill>
            <a:srgbClr val="00467F"/>
          </a:solidFill>
          <a:ln w="12700">
            <a:solidFill>
              <a:srgbClr val="00467F"/>
            </a:solidFill>
            <a:prstDash val="solid"/>
          </a:ln>
        </p:spPr>
      </p:sp>
      <p:pic>
        <p:nvPicPr>
          <p:cNvPr id="5" name="Decorative: LuCalendarDays">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69341" y="2086661"/>
            <a:ext cx="307238" cy="307238"/>
          </a:xfrm>
          <a:prstGeom prst="rect">
            <a:avLst/>
          </a:prstGeom>
        </p:spPr>
      </p:pic>
      <p:sp>
        <p:nvSpPr>
          <p:cNvPr id="6" name="Text 3"/>
          <p:cNvSpPr txBox="1"/>
          <p:nvPr/>
        </p:nvSpPr>
        <p:spPr>
          <a:xfrm>
            <a:off x="1325880" y="1965960"/>
            <a:ext cx="10241280"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Know when it opens</a:t>
            </a:r>
            <a:pPr indent="0" marL="0">
              <a:buNone/>
            </a:pPr>
            <a:r>
              <a:rPr lang="en-US" sz="2400" dirty="0">
                <a:solidFill>
                  <a:schemeClr val="tx1"/>
                </a:solidFill>
              </a:rPr>
              <a:t>: look it up on the OCTC academic calendar</a:t>
            </a:r>
            <a:endParaRPr lang="en-US" sz="2400" dirty="0"/>
          </a:p>
        </p:txBody>
      </p:sp>
      <p:sp>
        <p:nvSpPr>
          <p:cNvPr id="7" name="Decorative: icon circle">
            <a:extLst>
              <a:ext uri="{C183D7F6-B498-43B3-948B-1728B52AA6E4}">
                <adec:decorative xmlns:adec="http://schemas.microsoft.com/office/drawing/2017/decorative" val="1"/>
              </a:ext>
            </a:extLst>
          </p:cNvPr>
          <p:cNvSpPr/>
          <p:nvPr/>
        </p:nvSpPr>
        <p:spPr>
          <a:xfrm>
            <a:off x="548640" y="2834640"/>
            <a:ext cx="548640" cy="548640"/>
          </a:xfrm>
          <a:prstGeom prst="ellipse">
            <a:avLst/>
          </a:prstGeom>
          <a:solidFill>
            <a:srgbClr val="00467F"/>
          </a:solidFill>
          <a:ln w="12700">
            <a:solidFill>
              <a:srgbClr val="00467F"/>
            </a:solidFill>
            <a:prstDash val="solid"/>
          </a:ln>
        </p:spPr>
      </p:sp>
      <p:pic>
        <p:nvPicPr>
          <p:cNvPr id="8" name="Decorative: LuCompass">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9341" y="2955341"/>
            <a:ext cx="307238" cy="307238"/>
          </a:xfrm>
          <a:prstGeom prst="rect">
            <a:avLst/>
          </a:prstGeom>
        </p:spPr>
      </p:pic>
      <p:sp>
        <p:nvSpPr>
          <p:cNvPr id="9" name="Text 5"/>
          <p:cNvSpPr txBox="1"/>
          <p:nvPr/>
        </p:nvSpPr>
        <p:spPr>
          <a:xfrm>
            <a:off x="1325880" y="2834640"/>
            <a:ext cx="10241280"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Meet your Success Coach first</a:t>
            </a:r>
            <a:pPr indent="0" marL="0">
              <a:buNone/>
            </a:pPr>
            <a:r>
              <a:rPr lang="en-US" sz="2400" dirty="0">
                <a:solidFill>
                  <a:schemeClr val="tx1"/>
                </a:solidFill>
              </a:rPr>
              <a:t>: bring your Module 6 plan</a:t>
            </a:r>
            <a:endParaRPr lang="en-US" sz="2400" dirty="0"/>
          </a:p>
        </p:txBody>
      </p:sp>
      <p:sp>
        <p:nvSpPr>
          <p:cNvPr id="10" name="Decorative: icon circle">
            <a:extLst>
              <a:ext uri="{C183D7F6-B498-43B3-948B-1728B52AA6E4}">
                <adec:decorative xmlns:adec="http://schemas.microsoft.com/office/drawing/2017/decorative" val="1"/>
              </a:ext>
            </a:extLst>
          </p:cNvPr>
          <p:cNvSpPr/>
          <p:nvPr/>
        </p:nvSpPr>
        <p:spPr>
          <a:xfrm>
            <a:off x="548640" y="3703320"/>
            <a:ext cx="548640" cy="548640"/>
          </a:xfrm>
          <a:prstGeom prst="ellipse">
            <a:avLst/>
          </a:prstGeom>
          <a:solidFill>
            <a:srgbClr val="00467F"/>
          </a:solidFill>
          <a:ln w="12700">
            <a:solidFill>
              <a:srgbClr val="00467F"/>
            </a:solidFill>
            <a:prstDash val="solid"/>
          </a:ln>
        </p:spPr>
      </p:sp>
      <p:pic>
        <p:nvPicPr>
          <p:cNvPr id="11" name="Decorative: LuMousePointerClick">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69341" y="3824021"/>
            <a:ext cx="307238" cy="307238"/>
          </a:xfrm>
          <a:prstGeom prst="rect">
            <a:avLst/>
          </a:prstGeom>
        </p:spPr>
      </p:pic>
      <p:sp>
        <p:nvSpPr>
          <p:cNvPr id="12" name="Text 7"/>
          <p:cNvSpPr txBox="1"/>
          <p:nvPr/>
        </p:nvSpPr>
        <p:spPr>
          <a:xfrm>
            <a:off x="1325880" y="3703320"/>
            <a:ext cx="10241280" cy="548640"/>
          </a:xfrm>
          <a:prstGeom prst="rect">
            <a:avLst/>
          </a:prstGeom>
          <a:noFill/>
          <a:ln/>
        </p:spPr>
        <p:txBody>
          <a:bodyPr wrap="square" lIns="0" tIns="0" rIns="0" bIns="0" rtlCol="0" anchor="ctr">
            <a:normAutofit/>
          </a:bodyPr>
          <a:lstStyle/>
          <a:p>
            <a:pPr indent="0" marL="0">
              <a:buNone/>
            </a:pPr>
            <a:r>
              <a:rPr lang="en-US" sz="2400" b="1" dirty="0">
                <a:solidFill>
                  <a:schemeClr val="tx2"/>
                </a:solidFill>
              </a:rPr>
              <a:t>Register as soon as your window opens</a:t>
            </a:r>
            <a:pPr indent="0" marL="0">
              <a:buNone/>
            </a:pPr>
            <a:r>
              <a:rPr lang="en-US" sz="2400" dirty="0">
                <a:solidFill>
                  <a:schemeClr val="tx1"/>
                </a:solidFill>
              </a:rPr>
              <a:t>: not the week before classes</a:t>
            </a:r>
            <a:endParaRPr lang="en-US" sz="2400" dirty="0"/>
          </a:p>
        </p:txBody>
      </p:sp>
      <p:sp>
        <p:nvSpPr>
          <p:cNvPr id="13" name="Decorative: callout">
            <a:extLst>
              <a:ext uri="{C183D7F6-B498-43B3-948B-1728B52AA6E4}">
                <adec:decorative xmlns:adec="http://schemas.microsoft.com/office/drawing/2017/decorative" val="1"/>
              </a:ext>
            </a:extLst>
          </p:cNvPr>
          <p:cNvSpPr/>
          <p:nvPr/>
        </p:nvSpPr>
        <p:spPr>
          <a:xfrm>
            <a:off x="548640" y="475488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4" name="Text 9"/>
          <p:cNvSpPr txBox="1"/>
          <p:nvPr/>
        </p:nvSpPr>
        <p:spPr>
          <a:xfrm>
            <a:off x="868680" y="486460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Early gets the classes you need. Late gets what's left.</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ASSIGNMENTS</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Due Monday by 11:59 PM Central</a:t>
            </a:r>
            <a:endParaRPr lang="en-US" sz="4000" dirty="0"/>
          </a:p>
        </p:txBody>
      </p:sp>
      <p:sp>
        <p:nvSpPr>
          <p:cNvPr id="4" name="Decorative: assignment row">
            <a:extLst>
              <a:ext uri="{C183D7F6-B498-43B3-948B-1728B52AA6E4}">
                <adec:decorative xmlns:adec="http://schemas.microsoft.com/office/drawing/2017/decorative" val="1"/>
              </a:ext>
            </a:extLst>
          </p:cNvPr>
          <p:cNvSpPr/>
          <p:nvPr/>
        </p:nvSpPr>
        <p:spPr>
          <a:xfrm>
            <a:off x="548640" y="187452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731520" y="1965960"/>
            <a:ext cx="548640" cy="548640"/>
          </a:xfrm>
          <a:prstGeom prst="ellipse">
            <a:avLst/>
          </a:prstGeom>
          <a:solidFill>
            <a:srgbClr val="00467F"/>
          </a:solidFill>
          <a:ln w="12700">
            <a:solidFill>
              <a:srgbClr val="00467F"/>
            </a:solidFill>
            <a:prstDash val="solid"/>
          </a:ln>
        </p:spPr>
      </p:sp>
      <p:pic>
        <p:nvPicPr>
          <p:cNvPr id="6" name="Decorative: LuBriefcase">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2221" y="2086661"/>
            <a:ext cx="307238" cy="307238"/>
          </a:xfrm>
          <a:prstGeom prst="rect">
            <a:avLst/>
          </a:prstGeom>
        </p:spPr>
      </p:pic>
      <p:sp>
        <p:nvSpPr>
          <p:cNvPr id="7" name="Text 4"/>
          <p:cNvSpPr txBox="1"/>
          <p:nvPr/>
        </p:nvSpPr>
        <p:spPr>
          <a:xfrm>
            <a:off x="1508760" y="192938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Task: Set Up Your Handshake Profile</a:t>
            </a:r>
            <a:endParaRPr lang="en-US" sz="2400" dirty="0"/>
          </a:p>
          <a:p>
            <a:pPr indent="0" marL="0">
              <a:buNone/>
            </a:pPr>
            <a:r>
              <a:rPr lang="en-US" sz="2000" dirty="0">
                <a:solidFill>
                  <a:schemeClr val="accent6"/>
                </a:solidFill>
              </a:rPr>
              <a:t>Share your profile link</a:t>
            </a:r>
            <a:endParaRPr lang="en-US" sz="2400" dirty="0"/>
          </a:p>
        </p:txBody>
      </p:sp>
      <p:sp>
        <p:nvSpPr>
          <p:cNvPr id="8" name="Decorative: assignment row">
            <a:extLst>
              <a:ext uri="{C183D7F6-B498-43B3-948B-1728B52AA6E4}">
                <adec:decorative xmlns:adec="http://schemas.microsoft.com/office/drawing/2017/decorative" val="1"/>
              </a:ext>
            </a:extLst>
          </p:cNvPr>
          <p:cNvSpPr/>
          <p:nvPr/>
        </p:nvSpPr>
        <p:spPr>
          <a:xfrm>
            <a:off x="548640" y="288036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731520" y="2971800"/>
            <a:ext cx="548640" cy="548640"/>
          </a:xfrm>
          <a:prstGeom prst="ellipse">
            <a:avLst/>
          </a:prstGeom>
          <a:solidFill>
            <a:srgbClr val="00467F"/>
          </a:solidFill>
          <a:ln w="12700">
            <a:solidFill>
              <a:srgbClr val="00467F"/>
            </a:solidFill>
            <a:prstDash val="solid"/>
          </a:ln>
        </p:spPr>
      </p:sp>
      <p:pic>
        <p:nvPicPr>
          <p:cNvPr id="10" name="Decorative: LuBot">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52221" y="3092501"/>
            <a:ext cx="307238" cy="307238"/>
          </a:xfrm>
          <a:prstGeom prst="rect">
            <a:avLst/>
          </a:prstGeom>
        </p:spPr>
      </p:pic>
      <p:sp>
        <p:nvSpPr>
          <p:cNvPr id="11" name="Text 7"/>
          <p:cNvSpPr txBox="1"/>
          <p:nvPr/>
        </p:nvSpPr>
        <p:spPr>
          <a:xfrm>
            <a:off x="1508760" y="293522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AI Chat: What Future Do You Want Your Career to Make Possible?</a:t>
            </a:r>
            <a:endParaRPr lang="en-US" sz="2400" dirty="0"/>
          </a:p>
          <a:p>
            <a:pPr indent="0" marL="0">
              <a:buNone/>
            </a:pPr>
            <a:r>
              <a:rPr lang="en-US" sz="2000" dirty="0">
                <a:solidFill>
                  <a:schemeClr val="accent6"/>
                </a:solidFill>
              </a:rPr>
              <a:t>A conversation with Coach Pathfinder</a:t>
            </a:r>
            <a:endParaRPr lang="en-US" sz="2400" dirty="0"/>
          </a:p>
        </p:txBody>
      </p:sp>
      <p:sp>
        <p:nvSpPr>
          <p:cNvPr id="12" name="Decorative: assignment row">
            <a:extLst>
              <a:ext uri="{C183D7F6-B498-43B3-948B-1728B52AA6E4}">
                <adec:decorative xmlns:adec="http://schemas.microsoft.com/office/drawing/2017/decorative" val="1"/>
              </a:ext>
            </a:extLst>
          </p:cNvPr>
          <p:cNvSpPr/>
          <p:nvPr/>
        </p:nvSpPr>
        <p:spPr>
          <a:xfrm>
            <a:off x="548640" y="388620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731520" y="3977640"/>
            <a:ext cx="548640" cy="548640"/>
          </a:xfrm>
          <a:prstGeom prst="ellipse">
            <a:avLst/>
          </a:prstGeom>
          <a:solidFill>
            <a:srgbClr val="00467F"/>
          </a:solidFill>
          <a:ln w="12700">
            <a:solidFill>
              <a:srgbClr val="00467F"/>
            </a:solidFill>
            <a:prstDash val="solid"/>
          </a:ln>
        </p:spPr>
      </p:sp>
      <p:pic>
        <p:nvPicPr>
          <p:cNvPr id="14" name="Decorative: LuFlag">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52221" y="4098341"/>
            <a:ext cx="307238" cy="307238"/>
          </a:xfrm>
          <a:prstGeom prst="rect">
            <a:avLst/>
          </a:prstGeom>
        </p:spPr>
      </p:pic>
      <p:sp>
        <p:nvSpPr>
          <p:cNvPr id="15" name="Text 10"/>
          <p:cNvSpPr txBox="1"/>
          <p:nvPr/>
        </p:nvSpPr>
        <p:spPr>
          <a:xfrm>
            <a:off x="1508760" y="394106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Mile Marker #8: My Career Snapshot</a:t>
            </a:r>
            <a:endParaRPr lang="en-US" sz="2400" dirty="0"/>
          </a:p>
          <a:p>
            <a:pPr indent="0" marL="0">
              <a:buNone/>
            </a:pPr>
            <a:r>
              <a:rPr lang="en-US" sz="2000" dirty="0">
                <a:solidFill>
                  <a:schemeClr val="accent6"/>
                </a:solidFill>
              </a:rPr>
              <a:t>Part 1: your Career Research Guide. Part 2: three questions.</a:t>
            </a:r>
            <a:endParaRPr lang="en-US" sz="2400" dirty="0"/>
          </a:p>
        </p:txBody>
      </p:sp>
      <p:sp>
        <p:nvSpPr>
          <p:cNvPr id="16" name="Decorative: assignment row">
            <a:extLst>
              <a:ext uri="{C183D7F6-B498-43B3-948B-1728B52AA6E4}">
                <adec:decorative xmlns:adec="http://schemas.microsoft.com/office/drawing/2017/decorative" val="1"/>
              </a:ext>
            </a:extLst>
          </p:cNvPr>
          <p:cNvSpPr/>
          <p:nvPr/>
        </p:nvSpPr>
        <p:spPr>
          <a:xfrm>
            <a:off x="548640" y="489204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Decorative: icon circle">
            <a:extLst>
              <a:ext uri="{C183D7F6-B498-43B3-948B-1728B52AA6E4}">
                <adec:decorative xmlns:adec="http://schemas.microsoft.com/office/drawing/2017/decorative" val="1"/>
              </a:ext>
            </a:extLst>
          </p:cNvPr>
          <p:cNvSpPr/>
          <p:nvPr/>
        </p:nvSpPr>
        <p:spPr>
          <a:xfrm>
            <a:off x="731520" y="4983480"/>
            <a:ext cx="548640" cy="548640"/>
          </a:xfrm>
          <a:prstGeom prst="ellipse">
            <a:avLst/>
          </a:prstGeom>
          <a:solidFill>
            <a:srgbClr val="00467F"/>
          </a:solidFill>
          <a:ln w="12700">
            <a:solidFill>
              <a:srgbClr val="00467F"/>
            </a:solidFill>
            <a:prstDash val="solid"/>
          </a:ln>
        </p:spPr>
      </p:sp>
      <p:pic>
        <p:nvPicPr>
          <p:cNvPr id="18" name="Decorative: LuSta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52221" y="5104181"/>
            <a:ext cx="307238" cy="307238"/>
          </a:xfrm>
          <a:prstGeom prst="rect">
            <a:avLst/>
          </a:prstGeom>
        </p:spPr>
      </p:pic>
      <p:sp>
        <p:nvSpPr>
          <p:cNvPr id="19" name="Text 13"/>
          <p:cNvSpPr txBox="1"/>
          <p:nvPr/>
        </p:nvSpPr>
        <p:spPr>
          <a:xfrm>
            <a:off x="1508760" y="494690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Extra credit: Submit your next-semester schedule</a:t>
            </a:r>
            <a:endParaRPr lang="en-US" sz="2400" dirty="0"/>
          </a:p>
          <a:p>
            <a:pPr indent="0" marL="0">
              <a:buNone/>
            </a:pPr>
            <a:r>
              <a:rPr lang="en-US" sz="2000" dirty="0">
                <a:solidFill>
                  <a:schemeClr val="accent6"/>
                </a:solidFill>
              </a:rPr>
              <a:t>After you meet with your Success Coach. Details in Blackboard.</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MILE MARKER #8</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My Career Snapshot</a:t>
            </a:r>
            <a:endParaRPr lang="en-US" sz="4000" dirty="0"/>
          </a:p>
        </p:txBody>
      </p:sp>
      <p:sp>
        <p:nvSpPr>
          <p:cNvPr id="4" name="Decorative: number circle">
            <a:extLst>
              <a:ext uri="{C183D7F6-B498-43B3-948B-1728B52AA6E4}">
                <adec:decorative xmlns:adec="http://schemas.microsoft.com/office/drawing/2017/decorative" val="1"/>
              </a:ext>
            </a:extLst>
          </p:cNvPr>
          <p:cNvSpPr/>
          <p:nvPr/>
        </p:nvSpPr>
        <p:spPr>
          <a:xfrm>
            <a:off x="548640" y="1874520"/>
            <a:ext cx="566928" cy="566928"/>
          </a:xfrm>
          <a:prstGeom prst="ellipse">
            <a:avLst/>
          </a:prstGeom>
          <a:solidFill>
            <a:srgbClr val="E7A614"/>
          </a:solidFill>
          <a:ln w="12700">
            <a:solidFill>
              <a:srgbClr val="E7A614"/>
            </a:solidFill>
            <a:prstDash val="solid"/>
          </a:ln>
        </p:spPr>
      </p:sp>
      <p:sp>
        <p:nvSpPr>
          <p:cNvPr id="5" name="Question 1 number"/>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1</a:t>
            </a:r>
            <a:endParaRPr lang="en-US" sz="2400" dirty="0"/>
          </a:p>
        </p:txBody>
      </p:sp>
      <p:sp>
        <p:nvSpPr>
          <p:cNvPr id="6" name="Text 4"/>
          <p:cNvSpPr txBox="1"/>
          <p:nvPr/>
        </p:nvSpPr>
        <p:spPr>
          <a:xfrm>
            <a:off x="1389888" y="1874520"/>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Part 1: Upload your Career Research Guide</a:t>
            </a:r>
            <a:endParaRPr lang="en-US" sz="2400" dirty="0"/>
          </a:p>
        </p:txBody>
      </p:sp>
      <p:sp>
        <p:nvSpPr>
          <p:cNvPr id="7" name="Decorative: number circle">
            <a:extLst>
              <a:ext uri="{C183D7F6-B498-43B3-948B-1728B52AA6E4}">
                <adec:decorative xmlns:adec="http://schemas.microsoft.com/office/drawing/2017/decorative" val="1"/>
              </a:ext>
            </a:extLst>
          </p:cNvPr>
          <p:cNvSpPr/>
          <p:nvPr/>
        </p:nvSpPr>
        <p:spPr>
          <a:xfrm>
            <a:off x="548640" y="2862072"/>
            <a:ext cx="566928" cy="566928"/>
          </a:xfrm>
          <a:prstGeom prst="ellipse">
            <a:avLst/>
          </a:prstGeom>
          <a:solidFill>
            <a:srgbClr val="E7A614"/>
          </a:solidFill>
          <a:ln w="12700">
            <a:solidFill>
              <a:srgbClr val="E7A614"/>
            </a:solidFill>
            <a:prstDash val="solid"/>
          </a:ln>
        </p:spPr>
      </p:sp>
      <p:sp>
        <p:nvSpPr>
          <p:cNvPr id="8" name="Question 2 number"/>
          <p:cNvSpPr txBox="1"/>
          <p:nvPr/>
        </p:nvSpPr>
        <p:spPr>
          <a:xfrm>
            <a:off x="548640" y="2862072"/>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2</a:t>
            </a:r>
            <a:endParaRPr lang="en-US" sz="2400" dirty="0"/>
          </a:p>
        </p:txBody>
      </p:sp>
      <p:sp>
        <p:nvSpPr>
          <p:cNvPr id="9" name="Text 7"/>
          <p:cNvSpPr txBox="1"/>
          <p:nvPr/>
        </p:nvSpPr>
        <p:spPr>
          <a:xfrm>
            <a:off x="1389888" y="2862072"/>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What did you find? The headline version</a:t>
            </a:r>
            <a:endParaRPr lang="en-US" sz="2400" dirty="0"/>
          </a:p>
        </p:txBody>
      </p:sp>
      <p:sp>
        <p:nvSpPr>
          <p:cNvPr id="10" name="Decorative: number circle">
            <a:extLst>
              <a:ext uri="{C183D7F6-B498-43B3-948B-1728B52AA6E4}">
                <adec:decorative xmlns:adec="http://schemas.microsoft.com/office/drawing/2017/decorative" val="1"/>
              </a:ext>
            </a:extLst>
          </p:cNvPr>
          <p:cNvSpPr/>
          <p:nvPr/>
        </p:nvSpPr>
        <p:spPr>
          <a:xfrm>
            <a:off x="548640" y="3849624"/>
            <a:ext cx="566928" cy="566928"/>
          </a:xfrm>
          <a:prstGeom prst="ellipse">
            <a:avLst/>
          </a:prstGeom>
          <a:solidFill>
            <a:srgbClr val="E7A614"/>
          </a:solidFill>
          <a:ln w="12700">
            <a:solidFill>
              <a:srgbClr val="E7A614"/>
            </a:solidFill>
            <a:prstDash val="solid"/>
          </a:ln>
        </p:spPr>
      </p:sp>
      <p:sp>
        <p:nvSpPr>
          <p:cNvPr id="11" name="Question 3 number"/>
          <p:cNvSpPr txBox="1"/>
          <p:nvPr/>
        </p:nvSpPr>
        <p:spPr>
          <a:xfrm>
            <a:off x="548640" y="3849624"/>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3</a:t>
            </a:r>
            <a:endParaRPr lang="en-US" sz="2400" dirty="0"/>
          </a:p>
        </p:txBody>
      </p:sp>
      <p:sp>
        <p:nvSpPr>
          <p:cNvPr id="12" name="Text 10"/>
          <p:cNvSpPr txBox="1"/>
          <p:nvPr/>
        </p:nvSpPr>
        <p:spPr>
          <a:xfrm>
            <a:off x="1389888" y="3849624"/>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Does it fit? Your strengths, values, and style</a:t>
            </a:r>
            <a:endParaRPr lang="en-US" sz="2400" dirty="0"/>
          </a:p>
        </p:txBody>
      </p:sp>
      <p:sp>
        <p:nvSpPr>
          <p:cNvPr id="13" name="Decorative: number circle">
            <a:extLst>
              <a:ext uri="{C183D7F6-B498-43B3-948B-1728B52AA6E4}">
                <adec:decorative xmlns:adec="http://schemas.microsoft.com/office/drawing/2017/decorative" val="1"/>
              </a:ext>
            </a:extLst>
          </p:cNvPr>
          <p:cNvSpPr/>
          <p:nvPr/>
        </p:nvSpPr>
        <p:spPr>
          <a:xfrm>
            <a:off x="548640" y="4837176"/>
            <a:ext cx="566928" cy="566928"/>
          </a:xfrm>
          <a:prstGeom prst="ellipse">
            <a:avLst/>
          </a:prstGeom>
          <a:solidFill>
            <a:srgbClr val="E7A614"/>
          </a:solidFill>
          <a:ln w="12700">
            <a:solidFill>
              <a:srgbClr val="E7A614"/>
            </a:solidFill>
            <a:prstDash val="solid"/>
          </a:ln>
        </p:spPr>
      </p:sp>
      <p:sp>
        <p:nvSpPr>
          <p:cNvPr id="14" name="Question 4 number"/>
          <p:cNvSpPr txBox="1"/>
          <p:nvPr/>
        </p:nvSpPr>
        <p:spPr>
          <a:xfrm>
            <a:off x="548640" y="4837176"/>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4</a:t>
            </a:r>
            <a:endParaRPr lang="en-US" sz="2400" dirty="0"/>
          </a:p>
        </p:txBody>
      </p:sp>
      <p:sp>
        <p:nvSpPr>
          <p:cNvPr id="15" name="Text 13"/>
          <p:cNvSpPr txBox="1"/>
          <p:nvPr/>
        </p:nvSpPr>
        <p:spPr>
          <a:xfrm>
            <a:off x="1389888" y="4837176"/>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Your honest take: one fit, one friction, one question</a:t>
            </a:r>
            <a:endParaRPr lang="en-US" sz="2400" dirty="0"/>
          </a:p>
        </p:txBody>
      </p:sp>
      <p:sp>
        <p:nvSpPr>
          <p:cNvPr id="16" name="Decorative: mile marker details panel">
            <a:extLst>
              <a:ext uri="{C183D7F6-B498-43B3-948B-1728B52AA6E4}">
                <adec:decorative xmlns:adec="http://schemas.microsoft.com/office/drawing/2017/decorative" val="1"/>
              </a:ext>
            </a:extLst>
          </p:cNvPr>
          <p:cNvSpPr/>
          <p:nvPr/>
        </p:nvSpPr>
        <p:spPr>
          <a:xfrm>
            <a:off x="8229600" y="1874520"/>
            <a:ext cx="3413455" cy="3794760"/>
          </a:xfrm>
          <a:prstGeom prst="roundRect">
            <a:avLst>
              <a:gd name="adj" fmla="val 3215"/>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7" name="Text 15"/>
          <p:cNvSpPr txBox="1"/>
          <p:nvPr/>
        </p:nvSpPr>
        <p:spPr>
          <a:xfrm>
            <a:off x="8503920" y="2103120"/>
            <a:ext cx="2864815" cy="3383280"/>
          </a:xfrm>
          <a:prstGeom prst="rect">
            <a:avLst/>
          </a:prstGeom>
          <a:noFill/>
          <a:ln/>
        </p:spPr>
        <p:txBody>
          <a:bodyPr wrap="square" lIns="0" tIns="0" rIns="0" bIns="0" rtlCol="0" anchor="t"/>
          <a:lstStyle/>
          <a:p>
            <a:pPr indent="0" marL="0">
              <a:spcAft>
                <a:spcPts val="1000"/>
              </a:spcAft>
              <a:buNone/>
            </a:pPr>
            <a:r>
              <a:rPr lang="en-US" sz="2200" b="1" dirty="0">
                <a:solidFill>
                  <a:srgbClr val="7A5500"/>
                </a:solidFill>
              </a:rPr>
              <a:t>AI use: AI-supported</a:t>
            </a:r>
            <a:endParaRPr lang="en-US" sz="2200" dirty="0"/>
          </a:p>
          <a:p>
            <a:pPr indent="0" marL="0">
              <a:spcAft>
                <a:spcPts val="1000"/>
              </a:spcAft>
              <a:buNone/>
            </a:pPr>
            <a:r>
              <a:rPr lang="en-US" sz="2200" dirty="0">
                <a:solidFill>
                  <a:schemeClr val="tx1"/>
                </a:solidFill>
              </a:rPr>
              <a:t>Use AI to question your thinking. Get facts from your sources.</a:t>
            </a:r>
            <a:endParaRPr lang="en-US" sz="2200" dirty="0"/>
          </a:p>
          <a:p>
            <a:pPr indent="0" marL="0">
              <a:spcAft>
                <a:spcPts val="1000"/>
              </a:spcAft>
              <a:buNone/>
            </a:pPr>
            <a:r>
              <a:rPr lang="en-US" sz="1000" dirty="0">
                <a:solidFill>
                  <a:schemeClr val="tx1"/>
                </a:solidFill>
              </a:rPr>
              <a:t> </a:t>
            </a:r>
            <a:endParaRPr lang="en-US" sz="2200" dirty="0"/>
          </a:p>
          <a:p>
            <a:pPr indent="0" marL="0">
              <a:spcAft>
                <a:spcPts val="1000"/>
              </a:spcAft>
              <a:buNone/>
            </a:pPr>
            <a:r>
              <a:rPr lang="en-US" sz="2200" b="1" dirty="0">
                <a:solidFill>
                  <a:srgbClr val="7A5500"/>
                </a:solidFill>
              </a:rPr>
              <a:t>One file?</a:t>
            </a:r>
            <a:endParaRPr lang="en-US" sz="2200" dirty="0"/>
          </a:p>
          <a:p>
            <a:pPr indent="0" marL="0">
              <a:spcAft>
                <a:spcPts val="1000"/>
              </a:spcAft>
              <a:buNone/>
            </a:pPr>
            <a:r>
              <a:rPr lang="en-US" sz="2200" dirty="0">
                <a:solidFill>
                  <a:schemeClr val="tx1"/>
                </a:solidFill>
              </a:rPr>
              <a:t>A handout with both parts is in Blackboard.</a:t>
            </a:r>
            <a:endParaRPr lang="en-US" sz="22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Decorative: module cover ar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3931920" y="640080"/>
            <a:ext cx="7680960" cy="411480"/>
          </a:xfrm>
          <a:prstGeom prst="rect">
            <a:avLst/>
          </a:prstGeom>
          <a:noFill/>
          <a:ln/>
        </p:spPr>
        <p:txBody>
          <a:bodyPr wrap="square" lIns="0" tIns="0" rIns="0" bIns="0" rtlCol="0"/>
          <a:lstStyle/>
          <a:p>
            <a:pPr algn="l" indent="0" marL="0">
              <a:buNone/>
            </a:pPr>
            <a:r>
              <a:rPr lang="en-US" sz="2000" b="1" spc="300" kern="0" dirty="0">
                <a:solidFill>
                  <a:schemeClr val="accent2"/>
                </a:solidFill>
              </a:rPr>
              <a:t>TALK IT THROUGH · IN CLASS</a:t>
            </a:r>
            <a:endParaRPr lang="en-US" sz="2000" dirty="0"/>
          </a:p>
        </p:txBody>
      </p:sp>
      <p:sp>
        <p:nvSpPr>
          <p:cNvPr id="4" name="Text 0"/>
          <p:cNvSpPr/>
          <p:nvPr>
            <p:ph idx="101" type="title" hasCustomPrompt="1"/>
          </p:nvPr>
        </p:nvSpPr>
        <p:spPr>
          <a:xfrm>
            <a:off x="3931920" y="1097280"/>
            <a:ext cx="7680960" cy="1371600"/>
          </a:xfrm>
          <a:prstGeom prst="rect">
            <a:avLst/>
          </a:prstGeom>
          <a:noFill/>
          <a:ln/>
        </p:spPr>
        <p:txBody>
          <a:bodyPr wrap="square" lIns="0" tIns="0" rIns="0" bIns="0" rtlCol="0" anchor="t"/>
          <a:lstStyle/>
          <a:p>
            <a:pPr algn="l" indent="0" marL="0">
              <a:buNone/>
            </a:pPr>
            <a:r>
              <a:rPr lang="en-US" sz="4000" b="1" dirty="0">
                <a:solidFill>
                  <a:schemeClr val="bg1"/>
                </a:solidFill>
              </a:rPr>
              <a:t>What do you want your career to make possible?</a:t>
            </a:r>
            <a:endParaRPr lang="en-US" sz="4000" dirty="0"/>
          </a:p>
        </p:txBody>
      </p:sp>
      <p:sp>
        <p:nvSpPr>
          <p:cNvPr id="5" name="Discussion questions"/>
          <p:cNvSpPr txBox="1"/>
          <p:nvPr/>
        </p:nvSpPr>
        <p:spPr>
          <a:xfrm>
            <a:off x="3931920" y="2697480"/>
            <a:ext cx="7589520" cy="182880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400" dirty="0">
                <a:solidFill>
                  <a:schemeClr val="bg1"/>
                </a:solidFill>
              </a:rPr>
              <a:t>Picture a regular Tuesday five years from now. What does it look like?</a:t>
            </a:r>
            <a:endParaRPr lang="en-US" sz="2400" dirty="0"/>
          </a:p>
          <a:p>
            <a:pPr marL="342900" indent="-342900">
              <a:spcAft>
                <a:spcPts val="1200"/>
              </a:spcAft>
              <a:buSzPct val="100000"/>
              <a:buFont typeface="+mj-lt"/>
              <a:buAutoNum type="arabicPeriod" startAt="1"/>
            </a:pPr>
            <a:r>
              <a:rPr lang="en-US" sz="2400" dirty="0">
                <a:solidFill>
                  <a:schemeClr val="bg1"/>
                </a:solidFill>
              </a:rPr>
              <a:t>What would your career need to give you to make that day possible?</a:t>
            </a:r>
            <a:endParaRPr lang="en-US" sz="2400" dirty="0"/>
          </a:p>
        </p:txBody>
      </p:sp>
      <p:sp>
        <p:nvSpPr>
          <p:cNvPr id="6" name="Text 3"/>
          <p:cNvSpPr txBox="1"/>
          <p:nvPr/>
        </p:nvSpPr>
        <p:spPr>
          <a:xfrm>
            <a:off x="3931920" y="4617720"/>
            <a:ext cx="5120640" cy="731520"/>
          </a:xfrm>
          <a:prstGeom prst="rect">
            <a:avLst/>
          </a:prstGeom>
          <a:noFill/>
          <a:ln/>
        </p:spPr>
        <p:txBody>
          <a:bodyPr wrap="square" lIns="0" tIns="0" rIns="0" bIns="0" rtlCol="0" anchor="t"/>
          <a:lstStyle/>
          <a:p>
            <a:pPr indent="0" marL="0">
              <a:buNone/>
            </a:pPr>
            <a:r>
              <a:rPr lang="en-US" sz="2200" i="1" dirty="0">
                <a:solidFill>
                  <a:srgbClr val="D6EEFA"/>
                </a:solidFill>
              </a:rPr>
              <a:t>Talk with a partner for 3 minutes, then share one need with the room.</a:t>
            </a:r>
            <a:endParaRPr lang="en-US" sz="2200" dirty="0"/>
          </a:p>
        </p:txBody>
      </p:sp>
    </p:spTree>
  </p:cSld>
  <p:clrMapOvr>
    <a:masterClrMapping/>
  </p:clrMapOvr>
</p:sld>
</file>

<file path=ppt/theme/theme1.xml><?xml version="1.0" encoding="utf-8"?>
<a:theme xmlns:a="http://schemas.openxmlformats.org/drawingml/2006/main" name="FYE 100 Pathfinder">
  <a:themeElements>
    <a:clrScheme name="FYE 100 Pathfinder">
      <a:dk1>
        <a:srgbClr val="17212B"/>
      </a:dk1>
      <a:lt1>
        <a:srgbClr val="FFFFFF"/>
      </a:lt1>
      <a:dk2>
        <a:srgbClr val="011D41"/>
      </a:dk2>
      <a:lt2>
        <a:srgbClr val="EAF4FB"/>
      </a:lt2>
      <a:accent1>
        <a:srgbClr val="00467F"/>
      </a:accent1>
      <a:accent2>
        <a:srgbClr val="E7A614"/>
      </a:accent2>
      <a:accent3>
        <a:srgbClr val="3BB3E5"/>
      </a:accent3>
      <a:accent4>
        <a:srgbClr val="0B5F86"/>
      </a:accent4>
      <a:accent5>
        <a:srgbClr val="FFF5DC"/>
      </a:accent5>
      <a:accent6>
        <a:srgbClr val="52606D"/>
      </a:accent6>
      <a:hlink>
        <a:srgbClr val="00467F"/>
      </a:hlink>
      <a:folHlink>
        <a:srgbClr val="0B5F86"/>
      </a:folHlink>
    </a:clrScheme>
    <a:fontScheme name="FYE 100 Pathfind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Owensboro Community &amp; Technical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FYE 100 Module 8: Explore Your Career Options</dc:title>
  <dc:subject>FYE 100 instructor slides</dc:subject>
  <dc:creator>OCTC FYE 100</dc:creator>
  <cp:lastModifiedBy>OCTC FYE 100</cp:lastModifiedBy>
  <cp:revision>1</cp:revision>
  <dcterms:created xsi:type="dcterms:W3CDTF">2026-10-19T21:04:31Z</dcterms:created>
  <dcterms:modified xsi:type="dcterms:W3CDTF">2026-10-19T21:04:31Z</dcterms:modified>
</cp:coreProperties>
</file>