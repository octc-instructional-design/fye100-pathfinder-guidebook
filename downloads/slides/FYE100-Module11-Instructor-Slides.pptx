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b2ef82e-1457-7f8d-c5a1-b3beedeac040}">
          <p14:sldIdLst>
            <p14:sldId id="256"/>
            <p14:sldId id="257"/>
          </p14:sldIdLst>
        </p14:section>
        <p14:section name="This week" id="{34a1c84a-8050-ffcc-fdd2-df6287a8be28}">
          <p14:sldIdLst>
            <p14:sldId id="258"/>
          </p14:sldIdLst>
        </p14:section>
        <p14:section name="Lessons" id="{928a7fc6-e302-2fde-d2f1-e9471563233b}">
          <p14:sldIdLst>
            <p14:sldId id="259"/>
            <p14:sldId id="260"/>
            <p14:sldId id="261"/>
            <p14:sldId id="262"/>
          </p14:sldIdLst>
        </p14:section>
        <p14:section name="This week's work" id="{39e55ef9-e6a4-e75b-3669-a6197960e96b}">
          <p14:sldIdLst>
            <p14:sldId id="263"/>
            <p14:sldId id="264"/>
          </p14:sldIdLst>
        </p14:section>
        <p14:section name="Discussion" id="{21fcf374-d50d-0208-807b-b697db4f19ad}">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11: Making an Impact.
Civic engagement can sound like something for other people. This module starts with the communities you're already part of, and it's also your working time for your STAR(T) Stories.
The owl made some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Two weeks left. STAR(T) Stories are due with Module 12, on Sunday, earlier than usual.
Consider showing the STAR(T) Stories overview deck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see the communities you're already in, name what you have to offer and what you're not available for, choose your four STAR(T) skills, and draft one story out loud.
Four skills, with Civic Engagement as the Skill Spotlight.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week's Skill Spotlight is #7, Civic Engagement.
It tends to bring certain images to mind: voting, city council meetings, protests, campaigns. Those are real, and they can feel intimidating. This module starts closer to home, with the communities you're already part of: your workplace, your family, your class, your neighborhood.
Left: where most students start. You discuss ideas about the common good respectfully and know ways people can get involved. Right: where you're headed. You engage with people who see things differently, understand how participation shapes what happens, and make a case based on real reflection.
It shows up when a group disagrees about direction, when a problem keeps coming back, and when you notice what others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already in more communities than you think, and already shaping how they work.
Every community runs on a system with four parts. People: who's involved and what role each tends to play. Rules: the official ones and the unwritten ones everyone just knows. Influence: who actually shapes what happens, which isn't always the person with the title. Leverage points: small things that, if they changed, would change a lot.
The lesson's worked example: four people share a kitchen, the dishes pile up, everyone's annoyed, and nobody's said anything. Walk it through the four parts. Where's the leverage point?
The Community Snapshot Trail Tool walks students through one community for Mile Marker #11, Questions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students have figured out this semester, their strengths, values, and energy, comes together here.
Before saying yes or no to getting more involved in something, know two things. What I have to offer, based on real strengths, values, and interests, not what you think you're supposed to offer. And what I'm not available for, at least for now: a limit, a role you don't want, a kind of task that drains you.
Naming both up front changes the whole experience, instead of slowly discovering you've said yes to the wrong thing.
"I don't have time" is usually half the story. The other half is often "I don't know what I'd be signing up for."
Online sections: this is the Getting the Call journal. In-person: it's today's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working time for the capstone. Three steps.
Gather your Mile Markers. The best stories are probably already written down. Forms in the guidebook save only in the browser on the device used, so if a student switched devices, their submitted Mile Markers are in Blackboard.
Choose your four skills: Adaptability &amp; Leadership, Professionalism, Knowledge Application, and one of your choice. Students name all four in Mile Marker #11, Question 4.
Draft one story, the one you feel surest about, with its practice guide. Then say it out loud once.
This is a great week to show the STAR(T) Stories overview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Mile Marker #11 has two parts: your community impact, then your four STAR(T) skills with the story you plan for each.
Online sections: the Getting the Call journal is private. In-person sections: today's attendance counts.
Heads up: all four STAR(T) Stories are due with Module 12, on Sunday.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#11 has two parts.
Part I. One: name a community and your role in it, including small, everyday ways you contribute. Two: using people, rules, and influence, one specific way you've made, or could make, a positive difference. Small and real is exactly right. Three: as your circles grow, one way you want to show up more intentionally.
Part II. Four: for each of your four STAR(T) skills, the experience you plan to tell, in a phrase or sentence.
It's AI-supported, but AI doesn't know your community.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discussion. This is the in-class version of the private online journal, Getting the Call.
Pairs for three minutes. Keep it hypothetical and low-stakes; nobody has to commit to anything.
Listen for limits stated kindly and clearly, and name them as a skill. Saying no well is part of showing up well.
For online recordings: pose the questions as a lead-in to the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11</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Making an Impact</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Community, values, and your Pathfinder journey.</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Pack up Module 10, then look ahead to Module 11.</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11 work is due Monday by 11:59 PM Central. STAR(T) Stories are due with Module 12, on Sunday.</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11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Where you already show up</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Users">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See the communities you're already in</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HandHeart">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Name your offer, and your limit</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Sta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Choose your four STAR(T) skills</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Mic">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Draft one story, out loud</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697480"/>
            <a:ext cx="621792" cy="621792"/>
          </a:xfrm>
          <a:prstGeom prst="rect">
            <a:avLst/>
          </a:prstGeom>
        </p:spPr>
      </p:pic>
      <p:sp>
        <p:nvSpPr>
          <p:cNvPr id="19" name="Text 12"/>
          <p:cNvSpPr txBox="1"/>
          <p:nvPr/>
        </p:nvSpPr>
        <p:spPr>
          <a:xfrm>
            <a:off x="8988552" y="265176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#4 </a:t>
            </a:r>
            <a:pPr indent="0" marL="0">
              <a:buNone/>
            </a:pPr>
            <a:r>
              <a:rPr lang="en-US" sz="2000" dirty="0">
                <a:solidFill>
                  <a:schemeClr val="tx1"/>
                </a:solidFill>
              </a:rPr>
              <a:t>Interpersonal Relations</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429000"/>
            <a:ext cx="621792" cy="621792"/>
          </a:xfrm>
          <a:prstGeom prst="rect">
            <a:avLst/>
          </a:prstGeom>
        </p:spPr>
      </p:pic>
      <p:sp>
        <p:nvSpPr>
          <p:cNvPr id="21" name="Text 13"/>
          <p:cNvSpPr txBox="1"/>
          <p:nvPr/>
        </p:nvSpPr>
        <p:spPr>
          <a:xfrm>
            <a:off x="8988552" y="338328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#5 </a:t>
            </a:r>
            <a:pPr indent="0" marL="0">
              <a:buNone/>
            </a:pPr>
            <a:r>
              <a:rPr lang="en-US" sz="2000" dirty="0">
                <a:solidFill>
                  <a:schemeClr val="tx1"/>
                </a:solidFill>
              </a:rPr>
              <a:t>Adaptability &amp; Leadership</a:t>
            </a:r>
            <a:endParaRPr lang="en-US" sz="2000" dirty="0"/>
          </a:p>
        </p:txBody>
      </p:sp>
      <p:pic>
        <p:nvPicPr>
          <p:cNvPr id="22" name="Decorative: skill coin">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83880" y="4160520"/>
            <a:ext cx="621792" cy="621792"/>
          </a:xfrm>
          <a:prstGeom prst="rect">
            <a:avLst/>
          </a:prstGeom>
        </p:spPr>
      </p:pic>
      <p:sp>
        <p:nvSpPr>
          <p:cNvPr id="23" name="Text 14"/>
          <p:cNvSpPr txBox="1"/>
          <p:nvPr/>
        </p:nvSpPr>
        <p:spPr>
          <a:xfrm>
            <a:off x="8988552" y="411480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#7 </a:t>
            </a:r>
            <a:pPr indent="0" marL="0">
              <a:buNone/>
            </a:pPr>
            <a:r>
              <a:rPr lang="en-US" sz="2000" dirty="0">
                <a:solidFill>
                  <a:schemeClr val="tx1"/>
                </a:solidFill>
              </a:rPr>
              <a:t>Civic Engagement</a:t>
            </a:r>
            <a:endParaRPr lang="en-US" sz="2000" dirty="0"/>
          </a:p>
        </p:txBody>
      </p:sp>
      <p:pic>
        <p:nvPicPr>
          <p:cNvPr id="24" name="Decorative: skill coin">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183880" y="4892040"/>
            <a:ext cx="621792" cy="621792"/>
          </a:xfrm>
          <a:prstGeom prst="rect">
            <a:avLst/>
          </a:prstGeom>
        </p:spPr>
      </p:pic>
      <p:sp>
        <p:nvSpPr>
          <p:cNvPr id="25" name="Text 15"/>
          <p:cNvSpPr txBox="1"/>
          <p:nvPr/>
        </p:nvSpPr>
        <p:spPr>
          <a:xfrm>
            <a:off x="8988552" y="484632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#9 </a:t>
            </a:r>
            <a:pPr indent="0" marL="0">
              <a:buNone/>
            </a:pPr>
            <a:r>
              <a:rPr lang="en-US" sz="2000" dirty="0">
                <a:solidFill>
                  <a:schemeClr val="tx1"/>
                </a:solidFill>
              </a:rPr>
              <a:t>Knowledge Application</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11.1 · SKILL SPOTLIGHT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Civic Engagement</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920240"/>
            <a:ext cx="1188720" cy="1188720"/>
          </a:xfrm>
          <a:prstGeom prst="rect">
            <a:avLst/>
          </a:prstGeom>
        </p:spPr>
      </p:pic>
      <p:sp>
        <p:nvSpPr>
          <p:cNvPr id="5" name="Text 2"/>
          <p:cNvSpPr txBox="1"/>
          <p:nvPr/>
        </p:nvSpPr>
        <p:spPr>
          <a:xfrm>
            <a:off x="2011680" y="1965960"/>
            <a:ext cx="9601200" cy="1097280"/>
          </a:xfrm>
          <a:prstGeom prst="rect">
            <a:avLst/>
          </a:prstGeom>
          <a:noFill/>
          <a:ln/>
        </p:spPr>
        <p:txBody>
          <a:bodyPr wrap="square" lIns="0" tIns="0" rIns="0" bIns="0" rtlCol="0" anchor="ctr"/>
          <a:lstStyle/>
          <a:p>
            <a:pPr indent="0" marL="0">
              <a:buNone/>
            </a:pPr>
            <a:r>
              <a:rPr lang="en-US" sz="2600" dirty="0">
                <a:solidFill>
                  <a:schemeClr val="tx1"/>
                </a:solidFill>
              </a:rPr>
              <a:t>Starting with the parts of "society" you're already standing in.</a:t>
            </a:r>
            <a:endParaRPr lang="en-US" sz="2600" dirty="0"/>
          </a:p>
        </p:txBody>
      </p:sp>
      <p:sp>
        <p:nvSpPr>
          <p:cNvPr id="6" name="Decorative: benchmark card">
            <a:extLst>
              <a:ext uri="{C183D7F6-B498-43B3-948B-1728B52AA6E4}">
                <adec:decorative xmlns:adec="http://schemas.microsoft.com/office/drawing/2017/decorative" val="1"/>
              </a:ext>
            </a:extLst>
          </p:cNvPr>
          <p:cNvSpPr/>
          <p:nvPr/>
        </p:nvSpPr>
        <p:spPr>
          <a:xfrm>
            <a:off x="548640" y="3429000"/>
            <a:ext cx="509000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3703320"/>
            <a:ext cx="4449928" cy="2057400"/>
          </a:xfrm>
          <a:prstGeom prst="rect">
            <a:avLst/>
          </a:prstGeom>
          <a:noFill/>
          <a:ln/>
        </p:spPr>
        <p:txBody>
          <a:bodyPr wrap="square" lIns="0" tIns="0" rIns="0" bIns="0" rtlCol="0" anchor="t"/>
          <a:lstStyle/>
          <a:p>
            <a:pPr indent="0" marL="0">
              <a:buNone/>
            </a:pPr>
            <a:r>
              <a:rPr lang="en-US" sz="2000" b="1" spc="200" kern="0" dirty="0">
                <a:solidFill>
                  <a:schemeClr val="accent4"/>
                </a:solidFill>
              </a:rPr>
              <a:t>WHERE YOU START</a:t>
            </a:r>
            <a:endParaRPr lang="en-US" sz="2400" dirty="0"/>
          </a:p>
          <a:p>
            <a:pPr indent="0" marL="0">
              <a:buNone/>
            </a:pPr>
            <a:r>
              <a:rPr lang="en-US" sz="2400" dirty="0">
                <a:solidFill>
                  <a:schemeClr val="tx1"/>
                </a:solidFill>
              </a:rPr>
              <a:t>You discuss ideas about the common good respectfully, and know ways people get involved.</a:t>
            </a:r>
            <a:endParaRPr lang="en-US" sz="2400" dirty="0"/>
          </a:p>
        </p:txBody>
      </p:sp>
      <p:pic>
        <p:nvPicPr>
          <p:cNvPr id="8" name="Decorative: 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21528" y="4411980"/>
            <a:ext cx="548640" cy="548640"/>
          </a:xfrm>
          <a:prstGeom prst="rect">
            <a:avLst/>
          </a:prstGeom>
        </p:spPr>
      </p:pic>
      <p:sp>
        <p:nvSpPr>
          <p:cNvPr id="9" name="Decorative: milestone card">
            <a:extLst>
              <a:ext uri="{C183D7F6-B498-43B3-948B-1728B52AA6E4}">
                <adec:decorative xmlns:adec="http://schemas.microsoft.com/office/drawing/2017/decorative" val="1"/>
              </a:ext>
            </a:extLst>
          </p:cNvPr>
          <p:cNvSpPr/>
          <p:nvPr/>
        </p:nvSpPr>
        <p:spPr>
          <a:xfrm>
            <a:off x="6553048" y="3429000"/>
            <a:ext cx="5090008" cy="2514600"/>
          </a:xfrm>
          <a:prstGeom prst="roundRect">
            <a:avLst>
              <a:gd name="adj" fmla="val 436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73088" y="3703320"/>
            <a:ext cx="4449928" cy="2057400"/>
          </a:xfrm>
          <a:prstGeom prst="rect">
            <a:avLst/>
          </a:prstGeom>
          <a:noFill/>
          <a:ln/>
        </p:spPr>
        <p:txBody>
          <a:bodyPr wrap="square" lIns="0" tIns="0" rIns="0" bIns="0" rtlCol="0" anchor="t"/>
          <a:lstStyle/>
          <a:p>
            <a:pPr indent="0" marL="0">
              <a:buNone/>
            </a:pPr>
            <a:r>
              <a:rPr lang="en-US" sz="2000" b="1" spc="200" kern="0" dirty="0">
                <a:solidFill>
                  <a:srgbClr val="7A5500"/>
                </a:solidFill>
              </a:rPr>
              <a:t>WHERE YOU'RE HEADED</a:t>
            </a:r>
            <a:endParaRPr lang="en-US" sz="2400" dirty="0"/>
          </a:p>
          <a:p>
            <a:pPr indent="0" marL="0">
              <a:buNone/>
            </a:pPr>
            <a:r>
              <a:rPr lang="en-US" sz="2400" dirty="0">
                <a:solidFill>
                  <a:schemeClr val="tx1"/>
                </a:solidFill>
              </a:rPr>
              <a:t>You engage with people who see things differently, and use what you know to help make things better.</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11.2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Every community runs on a system</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28800"/>
            <a:ext cx="5387188" cy="1508760"/>
          </a:xfrm>
          <a:prstGeom prst="roundRect">
            <a:avLst>
              <a:gd name="adj" fmla="val 7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03120"/>
            <a:ext cx="685800" cy="685800"/>
          </a:xfrm>
          <a:prstGeom prst="ellipse">
            <a:avLst/>
          </a:prstGeom>
          <a:solidFill>
            <a:srgbClr val="00467F"/>
          </a:solidFill>
          <a:ln w="12700">
            <a:solidFill>
              <a:srgbClr val="00467F"/>
            </a:solidFill>
            <a:prstDash val="solid"/>
          </a:ln>
        </p:spPr>
      </p:sp>
      <p:pic>
        <p:nvPicPr>
          <p:cNvPr id="6" name="Decorative: LuUsers">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53996"/>
            <a:ext cx="384048" cy="384048"/>
          </a:xfrm>
          <a:prstGeom prst="rect">
            <a:avLst/>
          </a:prstGeom>
        </p:spPr>
      </p:pic>
      <p:sp>
        <p:nvSpPr>
          <p:cNvPr id="7" name="Text 4"/>
          <p:cNvSpPr txBox="1"/>
          <p:nvPr/>
        </p:nvSpPr>
        <p:spPr>
          <a:xfrm>
            <a:off x="1737360" y="2029968"/>
            <a:ext cx="3969868" cy="1188720"/>
          </a:xfrm>
          <a:prstGeom prst="rect">
            <a:avLst/>
          </a:prstGeom>
          <a:noFill/>
          <a:ln/>
        </p:spPr>
        <p:txBody>
          <a:bodyPr wrap="square" lIns="0" tIns="0" rIns="0" bIns="0" rtlCol="0" anchor="t"/>
          <a:lstStyle/>
          <a:p>
            <a:pPr indent="0" marL="0">
              <a:buNone/>
            </a:pPr>
            <a:r>
              <a:rPr lang="en-US" sz="2600" b="1" dirty="0">
                <a:solidFill>
                  <a:schemeClr val="tx2"/>
                </a:solidFill>
              </a:rPr>
              <a:t>People</a:t>
            </a:r>
            <a:endParaRPr lang="en-US" sz="2400" dirty="0"/>
          </a:p>
          <a:p>
            <a:pPr indent="0" marL="0">
              <a:buNone/>
            </a:pPr>
            <a:r>
              <a:rPr lang="en-US" sz="2400" dirty="0">
                <a:solidFill>
                  <a:schemeClr val="tx1"/>
                </a:solidFill>
              </a:rPr>
              <a:t>Who's involved, and the role each plays.</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6255868" y="1828800"/>
            <a:ext cx="5387188" cy="1508760"/>
          </a:xfrm>
          <a:prstGeom prst="roundRect">
            <a:avLst>
              <a:gd name="adj" fmla="val 7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6530188" y="2103120"/>
            <a:ext cx="685800" cy="685800"/>
          </a:xfrm>
          <a:prstGeom prst="ellipse">
            <a:avLst/>
          </a:prstGeom>
          <a:solidFill>
            <a:srgbClr val="00467F"/>
          </a:solidFill>
          <a:ln w="12700">
            <a:solidFill>
              <a:srgbClr val="00467F"/>
            </a:solidFill>
            <a:prstDash val="solid"/>
          </a:ln>
        </p:spPr>
      </p:sp>
      <p:pic>
        <p:nvPicPr>
          <p:cNvPr id="10" name="Decorative: LuBookOpen">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1064" y="2253996"/>
            <a:ext cx="384048" cy="384048"/>
          </a:xfrm>
          <a:prstGeom prst="rect">
            <a:avLst/>
          </a:prstGeom>
        </p:spPr>
      </p:pic>
      <p:sp>
        <p:nvSpPr>
          <p:cNvPr id="11" name="Text 7"/>
          <p:cNvSpPr txBox="1"/>
          <p:nvPr/>
        </p:nvSpPr>
        <p:spPr>
          <a:xfrm>
            <a:off x="7444588" y="2029968"/>
            <a:ext cx="3969868" cy="1188720"/>
          </a:xfrm>
          <a:prstGeom prst="rect">
            <a:avLst/>
          </a:prstGeom>
          <a:noFill/>
          <a:ln/>
        </p:spPr>
        <p:txBody>
          <a:bodyPr wrap="square" lIns="0" tIns="0" rIns="0" bIns="0" rtlCol="0" anchor="t"/>
          <a:lstStyle/>
          <a:p>
            <a:pPr indent="0" marL="0">
              <a:buNone/>
            </a:pPr>
            <a:r>
              <a:rPr lang="en-US" sz="2600" b="1" dirty="0">
                <a:solidFill>
                  <a:schemeClr val="tx2"/>
                </a:solidFill>
              </a:rPr>
              <a:t>Rules</a:t>
            </a:r>
            <a:endParaRPr lang="en-US" sz="2400" dirty="0"/>
          </a:p>
          <a:p>
            <a:pPr indent="0" marL="0">
              <a:buNone/>
            </a:pPr>
            <a:r>
              <a:rPr lang="en-US" sz="2400" dirty="0">
                <a:solidFill>
                  <a:schemeClr val="tx1"/>
                </a:solidFill>
              </a:rPr>
              <a:t>The official ones, and the unwritten ones.</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548640" y="3611880"/>
            <a:ext cx="5387188" cy="1508760"/>
          </a:xfrm>
          <a:prstGeom prst="roundRect">
            <a:avLst>
              <a:gd name="adj" fmla="val 7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22960" y="3886200"/>
            <a:ext cx="685800" cy="685800"/>
          </a:xfrm>
          <a:prstGeom prst="ellipse">
            <a:avLst/>
          </a:prstGeom>
          <a:solidFill>
            <a:srgbClr val="00467F"/>
          </a:solidFill>
          <a:ln w="12700">
            <a:solidFill>
              <a:srgbClr val="00467F"/>
            </a:solidFill>
            <a:prstDash val="solid"/>
          </a:ln>
        </p:spPr>
      </p:sp>
      <p:pic>
        <p:nvPicPr>
          <p:cNvPr id="14" name="Decorative: LuMegaphon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3836" y="4037076"/>
            <a:ext cx="384048" cy="384048"/>
          </a:xfrm>
          <a:prstGeom prst="rect">
            <a:avLst/>
          </a:prstGeom>
        </p:spPr>
      </p:pic>
      <p:sp>
        <p:nvSpPr>
          <p:cNvPr id="15" name="Text 10"/>
          <p:cNvSpPr txBox="1"/>
          <p:nvPr/>
        </p:nvSpPr>
        <p:spPr>
          <a:xfrm>
            <a:off x="1737360" y="3813048"/>
            <a:ext cx="3969868" cy="1188720"/>
          </a:xfrm>
          <a:prstGeom prst="rect">
            <a:avLst/>
          </a:prstGeom>
          <a:noFill/>
          <a:ln/>
        </p:spPr>
        <p:txBody>
          <a:bodyPr wrap="square" lIns="0" tIns="0" rIns="0" bIns="0" rtlCol="0" anchor="t"/>
          <a:lstStyle/>
          <a:p>
            <a:pPr indent="0" marL="0">
              <a:buNone/>
            </a:pPr>
            <a:r>
              <a:rPr lang="en-US" sz="2600" b="1" dirty="0">
                <a:solidFill>
                  <a:schemeClr val="tx2"/>
                </a:solidFill>
              </a:rPr>
              <a:t>Influence</a:t>
            </a:r>
            <a:endParaRPr lang="en-US" sz="2400" dirty="0"/>
          </a:p>
          <a:p>
            <a:pPr indent="0" marL="0">
              <a:buNone/>
            </a:pPr>
            <a:r>
              <a:rPr lang="en-US" sz="2400" dirty="0">
                <a:solidFill>
                  <a:schemeClr val="tx1"/>
                </a:solidFill>
              </a:rPr>
              <a:t>Who actually shapes what happens.</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6255868" y="3611880"/>
            <a:ext cx="5387188" cy="1508760"/>
          </a:xfrm>
          <a:prstGeom prst="roundRect">
            <a:avLst>
              <a:gd name="adj" fmla="val 7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6530188" y="3886200"/>
            <a:ext cx="685800" cy="685800"/>
          </a:xfrm>
          <a:prstGeom prst="ellipse">
            <a:avLst/>
          </a:prstGeom>
          <a:solidFill>
            <a:srgbClr val="00467F"/>
          </a:solidFill>
          <a:ln w="12700">
            <a:solidFill>
              <a:srgbClr val="00467F"/>
            </a:solidFill>
            <a:prstDash val="solid"/>
          </a:ln>
        </p:spPr>
      </p:sp>
      <p:pic>
        <p:nvPicPr>
          <p:cNvPr id="18" name="Decorative: LuSlidersHorizontal">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1064" y="4037076"/>
            <a:ext cx="384048" cy="384048"/>
          </a:xfrm>
          <a:prstGeom prst="rect">
            <a:avLst/>
          </a:prstGeom>
        </p:spPr>
      </p:pic>
      <p:sp>
        <p:nvSpPr>
          <p:cNvPr id="19" name="Text 13"/>
          <p:cNvSpPr txBox="1"/>
          <p:nvPr/>
        </p:nvSpPr>
        <p:spPr>
          <a:xfrm>
            <a:off x="7444588" y="3813048"/>
            <a:ext cx="3969868" cy="1188720"/>
          </a:xfrm>
          <a:prstGeom prst="rect">
            <a:avLst/>
          </a:prstGeom>
          <a:noFill/>
          <a:ln/>
        </p:spPr>
        <p:txBody>
          <a:bodyPr wrap="square" lIns="0" tIns="0" rIns="0" bIns="0" rtlCol="0" anchor="t"/>
          <a:lstStyle/>
          <a:p>
            <a:pPr indent="0" marL="0">
              <a:buNone/>
            </a:pPr>
            <a:r>
              <a:rPr lang="en-US" sz="2600" b="1" dirty="0">
                <a:solidFill>
                  <a:schemeClr val="tx2"/>
                </a:solidFill>
              </a:rPr>
              <a:t>Leverage points</a:t>
            </a:r>
            <a:endParaRPr lang="en-US" sz="2400" dirty="0"/>
          </a:p>
          <a:p>
            <a:pPr indent="0" marL="0">
              <a:buNone/>
            </a:pPr>
            <a:r>
              <a:rPr lang="en-US" sz="2400" dirty="0">
                <a:solidFill>
                  <a:schemeClr val="tx1"/>
                </a:solidFill>
              </a:rPr>
              <a:t>Small things that would change a lot.</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525780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36752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Worked example in the lesson: four roommates and a shared kitchen.</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11.3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Your strengths, your community</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5364328" cy="2743200"/>
          </a:xfrm>
          <a:prstGeom prst="roundRect">
            <a:avLst>
              <a:gd name="adj" fmla="val 4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68680" y="2194560"/>
            <a:ext cx="731520" cy="731520"/>
          </a:xfrm>
          <a:prstGeom prst="ellipse">
            <a:avLst/>
          </a:prstGeom>
          <a:solidFill>
            <a:srgbClr val="00467F"/>
          </a:solidFill>
          <a:ln w="12700">
            <a:solidFill>
              <a:srgbClr val="00467F"/>
            </a:solidFill>
            <a:prstDash val="solid"/>
          </a:ln>
        </p:spPr>
      </p:sp>
      <p:pic>
        <p:nvPicPr>
          <p:cNvPr id="6" name="Decorative: LuHandHe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29614" y="2355494"/>
            <a:ext cx="409651" cy="409651"/>
          </a:xfrm>
          <a:prstGeom prst="rect">
            <a:avLst/>
          </a:prstGeom>
        </p:spPr>
      </p:pic>
      <p:sp>
        <p:nvSpPr>
          <p:cNvPr id="7" name="Text 4"/>
          <p:cNvSpPr txBox="1"/>
          <p:nvPr/>
        </p:nvSpPr>
        <p:spPr>
          <a:xfrm>
            <a:off x="1783080"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What I have to offer</a:t>
            </a:r>
            <a:endParaRPr lang="en-US" sz="2800" dirty="0"/>
          </a:p>
        </p:txBody>
      </p:sp>
      <p:sp>
        <p:nvSpPr>
          <p:cNvPr id="8" name="Text 5"/>
          <p:cNvSpPr txBox="1"/>
          <p:nvPr/>
        </p:nvSpPr>
        <p:spPr>
          <a:xfrm>
            <a:off x="868680" y="3154680"/>
            <a:ext cx="4724248" cy="1280160"/>
          </a:xfrm>
          <a:prstGeom prst="rect">
            <a:avLst/>
          </a:prstGeom>
          <a:noFill/>
          <a:ln/>
        </p:spPr>
        <p:txBody>
          <a:bodyPr wrap="square" lIns="0" tIns="0" rIns="0" bIns="0" rtlCol="0" anchor="t"/>
          <a:lstStyle/>
          <a:p>
            <a:pPr indent="0" marL="0">
              <a:buNone/>
            </a:pPr>
            <a:r>
              <a:rPr lang="en-US" sz="2400" dirty="0">
                <a:solidFill>
                  <a:schemeClr val="tx1"/>
                </a:solidFill>
              </a:rPr>
              <a:t>Based on your real strengths, values, and interests. Not what you think you're "supposed" to offer.</a:t>
            </a:r>
            <a:endParaRPr lang="en-US" sz="2400" dirty="0"/>
          </a:p>
        </p:txBody>
      </p:sp>
      <p:sp>
        <p:nvSpPr>
          <p:cNvPr id="9" name="Decorative: card">
            <a:extLst>
              <a:ext uri="{C183D7F6-B498-43B3-948B-1728B52AA6E4}">
                <adec:decorative xmlns:adec="http://schemas.microsoft.com/office/drawing/2017/decorative" val="1"/>
              </a:ext>
            </a:extLst>
          </p:cNvPr>
          <p:cNvSpPr/>
          <p:nvPr/>
        </p:nvSpPr>
        <p:spPr>
          <a:xfrm>
            <a:off x="6278728" y="1874520"/>
            <a:ext cx="5364328" cy="2743200"/>
          </a:xfrm>
          <a:prstGeom prst="roundRect">
            <a:avLst>
              <a:gd name="adj" fmla="val 4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6598768" y="2194560"/>
            <a:ext cx="731520" cy="731520"/>
          </a:xfrm>
          <a:prstGeom prst="ellipse">
            <a:avLst/>
          </a:prstGeom>
          <a:solidFill>
            <a:srgbClr val="E7A614"/>
          </a:solidFill>
          <a:ln w="12700">
            <a:solidFill>
              <a:srgbClr val="E7A614"/>
            </a:solidFill>
            <a:prstDash val="solid"/>
          </a:ln>
        </p:spPr>
      </p:sp>
      <p:pic>
        <p:nvPicPr>
          <p:cNvPr id="11" name="Decorative: LuOctagonX">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59702" y="2355494"/>
            <a:ext cx="409651" cy="409651"/>
          </a:xfrm>
          <a:prstGeom prst="rect">
            <a:avLst/>
          </a:prstGeom>
        </p:spPr>
      </p:pic>
      <p:sp>
        <p:nvSpPr>
          <p:cNvPr id="12" name="Text 8"/>
          <p:cNvSpPr txBox="1"/>
          <p:nvPr/>
        </p:nvSpPr>
        <p:spPr>
          <a:xfrm>
            <a:off x="7513168"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What I'm not available for</a:t>
            </a:r>
            <a:endParaRPr lang="en-US" sz="2800" dirty="0"/>
          </a:p>
        </p:txBody>
      </p:sp>
      <p:sp>
        <p:nvSpPr>
          <p:cNvPr id="13" name="Text 9"/>
          <p:cNvSpPr txBox="1"/>
          <p:nvPr/>
        </p:nvSpPr>
        <p:spPr>
          <a:xfrm>
            <a:off x="6598768" y="3154680"/>
            <a:ext cx="4724248" cy="1280160"/>
          </a:xfrm>
          <a:prstGeom prst="rect">
            <a:avLst/>
          </a:prstGeom>
          <a:noFill/>
          <a:ln/>
        </p:spPr>
        <p:txBody>
          <a:bodyPr wrap="square" lIns="0" tIns="0" rIns="0" bIns="0" rtlCol="0" anchor="t"/>
          <a:lstStyle/>
          <a:p>
            <a:pPr indent="0" marL="0">
              <a:buNone/>
            </a:pPr>
            <a:r>
              <a:rPr lang="en-US" sz="2400" dirty="0">
                <a:solidFill>
                  <a:schemeClr val="tx1"/>
                </a:solidFill>
              </a:rPr>
              <a:t>A limit, a role you don't want, or a task that drains you. At least for now.</a:t>
            </a:r>
            <a:endParaRPr lang="en-US" sz="2400" dirty="0"/>
          </a:p>
        </p:txBody>
      </p:sp>
      <p:sp>
        <p:nvSpPr>
          <p:cNvPr id="14" name="Decorative: callout">
            <a:extLst>
              <a:ext uri="{C183D7F6-B498-43B3-948B-1728B52AA6E4}">
                <adec:decorative xmlns:adec="http://schemas.microsoft.com/office/drawing/2017/decorative" val="1"/>
              </a:ext>
            </a:extLst>
          </p:cNvPr>
          <p:cNvSpPr/>
          <p:nvPr/>
        </p:nvSpPr>
        <p:spPr>
          <a:xfrm>
            <a:off x="548640" y="502920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5" name="Text 11"/>
          <p:cNvSpPr txBox="1"/>
          <p:nvPr/>
        </p:nvSpPr>
        <p:spPr>
          <a:xfrm>
            <a:off x="868680" y="513892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"I don't have time" is usually half the story.</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Start your STAR(T) Stories</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548640" cy="548640"/>
          </a:xfrm>
          <a:prstGeom prst="ellipse">
            <a:avLst/>
          </a:prstGeom>
          <a:solidFill>
            <a:srgbClr val="00467F"/>
          </a:solidFill>
          <a:ln w="12700">
            <a:solidFill>
              <a:srgbClr val="00467F"/>
            </a:solidFill>
            <a:prstDash val="solid"/>
          </a:ln>
        </p:spPr>
      </p:sp>
      <p:pic>
        <p:nvPicPr>
          <p:cNvPr id="5" name="Decorative: LuFolderOpe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1" y="2086661"/>
            <a:ext cx="307238" cy="307238"/>
          </a:xfrm>
          <a:prstGeom prst="rect">
            <a:avLst/>
          </a:prstGeom>
        </p:spPr>
      </p:pic>
      <p:sp>
        <p:nvSpPr>
          <p:cNvPr id="6" name="Text 3"/>
          <p:cNvSpPr txBox="1"/>
          <p:nvPr/>
        </p:nvSpPr>
        <p:spPr>
          <a:xfrm>
            <a:off x="1325880" y="196596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Gather your Mile Markers</a:t>
            </a:r>
            <a:pPr indent="0" marL="0">
              <a:buNone/>
            </a:pPr>
            <a:r>
              <a:rPr lang="en-US" sz="2400" dirty="0">
                <a:solidFill>
                  <a:schemeClr val="tx1"/>
                </a:solidFill>
              </a:rPr>
              <a:t>: your best stories are already written down</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834640"/>
            <a:ext cx="548640" cy="548640"/>
          </a:xfrm>
          <a:prstGeom prst="ellipse">
            <a:avLst/>
          </a:prstGeom>
          <a:solidFill>
            <a:srgbClr val="00467F"/>
          </a:solidFill>
          <a:ln w="12700">
            <a:solidFill>
              <a:srgbClr val="00467F"/>
            </a:solidFill>
            <a:prstDash val="solid"/>
          </a:ln>
        </p:spPr>
      </p:sp>
      <p:pic>
        <p:nvPicPr>
          <p:cNvPr id="8" name="Decorative: LuSta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2955341"/>
            <a:ext cx="307238" cy="307238"/>
          </a:xfrm>
          <a:prstGeom prst="rect">
            <a:avLst/>
          </a:prstGeom>
        </p:spPr>
      </p:pic>
      <p:sp>
        <p:nvSpPr>
          <p:cNvPr id="9" name="Text 5"/>
          <p:cNvSpPr txBox="1"/>
          <p:nvPr/>
        </p:nvSpPr>
        <p:spPr>
          <a:xfrm>
            <a:off x="1325880" y="283464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Choose your four skills</a:t>
            </a:r>
            <a:pPr indent="0" marL="0">
              <a:buNone/>
            </a:pPr>
            <a:r>
              <a:rPr lang="en-US" sz="2400" dirty="0">
                <a:solidFill>
                  <a:schemeClr val="tx1"/>
                </a:solidFill>
              </a:rPr>
              <a:t>: three assigned, one your choice</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703320"/>
            <a:ext cx="548640" cy="548640"/>
          </a:xfrm>
          <a:prstGeom prst="ellipse">
            <a:avLst/>
          </a:prstGeom>
          <a:solidFill>
            <a:srgbClr val="00467F"/>
          </a:solidFill>
          <a:ln w="12700">
            <a:solidFill>
              <a:srgbClr val="00467F"/>
            </a:solidFill>
            <a:prstDash val="solid"/>
          </a:ln>
        </p:spPr>
      </p:sp>
      <p:pic>
        <p:nvPicPr>
          <p:cNvPr id="11" name="Decorative: LuMic">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824021"/>
            <a:ext cx="307238" cy="307238"/>
          </a:xfrm>
          <a:prstGeom prst="rect">
            <a:avLst/>
          </a:prstGeom>
        </p:spPr>
      </p:pic>
      <p:sp>
        <p:nvSpPr>
          <p:cNvPr id="12" name="Text 7"/>
          <p:cNvSpPr txBox="1"/>
          <p:nvPr/>
        </p:nvSpPr>
        <p:spPr>
          <a:xfrm>
            <a:off x="1325880" y="370332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Draft one story, then say it out loud</a:t>
            </a:r>
            <a:pPr indent="0" marL="0">
              <a:buNone/>
            </a:pPr>
            <a:r>
              <a:rPr lang="en-US" sz="2400" dirty="0">
                <a:solidFill>
                  <a:schemeClr val="tx1"/>
                </a:solidFill>
              </a:rPr>
              <a:t>: start with the one you're surest about</a:t>
            </a:r>
            <a:endParaRPr lang="en-US" sz="2400" dirty="0"/>
          </a:p>
        </p:txBody>
      </p:sp>
      <p:sp>
        <p:nvSpPr>
          <p:cNvPr id="13" name="Decorative: callout">
            <a:extLst>
              <a:ext uri="{C183D7F6-B498-43B3-948B-1728B52AA6E4}">
                <adec:decorative xmlns:adec="http://schemas.microsoft.com/office/drawing/2017/decorative" val="1"/>
              </a:ext>
            </a:extLst>
          </p:cNvPr>
          <p:cNvSpPr/>
          <p:nvPr/>
        </p:nvSpPr>
        <p:spPr>
          <a:xfrm>
            <a:off x="548640" y="475488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4" name="Text 9"/>
          <p:cNvSpPr txBox="1"/>
          <p:nvPr/>
        </p:nvSpPr>
        <p:spPr>
          <a:xfrm>
            <a:off x="868680" y="486460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Get one story drafted now, and Module 12 is a finishing week, not a starting week.</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assignment row">
            <a:extLst>
              <a:ext uri="{C183D7F6-B498-43B3-948B-1728B52AA6E4}">
                <adec:decorative xmlns:adec="http://schemas.microsoft.com/office/drawing/2017/decorative" val="1"/>
              </a:ext>
            </a:extLst>
          </p:cNvPr>
          <p:cNvSpPr/>
          <p:nvPr/>
        </p:nvSpPr>
        <p:spPr>
          <a:xfrm>
            <a:off x="548640" y="187452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6" name="Decorative: LuFlag">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2221" y="2086661"/>
            <a:ext cx="307238" cy="307238"/>
          </a:xfrm>
          <a:prstGeom prst="rect">
            <a:avLst/>
          </a:prstGeom>
        </p:spPr>
      </p:pic>
      <p:sp>
        <p:nvSpPr>
          <p:cNvPr id="7" name="Text 4"/>
          <p:cNvSpPr txBox="1"/>
          <p:nvPr/>
        </p:nvSpPr>
        <p:spPr>
          <a:xfrm>
            <a:off x="1508760" y="192938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#11: My Community Impact</a:t>
            </a:r>
            <a:endParaRPr lang="en-US" sz="2400" dirty="0"/>
          </a:p>
          <a:p>
            <a:pPr indent="0" marL="0">
              <a:buNone/>
            </a:pPr>
            <a:r>
              <a:rPr lang="en-US" sz="2000" dirty="0">
                <a:solidFill>
                  <a:schemeClr val="accent6"/>
                </a:solidFill>
              </a:rPr>
              <a:t>Part I: your community. Part II: your four STAR(T) skills.</a:t>
            </a:r>
            <a:endParaRPr lang="en-US" sz="2400" dirty="0"/>
          </a:p>
        </p:txBody>
      </p:sp>
      <p:sp>
        <p:nvSpPr>
          <p:cNvPr id="8" name="Decorative: assignment row">
            <a:extLst>
              <a:ext uri="{C183D7F6-B498-43B3-948B-1728B52AA6E4}">
                <adec:decorative xmlns:adec="http://schemas.microsoft.com/office/drawing/2017/decorative" val="1"/>
              </a:ext>
            </a:extLst>
          </p:cNvPr>
          <p:cNvSpPr/>
          <p:nvPr/>
        </p:nvSpPr>
        <p:spPr>
          <a:xfrm>
            <a:off x="548640" y="288036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0" name="Decorative: LuNotebookPen">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3092501"/>
            <a:ext cx="307238" cy="307238"/>
          </a:xfrm>
          <a:prstGeom prst="rect">
            <a:avLst/>
          </a:prstGeom>
        </p:spPr>
      </p:pic>
      <p:sp>
        <p:nvSpPr>
          <p:cNvPr id="11" name="Text 7"/>
          <p:cNvSpPr txBox="1"/>
          <p:nvPr/>
        </p:nvSpPr>
        <p:spPr>
          <a:xfrm>
            <a:off x="1508760" y="293522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Online sections: Journal: Getting the Call</a:t>
            </a:r>
            <a:endParaRPr lang="en-US" sz="2400" dirty="0"/>
          </a:p>
          <a:p>
            <a:pPr indent="0" marL="0">
              <a:buNone/>
            </a:pPr>
            <a:r>
              <a:rPr lang="en-US" sz="2000" dirty="0">
                <a:solidFill>
                  <a:schemeClr val="accent6"/>
                </a:solidFill>
              </a:rPr>
              <a:t>Private. Only your instructor reads it.</a:t>
            </a:r>
            <a:endParaRPr lang="en-US" sz="2400" dirty="0"/>
          </a:p>
        </p:txBody>
      </p:sp>
      <p:sp>
        <p:nvSpPr>
          <p:cNvPr id="12" name="Decorative: assignment row">
            <a:extLst>
              <a:ext uri="{C183D7F6-B498-43B3-948B-1728B52AA6E4}">
                <adec:decorative xmlns:adec="http://schemas.microsoft.com/office/drawing/2017/decorative" val="1"/>
              </a:ext>
            </a:extLst>
          </p:cNvPr>
          <p:cNvSpPr/>
          <p:nvPr/>
        </p:nvSpPr>
        <p:spPr>
          <a:xfrm>
            <a:off x="548640" y="388620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4" name="Decorative: LuSta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4098341"/>
            <a:ext cx="307238" cy="307238"/>
          </a:xfrm>
          <a:prstGeom prst="rect">
            <a:avLst/>
          </a:prstGeom>
        </p:spPr>
      </p:pic>
      <p:sp>
        <p:nvSpPr>
          <p:cNvPr id="15" name="Text 10"/>
          <p:cNvSpPr txBox="1"/>
          <p:nvPr/>
        </p:nvSpPr>
        <p:spPr>
          <a:xfrm>
            <a:off x="1508760" y="394106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Heads up: STAR(T) Stories</a:t>
            </a:r>
            <a:endParaRPr lang="en-US" sz="2400" dirty="0"/>
          </a:p>
          <a:p>
            <a:pPr indent="0" marL="0">
              <a:buNone/>
            </a:pPr>
            <a:r>
              <a:rPr lang="en-US" sz="2000" dirty="0">
                <a:solidFill>
                  <a:schemeClr val="accent6"/>
                </a:solidFill>
              </a:rPr>
              <a:t>Due with Module 12, on Sunday</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#11</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My Community Impact</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566928" cy="566928"/>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6" name="Text 4"/>
          <p:cNvSpPr txBox="1"/>
          <p:nvPr/>
        </p:nvSpPr>
        <p:spPr>
          <a:xfrm>
            <a:off x="1389888" y="1874520"/>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Where you show up, and your role</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2862072"/>
            <a:ext cx="566928" cy="566928"/>
          </a:xfrm>
          <a:prstGeom prst="ellipse">
            <a:avLst/>
          </a:prstGeom>
          <a:solidFill>
            <a:srgbClr val="E7A614"/>
          </a:solidFill>
          <a:ln w="12700">
            <a:solidFill>
              <a:srgbClr val="E7A614"/>
            </a:solidFill>
            <a:prstDash val="solid"/>
          </a:ln>
        </p:spPr>
      </p:sp>
      <p:sp>
        <p:nvSpPr>
          <p:cNvPr id="8" name="Question 2 number"/>
          <p:cNvSpPr txBox="1"/>
          <p:nvPr/>
        </p:nvSpPr>
        <p:spPr>
          <a:xfrm>
            <a:off x="548640" y="2862072"/>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1389888" y="2862072"/>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One way you've made, or could make, a difference</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3849624"/>
            <a:ext cx="566928" cy="566928"/>
          </a:xfrm>
          <a:prstGeom prst="ellipse">
            <a:avLst/>
          </a:prstGeom>
          <a:solidFill>
            <a:srgbClr val="E7A614"/>
          </a:solidFill>
          <a:ln w="12700">
            <a:solidFill>
              <a:srgbClr val="E7A614"/>
            </a:solidFill>
            <a:prstDash val="solid"/>
          </a:ln>
        </p:spPr>
      </p:sp>
      <p:sp>
        <p:nvSpPr>
          <p:cNvPr id="11" name="Question 3 number"/>
          <p:cNvSpPr txBox="1"/>
          <p:nvPr/>
        </p:nvSpPr>
        <p:spPr>
          <a:xfrm>
            <a:off x="548640" y="3849624"/>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2" name="Text 10"/>
          <p:cNvSpPr txBox="1"/>
          <p:nvPr/>
        </p:nvSpPr>
        <p:spPr>
          <a:xfrm>
            <a:off x="1389888" y="3849624"/>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One way to show up more intentionally</a:t>
            </a:r>
            <a:endParaRPr lang="en-US" sz="2400" dirty="0"/>
          </a:p>
        </p:txBody>
      </p:sp>
      <p:sp>
        <p:nvSpPr>
          <p:cNvPr id="13" name="Decorative: number circle">
            <a:extLst>
              <a:ext uri="{C183D7F6-B498-43B3-948B-1728B52AA6E4}">
                <adec:decorative xmlns:adec="http://schemas.microsoft.com/office/drawing/2017/decorative" val="1"/>
              </a:ext>
            </a:extLst>
          </p:cNvPr>
          <p:cNvSpPr/>
          <p:nvPr/>
        </p:nvSpPr>
        <p:spPr>
          <a:xfrm>
            <a:off x="548640" y="4837176"/>
            <a:ext cx="566928" cy="566928"/>
          </a:xfrm>
          <a:prstGeom prst="ellipse">
            <a:avLst/>
          </a:prstGeom>
          <a:solidFill>
            <a:srgbClr val="E7A614"/>
          </a:solidFill>
          <a:ln w="12700">
            <a:solidFill>
              <a:srgbClr val="E7A614"/>
            </a:solidFill>
            <a:prstDash val="solid"/>
          </a:ln>
        </p:spPr>
      </p:sp>
      <p:sp>
        <p:nvSpPr>
          <p:cNvPr id="14" name="Question 4 number"/>
          <p:cNvSpPr txBox="1"/>
          <p:nvPr/>
        </p:nvSpPr>
        <p:spPr>
          <a:xfrm>
            <a:off x="548640" y="4837176"/>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5" name="Text 13"/>
          <p:cNvSpPr txBox="1"/>
          <p:nvPr/>
        </p:nvSpPr>
        <p:spPr>
          <a:xfrm>
            <a:off x="1389888" y="4837176"/>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Your four STAR(T) skills, and the story for each</a:t>
            </a:r>
            <a:endParaRPr lang="en-US" sz="2400" dirty="0"/>
          </a:p>
        </p:txBody>
      </p:sp>
      <p:sp>
        <p:nvSpPr>
          <p:cNvPr id="16"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AI doesn't know your community. You do.</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Small and real</a:t>
            </a:r>
            <a:endParaRPr lang="en-US" sz="2200" dirty="0"/>
          </a:p>
          <a:p>
            <a:pPr indent="0" marL="0">
              <a:spcAft>
                <a:spcPts val="1000"/>
              </a:spcAft>
              <a:buNone/>
            </a:pPr>
            <a:r>
              <a:rPr lang="en-US" sz="2200" dirty="0">
                <a:solidFill>
                  <a:schemeClr val="tx1"/>
                </a:solidFill>
              </a:rPr>
              <a:t>is exactly right for Question 2.</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Getting the call</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A group connected to something you care about asks for your help. What do you say yes to?</a:t>
            </a:r>
            <a:endParaRPr lang="en-US" sz="2400" dirty="0"/>
          </a:p>
          <a:p>
            <a:pPr marL="342900" indent="-342900">
              <a:spcAft>
                <a:spcPts val="1200"/>
              </a:spcAft>
              <a:buSzPct val="100000"/>
              <a:buFont typeface="+mj-lt"/>
              <a:buAutoNum type="arabicPeriod" startAt="1"/>
            </a:pPr>
            <a:r>
              <a:rPr lang="en-US" sz="2400" dirty="0">
                <a:solidFill>
                  <a:schemeClr val="bg1"/>
                </a:solidFill>
              </a:rPr>
              <a:t>What's one thing you're not available for, and how would you say so kindly?</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Talk with a partner for 3 minutes, then share one way to say no well.</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11: Making an Impact</dc:title>
  <dc:subject>FYE 100 instructor slides</dc:subject>
  <dc:creator>OCTC FYE 100</dc:creator>
  <cp:lastModifiedBy>OCTC FYE 100</cp:lastModifiedBy>
  <cp:revision>1</cp:revision>
  <dcterms:created xsi:type="dcterms:W3CDTF">2026-10-19T21:15:27Z</dcterms:created>
  <dcterms:modified xsi:type="dcterms:W3CDTF">2026-10-19T21:15:27Z</dcterms:modified>
</cp:coreProperties>
</file>