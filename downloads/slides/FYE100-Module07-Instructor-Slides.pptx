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05840c-83e0-7cb8-c72b-e71d13b6a492}">
          <p14:sldIdLst>
            <p14:sldId id="256"/>
            <p14:sldId id="257"/>
          </p14:sldIdLst>
        </p14:section>
        <p14:section name="This week" id="{d7a5d2e9-a513-84d8-1596-b312c60e6d5c}">
          <p14:sldIdLst>
            <p14:sldId id="258"/>
          </p14:sldIdLst>
        </p14:section>
        <p14:section name="Lessons" id="{461dc445-20ad-7034-600f-c906d87bb279}">
          <p14:sldIdLst>
            <p14:sldId id="259"/>
            <p14:sldId id="260"/>
            <p14:sldId id="261"/>
            <p14:sldId id="262"/>
          </p14:sldIdLst>
        </p14:section>
        <p14:section name="This week's work" id="{c4d8a87d-cab8-4298-8c0d-49d270cae838}">
          <p14:sldIdLst>
            <p14:sldId id="263"/>
            <p14:sldId id="264"/>
          </p14:sldIdLst>
        </p14:section>
        <p14:section name="Discussion" id="{19170022-eca5-8e3e-1070-680fb76455e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7: Knowing Your Strengths &amp; Values.
The last few modules were about what you do: your time, your money, your plan. This one turns inward, to who you are and what you bring to everything you do.
The owl is holding up a star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Merit Activity #2 is due with this module. Remind students to use the Activity #2 link on the Merit platform.
Online sections: if you're hosting a virtual meet-up for Merit this week, put the date and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sort your Top 5 values, find your Top 5 strengths, and name one blind spot. Merit Activity #2 is also due.
Two short assessments feed everything else. Do them first and keep the results handy. Both are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Skill Spotlight is #5, Adaptability &amp; Leadership. Leadership is a pattern, not a position.
Left: where most students start. You can describe how people cooperate and how new situations call for doing things differently. Right: where you're headed. You actually contribute to a shared goal, adjust with a positive mindset, and encourage others when things change.
The shift is from understanding how it works to doing it, in real situations, with real people, under real pressure.
This is one of the three assigned STAR(T) Story skills. Starting college is itself a big adjustment; that may be 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every real decision sits something deeper than preference: your values. They shape your priorities, your boundaries, your reactions, your relationships, and your career fit.
Interests can shift. Values tend to stay steadier, which makes them a more reliable compass for big decisions.
The Values Card Sort finds your Top 5 by making you choose between values that all feel important. Scan the code. Sort 30 cards into three piles, narrow to five, and save your Top 5 before you close the page. Narrowing is the hard part, and it's supposed to be.
Students use their Top 5 in the My Values Snapshot Trail Tool, the online Values journal, and Mile Marker #7. In-person sections: bring your results to class for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us were taught to fix our weaknesses. Strengths-based thinking flips it: what's already working, and how do I use more of it?
Strengths are patterns of thinking, behaving, and interacting that come naturally and energize you. What feels easy to you often looks remarkable to someone else.
Before HIGH5, take two minutes for a baseline: what do people compliment you on, and what makes time disappear? Write it in the My HIGH5 Results Trail Tool. Comparing your guess with your results is often the most interesting part.
Scan the code for HIGH5. It's 120 short statements, about 15 to 20 minutes. Answer honestly. The Top 5 is free; no need to buy the report. If it asks you to sign up, use your KCTCS email.
Save your Top 5 exactly as reported. Mile Marker #7, Question 1 asks for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strength has an overuse pattern. Taken too far, or used in the wrong setting, even your best qualities can work against you. That's a blind spot: easy for you to miss, often easy for others to see.
Three examples from the lesson. A Deliverer may take on too much and burn out, or move faster than others are ready for. An Analyst may overthink or keep researching when it's time to act. An Empathizer may struggle with boundaries or take on other people's stress.
Mile Marker #7, Question 5 asks students to name one blind spot connected to their strengths and what it looks like when it shows up.
Ask: what's a blind spot someone has pointed out to you, kindly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The Values Card Sort and HIGH5 are ungraded tasks, but everything else uses their results.
Mile Marker #7 is the main assignment.
Merit Activity #2: submit your reflection on the Merit platform, using the Activity #2 link. The Merit Guide covers what counts.
Online sections: the Top 5 Values journal is private. In-person sections: today's attendance counts, and bring your values results for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#7 has six questions.
One: your Top 5 HIGH5 strengths, exactly as reported, spelling and capitalization included.
Two: in your own words, what each strength means for how you think and work. Did anything surprise you compared with your baseline?
Three: three specific ways to use your strengths in your learning this semester, and how one shows up in group work.
Four: how your strengths and values might connect to a field, a role, or a work environment. Look back at the direction you named in Mile Marker #6.
Five: one blind spot, and what it looks like when it shows up.
Six: finish the sentence "One way I will use my strengths in the next few weeks is..."
There are no good or bad strengths. Honest reflection is what earns full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This is the in-class version of the online Top 5 Values journal; the in-person Trailhead asks students to bring their Values Card Sort results.
Pairs for three minutes, then ask for two or three examples of a value showing up in a real choice.
Watch for the surprise: students often find a value they didn't expect in their Top 5. Ask what it explains about a recent choice.
For online recordings: pose the questions as a lead-in to the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7</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Knowing Your Strengths &amp; Values</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Who you are, and what you bring.</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6, then look ahead to Module 7.</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7 work and Merit Activity #2 are due Monday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7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 at your best</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ListOrdered">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Sort your Top 5 values</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Sta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Find your Top 5 strengths</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Ey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Name one blind spot</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Award">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Merit Activity #2 is due</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788920"/>
            <a:ext cx="731520" cy="731520"/>
          </a:xfrm>
          <a:prstGeom prst="rect">
            <a:avLst/>
          </a:prstGeom>
        </p:spPr>
      </p:pic>
      <p:sp>
        <p:nvSpPr>
          <p:cNvPr id="19" name="Text 12"/>
          <p:cNvSpPr txBox="1"/>
          <p:nvPr/>
        </p:nvSpPr>
        <p:spPr>
          <a:xfrm>
            <a:off x="9098280" y="27432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#5 </a:t>
            </a:r>
            <a:pPr indent="0" marL="0">
              <a:buNone/>
            </a:pPr>
            <a:r>
              <a:rPr lang="en-US" sz="2000" dirty="0">
                <a:solidFill>
                  <a:schemeClr val="tx1"/>
                </a:solidFill>
              </a:rPr>
              <a:t>Adaptability &amp; Leadership</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703320"/>
            <a:ext cx="731520" cy="731520"/>
          </a:xfrm>
          <a:prstGeom prst="rect">
            <a:avLst/>
          </a:prstGeom>
        </p:spPr>
      </p:pic>
      <p:sp>
        <p:nvSpPr>
          <p:cNvPr id="21" name="Text 13"/>
          <p:cNvSpPr txBox="1"/>
          <p:nvPr/>
        </p:nvSpPr>
        <p:spPr>
          <a:xfrm>
            <a:off x="9098280" y="36576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#9 </a:t>
            </a:r>
            <a:pPr indent="0" marL="0">
              <a:buNone/>
            </a:pPr>
            <a:r>
              <a:rPr lang="en-US" sz="2000" dirty="0">
                <a:solidFill>
                  <a:schemeClr val="tx1"/>
                </a:solidFill>
              </a:rPr>
              <a:t>Knowledge Application</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7.1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Adaptability &amp; Leadership</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Not a title. How you show up, especially when things change.</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can describe how people cooperate, and how new situations call for new approaches.</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contribute to a shared goal, adjust with a positive mindset, and help others keep going.</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7.2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Why your values matter</a:t>
            </a:r>
            <a:endParaRPr lang="en-US" sz="4000" dirty="0"/>
          </a:p>
        </p:txBody>
      </p:sp>
      <p:sp>
        <p:nvSpPr>
          <p:cNvPr id="4" name="Decorative: QR panel">
            <a:extLst>
              <a:ext uri="{C183D7F6-B498-43B3-948B-1728B52AA6E4}">
                <adec:decorative xmlns:adec="http://schemas.microsoft.com/office/drawing/2017/decorative" val="1"/>
              </a:ext>
            </a:extLst>
          </p:cNvPr>
          <p:cNvSpPr/>
          <p:nvPr/>
        </p:nvSpPr>
        <p:spPr>
          <a:xfrm>
            <a:off x="8534095" y="1828800"/>
            <a:ext cx="3108960" cy="4023360"/>
          </a:xfrm>
          <a:prstGeom prst="roundRect">
            <a:avLst>
              <a:gd name="adj" fmla="val 352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762695" y="1965960"/>
            <a:ext cx="2651760" cy="685800"/>
          </a:xfrm>
          <a:prstGeom prst="rect">
            <a:avLst/>
          </a:prstGeom>
          <a:noFill/>
          <a:ln/>
        </p:spPr>
        <p:txBody>
          <a:bodyPr wrap="square" lIns="0" tIns="0" rIns="0" bIns="0" rtlCol="0" anchor="ctr"/>
          <a:lstStyle/>
          <a:p>
            <a:pPr algn="ctr" indent="0" marL="0">
              <a:buNone/>
            </a:pPr>
            <a:r>
              <a:rPr lang="en-US" sz="2000" b="1" dirty="0">
                <a:solidFill>
                  <a:schemeClr val="tx2"/>
                </a:solidFill>
              </a:rPr>
              <a:t>Scan for the Values Card Sort</a:t>
            </a:r>
            <a:endParaRPr lang="en-US" sz="2000" dirty="0"/>
          </a:p>
        </p:txBody>
      </p:sp>
      <p:sp>
        <p:nvSpPr>
          <p:cNvPr id="6" name="Decorative: QR frame">
            <a:extLst>
              <a:ext uri="{C183D7F6-B498-43B3-948B-1728B52AA6E4}">
                <adec:decorative xmlns:adec="http://schemas.microsoft.com/office/drawing/2017/decorative" val="1"/>
              </a:ext>
            </a:extLst>
          </p:cNvPr>
          <p:cNvSpPr/>
          <p:nvPr/>
        </p:nvSpPr>
        <p:spPr>
          <a:xfrm>
            <a:off x="8973007" y="2633472"/>
            <a:ext cx="2231136" cy="2231136"/>
          </a:xfrm>
          <a:prstGeom prst="roundRect">
            <a:avLst>
              <a:gd name="adj" fmla="val 4098"/>
            </a:avLst>
          </a:prstGeom>
          <a:solidFill>
            <a:srgbClr val="FFFFFF"/>
          </a:solidFill>
          <a:ln w="12700">
            <a:solidFill>
              <a:srgbClr val="D9E2EA"/>
            </a:solidFill>
            <a:prstDash val="solid"/>
          </a:ln>
        </p:spPr>
      </p:sp>
      <p:pic>
        <p:nvPicPr>
          <p:cNvPr id="7" name="QR code: Scan for the Values Card Sort" descr="QR code for Scan for the Values Card Sort: https://www.valuescardsort.com/">    </p:cNvPr>
          <p:cNvPicPr>
            <a:picLocks noChangeAspect="1"/>
          </p:cNvPicPr>
          <p:nvPr/>
        </p:nvPicPr>
        <p:blipFill>
          <a:blip r:embed="rId1"/>
          <a:stretch>
            <a:fillRect/>
          </a:stretch>
        </p:blipFill>
        <p:spPr>
          <a:xfrm>
            <a:off x="9082735" y="2743200"/>
            <a:ext cx="2011680" cy="2011680"/>
          </a:xfrm>
          <a:prstGeom prst="rect">
            <a:avLst/>
          </a:prstGeom>
        </p:spPr>
      </p:pic>
      <p:sp>
        <p:nvSpPr>
          <p:cNvPr id="8" name="Address: Scan for the Values Card Sort"/>
          <p:cNvSpPr txBox="1"/>
          <p:nvPr/>
        </p:nvSpPr>
        <p:spPr>
          <a:xfrm>
            <a:off x="8534095" y="4892040"/>
            <a:ext cx="3108960" cy="731520"/>
          </a:xfrm>
          <a:prstGeom prst="rect">
            <a:avLst/>
          </a:prstGeom>
          <a:noFill/>
          <a:ln/>
        </p:spPr>
        <p:txBody>
          <a:bodyPr wrap="square" lIns="0" tIns="0" rIns="0" bIns="0" rtlCol="0" anchor="t"/>
          <a:lstStyle/>
          <a:p>
            <a:pPr algn="ctr" indent="0" marL="0">
              <a:buNone/>
            </a:pPr>
            <a:r>
              <a:rPr lang="en-US" sz="2000" dirty="0">
                <a:solidFill>
                  <a:schemeClr val="accent6"/>
                </a:solidFill>
              </a:rPr>
              <a:t>www.valuescardsort.com</a:t>
            </a:r>
            <a:endParaRPr lang="en-US" sz="2000" dirty="0"/>
          </a:p>
        </p:txBody>
      </p:sp>
      <p:sp>
        <p:nvSpPr>
          <p:cNvPr id="9" name="Text 6"/>
          <p:cNvSpPr txBox="1"/>
          <p:nvPr/>
        </p:nvSpPr>
        <p:spPr>
          <a:xfrm>
            <a:off x="548640" y="1828800"/>
            <a:ext cx="7665415" cy="822960"/>
          </a:xfrm>
          <a:prstGeom prst="rect">
            <a:avLst/>
          </a:prstGeom>
          <a:noFill/>
          <a:ln/>
        </p:spPr>
        <p:txBody>
          <a:bodyPr wrap="square" lIns="0" tIns="0" rIns="0" bIns="0" rtlCol="0" anchor="t"/>
          <a:lstStyle/>
          <a:p>
            <a:pPr indent="0" marL="0">
              <a:buNone/>
            </a:pPr>
            <a:r>
              <a:rPr lang="en-US" sz="2600" b="1" dirty="0">
                <a:solidFill>
                  <a:schemeClr val="accent1"/>
                </a:solidFill>
              </a:rPr>
              <a:t>Interests tell you what you enjoy. Values tell you who you are.</a:t>
            </a:r>
            <a:endParaRPr lang="en-US" sz="2600" dirty="0"/>
          </a:p>
        </p:txBody>
      </p:sp>
      <p:sp>
        <p:nvSpPr>
          <p:cNvPr id="10" name="Decorative: icon circle">
            <a:extLst>
              <a:ext uri="{C183D7F6-B498-43B3-948B-1728B52AA6E4}">
                <adec:decorative xmlns:adec="http://schemas.microsoft.com/office/drawing/2017/decorative" val="1"/>
              </a:ext>
            </a:extLst>
          </p:cNvPr>
          <p:cNvSpPr/>
          <p:nvPr/>
        </p:nvSpPr>
        <p:spPr>
          <a:xfrm>
            <a:off x="548640" y="2880360"/>
            <a:ext cx="548640" cy="548640"/>
          </a:xfrm>
          <a:prstGeom prst="ellipse">
            <a:avLst/>
          </a:prstGeom>
          <a:solidFill>
            <a:srgbClr val="00467F"/>
          </a:solidFill>
          <a:ln w="12700">
            <a:solidFill>
              <a:srgbClr val="00467F"/>
            </a:solidFill>
            <a:prstDash val="solid"/>
          </a:ln>
        </p:spPr>
      </p:sp>
      <p:pic>
        <p:nvPicPr>
          <p:cNvPr id="11" name="Decorative: LuArrowDownWideN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3001061"/>
            <a:ext cx="307238" cy="307238"/>
          </a:xfrm>
          <a:prstGeom prst="rect">
            <a:avLst/>
          </a:prstGeom>
        </p:spPr>
      </p:pic>
      <p:sp>
        <p:nvSpPr>
          <p:cNvPr id="12" name="Text 8"/>
          <p:cNvSpPr txBox="1"/>
          <p:nvPr/>
        </p:nvSpPr>
        <p:spPr>
          <a:xfrm>
            <a:off x="1325880" y="288036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Sort</a:t>
            </a:r>
            <a:pPr indent="0" marL="0">
              <a:buNone/>
            </a:pPr>
            <a:r>
              <a:rPr lang="en-US" sz="2400" dirty="0">
                <a:solidFill>
                  <a:schemeClr val="tx1"/>
                </a:solidFill>
              </a:rPr>
              <a:t>: 30 cards into three piles</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3657600"/>
            <a:ext cx="548640" cy="548640"/>
          </a:xfrm>
          <a:prstGeom prst="ellipse">
            <a:avLst/>
          </a:prstGeom>
          <a:solidFill>
            <a:srgbClr val="00467F"/>
          </a:solidFill>
          <a:ln w="12700">
            <a:solidFill>
              <a:srgbClr val="00467F"/>
            </a:solidFill>
            <a:prstDash val="solid"/>
          </a:ln>
        </p:spPr>
      </p:sp>
      <p:pic>
        <p:nvPicPr>
          <p:cNvPr id="14" name="Decorative: LuFilte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778301"/>
            <a:ext cx="307238" cy="307238"/>
          </a:xfrm>
          <a:prstGeom prst="rect">
            <a:avLst/>
          </a:prstGeom>
        </p:spPr>
      </p:pic>
      <p:sp>
        <p:nvSpPr>
          <p:cNvPr id="15" name="Text 10"/>
          <p:cNvSpPr txBox="1"/>
          <p:nvPr/>
        </p:nvSpPr>
        <p:spPr>
          <a:xfrm>
            <a:off x="1325880" y="365760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Narrow</a:t>
            </a:r>
            <a:pPr indent="0" marL="0">
              <a:buNone/>
            </a:pPr>
            <a:r>
              <a:rPr lang="en-US" sz="2400" dirty="0">
                <a:solidFill>
                  <a:schemeClr val="tx1"/>
                </a:solidFill>
              </a:rPr>
              <a:t>: down to your Top 5</a:t>
            </a:r>
            <a:endParaRPr lang="en-US" sz="2400" dirty="0"/>
          </a:p>
        </p:txBody>
      </p:sp>
      <p:sp>
        <p:nvSpPr>
          <p:cNvPr id="16" name="Decorative: icon circle">
            <a:extLst>
              <a:ext uri="{C183D7F6-B498-43B3-948B-1728B52AA6E4}">
                <adec:decorative xmlns:adec="http://schemas.microsoft.com/office/drawing/2017/decorative" val="1"/>
              </a:ext>
            </a:extLst>
          </p:cNvPr>
          <p:cNvSpPr/>
          <p:nvPr/>
        </p:nvSpPr>
        <p:spPr>
          <a:xfrm>
            <a:off x="548640" y="4434840"/>
            <a:ext cx="548640" cy="548640"/>
          </a:xfrm>
          <a:prstGeom prst="ellipse">
            <a:avLst/>
          </a:prstGeom>
          <a:solidFill>
            <a:srgbClr val="00467F"/>
          </a:solidFill>
          <a:ln w="12700">
            <a:solidFill>
              <a:srgbClr val="00467F"/>
            </a:solidFill>
            <a:prstDash val="solid"/>
          </a:ln>
        </p:spPr>
      </p:sp>
      <p:pic>
        <p:nvPicPr>
          <p:cNvPr id="17" name="Decorative: LuSav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4555541"/>
            <a:ext cx="307238" cy="307238"/>
          </a:xfrm>
          <a:prstGeom prst="rect">
            <a:avLst/>
          </a:prstGeom>
        </p:spPr>
      </p:pic>
      <p:sp>
        <p:nvSpPr>
          <p:cNvPr id="18" name="Text 12"/>
          <p:cNvSpPr txBox="1"/>
          <p:nvPr/>
        </p:nvSpPr>
        <p:spPr>
          <a:xfrm>
            <a:off x="1325880" y="443484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Save</a:t>
            </a:r>
            <a:pPr indent="0" marL="0">
              <a:buNone/>
            </a:pPr>
            <a:r>
              <a:rPr lang="en-US" sz="2400" dirty="0">
                <a:solidFill>
                  <a:schemeClr val="tx1"/>
                </a:solidFill>
              </a:rPr>
              <a:t>: your Top 5 before you close it</a:t>
            </a:r>
            <a:endParaRPr lang="en-US" sz="2400" dirty="0"/>
          </a:p>
        </p:txBody>
      </p:sp>
      <p:sp>
        <p:nvSpPr>
          <p:cNvPr id="19" name="Text 13"/>
          <p:cNvSpPr txBox="1"/>
          <p:nvPr/>
        </p:nvSpPr>
        <p:spPr>
          <a:xfrm>
            <a:off x="548640" y="5257800"/>
            <a:ext cx="7665415" cy="548640"/>
          </a:xfrm>
          <a:prstGeom prst="rect">
            <a:avLst/>
          </a:prstGeom>
          <a:noFill/>
          <a:ln/>
        </p:spPr>
        <p:txBody>
          <a:bodyPr wrap="square" lIns="0" tIns="0" rIns="0" bIns="0" rtlCol="0" anchor="t"/>
          <a:lstStyle/>
          <a:p>
            <a:pPr indent="0" marL="0">
              <a:buNone/>
            </a:pPr>
            <a:r>
              <a:rPr lang="en-US" sz="2200" i="1" dirty="0">
                <a:solidFill>
                  <a:schemeClr val="accent6"/>
                </a:solidFill>
              </a:rPr>
              <a:t>Two feel equally important? Trust the pull, not the logic.</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7.3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Strengths: what already works</a:t>
            </a:r>
            <a:endParaRPr lang="en-US" sz="4000" dirty="0"/>
          </a:p>
        </p:txBody>
      </p:sp>
      <p:sp>
        <p:nvSpPr>
          <p:cNvPr id="4" name="Decorative: QR panel">
            <a:extLst>
              <a:ext uri="{C183D7F6-B498-43B3-948B-1728B52AA6E4}">
                <adec:decorative xmlns:adec="http://schemas.microsoft.com/office/drawing/2017/decorative" val="1"/>
              </a:ext>
            </a:extLst>
          </p:cNvPr>
          <p:cNvSpPr/>
          <p:nvPr/>
        </p:nvSpPr>
        <p:spPr>
          <a:xfrm>
            <a:off x="8534095" y="1828800"/>
            <a:ext cx="3108960" cy="4023360"/>
          </a:xfrm>
          <a:prstGeom prst="roundRect">
            <a:avLst>
              <a:gd name="adj" fmla="val 352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762695" y="1965960"/>
            <a:ext cx="2651760" cy="685800"/>
          </a:xfrm>
          <a:prstGeom prst="rect">
            <a:avLst/>
          </a:prstGeom>
          <a:noFill/>
          <a:ln/>
        </p:spPr>
        <p:txBody>
          <a:bodyPr wrap="square" lIns="0" tIns="0" rIns="0" bIns="0" rtlCol="0" anchor="ctr"/>
          <a:lstStyle/>
          <a:p>
            <a:pPr algn="ctr" indent="0" marL="0">
              <a:buNone/>
            </a:pPr>
            <a:r>
              <a:rPr lang="en-US" sz="2000" b="1" dirty="0">
                <a:solidFill>
                  <a:schemeClr val="tx2"/>
                </a:solidFill>
              </a:rPr>
              <a:t>Scan for HIGH5</a:t>
            </a:r>
            <a:endParaRPr lang="en-US" sz="2000" dirty="0"/>
          </a:p>
        </p:txBody>
      </p:sp>
      <p:sp>
        <p:nvSpPr>
          <p:cNvPr id="6" name="Decorative: QR frame">
            <a:extLst>
              <a:ext uri="{C183D7F6-B498-43B3-948B-1728B52AA6E4}">
                <adec:decorative xmlns:adec="http://schemas.microsoft.com/office/drawing/2017/decorative" val="1"/>
              </a:ext>
            </a:extLst>
          </p:cNvPr>
          <p:cNvSpPr/>
          <p:nvPr/>
        </p:nvSpPr>
        <p:spPr>
          <a:xfrm>
            <a:off x="8973007" y="2633472"/>
            <a:ext cx="2231136" cy="2231136"/>
          </a:xfrm>
          <a:prstGeom prst="roundRect">
            <a:avLst>
              <a:gd name="adj" fmla="val 4098"/>
            </a:avLst>
          </a:prstGeom>
          <a:solidFill>
            <a:srgbClr val="FFFFFF"/>
          </a:solidFill>
          <a:ln w="12700">
            <a:solidFill>
              <a:srgbClr val="D9E2EA"/>
            </a:solidFill>
            <a:prstDash val="solid"/>
          </a:ln>
        </p:spPr>
      </p:sp>
      <p:pic>
        <p:nvPicPr>
          <p:cNvPr id="7" name="QR code: Scan for HIGH5" descr="QR code for Scan for HIGH5: https://high5test.com/">    </p:cNvPr>
          <p:cNvPicPr>
            <a:picLocks noChangeAspect="1"/>
          </p:cNvPicPr>
          <p:nvPr/>
        </p:nvPicPr>
        <p:blipFill>
          <a:blip r:embed="rId1"/>
          <a:stretch>
            <a:fillRect/>
          </a:stretch>
        </p:blipFill>
        <p:spPr>
          <a:xfrm>
            <a:off x="9082735" y="2743200"/>
            <a:ext cx="2011680" cy="2011680"/>
          </a:xfrm>
          <a:prstGeom prst="rect">
            <a:avLst/>
          </a:prstGeom>
        </p:spPr>
      </p:pic>
      <p:sp>
        <p:nvSpPr>
          <p:cNvPr id="8" name="Address: Scan for HIGH5"/>
          <p:cNvSpPr txBox="1"/>
          <p:nvPr/>
        </p:nvSpPr>
        <p:spPr>
          <a:xfrm>
            <a:off x="8534095" y="4892040"/>
            <a:ext cx="3108960" cy="731520"/>
          </a:xfrm>
          <a:prstGeom prst="rect">
            <a:avLst/>
          </a:prstGeom>
          <a:noFill/>
          <a:ln/>
        </p:spPr>
        <p:txBody>
          <a:bodyPr wrap="square" lIns="0" tIns="0" rIns="0" bIns="0" rtlCol="0" anchor="t"/>
          <a:lstStyle/>
          <a:p>
            <a:pPr algn="ctr" indent="0" marL="0">
              <a:buNone/>
            </a:pPr>
            <a:r>
              <a:rPr lang="en-US" sz="2000" dirty="0">
                <a:solidFill>
                  <a:schemeClr val="accent6"/>
                </a:solidFill>
              </a:rPr>
              <a:t>high5test.com</a:t>
            </a:r>
            <a:endParaRPr lang="en-US" sz="2000" dirty="0"/>
          </a:p>
        </p:txBody>
      </p:sp>
      <p:sp>
        <p:nvSpPr>
          <p:cNvPr id="9" name="Text 6"/>
          <p:cNvSpPr txBox="1"/>
          <p:nvPr/>
        </p:nvSpPr>
        <p:spPr>
          <a:xfrm>
            <a:off x="548640" y="1828800"/>
            <a:ext cx="7665415" cy="822960"/>
          </a:xfrm>
          <a:prstGeom prst="rect">
            <a:avLst/>
          </a:prstGeom>
          <a:noFill/>
          <a:ln/>
        </p:spPr>
        <p:txBody>
          <a:bodyPr wrap="square" lIns="0" tIns="0" rIns="0" bIns="0" rtlCol="0" anchor="t"/>
          <a:lstStyle/>
          <a:p>
            <a:pPr indent="0" marL="0">
              <a:buNone/>
            </a:pPr>
            <a:r>
              <a:rPr lang="en-US" sz="2600" b="1" dirty="0">
                <a:solidFill>
                  <a:schemeClr val="accent1"/>
                </a:solidFill>
              </a:rPr>
              <a:t>Not just what you're good at. What feels like you at your best.</a:t>
            </a:r>
            <a:endParaRPr lang="en-US" sz="2600" dirty="0"/>
          </a:p>
        </p:txBody>
      </p:sp>
      <p:sp>
        <p:nvSpPr>
          <p:cNvPr id="10" name="Decorative: icon circle">
            <a:extLst>
              <a:ext uri="{C183D7F6-B498-43B3-948B-1728B52AA6E4}">
                <adec:decorative xmlns:adec="http://schemas.microsoft.com/office/drawing/2017/decorative" val="1"/>
              </a:ext>
            </a:extLst>
          </p:cNvPr>
          <p:cNvSpPr/>
          <p:nvPr/>
        </p:nvSpPr>
        <p:spPr>
          <a:xfrm>
            <a:off x="548640" y="2880360"/>
            <a:ext cx="548640" cy="548640"/>
          </a:xfrm>
          <a:prstGeom prst="ellipse">
            <a:avLst/>
          </a:prstGeom>
          <a:solidFill>
            <a:srgbClr val="00467F"/>
          </a:solidFill>
          <a:ln w="12700">
            <a:solidFill>
              <a:srgbClr val="00467F"/>
            </a:solidFill>
            <a:prstDash val="solid"/>
          </a:ln>
        </p:spPr>
      </p:sp>
      <p:pic>
        <p:nvPicPr>
          <p:cNvPr id="11" name="Decorative: LuPencil">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3001061"/>
            <a:ext cx="307238" cy="307238"/>
          </a:xfrm>
          <a:prstGeom prst="rect">
            <a:avLst/>
          </a:prstGeom>
        </p:spPr>
      </p:pic>
      <p:sp>
        <p:nvSpPr>
          <p:cNvPr id="12" name="Text 8"/>
          <p:cNvSpPr txBox="1"/>
          <p:nvPr/>
        </p:nvSpPr>
        <p:spPr>
          <a:xfrm>
            <a:off x="1325880" y="288036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Guess first</a:t>
            </a:r>
            <a:pPr indent="0" marL="0">
              <a:buNone/>
            </a:pPr>
            <a:r>
              <a:rPr lang="en-US" sz="2400" dirty="0">
                <a:solidFill>
                  <a:schemeClr val="tx1"/>
                </a:solidFill>
              </a:rPr>
              <a:t>: a quick baseline</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3657600"/>
            <a:ext cx="548640" cy="548640"/>
          </a:xfrm>
          <a:prstGeom prst="ellipse">
            <a:avLst/>
          </a:prstGeom>
          <a:solidFill>
            <a:srgbClr val="00467F"/>
          </a:solidFill>
          <a:ln w="12700">
            <a:solidFill>
              <a:srgbClr val="00467F"/>
            </a:solidFill>
            <a:prstDash val="solid"/>
          </a:ln>
        </p:spPr>
      </p:sp>
      <p:pic>
        <p:nvPicPr>
          <p:cNvPr id="14" name="Decorative: LuTime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778301"/>
            <a:ext cx="307238" cy="307238"/>
          </a:xfrm>
          <a:prstGeom prst="rect">
            <a:avLst/>
          </a:prstGeom>
        </p:spPr>
      </p:pic>
      <p:sp>
        <p:nvSpPr>
          <p:cNvPr id="15" name="Text 10"/>
          <p:cNvSpPr txBox="1"/>
          <p:nvPr/>
        </p:nvSpPr>
        <p:spPr>
          <a:xfrm>
            <a:off x="1325880" y="365760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Take HIGH5</a:t>
            </a:r>
            <a:pPr indent="0" marL="0">
              <a:buNone/>
            </a:pPr>
            <a:r>
              <a:rPr lang="en-US" sz="2400" dirty="0">
                <a:solidFill>
                  <a:schemeClr val="tx1"/>
                </a:solidFill>
              </a:rPr>
              <a:t>: about 15 to 20 minutes</a:t>
            </a:r>
            <a:endParaRPr lang="en-US" sz="2400" dirty="0"/>
          </a:p>
        </p:txBody>
      </p:sp>
      <p:sp>
        <p:nvSpPr>
          <p:cNvPr id="16" name="Decorative: icon circle">
            <a:extLst>
              <a:ext uri="{C183D7F6-B498-43B3-948B-1728B52AA6E4}">
                <adec:decorative xmlns:adec="http://schemas.microsoft.com/office/drawing/2017/decorative" val="1"/>
              </a:ext>
            </a:extLst>
          </p:cNvPr>
          <p:cNvSpPr/>
          <p:nvPr/>
        </p:nvSpPr>
        <p:spPr>
          <a:xfrm>
            <a:off x="548640" y="4434840"/>
            <a:ext cx="548640" cy="548640"/>
          </a:xfrm>
          <a:prstGeom prst="ellipse">
            <a:avLst/>
          </a:prstGeom>
          <a:solidFill>
            <a:srgbClr val="00467F"/>
          </a:solidFill>
          <a:ln w="12700">
            <a:solidFill>
              <a:srgbClr val="00467F"/>
            </a:solidFill>
            <a:prstDash val="solid"/>
          </a:ln>
        </p:spPr>
      </p:sp>
      <p:pic>
        <p:nvPicPr>
          <p:cNvPr id="17" name="Decorative: LuSav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4555541"/>
            <a:ext cx="307238" cy="307238"/>
          </a:xfrm>
          <a:prstGeom prst="rect">
            <a:avLst/>
          </a:prstGeom>
        </p:spPr>
      </p:pic>
      <p:sp>
        <p:nvSpPr>
          <p:cNvPr id="18" name="Text 12"/>
          <p:cNvSpPr txBox="1"/>
          <p:nvPr/>
        </p:nvSpPr>
        <p:spPr>
          <a:xfrm>
            <a:off x="1325880" y="443484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Save your Top 5</a:t>
            </a:r>
            <a:pPr indent="0" marL="0">
              <a:buNone/>
            </a:pPr>
            <a:r>
              <a:rPr lang="en-US" sz="2400" dirty="0">
                <a:solidFill>
                  <a:schemeClr val="tx1"/>
                </a:solidFill>
              </a:rPr>
              <a:t>: exactly as reported</a:t>
            </a:r>
            <a:endParaRPr lang="en-US" sz="2400" dirty="0"/>
          </a:p>
        </p:txBody>
      </p:sp>
      <p:sp>
        <p:nvSpPr>
          <p:cNvPr id="19" name="Text 13"/>
          <p:cNvSpPr txBox="1"/>
          <p:nvPr/>
        </p:nvSpPr>
        <p:spPr>
          <a:xfrm>
            <a:off x="548640" y="5257800"/>
            <a:ext cx="7665415" cy="548640"/>
          </a:xfrm>
          <a:prstGeom prst="rect">
            <a:avLst/>
          </a:prstGeom>
          <a:noFill/>
          <a:ln/>
        </p:spPr>
        <p:txBody>
          <a:bodyPr wrap="square" lIns="0" tIns="0" rIns="0" bIns="0" rtlCol="0" anchor="t"/>
          <a:lstStyle/>
          <a:p>
            <a:pPr indent="0" marL="0">
              <a:buNone/>
            </a:pPr>
            <a:r>
              <a:rPr lang="en-US" sz="2200" i="1" dirty="0">
                <a:solidFill>
                  <a:schemeClr val="accent6"/>
                </a:solidFill>
              </a:rPr>
              <a:t>The Top 5 is free. No need to buy the report.</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7.3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Every strength has a blind spot</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3515258" cy="2926080"/>
          </a:xfrm>
          <a:prstGeom prst="roundRect">
            <a:avLst>
              <a:gd name="adj" fmla="val 375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00467F"/>
          </a:solidFill>
          <a:ln w="12700">
            <a:solidFill>
              <a:srgbClr val="00467F"/>
            </a:solidFill>
            <a:prstDash val="solid"/>
          </a:ln>
        </p:spPr>
      </p:sp>
      <p:pic>
        <p:nvPicPr>
          <p:cNvPr id="6" name="Decorative: LuRocke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Deliverer</a:t>
            </a:r>
            <a:endParaRPr lang="en-US" sz="2400" dirty="0"/>
          </a:p>
          <a:p>
            <a:pPr indent="0" marL="0">
              <a:spcBef>
                <a:spcPts val="600"/>
              </a:spcBef>
              <a:buNone/>
            </a:pPr>
            <a:r>
              <a:rPr lang="en-US" sz="2400" dirty="0">
                <a:solidFill>
                  <a:schemeClr val="tx1"/>
                </a:solidFill>
              </a:rPr>
              <a:t>May take on too much, or move faster than others are ready.</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4338218" y="1874520"/>
            <a:ext cx="3515258" cy="2926080"/>
          </a:xfrm>
          <a:prstGeom prst="roundRect">
            <a:avLst>
              <a:gd name="adj" fmla="val 375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4612538" y="2148840"/>
            <a:ext cx="685800" cy="685800"/>
          </a:xfrm>
          <a:prstGeom prst="ellipse">
            <a:avLst/>
          </a:prstGeom>
          <a:solidFill>
            <a:srgbClr val="00467F"/>
          </a:solidFill>
          <a:ln w="12700">
            <a:solidFill>
              <a:srgbClr val="00467F"/>
            </a:solidFill>
            <a:prstDash val="solid"/>
          </a:ln>
        </p:spPr>
      </p:sp>
      <p:pic>
        <p:nvPicPr>
          <p:cNvPr id="10" name="Decorative: LuSearch">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63414" y="2299716"/>
            <a:ext cx="384048" cy="384048"/>
          </a:xfrm>
          <a:prstGeom prst="rect">
            <a:avLst/>
          </a:prstGeom>
        </p:spPr>
      </p:pic>
      <p:sp>
        <p:nvSpPr>
          <p:cNvPr id="11" name="Text 7"/>
          <p:cNvSpPr txBox="1"/>
          <p:nvPr/>
        </p:nvSpPr>
        <p:spPr>
          <a:xfrm>
            <a:off x="4612538"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Analyst</a:t>
            </a:r>
            <a:endParaRPr lang="en-US" sz="2400" dirty="0"/>
          </a:p>
          <a:p>
            <a:pPr indent="0" marL="0">
              <a:spcBef>
                <a:spcPts val="600"/>
              </a:spcBef>
              <a:buNone/>
            </a:pPr>
            <a:r>
              <a:rPr lang="en-US" sz="2400" dirty="0">
                <a:solidFill>
                  <a:schemeClr val="tx1"/>
                </a:solidFill>
              </a:rPr>
              <a:t>May get stuck researching when it's time to act.</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8127797" y="1874520"/>
            <a:ext cx="3515258" cy="2926080"/>
          </a:xfrm>
          <a:prstGeom prst="roundRect">
            <a:avLst>
              <a:gd name="adj" fmla="val 375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402117" y="2148840"/>
            <a:ext cx="685800" cy="685800"/>
          </a:xfrm>
          <a:prstGeom prst="ellipse">
            <a:avLst/>
          </a:prstGeom>
          <a:solidFill>
            <a:srgbClr val="00467F"/>
          </a:solidFill>
          <a:ln w="12700">
            <a:solidFill>
              <a:srgbClr val="00467F"/>
            </a:solidFill>
            <a:prstDash val="solid"/>
          </a:ln>
        </p:spPr>
      </p:sp>
      <p:pic>
        <p:nvPicPr>
          <p:cNvPr id="14" name="Decorative: LuHeart">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52993" y="2299716"/>
            <a:ext cx="384048" cy="384048"/>
          </a:xfrm>
          <a:prstGeom prst="rect">
            <a:avLst/>
          </a:prstGeom>
        </p:spPr>
      </p:pic>
      <p:sp>
        <p:nvSpPr>
          <p:cNvPr id="15" name="Text 10"/>
          <p:cNvSpPr txBox="1"/>
          <p:nvPr/>
        </p:nvSpPr>
        <p:spPr>
          <a:xfrm>
            <a:off x="8402117"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Empathizer</a:t>
            </a:r>
            <a:endParaRPr lang="en-US" sz="2400" dirty="0"/>
          </a:p>
          <a:p>
            <a:pPr indent="0" marL="0">
              <a:spcBef>
                <a:spcPts val="600"/>
              </a:spcBef>
              <a:buNone/>
            </a:pPr>
            <a:r>
              <a:rPr lang="en-US" sz="2400" dirty="0">
                <a:solidFill>
                  <a:schemeClr val="tx1"/>
                </a:solidFill>
              </a:rPr>
              <a:t>May struggle with boundaries, or take on others' stress.</a:t>
            </a:r>
            <a:endParaRPr lang="en-US" sz="2400" dirty="0"/>
          </a:p>
        </p:txBody>
      </p:sp>
      <p:sp>
        <p:nvSpPr>
          <p:cNvPr id="16" name="Decorative: callout">
            <a:extLst>
              <a:ext uri="{C183D7F6-B498-43B3-948B-1728B52AA6E4}">
                <adec:decorative xmlns:adec="http://schemas.microsoft.com/office/drawing/2017/decorative" val="1"/>
              </a:ext>
            </a:extLst>
          </p:cNvPr>
          <p:cNvSpPr/>
          <p:nvPr/>
        </p:nvSpPr>
        <p:spPr>
          <a:xfrm>
            <a:off x="548640" y="51206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2"/>
          <p:cNvSpPr txBox="1"/>
          <p:nvPr/>
        </p:nvSpPr>
        <p:spPr>
          <a:xfrm>
            <a:off x="868680" y="52303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Name yours, and decide now what you'll do when it shows up.</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640080"/>
          </a:xfrm>
          <a:prstGeom prst="roundRect">
            <a:avLst>
              <a:gd name="adj" fmla="val 171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ListOrdered">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530352"/>
          </a:xfrm>
          <a:prstGeom prst="rect">
            <a:avLst/>
          </a:prstGeom>
          <a:noFill/>
          <a:ln/>
        </p:spPr>
        <p:txBody>
          <a:bodyPr wrap="square" lIns="0" tIns="0" rIns="0" bIns="0" rtlCol="0" anchor="ctr"/>
          <a:lstStyle/>
          <a:p>
            <a:pPr indent="0" marL="0">
              <a:buNone/>
            </a:pPr>
            <a:r>
              <a:rPr lang="en-US" sz="2400" b="1" dirty="0">
                <a:solidFill>
                  <a:schemeClr val="tx2"/>
                </a:solidFill>
              </a:rPr>
              <a:t>Task: Values Card Sort</a:t>
            </a:r>
            <a:endParaRPr lang="en-US" sz="2400" dirty="0"/>
          </a:p>
          <a:p>
            <a:pPr indent="0" marL="0">
              <a:buNone/>
            </a:pPr>
            <a:r>
              <a:rPr lang="en-US" sz="2000" dirty="0">
                <a:solidFill>
                  <a:schemeClr val="accent6"/>
                </a:solidFill>
              </a:rPr>
              <a:t>Save your Top 5 values</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679192"/>
            <a:ext cx="11094415" cy="640080"/>
          </a:xfrm>
          <a:prstGeom prst="roundRect">
            <a:avLst>
              <a:gd name="adj" fmla="val 171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770632"/>
            <a:ext cx="548640" cy="548640"/>
          </a:xfrm>
          <a:prstGeom prst="ellipse">
            <a:avLst/>
          </a:prstGeom>
          <a:solidFill>
            <a:srgbClr val="00467F"/>
          </a:solidFill>
          <a:ln w="12700">
            <a:solidFill>
              <a:srgbClr val="00467F"/>
            </a:solidFill>
            <a:prstDash val="solid"/>
          </a:ln>
        </p:spPr>
      </p:sp>
      <p:pic>
        <p:nvPicPr>
          <p:cNvPr id="10" name="Decorative: LuSta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2891333"/>
            <a:ext cx="307238" cy="307238"/>
          </a:xfrm>
          <a:prstGeom prst="rect">
            <a:avLst/>
          </a:prstGeom>
        </p:spPr>
      </p:pic>
      <p:sp>
        <p:nvSpPr>
          <p:cNvPr id="11" name="Text 7"/>
          <p:cNvSpPr txBox="1"/>
          <p:nvPr/>
        </p:nvSpPr>
        <p:spPr>
          <a:xfrm>
            <a:off x="1508760" y="2734056"/>
            <a:ext cx="9814255" cy="530352"/>
          </a:xfrm>
          <a:prstGeom prst="rect">
            <a:avLst/>
          </a:prstGeom>
          <a:noFill/>
          <a:ln/>
        </p:spPr>
        <p:txBody>
          <a:bodyPr wrap="square" lIns="0" tIns="0" rIns="0" bIns="0" rtlCol="0" anchor="ctr"/>
          <a:lstStyle/>
          <a:p>
            <a:pPr indent="0" marL="0">
              <a:buNone/>
            </a:pPr>
            <a:r>
              <a:rPr lang="en-US" sz="2400" b="1" dirty="0">
                <a:solidFill>
                  <a:schemeClr val="tx2"/>
                </a:solidFill>
              </a:rPr>
              <a:t>Task: HIGH5 Strengths Assessment</a:t>
            </a:r>
            <a:endParaRPr lang="en-US" sz="2400" dirty="0"/>
          </a:p>
          <a:p>
            <a:pPr indent="0" marL="0">
              <a:buNone/>
            </a:pPr>
            <a:r>
              <a:rPr lang="en-US" sz="2000" dirty="0">
                <a:solidFill>
                  <a:schemeClr val="accent6"/>
                </a:solidFill>
              </a:rPr>
              <a:t>Save your Top 5 strengths, exactly as reported</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483864"/>
            <a:ext cx="11094415" cy="640080"/>
          </a:xfrm>
          <a:prstGeom prst="roundRect">
            <a:avLst>
              <a:gd name="adj" fmla="val 171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575304"/>
            <a:ext cx="548640" cy="548640"/>
          </a:xfrm>
          <a:prstGeom prst="ellipse">
            <a:avLst/>
          </a:prstGeom>
          <a:solidFill>
            <a:srgbClr val="00467F"/>
          </a:solidFill>
          <a:ln w="12700">
            <a:solidFill>
              <a:srgbClr val="00467F"/>
            </a:solidFill>
            <a:prstDash val="solid"/>
          </a:ln>
        </p:spPr>
      </p:sp>
      <p:pic>
        <p:nvPicPr>
          <p:cNvPr id="14" name="Decorative: LuFlag">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3696005"/>
            <a:ext cx="307238" cy="307238"/>
          </a:xfrm>
          <a:prstGeom prst="rect">
            <a:avLst/>
          </a:prstGeom>
        </p:spPr>
      </p:pic>
      <p:sp>
        <p:nvSpPr>
          <p:cNvPr id="15" name="Text 10"/>
          <p:cNvSpPr txBox="1"/>
          <p:nvPr/>
        </p:nvSpPr>
        <p:spPr>
          <a:xfrm>
            <a:off x="1508760" y="3538728"/>
            <a:ext cx="9814255" cy="530352"/>
          </a:xfrm>
          <a:prstGeom prst="rect">
            <a:avLst/>
          </a:prstGeom>
          <a:noFill/>
          <a:ln/>
        </p:spPr>
        <p:txBody>
          <a:bodyPr wrap="square" lIns="0" tIns="0" rIns="0" bIns="0" rtlCol="0" anchor="ctr"/>
          <a:lstStyle/>
          <a:p>
            <a:pPr indent="0" marL="0">
              <a:buNone/>
            </a:pPr>
            <a:r>
              <a:rPr lang="en-US" sz="2400" b="1" dirty="0">
                <a:solidFill>
                  <a:schemeClr val="tx2"/>
                </a:solidFill>
              </a:rPr>
              <a:t>Mile Marker #7: My Strengths Snapshot</a:t>
            </a:r>
            <a:endParaRPr lang="en-US" sz="2400" dirty="0"/>
          </a:p>
          <a:p>
            <a:pPr indent="0" marL="0">
              <a:buNone/>
            </a:pPr>
            <a:r>
              <a:rPr lang="en-US" sz="2000" dirty="0">
                <a:solidFill>
                  <a:schemeClr val="accent6"/>
                </a:solidFill>
              </a:rPr>
              <a:t>Six questions</a:t>
            </a:r>
            <a:endParaRPr lang="en-US" sz="2400" dirty="0"/>
          </a:p>
        </p:txBody>
      </p:sp>
      <p:sp>
        <p:nvSpPr>
          <p:cNvPr id="16" name="Decorative: assignment row">
            <a:extLst>
              <a:ext uri="{C183D7F6-B498-43B3-948B-1728B52AA6E4}">
                <adec:decorative xmlns:adec="http://schemas.microsoft.com/office/drawing/2017/decorative" val="1"/>
              </a:ext>
            </a:extLst>
          </p:cNvPr>
          <p:cNvSpPr/>
          <p:nvPr/>
        </p:nvSpPr>
        <p:spPr>
          <a:xfrm>
            <a:off x="548640" y="4288536"/>
            <a:ext cx="11094415" cy="640080"/>
          </a:xfrm>
          <a:prstGeom prst="roundRect">
            <a:avLst>
              <a:gd name="adj" fmla="val 171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731520" y="4379976"/>
            <a:ext cx="548640" cy="548640"/>
          </a:xfrm>
          <a:prstGeom prst="ellipse">
            <a:avLst/>
          </a:prstGeom>
          <a:solidFill>
            <a:srgbClr val="00467F"/>
          </a:solidFill>
          <a:ln w="12700">
            <a:solidFill>
              <a:srgbClr val="00467F"/>
            </a:solidFill>
            <a:prstDash val="solid"/>
          </a:ln>
        </p:spPr>
      </p:sp>
      <p:pic>
        <p:nvPicPr>
          <p:cNvPr id="18" name="Decorative: LuAward">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4500677"/>
            <a:ext cx="307238" cy="307238"/>
          </a:xfrm>
          <a:prstGeom prst="rect">
            <a:avLst/>
          </a:prstGeom>
        </p:spPr>
      </p:pic>
      <p:sp>
        <p:nvSpPr>
          <p:cNvPr id="19" name="Text 13"/>
          <p:cNvSpPr txBox="1"/>
          <p:nvPr/>
        </p:nvSpPr>
        <p:spPr>
          <a:xfrm>
            <a:off x="1508760" y="4343400"/>
            <a:ext cx="9814255" cy="530352"/>
          </a:xfrm>
          <a:prstGeom prst="rect">
            <a:avLst/>
          </a:prstGeom>
          <a:noFill/>
          <a:ln/>
        </p:spPr>
        <p:txBody>
          <a:bodyPr wrap="square" lIns="0" tIns="0" rIns="0" bIns="0" rtlCol="0" anchor="ctr"/>
          <a:lstStyle/>
          <a:p>
            <a:pPr indent="0" marL="0">
              <a:buNone/>
            </a:pPr>
            <a:r>
              <a:rPr lang="en-US" sz="2400" b="1" dirty="0">
                <a:solidFill>
                  <a:schemeClr val="tx2"/>
                </a:solidFill>
              </a:rPr>
              <a:t>Merit Activity #2</a:t>
            </a:r>
            <a:endParaRPr lang="en-US" sz="2400" dirty="0"/>
          </a:p>
          <a:p>
            <a:pPr indent="0" marL="0">
              <a:buNone/>
            </a:pPr>
            <a:r>
              <a:rPr lang="en-US" sz="2000" dirty="0">
                <a:solidFill>
                  <a:schemeClr val="accent6"/>
                </a:solidFill>
              </a:rPr>
              <a:t>Use the Activity #2 link on the Merit platform</a:t>
            </a:r>
            <a:endParaRPr lang="en-US" sz="2400" dirty="0"/>
          </a:p>
        </p:txBody>
      </p:sp>
      <p:sp>
        <p:nvSpPr>
          <p:cNvPr id="20" name="Decorative: assignment row">
            <a:extLst>
              <a:ext uri="{C183D7F6-B498-43B3-948B-1728B52AA6E4}">
                <adec:decorative xmlns:adec="http://schemas.microsoft.com/office/drawing/2017/decorative" val="1"/>
              </a:ext>
            </a:extLst>
          </p:cNvPr>
          <p:cNvSpPr/>
          <p:nvPr/>
        </p:nvSpPr>
        <p:spPr>
          <a:xfrm>
            <a:off x="548640" y="5093208"/>
            <a:ext cx="11094415" cy="640080"/>
          </a:xfrm>
          <a:prstGeom prst="roundRect">
            <a:avLst>
              <a:gd name="adj" fmla="val 171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21" name="Decorative: icon circle">
            <a:extLst>
              <a:ext uri="{C183D7F6-B498-43B3-948B-1728B52AA6E4}">
                <adec:decorative xmlns:adec="http://schemas.microsoft.com/office/drawing/2017/decorative" val="1"/>
              </a:ext>
            </a:extLst>
          </p:cNvPr>
          <p:cNvSpPr/>
          <p:nvPr/>
        </p:nvSpPr>
        <p:spPr>
          <a:xfrm>
            <a:off x="731520" y="5184648"/>
            <a:ext cx="548640" cy="548640"/>
          </a:xfrm>
          <a:prstGeom prst="ellipse">
            <a:avLst/>
          </a:prstGeom>
          <a:solidFill>
            <a:srgbClr val="00467F"/>
          </a:solidFill>
          <a:ln w="12700">
            <a:solidFill>
              <a:srgbClr val="00467F"/>
            </a:solidFill>
            <a:prstDash val="solid"/>
          </a:ln>
        </p:spPr>
      </p:sp>
      <p:pic>
        <p:nvPicPr>
          <p:cNvPr id="22" name="Decorative: LuNotebookPe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2221" y="5305349"/>
            <a:ext cx="307238" cy="307238"/>
          </a:xfrm>
          <a:prstGeom prst="rect">
            <a:avLst/>
          </a:prstGeom>
        </p:spPr>
      </p:pic>
      <p:sp>
        <p:nvSpPr>
          <p:cNvPr id="23" name="Text 16"/>
          <p:cNvSpPr txBox="1"/>
          <p:nvPr/>
        </p:nvSpPr>
        <p:spPr>
          <a:xfrm>
            <a:off x="1508760" y="5148072"/>
            <a:ext cx="9814255" cy="530352"/>
          </a:xfrm>
          <a:prstGeom prst="rect">
            <a:avLst/>
          </a:prstGeom>
          <a:noFill/>
          <a:ln/>
        </p:spPr>
        <p:txBody>
          <a:bodyPr wrap="square" lIns="0" tIns="0" rIns="0" bIns="0" rtlCol="0" anchor="ctr"/>
          <a:lstStyle/>
          <a:p>
            <a:pPr indent="0" marL="0">
              <a:buNone/>
            </a:pPr>
            <a:r>
              <a:rPr lang="en-US" sz="2400" b="1" dirty="0">
                <a:solidFill>
                  <a:schemeClr val="tx2"/>
                </a:solidFill>
              </a:rPr>
              <a:t>Online sections: Journal: My Top 5 Values</a:t>
            </a:r>
            <a:endParaRPr lang="en-US" sz="2400" dirty="0"/>
          </a:p>
          <a:p>
            <a:pPr indent="0" marL="0">
              <a:buNone/>
            </a:pPr>
            <a:r>
              <a:rPr lang="en-US" sz="2000" dirty="0">
                <a:solidFill>
                  <a:schemeClr val="accent6"/>
                </a:solidFill>
              </a:rPr>
              <a:t>Private. Only your instructor reads it.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#7</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Strengths Snapshot</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02920" cy="502920"/>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02920" cy="502920"/>
          </a:xfrm>
          <a:prstGeom prst="rect">
            <a:avLst/>
          </a:prstGeom>
          <a:no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6" name="Text 4"/>
          <p:cNvSpPr txBox="1"/>
          <p:nvPr/>
        </p:nvSpPr>
        <p:spPr>
          <a:xfrm>
            <a:off x="1325880" y="1874520"/>
            <a:ext cx="6903720" cy="502920"/>
          </a:xfrm>
          <a:prstGeom prst="rect">
            <a:avLst/>
          </a:prstGeom>
          <a:noFill/>
          <a:ln/>
        </p:spPr>
        <p:txBody>
          <a:bodyPr wrap="square" lIns="0" tIns="0" rIns="0" bIns="0" rtlCol="0" anchor="ctr"/>
          <a:lstStyle/>
          <a:p>
            <a:pPr indent="0" marL="0">
              <a:buNone/>
            </a:pPr>
            <a:r>
              <a:rPr lang="en-US" sz="2200" b="1" dirty="0">
                <a:solidFill>
                  <a:schemeClr val="tx2"/>
                </a:solidFill>
              </a:rPr>
              <a:t>Your Top 5 strengths, exactly as reported</a:t>
            </a:r>
            <a:endParaRPr lang="en-US" sz="2200" dirty="0"/>
          </a:p>
        </p:txBody>
      </p:sp>
      <p:sp>
        <p:nvSpPr>
          <p:cNvPr id="7" name="Decorative: number circle">
            <a:extLst>
              <a:ext uri="{C183D7F6-B498-43B3-948B-1728B52AA6E4}">
                <adec:decorative xmlns:adec="http://schemas.microsoft.com/office/drawing/2017/decorative" val="1"/>
              </a:ext>
            </a:extLst>
          </p:cNvPr>
          <p:cNvSpPr/>
          <p:nvPr/>
        </p:nvSpPr>
        <p:spPr>
          <a:xfrm>
            <a:off x="548640" y="2587752"/>
            <a:ext cx="502920" cy="502920"/>
          </a:xfrm>
          <a:prstGeom prst="ellipse">
            <a:avLst/>
          </a:prstGeom>
          <a:solidFill>
            <a:srgbClr val="E7A614"/>
          </a:solidFill>
          <a:ln w="12700">
            <a:solidFill>
              <a:srgbClr val="E7A614"/>
            </a:solidFill>
            <a:prstDash val="solid"/>
          </a:ln>
        </p:spPr>
      </p:sp>
      <p:sp>
        <p:nvSpPr>
          <p:cNvPr id="8" name="Question 2 number"/>
          <p:cNvSpPr txBox="1"/>
          <p:nvPr/>
        </p:nvSpPr>
        <p:spPr>
          <a:xfrm>
            <a:off x="548640" y="2587752"/>
            <a:ext cx="502920" cy="502920"/>
          </a:xfrm>
          <a:prstGeom prst="rect">
            <a:avLst/>
          </a:prstGeom>
          <a:no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9" name="Text 7"/>
          <p:cNvSpPr txBox="1"/>
          <p:nvPr/>
        </p:nvSpPr>
        <p:spPr>
          <a:xfrm>
            <a:off x="1325880" y="2587752"/>
            <a:ext cx="6903720" cy="502920"/>
          </a:xfrm>
          <a:prstGeom prst="rect">
            <a:avLst/>
          </a:prstGeom>
          <a:noFill/>
          <a:ln/>
        </p:spPr>
        <p:txBody>
          <a:bodyPr wrap="square" lIns="0" tIns="0" rIns="0" bIns="0" rtlCol="0" anchor="ctr"/>
          <a:lstStyle/>
          <a:p>
            <a:pPr indent="0" marL="0">
              <a:buNone/>
            </a:pPr>
            <a:r>
              <a:rPr lang="en-US" sz="2200" b="1" dirty="0">
                <a:solidFill>
                  <a:schemeClr val="tx2"/>
                </a:solidFill>
              </a:rPr>
              <a:t>What they say about how you think and work</a:t>
            </a:r>
            <a:endParaRPr lang="en-US" sz="2200" dirty="0"/>
          </a:p>
        </p:txBody>
      </p:sp>
      <p:sp>
        <p:nvSpPr>
          <p:cNvPr id="10" name="Decorative: number circle">
            <a:extLst>
              <a:ext uri="{C183D7F6-B498-43B3-948B-1728B52AA6E4}">
                <adec:decorative xmlns:adec="http://schemas.microsoft.com/office/drawing/2017/decorative" val="1"/>
              </a:ext>
            </a:extLst>
          </p:cNvPr>
          <p:cNvSpPr/>
          <p:nvPr/>
        </p:nvSpPr>
        <p:spPr>
          <a:xfrm>
            <a:off x="548640" y="3300984"/>
            <a:ext cx="502920" cy="502920"/>
          </a:xfrm>
          <a:prstGeom prst="ellipse">
            <a:avLst/>
          </a:prstGeom>
          <a:solidFill>
            <a:srgbClr val="E7A614"/>
          </a:solidFill>
          <a:ln w="12700">
            <a:solidFill>
              <a:srgbClr val="E7A614"/>
            </a:solidFill>
            <a:prstDash val="solid"/>
          </a:ln>
        </p:spPr>
      </p:sp>
      <p:sp>
        <p:nvSpPr>
          <p:cNvPr id="11" name="Question 3 number"/>
          <p:cNvSpPr txBox="1"/>
          <p:nvPr/>
        </p:nvSpPr>
        <p:spPr>
          <a:xfrm>
            <a:off x="548640" y="3300984"/>
            <a:ext cx="502920" cy="50292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2" name="Text 10"/>
          <p:cNvSpPr txBox="1"/>
          <p:nvPr/>
        </p:nvSpPr>
        <p:spPr>
          <a:xfrm>
            <a:off x="1325880" y="3300984"/>
            <a:ext cx="6903720" cy="502920"/>
          </a:xfrm>
          <a:prstGeom prst="rect">
            <a:avLst/>
          </a:prstGeom>
          <a:noFill/>
          <a:ln/>
        </p:spPr>
        <p:txBody>
          <a:bodyPr wrap="square" lIns="0" tIns="0" rIns="0" bIns="0" rtlCol="0" anchor="ctr"/>
          <a:lstStyle/>
          <a:p>
            <a:pPr indent="0" marL="0">
              <a:buNone/>
            </a:pPr>
            <a:r>
              <a:rPr lang="en-US" sz="2200" b="1" dirty="0">
                <a:solidFill>
                  <a:schemeClr val="tx2"/>
                </a:solidFill>
              </a:rPr>
              <a:t>Three ways to use them in your learning</a:t>
            </a:r>
            <a:endParaRPr lang="en-US" sz="2200" dirty="0"/>
          </a:p>
        </p:txBody>
      </p:sp>
      <p:sp>
        <p:nvSpPr>
          <p:cNvPr id="13" name="Decorative: number circle">
            <a:extLst>
              <a:ext uri="{C183D7F6-B498-43B3-948B-1728B52AA6E4}">
                <adec:decorative xmlns:adec="http://schemas.microsoft.com/office/drawing/2017/decorative" val="1"/>
              </a:ext>
            </a:extLst>
          </p:cNvPr>
          <p:cNvSpPr/>
          <p:nvPr/>
        </p:nvSpPr>
        <p:spPr>
          <a:xfrm>
            <a:off x="548640" y="4014216"/>
            <a:ext cx="502920" cy="502920"/>
          </a:xfrm>
          <a:prstGeom prst="ellipse">
            <a:avLst/>
          </a:prstGeom>
          <a:solidFill>
            <a:srgbClr val="E7A614"/>
          </a:solidFill>
          <a:ln w="12700">
            <a:solidFill>
              <a:srgbClr val="E7A614"/>
            </a:solidFill>
            <a:prstDash val="solid"/>
          </a:ln>
        </p:spPr>
      </p:sp>
      <p:sp>
        <p:nvSpPr>
          <p:cNvPr id="14" name="Question 4 number"/>
          <p:cNvSpPr txBox="1"/>
          <p:nvPr/>
        </p:nvSpPr>
        <p:spPr>
          <a:xfrm>
            <a:off x="548640" y="4014216"/>
            <a:ext cx="502920" cy="502920"/>
          </a:xfrm>
          <a:prstGeom prst="rect">
            <a:avLst/>
          </a:prstGeom>
          <a:no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15" name="Text 13"/>
          <p:cNvSpPr txBox="1"/>
          <p:nvPr/>
        </p:nvSpPr>
        <p:spPr>
          <a:xfrm>
            <a:off x="1325880" y="4014216"/>
            <a:ext cx="6903720" cy="502920"/>
          </a:xfrm>
          <a:prstGeom prst="rect">
            <a:avLst/>
          </a:prstGeom>
          <a:noFill/>
          <a:ln/>
        </p:spPr>
        <p:txBody>
          <a:bodyPr wrap="square" lIns="0" tIns="0" rIns="0" bIns="0" rtlCol="0" anchor="ctr"/>
          <a:lstStyle/>
          <a:p>
            <a:pPr indent="0" marL="0">
              <a:buNone/>
            </a:pPr>
            <a:r>
              <a:rPr lang="en-US" sz="2200" b="1" dirty="0">
                <a:solidFill>
                  <a:schemeClr val="tx2"/>
                </a:solidFill>
              </a:rPr>
              <a:t>Where your strengths and values point</a:t>
            </a:r>
            <a:endParaRPr lang="en-US" sz="2200" dirty="0"/>
          </a:p>
        </p:txBody>
      </p:sp>
      <p:sp>
        <p:nvSpPr>
          <p:cNvPr id="16" name="Decorative: number circle">
            <a:extLst>
              <a:ext uri="{C183D7F6-B498-43B3-948B-1728B52AA6E4}">
                <adec:decorative xmlns:adec="http://schemas.microsoft.com/office/drawing/2017/decorative" val="1"/>
              </a:ext>
            </a:extLst>
          </p:cNvPr>
          <p:cNvSpPr/>
          <p:nvPr/>
        </p:nvSpPr>
        <p:spPr>
          <a:xfrm>
            <a:off x="548640" y="4727448"/>
            <a:ext cx="502920" cy="502920"/>
          </a:xfrm>
          <a:prstGeom prst="ellipse">
            <a:avLst/>
          </a:prstGeom>
          <a:solidFill>
            <a:srgbClr val="E7A614"/>
          </a:solidFill>
          <a:ln w="12700">
            <a:solidFill>
              <a:srgbClr val="E7A614"/>
            </a:solidFill>
            <a:prstDash val="solid"/>
          </a:ln>
        </p:spPr>
      </p:sp>
      <p:sp>
        <p:nvSpPr>
          <p:cNvPr id="17" name="Question 5 number"/>
          <p:cNvSpPr txBox="1"/>
          <p:nvPr/>
        </p:nvSpPr>
        <p:spPr>
          <a:xfrm>
            <a:off x="548640" y="4727448"/>
            <a:ext cx="502920" cy="50292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sp>
        <p:nvSpPr>
          <p:cNvPr id="18" name="Text 16"/>
          <p:cNvSpPr txBox="1"/>
          <p:nvPr/>
        </p:nvSpPr>
        <p:spPr>
          <a:xfrm>
            <a:off x="1325880" y="4727448"/>
            <a:ext cx="6903720" cy="502920"/>
          </a:xfrm>
          <a:prstGeom prst="rect">
            <a:avLst/>
          </a:prstGeom>
          <a:noFill/>
          <a:ln/>
        </p:spPr>
        <p:txBody>
          <a:bodyPr wrap="square" lIns="0" tIns="0" rIns="0" bIns="0" rtlCol="0" anchor="ctr"/>
          <a:lstStyle/>
          <a:p>
            <a:pPr indent="0" marL="0">
              <a:buNone/>
            </a:pPr>
            <a:r>
              <a:rPr lang="en-US" sz="2200" b="1" dirty="0">
                <a:solidFill>
                  <a:schemeClr val="tx2"/>
                </a:solidFill>
              </a:rPr>
              <a:t>One blind spot worth watching</a:t>
            </a:r>
            <a:endParaRPr lang="en-US" sz="2200" dirty="0"/>
          </a:p>
        </p:txBody>
      </p:sp>
      <p:sp>
        <p:nvSpPr>
          <p:cNvPr id="19" name="Decorative: number circle">
            <a:extLst>
              <a:ext uri="{C183D7F6-B498-43B3-948B-1728B52AA6E4}">
                <adec:decorative xmlns:adec="http://schemas.microsoft.com/office/drawing/2017/decorative" val="1"/>
              </a:ext>
            </a:extLst>
          </p:cNvPr>
          <p:cNvSpPr/>
          <p:nvPr/>
        </p:nvSpPr>
        <p:spPr>
          <a:xfrm>
            <a:off x="548640" y="5440680"/>
            <a:ext cx="502920" cy="502920"/>
          </a:xfrm>
          <a:prstGeom prst="ellipse">
            <a:avLst/>
          </a:prstGeom>
          <a:solidFill>
            <a:srgbClr val="E7A614"/>
          </a:solidFill>
          <a:ln w="12700">
            <a:solidFill>
              <a:srgbClr val="E7A614"/>
            </a:solidFill>
            <a:prstDash val="solid"/>
          </a:ln>
        </p:spPr>
      </p:sp>
      <p:sp>
        <p:nvSpPr>
          <p:cNvPr id="20" name="Question 6 number"/>
          <p:cNvSpPr txBox="1"/>
          <p:nvPr/>
        </p:nvSpPr>
        <p:spPr>
          <a:xfrm>
            <a:off x="548640" y="5440680"/>
            <a:ext cx="502920" cy="502920"/>
          </a:xfrm>
          <a:prstGeom prst="rect">
            <a:avLst/>
          </a:prstGeom>
          <a:noFill/>
          <a:ln/>
        </p:spPr>
        <p:txBody>
          <a:bodyPr wrap="square" lIns="0" tIns="0" rIns="0" bIns="0" rtlCol="0" anchor="ctr"/>
          <a:lstStyle/>
          <a:p>
            <a:pPr algn="ctr" indent="0" marL="0">
              <a:buNone/>
            </a:pPr>
            <a:r>
              <a:rPr lang="en-US" sz="2200" b="1" dirty="0">
                <a:solidFill>
                  <a:schemeClr val="tx2"/>
                </a:solidFill>
              </a:rPr>
              <a:t>6</a:t>
            </a:r>
            <a:endParaRPr lang="en-US" sz="2200" dirty="0"/>
          </a:p>
        </p:txBody>
      </p:sp>
      <p:sp>
        <p:nvSpPr>
          <p:cNvPr id="21" name="Text 19"/>
          <p:cNvSpPr txBox="1"/>
          <p:nvPr/>
        </p:nvSpPr>
        <p:spPr>
          <a:xfrm>
            <a:off x="1325880" y="5440680"/>
            <a:ext cx="6903720" cy="502920"/>
          </a:xfrm>
          <a:prstGeom prst="rect">
            <a:avLst/>
          </a:prstGeom>
          <a:noFill/>
          <a:ln/>
        </p:spPr>
        <p:txBody>
          <a:bodyPr wrap="square" lIns="0" tIns="0" rIns="0" bIns="0" rtlCol="0" anchor="ctr"/>
          <a:lstStyle/>
          <a:p>
            <a:pPr indent="0" marL="0">
              <a:buNone/>
            </a:pPr>
            <a:r>
              <a:rPr lang="en-US" sz="2200" b="1" dirty="0">
                <a:solidFill>
                  <a:schemeClr val="tx2"/>
                </a:solidFill>
              </a:rPr>
              <a:t>One way you'll use a strength soon</a:t>
            </a:r>
            <a:endParaRPr lang="en-US" sz="2200" dirty="0"/>
          </a:p>
        </p:txBody>
      </p:sp>
      <p:sp>
        <p:nvSpPr>
          <p:cNvPr id="22"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3" name="Text 21"/>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Share your strength names with AI, not your name or personal details.</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Honest beats polished.</a:t>
            </a:r>
            <a:endParaRPr lang="en-US" sz="2200" dirty="0"/>
          </a:p>
          <a:p>
            <a:pPr indent="0" marL="0">
              <a:spcAft>
                <a:spcPts val="1000"/>
              </a:spcAft>
              <a:buNone/>
            </a:pPr>
            <a:r>
              <a:rPr lang="en-US" sz="2200" dirty="0">
                <a:solidFill>
                  <a:schemeClr val="tx1"/>
                </a:solidFill>
              </a:rPr>
              <a:t>No strength is good or bad.</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What matters most to you?</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Which value in your Top 5 surprised you, or didn't?</a:t>
            </a:r>
            <a:endParaRPr lang="en-US" sz="2400" dirty="0"/>
          </a:p>
          <a:p>
            <a:pPr marL="342900" indent="-342900">
              <a:spcAft>
                <a:spcPts val="1200"/>
              </a:spcAft>
              <a:buSzPct val="100000"/>
              <a:buFont typeface="+mj-lt"/>
              <a:buAutoNum type="arabicPeriod" startAt="1"/>
            </a:pPr>
            <a:r>
              <a:rPr lang="en-US" sz="2400" dirty="0">
                <a:solidFill>
                  <a:schemeClr val="bg1"/>
                </a:solidFill>
              </a:rPr>
              <a:t>Where did one of your values show up in a choice you made this week?</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share one example with the room.</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7: Knowing Your Strengths &amp; Values</dc:title>
  <dc:subject>FYE 100 instructor slides</dc:subject>
  <dc:creator>OCTC FYE 100</dc:creator>
  <cp:lastModifiedBy>OCTC FYE 100</cp:lastModifiedBy>
  <cp:revision>1</cp:revision>
  <dcterms:created xsi:type="dcterms:W3CDTF">2026-10-19T21:04:30Z</dcterms:created>
  <dcterms:modified xsi:type="dcterms:W3CDTF">2026-10-19T21:04:30Z</dcterms:modified>
</cp:coreProperties>
</file>