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64ceb15-ab28-b7ea-107b-9012b3cc0787}">
          <p14:sldIdLst>
            <p14:sldId id="256"/>
          </p14:sldIdLst>
        </p14:section>
        <p14:section name="This week" id="{17d9c13b-90d4-bf20-04ff-cd24351c25c8}">
          <p14:sldIdLst>
            <p14:sldId id="257"/>
          </p14:sldIdLst>
        </p14:section>
        <p14:section name="Lessons" id="{ddc930b5-c7e7-f0ce-50b9-d6d168dbcf26}">
          <p14:sldIdLst>
            <p14:sldId id="258"/>
            <p14:sldId id="259"/>
            <p14:sldId id="260"/>
            <p14:sldId id="261"/>
            <p14:sldId id="262"/>
            <p14:sldId id="263"/>
            <p14:sldId id="264"/>
            <p14:sldId id="265"/>
            <p14:sldId id="266"/>
          </p14:sldIdLst>
        </p14:section>
        <p14:section name="This week's work" id="{923d0e99-402d-81ef-4a18-b4bf820dd270}">
          <p14:sldIdLst>
            <p14:sldId id="267"/>
          </p14:sldIdLst>
        </p14:section>
        <p14:section name="Discussion" id="{e779d9db-f633-3917-def7-e07deafad403}">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capstone: STAR(T) Stories.
Anyone can claim a skill. Your stories show it. This deck walks through the framework, how to pick your stories, how to tell them, and how to make them strong.
The owl has a microphone this time. It's ready to tell its story, and by the end of the semester, so are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picture: four short, true stories, one for each of four Essential Skills.
Find a real moment for each skill. Draft it with a practice guide; there's one for each story in the STAR(T) Stories Guide. Tell it out loud in 2 to 4 minutes, or type it. Then submit each one in its own labeled journal in Blackboard.
The skills: Adaptability &amp; Leadership, Professionalism, Knowledge Application, and one of your choice.
Where this deck fits: introduce it in Module 9, work on it in Module 11, and finish in Module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idea behind the capstone. Anyone can claim a skill. "I'm a hard worker" is a claim. A specific, true story about a time you worked hard is evidence.
STAR comes from behavioral interviewing. When an interviewer says "Tell me about a time when...", they're asking for a STAR story. Many employers interview this way because past actions are the best evidence of what you'll do next.
This course adds a (T), Transfer, which turns a good story into a reflection on where you're headed.
Your capstone is four of these stories, for four of the 10 Essential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order.
Situation: set the scene in two or three sentences. Don't linger; it's setup, not the story.
Task: your part. What were you responsible for, and why was it yours?
Action: the most important step. Use "I": I decided, I reached out, I chose. "We" hides your contribution, even in a group.
Result: what happened because of what you did. Honest and imperfect beats vague and positive. "It went well" isn't a result.
Transfer: so what? Where does this skill show up next: your next semester, your program, your job? "This will help me in the future" isn't a Transfer. Say where, when, and how.
The two highlighted steps, Action and Transfer, are where most stories get stronger or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complete story, shortened from the full example in the STAR(T) Stories Guide. The skill is Knowledge Application.
Situation: working as a medical receptionist, a patient came in upset about a billing error, and the manager wasn't there.
Task: help her without making promises they couldn't keep.
Action: used what they'd learned in Medical Billing about how claims are processed, pulled up the account, and walked her through the codes and the next step, without guessing at the outcome.
Result: she calmed down and agreed to wait for the manager's follow-up, and thanked them for explaining.
Transfer: what they're learning in their program isn't just for tests. It's for moments when a real person needs someone who understands the system.
Point out: it isn't dramatic. A quiet moment at work, in class, or with family is exactly what STAR(T) is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skills are assigned: Adaptability &amp; Leadership, Professionalism, and Knowledge Application. The fourth is your choice from the other seven.
Adaptability &amp; Leadership: a time you adjusted when something changed, stepped up without being asked, or helped someone keep going. Leadership includes leading your own life.
Professionalism: a time you followed through when it was hard, owned a mistake, or were someone others could count on.
Knowledge Application: a time you used something you learned, in class, at work, or through experience, in a real situation.
Your choice: start the story by naming the skill and saying in a sentence or two why you chose it.
Stories can come from this course, work, family, or community. Find Your Stories in the guide has prompts for every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most students, picking the story is harder than telling it.
Start with your Mile Markers. Module 3 is full of Professionalism and Adaptability. Modules 6 and 8 are full of Knowledge Application. Module 10 is collaboration.
Then look at work, family, and community. A quiet moment counts: a shift that went sideways, a week you held things together at home, a time you stepped up for a group.
A good story is real, specific, and yours, and you can say what you did with "I."
Find Your Stories in the guide has prompts for all 10 skills. If one sparks a real memory, that might be your fourth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type their stories, but recording is strongly encouraged. In a real interview, you'll be talking, not typing.
A tight two-minute story that hits all five steps beats a wandering seven-minute one. Here's the shape: Situation 20 to 30 seconds, Task 15 to 20, Action 60 to 90, Result 20 to 30, Transfer 30 to 45. Most of the time goes to the Action.
The rambling problem: nervous people back up to add context and never reach the Action. The fix is to know your story before you hit record. Read your practice guide out loud once, with a timer.
And the reassurance: this isn't a public speaking class. Nobody is scoring eye contact, lighting, or voice. Stumble?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story by story.
Video, camera on: the closest thing to a real interview. Face a window and look at the camera.
Audio only: completely fine. A headphone mic often sounds better than the built-in one.
Record on your phone, then upload: a good backup if the Blackboard recorder gives you trouble.
Typed: type directly into the submission box. Uploaded documents aren't accepted, and all five steps are still required. The practice guides can copy a draft for you.
Recording in Blackboard: in the submission box, select the camera button in the editor toolbar, allow the camera or microphone, record, preview, then save and submit. On the app, tap + if the camera button isn't showing.
Find a quiet spot: a closed room, a parked car, an empty study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stories are scored the same way, on the story and its structure, whether they're recorded or typed.
A strong story has all five steps clearly there, an Action in "I" with specific decisions, a concrete Result, and a Transfer that names a real situation ahead. It could only belong to you.
Three fixes move almost any story up a level.
Swap "we" for "I": "We reorganized the schedule" becomes "I asked each person for their work hours, built a new schedule around them, and sent it to the group that night."
Make the Result concrete: "It went really well" becomes "Everyone made the next three meetings, and we turned the project in a day early."
Name where the Transfer goes: "This will help me in my future career" becomes "In clinicals next year I'll be coordinating with nurses on different shifts, and I now know to ask about everyone's constraints before I plan."
The full scoring levels are in What Makes a Strong Story in the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skill has its own labeled journal in Blackboard, so students can pace themselves and submit one story at a time. Because they're journals, students can add context they want their instructor to know.
The checklist: the journal matches the skill in the story; about 2 to 4 minutes recorded, or typed in the box rather than uploaded; all five steps in order; for the choice story, the skill and why at the start; and it sounds like the student.
On AI: it can help brainstorm which experience to use, or ask questions that help you remember details. It can't tell your story. The stories have to be in the student's own words and voice.
All four stories are due with Module 12, on Sunday. Check Blackboard for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stories are due with Module 12, on Sunday, earlier than the usual Monday so instructors can grade before final grades are due.
Each story has its own labeled journal in Blackboard. They don't have to go in all at once; students can submit them as they finish.
Scan the code for the STAR(T) Stories Guide. Each practice guide helps students find their story and draft it, and estimates how long the draft runs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In-class practice. This is the single most useful thing you can do with class time in Modules 11 and 12.
Pairs. One person tells a story in two minutes; the partner listens for the five steps, names the thinnest one, and asks one question about the Action. Then swap.
Expect nerves and rambling. That's the point of practicing here instead of in front of the camera. Remind students that the fix is knowing the story before they start, and that delivery isn't scored.
For online recordings: ask students to say one story out loud to anyone, a friend, a family member, or their phone, before they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CAPSTONE</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STAR(T) Stories</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Anyone can claim a skill. Your stories show it.</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CAPSTONE · THE BIG PICTURE</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Four true stories, four skills</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Search">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Find a real moment for each skill</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PencilLin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Draft it with a practice guide</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Mic">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Tell it out loud in 2 to 4 minutes</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Sen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Submit each one in its own journal</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Your four skills</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697480"/>
            <a:ext cx="621792" cy="621792"/>
          </a:xfrm>
          <a:prstGeom prst="rect">
            <a:avLst/>
          </a:prstGeom>
        </p:spPr>
      </p:pic>
      <p:sp>
        <p:nvSpPr>
          <p:cNvPr id="19" name="Text 12"/>
          <p:cNvSpPr txBox="1"/>
          <p:nvPr/>
        </p:nvSpPr>
        <p:spPr>
          <a:xfrm>
            <a:off x="8988552" y="265176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#5 </a:t>
            </a:r>
            <a:pPr indent="0" marL="0">
              <a:buNone/>
            </a:pPr>
            <a:r>
              <a:rPr lang="en-US" sz="2000" dirty="0">
                <a:solidFill>
                  <a:schemeClr val="tx1"/>
                </a:solidFill>
              </a:rPr>
              <a:t>Adaptability &amp; Leadership</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429000"/>
            <a:ext cx="621792" cy="621792"/>
          </a:xfrm>
          <a:prstGeom prst="rect">
            <a:avLst/>
          </a:prstGeom>
        </p:spPr>
      </p:pic>
      <p:sp>
        <p:nvSpPr>
          <p:cNvPr id="21" name="Text 13"/>
          <p:cNvSpPr txBox="1"/>
          <p:nvPr/>
        </p:nvSpPr>
        <p:spPr>
          <a:xfrm>
            <a:off x="8988552" y="338328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160520"/>
            <a:ext cx="621792" cy="621792"/>
          </a:xfrm>
          <a:prstGeom prst="rect">
            <a:avLst/>
          </a:prstGeom>
        </p:spPr>
      </p:pic>
      <p:sp>
        <p:nvSpPr>
          <p:cNvPr id="23" name="Text 14"/>
          <p:cNvSpPr txBox="1"/>
          <p:nvPr/>
        </p:nvSpPr>
        <p:spPr>
          <a:xfrm>
            <a:off x="8988552" y="411480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#9 </a:t>
            </a:r>
            <a:pPr indent="0" marL="0">
              <a:buNone/>
            </a:pPr>
            <a:r>
              <a:rPr lang="en-US" sz="2000" dirty="0">
                <a:solidFill>
                  <a:schemeClr val="tx1"/>
                </a:solidFill>
              </a:rPr>
              <a:t>Knowledge Application</a:t>
            </a:r>
            <a:endParaRPr lang="en-US" sz="2000" dirty="0"/>
          </a:p>
        </p:txBody>
      </p:sp>
      <p:sp>
        <p:nvSpPr>
          <p:cNvPr id="24" name="Decorative: choice coin">
            <a:extLst>
              <a:ext uri="{C183D7F6-B498-43B3-948B-1728B52AA6E4}">
                <adec:decorative xmlns:adec="http://schemas.microsoft.com/office/drawing/2017/decorative" val="1"/>
              </a:ext>
            </a:extLst>
          </p:cNvPr>
          <p:cNvSpPr/>
          <p:nvPr/>
        </p:nvSpPr>
        <p:spPr>
          <a:xfrm>
            <a:off x="8183880" y="4892040"/>
            <a:ext cx="621792" cy="621792"/>
          </a:xfrm>
          <a:prstGeom prst="ellipse">
            <a:avLst/>
          </a:prstGeom>
          <a:solidFill>
            <a:srgbClr val="FFFFFF"/>
          </a:solidFill>
          <a:ln w="25400">
            <a:solidFill>
              <a:srgbClr val="00467F"/>
            </a:solidFill>
            <a:prstDash val="dash"/>
          </a:ln>
        </p:spPr>
      </p:sp>
      <p:sp>
        <p:nvSpPr>
          <p:cNvPr id="25" name="Decorative: choice mark">
            <a:extLst>
              <a:ext uri="{C183D7F6-B498-43B3-948B-1728B52AA6E4}">
                <adec:decorative xmlns:adec="http://schemas.microsoft.com/office/drawing/2017/decorative" val="1"/>
              </a:ext>
            </a:extLst>
          </p:cNvPr>
          <p:cNvSpPr txBox="1"/>
          <p:nvPr/>
        </p:nvSpPr>
        <p:spPr>
          <a:xfrm>
            <a:off x="8183880" y="4892040"/>
            <a:ext cx="621792" cy="621792"/>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26" name="Text 17"/>
          <p:cNvSpPr txBox="1"/>
          <p:nvPr/>
        </p:nvSpPr>
        <p:spPr>
          <a:xfrm>
            <a:off x="8988552" y="484632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Your choice</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WHY STAR(T)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A claim isn't evidence</a:t>
            </a:r>
            <a:endParaRPr lang="en-US" sz="4000" dirty="0"/>
          </a:p>
        </p:txBody>
      </p:sp>
      <p:sp>
        <p:nvSpPr>
          <p:cNvPr id="4" name="Decorative: claim card">
            <a:extLst>
              <a:ext uri="{C183D7F6-B498-43B3-948B-1728B52AA6E4}">
                <adec:decorative xmlns:adec="http://schemas.microsoft.com/office/drawing/2017/decorative" val="1"/>
              </a:ext>
            </a:extLst>
          </p:cNvPr>
          <p:cNvSpPr/>
          <p:nvPr/>
        </p:nvSpPr>
        <p:spPr>
          <a:xfrm>
            <a:off x="548640" y="1874520"/>
            <a:ext cx="5364328" cy="2651760"/>
          </a:xfrm>
          <a:prstGeom prst="roundRect">
            <a:avLst>
              <a:gd name="adj" fmla="val 4138"/>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68680" y="2103120"/>
            <a:ext cx="4724248" cy="2286000"/>
          </a:xfrm>
          <a:prstGeom prst="rect">
            <a:avLst/>
          </a:prstGeom>
          <a:noFill/>
          <a:ln/>
        </p:spPr>
        <p:txBody>
          <a:bodyPr wrap="square" lIns="0" tIns="0" rIns="0" bIns="0" rtlCol="0" anchor="t"/>
          <a:lstStyle/>
          <a:p>
            <a:pPr indent="0" marL="0">
              <a:buNone/>
            </a:pPr>
            <a:r>
              <a:rPr lang="en-US" sz="2000" b="1" spc="200" kern="0" dirty="0">
                <a:solidFill>
                  <a:schemeClr val="accent4"/>
                </a:solidFill>
              </a:rPr>
              <a:t>A CLAIM</a:t>
            </a:r>
            <a:endParaRPr lang="en-US" sz="2400" dirty="0"/>
          </a:p>
          <a:p>
            <a:pPr indent="0" marL="0">
              <a:spcBef>
                <a:spcPts val="1000"/>
              </a:spcBef>
              <a:buNone/>
            </a:pPr>
            <a:r>
              <a:rPr lang="en-US" sz="3200" b="1" dirty="0">
                <a:solidFill>
                  <a:schemeClr val="tx2"/>
                </a:solidFill>
              </a:rPr>
              <a:t>"I'm a hard worker."</a:t>
            </a:r>
            <a:endParaRPr lang="en-US" sz="2400" dirty="0"/>
          </a:p>
        </p:txBody>
      </p:sp>
      <p:sp>
        <p:nvSpPr>
          <p:cNvPr id="6" name="Decorative: evidence card">
            <a:extLst>
              <a:ext uri="{C183D7F6-B498-43B3-948B-1728B52AA6E4}">
                <adec:decorative xmlns:adec="http://schemas.microsoft.com/office/drawing/2017/decorative" val="1"/>
              </a:ext>
            </a:extLst>
          </p:cNvPr>
          <p:cNvSpPr/>
          <p:nvPr/>
        </p:nvSpPr>
        <p:spPr>
          <a:xfrm>
            <a:off x="6278728" y="1874520"/>
            <a:ext cx="5364328" cy="2651760"/>
          </a:xfrm>
          <a:prstGeom prst="roundRect">
            <a:avLst>
              <a:gd name="adj" fmla="val 4138"/>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598768" y="2103120"/>
            <a:ext cx="4724248" cy="2286000"/>
          </a:xfrm>
          <a:prstGeom prst="rect">
            <a:avLst/>
          </a:prstGeom>
          <a:noFill/>
          <a:ln/>
        </p:spPr>
        <p:txBody>
          <a:bodyPr wrap="square" lIns="0" tIns="0" rIns="0" bIns="0" rtlCol="0" anchor="t"/>
          <a:lstStyle/>
          <a:p>
            <a:pPr indent="0" marL="0">
              <a:buNone/>
            </a:pPr>
            <a:r>
              <a:rPr lang="en-US" sz="2000" b="1" spc="200" kern="0" dirty="0">
                <a:solidFill>
                  <a:srgbClr val="7A5500"/>
                </a:solidFill>
              </a:rPr>
              <a:t>EVIDENCE</a:t>
            </a:r>
            <a:endParaRPr lang="en-US" sz="2400" dirty="0"/>
          </a:p>
          <a:p>
            <a:pPr indent="0" marL="0">
              <a:spcBef>
                <a:spcPts val="1000"/>
              </a:spcBef>
              <a:buNone/>
            </a:pPr>
            <a:r>
              <a:rPr lang="en-US" sz="2800" b="1" dirty="0">
                <a:solidFill>
                  <a:schemeClr val="tx2"/>
                </a:solidFill>
              </a:rPr>
              <a:t>A specific, true story about a time you showed it.</a:t>
            </a:r>
            <a:endParaRPr lang="en-US" sz="2400" dirty="0"/>
          </a:p>
        </p:txBody>
      </p:sp>
      <p:sp>
        <p:nvSpPr>
          <p:cNvPr id="8" name="Decorative: callout">
            <a:extLst>
              <a:ext uri="{C183D7F6-B498-43B3-948B-1728B52AA6E4}">
                <adec:decorative xmlns:adec="http://schemas.microsoft.com/office/drawing/2017/decorative" val="1"/>
              </a:ext>
            </a:extLst>
          </p:cNvPr>
          <p:cNvSpPr/>
          <p:nvPr/>
        </p:nvSpPr>
        <p:spPr>
          <a:xfrm>
            <a:off x="548640" y="493776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868680" y="504748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"Tell me about a time when..." is how employers interview. This is the practice.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THE FRAMEWORK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Five steps: S, T, A, R, T</a:t>
            </a:r>
            <a:endParaRPr lang="en-US" sz="4000" dirty="0"/>
          </a:p>
        </p:txBody>
      </p:sp>
      <p:sp>
        <p:nvSpPr>
          <p:cNvPr id="4" name="Decorative: step card">
            <a:extLst>
              <a:ext uri="{C183D7F6-B498-43B3-948B-1728B52AA6E4}">
                <adec:decorative xmlns:adec="http://schemas.microsoft.com/office/drawing/2017/decorative" val="1"/>
              </a:ext>
            </a:extLst>
          </p:cNvPr>
          <p:cNvSpPr/>
          <p:nvPr/>
        </p:nvSpPr>
        <p:spPr>
          <a:xfrm>
            <a:off x="548640" y="1828800"/>
            <a:ext cx="2057949" cy="3291840"/>
          </a:xfrm>
          <a:prstGeom prst="roundRect">
            <a:avLst>
              <a:gd name="adj" fmla="val 533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Letter S"/>
          <p:cNvSpPr txBox="1"/>
          <p:nvPr/>
        </p:nvSpPr>
        <p:spPr>
          <a:xfrm>
            <a:off x="777240" y="1920240"/>
            <a:ext cx="914400" cy="960120"/>
          </a:xfrm>
          <a:prstGeom prst="rect">
            <a:avLst/>
          </a:prstGeom>
          <a:noFill/>
          <a:ln/>
        </p:spPr>
        <p:txBody>
          <a:bodyPr wrap="square" lIns="0" tIns="0" rIns="0" bIns="0" rtlCol="0" anchor="t"/>
          <a:lstStyle/>
          <a:p>
            <a:pPr indent="0" marL="0">
              <a:buNone/>
            </a:pPr>
            <a:r>
              <a:rPr lang="en-US" sz="6400" b="1" dirty="0">
                <a:solidFill>
                  <a:schemeClr val="accent1"/>
                </a:solidFill>
              </a:rPr>
              <a:t>S</a:t>
            </a:r>
            <a:endParaRPr lang="en-US" sz="6400" dirty="0"/>
          </a:p>
        </p:txBody>
      </p:sp>
      <p:sp>
        <p:nvSpPr>
          <p:cNvPr id="6" name="Text 4"/>
          <p:cNvSpPr txBox="1"/>
          <p:nvPr/>
        </p:nvSpPr>
        <p:spPr>
          <a:xfrm>
            <a:off x="777240" y="2926080"/>
            <a:ext cx="1646469" cy="2057400"/>
          </a:xfrm>
          <a:prstGeom prst="rect">
            <a:avLst/>
          </a:prstGeom>
          <a:noFill/>
          <a:ln/>
        </p:spPr>
        <p:txBody>
          <a:bodyPr wrap="square" lIns="0" tIns="0" rIns="0" bIns="0" rtlCol="0" anchor="t"/>
          <a:lstStyle/>
          <a:p>
            <a:pPr indent="0" marL="0">
              <a:buNone/>
            </a:pPr>
            <a:r>
              <a:rPr lang="en-US" sz="2400" b="1" dirty="0">
                <a:solidFill>
                  <a:schemeClr val="tx2"/>
                </a:solidFill>
              </a:rPr>
              <a:t>Situation</a:t>
            </a:r>
            <a:endParaRPr lang="en-US" sz="2400" dirty="0"/>
          </a:p>
          <a:p>
            <a:pPr indent="0" marL="0">
              <a:spcBef>
                <a:spcPts val="600"/>
              </a:spcBef>
              <a:buNone/>
            </a:pPr>
            <a:r>
              <a:rPr lang="en-US" sz="2200" dirty="0">
                <a:solidFill>
                  <a:schemeClr val="tx1"/>
                </a:solidFill>
              </a:rPr>
              <a:t>What was going on?</a:t>
            </a:r>
            <a:endParaRPr lang="en-US" sz="2400" dirty="0"/>
          </a:p>
        </p:txBody>
      </p:sp>
      <p:sp>
        <p:nvSpPr>
          <p:cNvPr id="7" name="Decorative: step card">
            <a:extLst>
              <a:ext uri="{C183D7F6-B498-43B3-948B-1728B52AA6E4}">
                <adec:decorative xmlns:adec="http://schemas.microsoft.com/office/drawing/2017/decorative" val="1"/>
              </a:ext>
            </a:extLst>
          </p:cNvPr>
          <p:cNvSpPr/>
          <p:nvPr/>
        </p:nvSpPr>
        <p:spPr>
          <a:xfrm>
            <a:off x="2807757" y="1828800"/>
            <a:ext cx="2057949" cy="3291840"/>
          </a:xfrm>
          <a:prstGeom prst="roundRect">
            <a:avLst>
              <a:gd name="adj" fmla="val 533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8" name="Letter T"/>
          <p:cNvSpPr txBox="1"/>
          <p:nvPr/>
        </p:nvSpPr>
        <p:spPr>
          <a:xfrm>
            <a:off x="3036357" y="1920240"/>
            <a:ext cx="914400" cy="960120"/>
          </a:xfrm>
          <a:prstGeom prst="rect">
            <a:avLst/>
          </a:prstGeom>
          <a:noFill/>
          <a:ln/>
        </p:spPr>
        <p:txBody>
          <a:bodyPr wrap="square" lIns="0" tIns="0" rIns="0" bIns="0" rtlCol="0" anchor="t"/>
          <a:lstStyle/>
          <a:p>
            <a:pPr indent="0" marL="0">
              <a:buNone/>
            </a:pPr>
            <a:r>
              <a:rPr lang="en-US" sz="6400" b="1" dirty="0">
                <a:solidFill>
                  <a:schemeClr val="accent1"/>
                </a:solidFill>
              </a:rPr>
              <a:t>T</a:t>
            </a:r>
            <a:endParaRPr lang="en-US" sz="6400" dirty="0"/>
          </a:p>
        </p:txBody>
      </p:sp>
      <p:sp>
        <p:nvSpPr>
          <p:cNvPr id="9" name="Text 7"/>
          <p:cNvSpPr txBox="1"/>
          <p:nvPr/>
        </p:nvSpPr>
        <p:spPr>
          <a:xfrm>
            <a:off x="3036357" y="2926080"/>
            <a:ext cx="1646469" cy="2057400"/>
          </a:xfrm>
          <a:prstGeom prst="rect">
            <a:avLst/>
          </a:prstGeom>
          <a:noFill/>
          <a:ln/>
        </p:spPr>
        <p:txBody>
          <a:bodyPr wrap="square" lIns="0" tIns="0" rIns="0" bIns="0" rtlCol="0" anchor="t"/>
          <a:lstStyle/>
          <a:p>
            <a:pPr indent="0" marL="0">
              <a:buNone/>
            </a:pPr>
            <a:r>
              <a:rPr lang="en-US" sz="2400" b="1" dirty="0">
                <a:solidFill>
                  <a:schemeClr val="tx2"/>
                </a:solidFill>
              </a:rPr>
              <a:t>Task</a:t>
            </a:r>
            <a:endParaRPr lang="en-US" sz="2400" dirty="0"/>
          </a:p>
          <a:p>
            <a:pPr indent="0" marL="0">
              <a:spcBef>
                <a:spcPts val="600"/>
              </a:spcBef>
              <a:buNone/>
            </a:pPr>
            <a:r>
              <a:rPr lang="en-US" sz="2200" dirty="0">
                <a:solidFill>
                  <a:schemeClr val="tx1"/>
                </a:solidFill>
              </a:rPr>
              <a:t>What was yours to do?</a:t>
            </a:r>
            <a:endParaRPr lang="en-US" sz="2400" dirty="0"/>
          </a:p>
        </p:txBody>
      </p:sp>
      <p:sp>
        <p:nvSpPr>
          <p:cNvPr id="10" name="Decorative: step card">
            <a:extLst>
              <a:ext uri="{C183D7F6-B498-43B3-948B-1728B52AA6E4}">
                <adec:decorative xmlns:adec="http://schemas.microsoft.com/office/drawing/2017/decorative" val="1"/>
              </a:ext>
            </a:extLst>
          </p:cNvPr>
          <p:cNvSpPr/>
          <p:nvPr/>
        </p:nvSpPr>
        <p:spPr>
          <a:xfrm>
            <a:off x="5066873" y="1828800"/>
            <a:ext cx="2057949" cy="3291840"/>
          </a:xfrm>
          <a:prstGeom prst="roundRect">
            <a:avLst>
              <a:gd name="adj" fmla="val 533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1" name="Letter A"/>
          <p:cNvSpPr txBox="1"/>
          <p:nvPr/>
        </p:nvSpPr>
        <p:spPr>
          <a:xfrm>
            <a:off x="5295473" y="1920240"/>
            <a:ext cx="914400" cy="960120"/>
          </a:xfrm>
          <a:prstGeom prst="rect">
            <a:avLst/>
          </a:prstGeom>
          <a:noFill/>
          <a:ln/>
        </p:spPr>
        <p:txBody>
          <a:bodyPr wrap="square" lIns="0" tIns="0" rIns="0" bIns="0" rtlCol="0" anchor="t"/>
          <a:lstStyle/>
          <a:p>
            <a:pPr indent="0" marL="0">
              <a:buNone/>
            </a:pPr>
            <a:r>
              <a:rPr lang="en-US" sz="6400" b="1" dirty="0">
                <a:solidFill>
                  <a:srgbClr val="7A5500"/>
                </a:solidFill>
              </a:rPr>
              <a:t>A</a:t>
            </a:r>
            <a:endParaRPr lang="en-US" sz="6400" dirty="0"/>
          </a:p>
        </p:txBody>
      </p:sp>
      <p:sp>
        <p:nvSpPr>
          <p:cNvPr id="12" name="Text 10"/>
          <p:cNvSpPr txBox="1"/>
          <p:nvPr/>
        </p:nvSpPr>
        <p:spPr>
          <a:xfrm>
            <a:off x="5295473" y="2926080"/>
            <a:ext cx="1646469" cy="2057400"/>
          </a:xfrm>
          <a:prstGeom prst="rect">
            <a:avLst/>
          </a:prstGeom>
          <a:noFill/>
          <a:ln/>
        </p:spPr>
        <p:txBody>
          <a:bodyPr wrap="square" lIns="0" tIns="0" rIns="0" bIns="0" rtlCol="0" anchor="t"/>
          <a:lstStyle/>
          <a:p>
            <a:pPr indent="0" marL="0">
              <a:buNone/>
            </a:pPr>
            <a:r>
              <a:rPr lang="en-US" sz="2400" b="1" dirty="0">
                <a:solidFill>
                  <a:schemeClr val="tx2"/>
                </a:solidFill>
              </a:rPr>
              <a:t>Action</a:t>
            </a:r>
            <a:endParaRPr lang="en-US" sz="2400" dirty="0"/>
          </a:p>
          <a:p>
            <a:pPr indent="0" marL="0">
              <a:spcBef>
                <a:spcPts val="600"/>
              </a:spcBef>
              <a:buNone/>
            </a:pPr>
            <a:r>
              <a:rPr lang="en-US" sz="2200" dirty="0">
                <a:solidFill>
                  <a:schemeClr val="tx1"/>
                </a:solidFill>
              </a:rPr>
              <a:t>What did you do? Use "I."</a:t>
            </a:r>
            <a:endParaRPr lang="en-US" sz="2400" dirty="0"/>
          </a:p>
        </p:txBody>
      </p:sp>
      <p:sp>
        <p:nvSpPr>
          <p:cNvPr id="13" name="Decorative: step card">
            <a:extLst>
              <a:ext uri="{C183D7F6-B498-43B3-948B-1728B52AA6E4}">
                <adec:decorative xmlns:adec="http://schemas.microsoft.com/office/drawing/2017/decorative" val="1"/>
              </a:ext>
            </a:extLst>
          </p:cNvPr>
          <p:cNvSpPr/>
          <p:nvPr/>
        </p:nvSpPr>
        <p:spPr>
          <a:xfrm>
            <a:off x="7325990" y="1828800"/>
            <a:ext cx="2057949" cy="3291840"/>
          </a:xfrm>
          <a:prstGeom prst="roundRect">
            <a:avLst>
              <a:gd name="adj" fmla="val 533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4" name="Letter R"/>
          <p:cNvSpPr txBox="1"/>
          <p:nvPr/>
        </p:nvSpPr>
        <p:spPr>
          <a:xfrm>
            <a:off x="7554590" y="1920240"/>
            <a:ext cx="914400" cy="960120"/>
          </a:xfrm>
          <a:prstGeom prst="rect">
            <a:avLst/>
          </a:prstGeom>
          <a:noFill/>
          <a:ln/>
        </p:spPr>
        <p:txBody>
          <a:bodyPr wrap="square" lIns="0" tIns="0" rIns="0" bIns="0" rtlCol="0" anchor="t"/>
          <a:lstStyle/>
          <a:p>
            <a:pPr indent="0" marL="0">
              <a:buNone/>
            </a:pPr>
            <a:r>
              <a:rPr lang="en-US" sz="6400" b="1" dirty="0">
                <a:solidFill>
                  <a:schemeClr val="accent1"/>
                </a:solidFill>
              </a:rPr>
              <a:t>R</a:t>
            </a:r>
            <a:endParaRPr lang="en-US" sz="6400" dirty="0"/>
          </a:p>
        </p:txBody>
      </p:sp>
      <p:sp>
        <p:nvSpPr>
          <p:cNvPr id="15" name="Text 13"/>
          <p:cNvSpPr txBox="1"/>
          <p:nvPr/>
        </p:nvSpPr>
        <p:spPr>
          <a:xfrm>
            <a:off x="7554590" y="2926080"/>
            <a:ext cx="1646469" cy="2057400"/>
          </a:xfrm>
          <a:prstGeom prst="rect">
            <a:avLst/>
          </a:prstGeom>
          <a:noFill/>
          <a:ln/>
        </p:spPr>
        <p:txBody>
          <a:bodyPr wrap="square" lIns="0" tIns="0" rIns="0" bIns="0" rtlCol="0" anchor="t"/>
          <a:lstStyle/>
          <a:p>
            <a:pPr indent="0" marL="0">
              <a:buNone/>
            </a:pPr>
            <a:r>
              <a:rPr lang="en-US" sz="2400" b="1" dirty="0">
                <a:solidFill>
                  <a:schemeClr val="tx2"/>
                </a:solidFill>
              </a:rPr>
              <a:t>Result</a:t>
            </a:r>
            <a:endParaRPr lang="en-US" sz="2400" dirty="0"/>
          </a:p>
          <a:p>
            <a:pPr indent="0" marL="0">
              <a:spcBef>
                <a:spcPts val="600"/>
              </a:spcBef>
              <a:buNone/>
            </a:pPr>
            <a:r>
              <a:rPr lang="en-US" sz="2200" dirty="0">
                <a:solidFill>
                  <a:schemeClr val="tx1"/>
                </a:solidFill>
              </a:rPr>
              <a:t>What changed?</a:t>
            </a:r>
            <a:endParaRPr lang="en-US" sz="2400" dirty="0"/>
          </a:p>
        </p:txBody>
      </p:sp>
      <p:sp>
        <p:nvSpPr>
          <p:cNvPr id="16" name="Decorative: step card">
            <a:extLst>
              <a:ext uri="{C183D7F6-B498-43B3-948B-1728B52AA6E4}">
                <adec:decorative xmlns:adec="http://schemas.microsoft.com/office/drawing/2017/decorative" val="1"/>
              </a:ext>
            </a:extLst>
          </p:cNvPr>
          <p:cNvSpPr/>
          <p:nvPr/>
        </p:nvSpPr>
        <p:spPr>
          <a:xfrm>
            <a:off x="9585107" y="1828800"/>
            <a:ext cx="2057949" cy="3291840"/>
          </a:xfrm>
          <a:prstGeom prst="roundRect">
            <a:avLst>
              <a:gd name="adj" fmla="val 533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Letter T"/>
          <p:cNvSpPr txBox="1"/>
          <p:nvPr/>
        </p:nvSpPr>
        <p:spPr>
          <a:xfrm>
            <a:off x="9813707" y="1920240"/>
            <a:ext cx="914400" cy="960120"/>
          </a:xfrm>
          <a:prstGeom prst="rect">
            <a:avLst/>
          </a:prstGeom>
          <a:noFill/>
          <a:ln/>
        </p:spPr>
        <p:txBody>
          <a:bodyPr wrap="square" lIns="0" tIns="0" rIns="0" bIns="0" rtlCol="0" anchor="t"/>
          <a:lstStyle/>
          <a:p>
            <a:pPr indent="0" marL="0">
              <a:buNone/>
            </a:pPr>
            <a:r>
              <a:rPr lang="en-US" sz="6400" b="1" dirty="0">
                <a:solidFill>
                  <a:srgbClr val="7A5500"/>
                </a:solidFill>
              </a:rPr>
              <a:t>T</a:t>
            </a:r>
            <a:endParaRPr lang="en-US" sz="6400" dirty="0"/>
          </a:p>
        </p:txBody>
      </p:sp>
      <p:sp>
        <p:nvSpPr>
          <p:cNvPr id="18" name="Text 16"/>
          <p:cNvSpPr txBox="1"/>
          <p:nvPr/>
        </p:nvSpPr>
        <p:spPr>
          <a:xfrm>
            <a:off x="9813707" y="2926080"/>
            <a:ext cx="1646469" cy="2057400"/>
          </a:xfrm>
          <a:prstGeom prst="rect">
            <a:avLst/>
          </a:prstGeom>
          <a:noFill/>
          <a:ln/>
        </p:spPr>
        <p:txBody>
          <a:bodyPr wrap="square" lIns="0" tIns="0" rIns="0" bIns="0" rtlCol="0" anchor="t"/>
          <a:lstStyle/>
          <a:p>
            <a:pPr indent="0" marL="0">
              <a:buNone/>
            </a:pPr>
            <a:r>
              <a:rPr lang="en-US" sz="2400" b="1" dirty="0">
                <a:solidFill>
                  <a:schemeClr val="tx2"/>
                </a:solidFill>
              </a:rPr>
              <a:t>Transfer</a:t>
            </a:r>
            <a:endParaRPr lang="en-US" sz="2400" dirty="0"/>
          </a:p>
          <a:p>
            <a:pPr indent="0" marL="0">
              <a:spcBef>
                <a:spcPts val="600"/>
              </a:spcBef>
              <a:buNone/>
            </a:pPr>
            <a:r>
              <a:rPr lang="en-US" sz="2200" dirty="0">
                <a:solidFill>
                  <a:schemeClr val="tx1"/>
                </a:solidFill>
              </a:rPr>
              <a:t>Where does it go next?</a:t>
            </a:r>
            <a:endParaRPr lang="en-US" sz="2400" dirty="0"/>
          </a:p>
        </p:txBody>
      </p:sp>
      <p:sp>
        <p:nvSpPr>
          <p:cNvPr id="19" name="Decorative: callout">
            <a:extLst>
              <a:ext uri="{C183D7F6-B498-43B3-948B-1728B52AA6E4}">
                <adec:decorative xmlns:adec="http://schemas.microsoft.com/office/drawing/2017/decorative" val="1"/>
              </a:ext>
            </a:extLst>
          </p:cNvPr>
          <p:cNvSpPr/>
          <p:nvPr/>
        </p:nvSpPr>
        <p:spPr>
          <a:xfrm>
            <a:off x="548640" y="53492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868680" y="54589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The Action is where the skill lives. The Transfer is what sets a strong story apart.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THE FRAMEWORK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What one sounds like</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783080"/>
            <a:ext cx="640080" cy="640080"/>
          </a:xfrm>
          <a:prstGeom prst="rect">
            <a:avLst/>
          </a:prstGeom>
        </p:spPr>
      </p:pic>
      <p:sp>
        <p:nvSpPr>
          <p:cNvPr id="5" name="Text 2"/>
          <p:cNvSpPr txBox="1"/>
          <p:nvPr/>
        </p:nvSpPr>
        <p:spPr>
          <a:xfrm>
            <a:off x="1371600" y="1783080"/>
            <a:ext cx="10058400" cy="640080"/>
          </a:xfrm>
          <a:prstGeom prst="rect">
            <a:avLst/>
          </a:prstGeom>
          <a:noFill/>
          <a:ln/>
        </p:spPr>
        <p:txBody>
          <a:bodyPr wrap="square" lIns="0" tIns="0" rIns="0" bIns="0" rtlCol="0" anchor="ctr"/>
          <a:lstStyle/>
          <a:p>
            <a:pPr indent="0" marL="0">
              <a:buNone/>
            </a:pPr>
            <a:r>
              <a:rPr lang="en-US" sz="2200" i="1" dirty="0">
                <a:solidFill>
                  <a:schemeClr val="accent6"/>
                </a:solidFill>
              </a:rPr>
              <a:t>Example: Knowledge Application, from the STAR(T) Stories Guide</a:t>
            </a:r>
            <a:endParaRPr lang="en-US" sz="2200" dirty="0"/>
          </a:p>
        </p:txBody>
      </p:sp>
      <p:sp>
        <p:nvSpPr>
          <p:cNvPr id="6" name="Decorative: story row">
            <a:extLst>
              <a:ext uri="{C183D7F6-B498-43B3-948B-1728B52AA6E4}">
                <adec:decorative xmlns:adec="http://schemas.microsoft.com/office/drawing/2017/decorative" val="1"/>
              </a:ext>
            </a:extLst>
          </p:cNvPr>
          <p:cNvSpPr/>
          <p:nvPr/>
        </p:nvSpPr>
        <p:spPr>
          <a:xfrm>
            <a:off x="548640" y="2606040"/>
            <a:ext cx="11094415"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22960" y="2606040"/>
            <a:ext cx="10545775" cy="603504"/>
          </a:xfrm>
          <a:prstGeom prst="rect">
            <a:avLst/>
          </a:prstGeom>
          <a:noFill/>
          <a:ln/>
        </p:spPr>
        <p:txBody>
          <a:bodyPr wrap="square" lIns="0" tIns="0" rIns="0" bIns="0" rtlCol="0" anchor="ctr"/>
          <a:lstStyle/>
          <a:p>
            <a:pPr indent="0" marL="0">
              <a:buNone/>
            </a:pPr>
            <a:r>
              <a:rPr lang="en-US" sz="2200" b="1" dirty="0">
                <a:solidFill>
                  <a:schemeClr val="accent1"/>
                </a:solidFill>
              </a:rPr>
              <a:t>S   </a:t>
            </a:r>
            <a:pPr indent="0" marL="0">
              <a:buNone/>
            </a:pPr>
            <a:r>
              <a:rPr lang="en-US" sz="2200" dirty="0">
                <a:solidFill>
                  <a:schemeClr val="tx1"/>
                </a:solidFill>
              </a:rPr>
              <a:t>A patient at the front desk where I work was upset about a billing error.</a:t>
            </a:r>
            <a:endParaRPr lang="en-US" sz="2200" dirty="0"/>
          </a:p>
        </p:txBody>
      </p:sp>
      <p:sp>
        <p:nvSpPr>
          <p:cNvPr id="8" name="Decorative: story row">
            <a:extLst>
              <a:ext uri="{C183D7F6-B498-43B3-948B-1728B52AA6E4}">
                <adec:decorative xmlns:adec="http://schemas.microsoft.com/office/drawing/2017/decorative" val="1"/>
              </a:ext>
            </a:extLst>
          </p:cNvPr>
          <p:cNvSpPr/>
          <p:nvPr/>
        </p:nvSpPr>
        <p:spPr>
          <a:xfrm>
            <a:off x="548640" y="3319272"/>
            <a:ext cx="11094415"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822960" y="3319272"/>
            <a:ext cx="10545775" cy="603504"/>
          </a:xfrm>
          <a:prstGeom prst="rect">
            <a:avLst/>
          </a:prstGeom>
          <a:noFill/>
          <a:ln/>
        </p:spPr>
        <p:txBody>
          <a:bodyPr wrap="square" lIns="0" tIns="0" rIns="0" bIns="0" rtlCol="0" anchor="ctr"/>
          <a:lstStyle/>
          <a:p>
            <a:pPr indent="0" marL="0">
              <a:buNone/>
            </a:pPr>
            <a:r>
              <a:rPr lang="en-US" sz="2200" b="1" dirty="0">
                <a:solidFill>
                  <a:schemeClr val="accent1"/>
                </a:solidFill>
              </a:rPr>
              <a:t>T   </a:t>
            </a:r>
            <a:pPr indent="0" marL="0">
              <a:buNone/>
            </a:pPr>
            <a:r>
              <a:rPr lang="en-US" sz="2200" dirty="0">
                <a:solidFill>
                  <a:schemeClr val="tx1"/>
                </a:solidFill>
              </a:rPr>
              <a:t>I needed to help without promising anything I couldn't keep.</a:t>
            </a:r>
            <a:endParaRPr lang="en-US" sz="2200" dirty="0"/>
          </a:p>
        </p:txBody>
      </p:sp>
      <p:sp>
        <p:nvSpPr>
          <p:cNvPr id="10" name="Decorative: story row">
            <a:extLst>
              <a:ext uri="{C183D7F6-B498-43B3-948B-1728B52AA6E4}">
                <adec:decorative xmlns:adec="http://schemas.microsoft.com/office/drawing/2017/decorative" val="1"/>
              </a:ext>
            </a:extLst>
          </p:cNvPr>
          <p:cNvSpPr/>
          <p:nvPr/>
        </p:nvSpPr>
        <p:spPr>
          <a:xfrm>
            <a:off x="548640" y="4032504"/>
            <a:ext cx="11094415" cy="603504"/>
          </a:xfrm>
          <a:prstGeom prst="roundRect">
            <a:avLst>
              <a:gd name="adj" fmla="val 1818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822960" y="4032504"/>
            <a:ext cx="10545775" cy="603504"/>
          </a:xfrm>
          <a:prstGeom prst="rect">
            <a:avLst/>
          </a:prstGeom>
          <a:noFill/>
          <a:ln/>
        </p:spPr>
        <p:txBody>
          <a:bodyPr wrap="square" lIns="0" tIns="0" rIns="0" bIns="0" rtlCol="0" anchor="ctr"/>
          <a:lstStyle/>
          <a:p>
            <a:pPr indent="0" marL="0">
              <a:buNone/>
            </a:pPr>
            <a:r>
              <a:rPr lang="en-US" sz="2200" b="1" dirty="0">
                <a:solidFill>
                  <a:srgbClr val="7A5500"/>
                </a:solidFill>
              </a:rPr>
              <a:t>A   </a:t>
            </a:r>
            <a:pPr indent="0" marL="0">
              <a:buNone/>
            </a:pPr>
            <a:r>
              <a:rPr lang="en-US" sz="2200" dirty="0">
                <a:solidFill>
                  <a:schemeClr val="tx1"/>
                </a:solidFill>
              </a:rPr>
              <a:t>I used my Medical Billing course to walk her through the codes and the next step.</a:t>
            </a:r>
            <a:endParaRPr lang="en-US" sz="2200" dirty="0"/>
          </a:p>
        </p:txBody>
      </p:sp>
      <p:sp>
        <p:nvSpPr>
          <p:cNvPr id="12" name="Decorative: story row">
            <a:extLst>
              <a:ext uri="{C183D7F6-B498-43B3-948B-1728B52AA6E4}">
                <adec:decorative xmlns:adec="http://schemas.microsoft.com/office/drawing/2017/decorative" val="1"/>
              </a:ext>
            </a:extLst>
          </p:cNvPr>
          <p:cNvSpPr/>
          <p:nvPr/>
        </p:nvSpPr>
        <p:spPr>
          <a:xfrm>
            <a:off x="548640" y="4745736"/>
            <a:ext cx="11094415"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822960" y="4745736"/>
            <a:ext cx="10545775" cy="603504"/>
          </a:xfrm>
          <a:prstGeom prst="rect">
            <a:avLst/>
          </a:prstGeom>
          <a:noFill/>
          <a:ln/>
        </p:spPr>
        <p:txBody>
          <a:bodyPr wrap="square" lIns="0" tIns="0" rIns="0" bIns="0" rtlCol="0" anchor="ctr"/>
          <a:lstStyle/>
          <a:p>
            <a:pPr indent="0" marL="0">
              <a:buNone/>
            </a:pPr>
            <a:r>
              <a:rPr lang="en-US" sz="2200" b="1" dirty="0">
                <a:solidFill>
                  <a:schemeClr val="accent1"/>
                </a:solidFill>
              </a:rPr>
              <a:t>R   </a:t>
            </a:r>
            <a:pPr indent="0" marL="0">
              <a:buNone/>
            </a:pPr>
            <a:r>
              <a:rPr lang="en-US" sz="2200" dirty="0">
                <a:solidFill>
                  <a:schemeClr val="tx1"/>
                </a:solidFill>
              </a:rPr>
              <a:t>She calmed down and agreed to wait for the manager to follow up.</a:t>
            </a:r>
            <a:endParaRPr lang="en-US" sz="2200" dirty="0"/>
          </a:p>
        </p:txBody>
      </p:sp>
      <p:sp>
        <p:nvSpPr>
          <p:cNvPr id="14" name="Decorative: story row">
            <a:extLst>
              <a:ext uri="{C183D7F6-B498-43B3-948B-1728B52AA6E4}">
                <adec:decorative xmlns:adec="http://schemas.microsoft.com/office/drawing/2017/decorative" val="1"/>
              </a:ext>
            </a:extLst>
          </p:cNvPr>
          <p:cNvSpPr/>
          <p:nvPr/>
        </p:nvSpPr>
        <p:spPr>
          <a:xfrm>
            <a:off x="548640" y="5458968"/>
            <a:ext cx="11094415" cy="603504"/>
          </a:xfrm>
          <a:prstGeom prst="roundRect">
            <a:avLst>
              <a:gd name="adj" fmla="val 1818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822960" y="5458968"/>
            <a:ext cx="10545775" cy="603504"/>
          </a:xfrm>
          <a:prstGeom prst="rect">
            <a:avLst/>
          </a:prstGeom>
          <a:noFill/>
          <a:ln/>
        </p:spPr>
        <p:txBody>
          <a:bodyPr wrap="square" lIns="0" tIns="0" rIns="0" bIns="0" rtlCol="0" anchor="ctr"/>
          <a:lstStyle/>
          <a:p>
            <a:pPr indent="0" marL="0">
              <a:buNone/>
            </a:pPr>
            <a:r>
              <a:rPr lang="en-US" sz="2200" b="1" dirty="0">
                <a:solidFill>
                  <a:schemeClr val="accent1"/>
                </a:solidFill>
              </a:rPr>
              <a:t>T   </a:t>
            </a:r>
            <a:pPr indent="0" marL="0">
              <a:buNone/>
            </a:pPr>
            <a:r>
              <a:rPr lang="en-US" sz="2200" dirty="0">
                <a:solidFill>
                  <a:schemeClr val="tx1"/>
                </a:solidFill>
              </a:rPr>
              <a:t>What I'm learning is for moments like that, not just tests.</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FIND YOUR STORIES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four skills</a:t>
            </a:r>
            <a:endParaRPr lang="en-US" sz="4000" dirty="0"/>
          </a:p>
        </p:txBody>
      </p:sp>
      <p:sp>
        <p:nvSpPr>
          <p:cNvPr id="4" name="Decorative: skill card">
            <a:extLst>
              <a:ext uri="{C183D7F6-B498-43B3-948B-1728B52AA6E4}">
                <adec:decorative xmlns:adec="http://schemas.microsoft.com/office/drawing/2017/decorative" val="1"/>
              </a:ext>
            </a:extLst>
          </p:cNvPr>
          <p:cNvSpPr/>
          <p:nvPr/>
        </p:nvSpPr>
        <p:spPr>
          <a:xfrm>
            <a:off x="548640" y="1828800"/>
            <a:ext cx="2567864" cy="379476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pic>
        <p:nvPicPr>
          <p:cNvPr id="5"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2960" y="2103120"/>
            <a:ext cx="868680" cy="868680"/>
          </a:xfrm>
          <a:prstGeom prst="rect">
            <a:avLst/>
          </a:prstGeom>
        </p:spPr>
      </p:pic>
      <p:sp>
        <p:nvSpPr>
          <p:cNvPr id="6" name="Text 3"/>
          <p:cNvSpPr txBox="1"/>
          <p:nvPr/>
        </p:nvSpPr>
        <p:spPr>
          <a:xfrm>
            <a:off x="822960" y="3154680"/>
            <a:ext cx="2019224" cy="2377440"/>
          </a:xfrm>
          <a:prstGeom prst="rect">
            <a:avLst/>
          </a:prstGeom>
          <a:noFill/>
          <a:ln/>
        </p:spPr>
        <p:txBody>
          <a:bodyPr wrap="square" lIns="0" tIns="0" rIns="0" bIns="0" rtlCol="0" anchor="t"/>
          <a:lstStyle/>
          <a:p>
            <a:pPr indent="0" marL="0">
              <a:buNone/>
            </a:pPr>
            <a:r>
              <a:rPr lang="en-US" sz="2400" b="1" dirty="0">
                <a:solidFill>
                  <a:schemeClr val="tx2"/>
                </a:solidFill>
              </a:rPr>
              <a:t>Adaptability &amp; Leadership</a:t>
            </a:r>
            <a:endParaRPr lang="en-US" sz="2400" dirty="0"/>
          </a:p>
          <a:p>
            <a:pPr indent="0" marL="0">
              <a:spcBef>
                <a:spcPts val="800"/>
              </a:spcBef>
              <a:buNone/>
            </a:pPr>
            <a:r>
              <a:rPr lang="en-US" sz="2200" dirty="0">
                <a:solidFill>
                  <a:schemeClr val="tx1"/>
                </a:solidFill>
              </a:rPr>
              <a:t>You adjusted, or stepped up without being asked.</a:t>
            </a:r>
            <a:endParaRPr lang="en-US" sz="2400" dirty="0"/>
          </a:p>
        </p:txBody>
      </p:sp>
      <p:sp>
        <p:nvSpPr>
          <p:cNvPr id="7" name="Decorative: skill card">
            <a:extLst>
              <a:ext uri="{C183D7F6-B498-43B3-948B-1728B52AA6E4}">
                <adec:decorative xmlns:adec="http://schemas.microsoft.com/office/drawing/2017/decorative" val="1"/>
              </a:ext>
            </a:extLst>
          </p:cNvPr>
          <p:cNvSpPr/>
          <p:nvPr/>
        </p:nvSpPr>
        <p:spPr>
          <a:xfrm>
            <a:off x="3390824" y="1828800"/>
            <a:ext cx="2567864" cy="379476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pic>
        <p:nvPicPr>
          <p:cNvPr id="8" name="Decorative: skill coin">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65144" y="2103120"/>
            <a:ext cx="868680" cy="868680"/>
          </a:xfrm>
          <a:prstGeom prst="rect">
            <a:avLst/>
          </a:prstGeom>
        </p:spPr>
      </p:pic>
      <p:sp>
        <p:nvSpPr>
          <p:cNvPr id="9" name="Text 5"/>
          <p:cNvSpPr txBox="1"/>
          <p:nvPr/>
        </p:nvSpPr>
        <p:spPr>
          <a:xfrm>
            <a:off x="3665144" y="3154680"/>
            <a:ext cx="2019224" cy="2377440"/>
          </a:xfrm>
          <a:prstGeom prst="rect">
            <a:avLst/>
          </a:prstGeom>
          <a:noFill/>
          <a:ln/>
        </p:spPr>
        <p:txBody>
          <a:bodyPr wrap="square" lIns="0" tIns="0" rIns="0" bIns="0" rtlCol="0" anchor="t"/>
          <a:lstStyle/>
          <a:p>
            <a:pPr indent="0" marL="0">
              <a:buNone/>
            </a:pPr>
            <a:r>
              <a:rPr lang="en-US" sz="2400" b="1" dirty="0">
                <a:solidFill>
                  <a:schemeClr val="tx2"/>
                </a:solidFill>
              </a:rPr>
              <a:t>Professionalism</a:t>
            </a:r>
            <a:endParaRPr lang="en-US" sz="2400" dirty="0"/>
          </a:p>
          <a:p>
            <a:pPr indent="0" marL="0">
              <a:spcBef>
                <a:spcPts val="800"/>
              </a:spcBef>
              <a:buNone/>
            </a:pPr>
            <a:r>
              <a:rPr lang="en-US" sz="2200" dirty="0">
                <a:solidFill>
                  <a:schemeClr val="tx1"/>
                </a:solidFill>
              </a:rPr>
              <a:t>You followed through when it was hard.</a:t>
            </a:r>
            <a:endParaRPr lang="en-US" sz="2400" dirty="0"/>
          </a:p>
        </p:txBody>
      </p:sp>
      <p:sp>
        <p:nvSpPr>
          <p:cNvPr id="10" name="Decorative: skill card">
            <a:extLst>
              <a:ext uri="{C183D7F6-B498-43B3-948B-1728B52AA6E4}">
                <adec:decorative xmlns:adec="http://schemas.microsoft.com/office/drawing/2017/decorative" val="1"/>
              </a:ext>
            </a:extLst>
          </p:cNvPr>
          <p:cNvSpPr/>
          <p:nvPr/>
        </p:nvSpPr>
        <p:spPr>
          <a:xfrm>
            <a:off x="6233008" y="1828800"/>
            <a:ext cx="2567864" cy="379476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pic>
        <p:nvPicPr>
          <p:cNvPr id="11" name="Decorative: skill coin">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07328" y="2103120"/>
            <a:ext cx="868680" cy="868680"/>
          </a:xfrm>
          <a:prstGeom prst="rect">
            <a:avLst/>
          </a:prstGeom>
        </p:spPr>
      </p:pic>
      <p:sp>
        <p:nvSpPr>
          <p:cNvPr id="12" name="Text 7"/>
          <p:cNvSpPr txBox="1"/>
          <p:nvPr/>
        </p:nvSpPr>
        <p:spPr>
          <a:xfrm>
            <a:off x="6507328" y="3154680"/>
            <a:ext cx="2019224" cy="2377440"/>
          </a:xfrm>
          <a:prstGeom prst="rect">
            <a:avLst/>
          </a:prstGeom>
          <a:noFill/>
          <a:ln/>
        </p:spPr>
        <p:txBody>
          <a:bodyPr wrap="square" lIns="0" tIns="0" rIns="0" bIns="0" rtlCol="0" anchor="t"/>
          <a:lstStyle/>
          <a:p>
            <a:pPr indent="0" marL="0">
              <a:buNone/>
            </a:pPr>
            <a:r>
              <a:rPr lang="en-US" sz="2400" b="1" dirty="0">
                <a:solidFill>
                  <a:schemeClr val="tx2"/>
                </a:solidFill>
              </a:rPr>
              <a:t>Knowledge Application</a:t>
            </a:r>
            <a:endParaRPr lang="en-US" sz="2400" dirty="0"/>
          </a:p>
          <a:p>
            <a:pPr indent="0" marL="0">
              <a:spcBef>
                <a:spcPts val="800"/>
              </a:spcBef>
              <a:buNone/>
            </a:pPr>
            <a:r>
              <a:rPr lang="en-US" sz="2200" dirty="0">
                <a:solidFill>
                  <a:schemeClr val="tx1"/>
                </a:solidFill>
              </a:rPr>
              <a:t>You used something you learned in a real situation.</a:t>
            </a:r>
            <a:endParaRPr lang="en-US" sz="2400" dirty="0"/>
          </a:p>
        </p:txBody>
      </p:sp>
      <p:sp>
        <p:nvSpPr>
          <p:cNvPr id="13" name="Decorative: skill card">
            <a:extLst>
              <a:ext uri="{C183D7F6-B498-43B3-948B-1728B52AA6E4}">
                <adec:decorative xmlns:adec="http://schemas.microsoft.com/office/drawing/2017/decorative" val="1"/>
              </a:ext>
            </a:extLst>
          </p:cNvPr>
          <p:cNvSpPr/>
          <p:nvPr/>
        </p:nvSpPr>
        <p:spPr>
          <a:xfrm>
            <a:off x="9075191" y="1828800"/>
            <a:ext cx="2567864" cy="3794760"/>
          </a:xfrm>
          <a:prstGeom prst="roundRect">
            <a:avLst>
              <a:gd name="adj" fmla="val 427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4" name="Decorative: choice coin">
            <a:extLst>
              <a:ext uri="{C183D7F6-B498-43B3-948B-1728B52AA6E4}">
                <adec:decorative xmlns:adec="http://schemas.microsoft.com/office/drawing/2017/decorative" val="1"/>
              </a:ext>
            </a:extLst>
          </p:cNvPr>
          <p:cNvSpPr/>
          <p:nvPr/>
        </p:nvSpPr>
        <p:spPr>
          <a:xfrm>
            <a:off x="9349511" y="2103120"/>
            <a:ext cx="868680" cy="868680"/>
          </a:xfrm>
          <a:prstGeom prst="ellipse">
            <a:avLst/>
          </a:prstGeom>
          <a:solidFill>
            <a:srgbClr val="FFFFFF"/>
          </a:solidFill>
          <a:ln w="31750">
            <a:solidFill>
              <a:srgbClr val="E7A614"/>
            </a:solidFill>
            <a:prstDash val="dash"/>
          </a:ln>
        </p:spPr>
      </p:sp>
      <p:sp>
        <p:nvSpPr>
          <p:cNvPr id="15" name="Decorative: choice mark">
            <a:extLst>
              <a:ext uri="{C183D7F6-B498-43B3-948B-1728B52AA6E4}">
                <adec:decorative xmlns:adec="http://schemas.microsoft.com/office/drawing/2017/decorative" val="1"/>
              </a:ext>
            </a:extLst>
          </p:cNvPr>
          <p:cNvSpPr txBox="1"/>
          <p:nvPr/>
        </p:nvSpPr>
        <p:spPr>
          <a:xfrm>
            <a:off x="9349511" y="2103120"/>
            <a:ext cx="868680" cy="868680"/>
          </a:xfrm>
          <a:prstGeom prst="rect">
            <a:avLst/>
          </a:prstGeom>
          <a:noFill/>
          <a:ln/>
        </p:spPr>
        <p:txBody>
          <a:bodyPr wrap="square" lIns="0" tIns="0" rIns="0" bIns="0" rtlCol="0" anchor="ctr"/>
          <a:lstStyle/>
          <a:p>
            <a:pPr algn="ctr" indent="0" marL="0">
              <a:buNone/>
            </a:pPr>
            <a:r>
              <a:rPr lang="en-US" sz="3400" b="1" dirty="0">
                <a:solidFill>
                  <a:srgbClr val="7A5500"/>
                </a:solidFill>
              </a:rPr>
              <a:t>?</a:t>
            </a:r>
            <a:endParaRPr lang="en-US" sz="3400" dirty="0"/>
          </a:p>
        </p:txBody>
      </p:sp>
      <p:sp>
        <p:nvSpPr>
          <p:cNvPr id="16" name="Text 11"/>
          <p:cNvSpPr txBox="1"/>
          <p:nvPr/>
        </p:nvSpPr>
        <p:spPr>
          <a:xfrm>
            <a:off x="9349511" y="3154680"/>
            <a:ext cx="2019224" cy="2377440"/>
          </a:xfrm>
          <a:prstGeom prst="rect">
            <a:avLst/>
          </a:prstGeom>
          <a:noFill/>
          <a:ln/>
        </p:spPr>
        <p:txBody>
          <a:bodyPr wrap="square" lIns="0" tIns="0" rIns="0" bIns="0" rtlCol="0" anchor="t"/>
          <a:lstStyle/>
          <a:p>
            <a:pPr indent="0" marL="0">
              <a:buNone/>
            </a:pPr>
            <a:r>
              <a:rPr lang="en-US" sz="2400" b="1" dirty="0">
                <a:solidFill>
                  <a:schemeClr val="tx2"/>
                </a:solidFill>
              </a:rPr>
              <a:t>Your choice</a:t>
            </a:r>
            <a:endParaRPr lang="en-US" sz="2400" dirty="0"/>
          </a:p>
          <a:p>
            <a:pPr indent="0" marL="0">
              <a:spcBef>
                <a:spcPts val="800"/>
              </a:spcBef>
              <a:buNone/>
            </a:pPr>
            <a:r>
              <a:rPr lang="en-US" sz="2200" dirty="0">
                <a:solidFill>
                  <a:schemeClr val="tx1"/>
                </a:solidFill>
              </a:rPr>
              <a:t>Any other skill. Say which, and why.</a:t>
            </a:r>
            <a:endParaRPr lang="en-US" sz="2400" dirty="0"/>
          </a:p>
        </p:txBody>
      </p:sp>
      <p:sp>
        <p:nvSpPr>
          <p:cNvPr id="17" name="Decorative: callout">
            <a:extLst>
              <a:ext uri="{C183D7F6-B498-43B3-948B-1728B52AA6E4}">
                <adec:decorative xmlns:adec="http://schemas.microsoft.com/office/drawing/2017/decorative" val="1"/>
              </a:ext>
            </a:extLst>
          </p:cNvPr>
          <p:cNvSpPr/>
          <p:nvPr/>
        </p:nvSpPr>
        <p:spPr>
          <a:xfrm>
            <a:off x="548640" y="57607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8" name="Text 13"/>
          <p:cNvSpPr txBox="1"/>
          <p:nvPr/>
        </p:nvSpPr>
        <p:spPr>
          <a:xfrm>
            <a:off x="868680" y="58704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Real, specific, and yours. It doesn't have to be dramatic.</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FIND YOUR STORIES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Where to look</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2567864" cy="283464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Flag">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019224" cy="1554480"/>
          </a:xfrm>
          <a:prstGeom prst="rect">
            <a:avLst/>
          </a:prstGeom>
          <a:noFill/>
          <a:ln/>
        </p:spPr>
        <p:txBody>
          <a:bodyPr wrap="square" lIns="0" tIns="0" rIns="0" bIns="0" rtlCol="0" anchor="t"/>
          <a:lstStyle/>
          <a:p>
            <a:pPr indent="0" marL="0">
              <a:buNone/>
            </a:pPr>
            <a:r>
              <a:rPr lang="en-US" sz="2600" b="1" dirty="0">
                <a:solidFill>
                  <a:schemeClr val="tx2"/>
                </a:solidFill>
              </a:rPr>
              <a:t>Mile Markers</a:t>
            </a:r>
            <a:endParaRPr lang="en-US" sz="2400" dirty="0"/>
          </a:p>
          <a:p>
            <a:pPr indent="0" marL="0">
              <a:spcBef>
                <a:spcPts val="600"/>
              </a:spcBef>
              <a:buNone/>
            </a:pPr>
            <a:r>
              <a:rPr lang="en-US" sz="2400" dirty="0">
                <a:solidFill>
                  <a:schemeClr val="tx1"/>
                </a:solidFill>
              </a:rPr>
              <a:t>Stories you already wrote.</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3390824" y="1874520"/>
            <a:ext cx="2567864" cy="283464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665144" y="2148840"/>
            <a:ext cx="685800" cy="685800"/>
          </a:xfrm>
          <a:prstGeom prst="ellipse">
            <a:avLst/>
          </a:prstGeom>
          <a:solidFill>
            <a:srgbClr val="00467F"/>
          </a:solidFill>
          <a:ln w="12700">
            <a:solidFill>
              <a:srgbClr val="00467F"/>
            </a:solidFill>
            <a:prstDash val="solid"/>
          </a:ln>
        </p:spPr>
      </p:sp>
      <p:pic>
        <p:nvPicPr>
          <p:cNvPr id="10" name="Decorative: LuBriefcas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16020" y="2299716"/>
            <a:ext cx="384048" cy="384048"/>
          </a:xfrm>
          <a:prstGeom prst="rect">
            <a:avLst/>
          </a:prstGeom>
        </p:spPr>
      </p:pic>
      <p:sp>
        <p:nvSpPr>
          <p:cNvPr id="11" name="Text 7"/>
          <p:cNvSpPr txBox="1"/>
          <p:nvPr/>
        </p:nvSpPr>
        <p:spPr>
          <a:xfrm>
            <a:off x="3665144" y="2971800"/>
            <a:ext cx="2019224" cy="1554480"/>
          </a:xfrm>
          <a:prstGeom prst="rect">
            <a:avLst/>
          </a:prstGeom>
          <a:noFill/>
          <a:ln/>
        </p:spPr>
        <p:txBody>
          <a:bodyPr wrap="square" lIns="0" tIns="0" rIns="0" bIns="0" rtlCol="0" anchor="t"/>
          <a:lstStyle/>
          <a:p>
            <a:pPr indent="0" marL="0">
              <a:buNone/>
            </a:pPr>
            <a:r>
              <a:rPr lang="en-US" sz="2600" b="1" dirty="0">
                <a:solidFill>
                  <a:schemeClr val="tx2"/>
                </a:solidFill>
              </a:rPr>
              <a:t>Work</a:t>
            </a:r>
            <a:endParaRPr lang="en-US" sz="2400" dirty="0"/>
          </a:p>
          <a:p>
            <a:pPr indent="0" marL="0">
              <a:spcBef>
                <a:spcPts val="600"/>
              </a:spcBef>
              <a:buNone/>
            </a:pPr>
            <a:r>
              <a:rPr lang="en-US" sz="2400" dirty="0">
                <a:solidFill>
                  <a:schemeClr val="tx1"/>
                </a:solidFill>
              </a:rPr>
              <a:t>A shift, a customer.</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6233008" y="1874520"/>
            <a:ext cx="2567864" cy="283464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6507328" y="2148840"/>
            <a:ext cx="685800" cy="685800"/>
          </a:xfrm>
          <a:prstGeom prst="ellipse">
            <a:avLst/>
          </a:prstGeom>
          <a:solidFill>
            <a:srgbClr val="00467F"/>
          </a:solidFill>
          <a:ln w="12700">
            <a:solidFill>
              <a:srgbClr val="00467F"/>
            </a:solidFill>
            <a:prstDash val="solid"/>
          </a:ln>
        </p:spPr>
      </p:sp>
      <p:pic>
        <p:nvPicPr>
          <p:cNvPr id="14" name="Decorative: LuHous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8204" y="2299716"/>
            <a:ext cx="384048" cy="384048"/>
          </a:xfrm>
          <a:prstGeom prst="rect">
            <a:avLst/>
          </a:prstGeom>
        </p:spPr>
      </p:pic>
      <p:sp>
        <p:nvSpPr>
          <p:cNvPr id="15" name="Text 10"/>
          <p:cNvSpPr txBox="1"/>
          <p:nvPr/>
        </p:nvSpPr>
        <p:spPr>
          <a:xfrm>
            <a:off x="6507328" y="2971800"/>
            <a:ext cx="2019224" cy="1554480"/>
          </a:xfrm>
          <a:prstGeom prst="rect">
            <a:avLst/>
          </a:prstGeom>
          <a:noFill/>
          <a:ln/>
        </p:spPr>
        <p:txBody>
          <a:bodyPr wrap="square" lIns="0" tIns="0" rIns="0" bIns="0" rtlCol="0" anchor="t"/>
          <a:lstStyle/>
          <a:p>
            <a:pPr indent="0" marL="0">
              <a:buNone/>
            </a:pPr>
            <a:r>
              <a:rPr lang="en-US" sz="2600" b="1" dirty="0">
                <a:solidFill>
                  <a:schemeClr val="tx2"/>
                </a:solidFill>
              </a:rPr>
              <a:t>Home</a:t>
            </a:r>
            <a:endParaRPr lang="en-US" sz="2400" dirty="0"/>
          </a:p>
          <a:p>
            <a:pPr indent="0" marL="0">
              <a:spcBef>
                <a:spcPts val="600"/>
              </a:spcBef>
              <a:buNone/>
            </a:pPr>
            <a:r>
              <a:rPr lang="en-US" sz="2400" dirty="0">
                <a:solidFill>
                  <a:schemeClr val="tx1"/>
                </a:solidFill>
              </a:rPr>
              <a:t>Caregiving, a hard week.</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9075191" y="1874520"/>
            <a:ext cx="2567864" cy="283464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9349511" y="2148840"/>
            <a:ext cx="685800" cy="685800"/>
          </a:xfrm>
          <a:prstGeom prst="ellipse">
            <a:avLst/>
          </a:prstGeom>
          <a:solidFill>
            <a:srgbClr val="00467F"/>
          </a:solidFill>
          <a:ln w="12700">
            <a:solidFill>
              <a:srgbClr val="00467F"/>
            </a:solidFill>
            <a:prstDash val="solid"/>
          </a:ln>
        </p:spPr>
      </p:sp>
      <p:pic>
        <p:nvPicPr>
          <p:cNvPr id="18" name="Decorative: LuUsers">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00387" y="2299716"/>
            <a:ext cx="384048" cy="384048"/>
          </a:xfrm>
          <a:prstGeom prst="rect">
            <a:avLst/>
          </a:prstGeom>
        </p:spPr>
      </p:pic>
      <p:sp>
        <p:nvSpPr>
          <p:cNvPr id="19" name="Text 13"/>
          <p:cNvSpPr txBox="1"/>
          <p:nvPr/>
        </p:nvSpPr>
        <p:spPr>
          <a:xfrm>
            <a:off x="9349511" y="2971800"/>
            <a:ext cx="2019224" cy="1554480"/>
          </a:xfrm>
          <a:prstGeom prst="rect">
            <a:avLst/>
          </a:prstGeom>
          <a:noFill/>
          <a:ln/>
        </p:spPr>
        <p:txBody>
          <a:bodyPr wrap="square" lIns="0" tIns="0" rIns="0" bIns="0" rtlCol="0" anchor="t"/>
          <a:lstStyle/>
          <a:p>
            <a:pPr indent="0" marL="0">
              <a:buNone/>
            </a:pPr>
            <a:r>
              <a:rPr lang="en-US" sz="2600" b="1" dirty="0">
                <a:solidFill>
                  <a:schemeClr val="tx2"/>
                </a:solidFill>
              </a:rPr>
              <a:t>Community</a:t>
            </a:r>
            <a:endParaRPr lang="en-US" sz="2400" dirty="0"/>
          </a:p>
          <a:p>
            <a:pPr indent="0" marL="0">
              <a:spcBef>
                <a:spcPts val="600"/>
              </a:spcBef>
              <a:buNone/>
            </a:pPr>
            <a:r>
              <a:rPr lang="en-US" sz="2400" dirty="0">
                <a:solidFill>
                  <a:schemeClr val="tx1"/>
                </a:solidFill>
              </a:rPr>
              <a:t>A team or a group.</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50749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1846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Stuck? The STAR(T) Stories Guide has prompts for every skill.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TELL IT OUT LOUD</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2 to 4 minutes, mostly Action</a:t>
            </a:r>
            <a:endParaRPr lang="en-US" sz="4000" dirty="0"/>
          </a:p>
        </p:txBody>
      </p:sp>
      <p:sp>
        <p:nvSpPr>
          <p:cNvPr id="4" name="Decorative: timing segment">
            <a:extLst>
              <a:ext uri="{C183D7F6-B498-43B3-948B-1728B52AA6E4}">
                <adec:decorative xmlns:adec="http://schemas.microsoft.com/office/drawing/2017/decorative" val="1"/>
              </a:ext>
            </a:extLst>
          </p:cNvPr>
          <p:cNvSpPr/>
          <p:nvPr/>
        </p:nvSpPr>
        <p:spPr>
          <a:xfrm>
            <a:off x="548640" y="2011680"/>
            <a:ext cx="1459226" cy="1371600"/>
          </a:xfrm>
          <a:prstGeom prst="roundRect">
            <a:avLst>
              <a:gd name="adj" fmla="val 8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658368" y="2011680"/>
            <a:ext cx="1239770" cy="1371600"/>
          </a:xfrm>
          <a:prstGeom prst="rect">
            <a:avLst/>
          </a:prstGeom>
          <a:noFill/>
          <a:ln/>
        </p:spPr>
        <p:txBody>
          <a:bodyPr wrap="square" lIns="0" tIns="0" rIns="0" bIns="0" rtlCol="0" anchor="ctr"/>
          <a:lstStyle/>
          <a:p>
            <a:pPr algn="ctr" indent="0" marL="0">
              <a:buNone/>
            </a:pPr>
            <a:r>
              <a:rPr lang="en-US" sz="2200" b="1" dirty="0">
                <a:solidFill>
                  <a:schemeClr val="tx2"/>
                </a:solidFill>
              </a:rPr>
              <a:t>Situation</a:t>
            </a:r>
            <a:endParaRPr lang="en-US" sz="2200" dirty="0"/>
          </a:p>
          <a:p>
            <a:pPr algn="ctr" indent="0" marL="0">
              <a:buNone/>
            </a:pPr>
            <a:r>
              <a:rPr lang="en-US" sz="2000" dirty="0">
                <a:solidFill>
                  <a:schemeClr val="tx2"/>
                </a:solidFill>
              </a:rPr>
              <a:t>20 to 30 sec</a:t>
            </a:r>
            <a:endParaRPr lang="en-US" sz="2200" dirty="0"/>
          </a:p>
        </p:txBody>
      </p:sp>
      <p:sp>
        <p:nvSpPr>
          <p:cNvPr id="6" name="Decorative: timing segment">
            <a:extLst>
              <a:ext uri="{C183D7F6-B498-43B3-948B-1728B52AA6E4}">
                <adec:decorative xmlns:adec="http://schemas.microsoft.com/office/drawing/2017/decorative" val="1"/>
              </a:ext>
            </a:extLst>
          </p:cNvPr>
          <p:cNvSpPr/>
          <p:nvPr/>
        </p:nvSpPr>
        <p:spPr>
          <a:xfrm>
            <a:off x="2081018" y="2011680"/>
            <a:ext cx="1030160" cy="1371600"/>
          </a:xfrm>
          <a:prstGeom prst="roundRect">
            <a:avLst>
              <a:gd name="adj" fmla="val 1065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2190746" y="2011680"/>
            <a:ext cx="810704" cy="1371600"/>
          </a:xfrm>
          <a:prstGeom prst="rect">
            <a:avLst/>
          </a:prstGeom>
          <a:noFill/>
          <a:ln/>
        </p:spPr>
        <p:txBody>
          <a:bodyPr wrap="square" lIns="0" tIns="0" rIns="0" bIns="0" rtlCol="0" anchor="ctr"/>
          <a:lstStyle/>
          <a:p>
            <a:pPr algn="ctr" indent="0" marL="0">
              <a:buNone/>
            </a:pPr>
            <a:r>
              <a:rPr lang="en-US" sz="2200" b="1" dirty="0">
                <a:solidFill>
                  <a:schemeClr val="tx2"/>
                </a:solidFill>
              </a:rPr>
              <a:t>Task</a:t>
            </a:r>
            <a:endParaRPr lang="en-US" sz="2200" dirty="0"/>
          </a:p>
          <a:p>
            <a:pPr algn="ctr" indent="0" marL="0">
              <a:buNone/>
            </a:pPr>
            <a:r>
              <a:rPr lang="en-US" sz="2000" dirty="0">
                <a:solidFill>
                  <a:schemeClr val="tx2"/>
                </a:solidFill>
              </a:rPr>
              <a:t>15 to 20 sec</a:t>
            </a:r>
            <a:endParaRPr lang="en-US" sz="2200" dirty="0"/>
          </a:p>
        </p:txBody>
      </p:sp>
      <p:sp>
        <p:nvSpPr>
          <p:cNvPr id="8" name="Decorative: timing segment">
            <a:extLst>
              <a:ext uri="{C183D7F6-B498-43B3-948B-1728B52AA6E4}">
                <adec:decorative xmlns:adec="http://schemas.microsoft.com/office/drawing/2017/decorative" val="1"/>
              </a:ext>
            </a:extLst>
          </p:cNvPr>
          <p:cNvSpPr/>
          <p:nvPr/>
        </p:nvSpPr>
        <p:spPr>
          <a:xfrm>
            <a:off x="3184330" y="2011680"/>
            <a:ext cx="4523981" cy="1371600"/>
          </a:xfrm>
          <a:prstGeom prst="roundRect">
            <a:avLst>
              <a:gd name="adj" fmla="val 8000"/>
            </a:avLst>
          </a:prstGeom>
          <a:solidFill>
            <a:srgbClr val="E7A614"/>
          </a:solidFill>
          <a:ln w="12700">
            <a:solidFill>
              <a:srgbClr val="E7A614"/>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3294058" y="2011680"/>
            <a:ext cx="4304525" cy="1371600"/>
          </a:xfrm>
          <a:prstGeom prst="rect">
            <a:avLst/>
          </a:prstGeom>
          <a:noFill/>
          <a:ln/>
        </p:spPr>
        <p:txBody>
          <a:bodyPr wrap="square" lIns="0" tIns="0" rIns="0" bIns="0" rtlCol="0" anchor="ctr"/>
          <a:lstStyle/>
          <a:p>
            <a:pPr algn="ctr" indent="0" marL="0">
              <a:buNone/>
            </a:pPr>
            <a:r>
              <a:rPr lang="en-US" sz="2200" b="1" dirty="0">
                <a:solidFill>
                  <a:schemeClr val="tx2"/>
                </a:solidFill>
              </a:rPr>
              <a:t>Action</a:t>
            </a:r>
            <a:endParaRPr lang="en-US" sz="2200" dirty="0"/>
          </a:p>
          <a:p>
            <a:pPr algn="ctr" indent="0" marL="0">
              <a:buNone/>
            </a:pPr>
            <a:r>
              <a:rPr lang="en-US" sz="2000" dirty="0">
                <a:solidFill>
                  <a:schemeClr val="tx2"/>
                </a:solidFill>
              </a:rPr>
              <a:t>60 to 90 sec</a:t>
            </a:r>
            <a:endParaRPr lang="en-US" sz="2200" dirty="0"/>
          </a:p>
        </p:txBody>
      </p:sp>
      <p:sp>
        <p:nvSpPr>
          <p:cNvPr id="10" name="Decorative: timing segment">
            <a:extLst>
              <a:ext uri="{C183D7F6-B498-43B3-948B-1728B52AA6E4}">
                <adec:decorative xmlns:adec="http://schemas.microsoft.com/office/drawing/2017/decorative" val="1"/>
              </a:ext>
            </a:extLst>
          </p:cNvPr>
          <p:cNvSpPr/>
          <p:nvPr/>
        </p:nvSpPr>
        <p:spPr>
          <a:xfrm>
            <a:off x="7781463" y="2011680"/>
            <a:ext cx="1459226" cy="1371600"/>
          </a:xfrm>
          <a:prstGeom prst="roundRect">
            <a:avLst>
              <a:gd name="adj" fmla="val 8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7891191" y="2011680"/>
            <a:ext cx="1239770" cy="1371600"/>
          </a:xfrm>
          <a:prstGeom prst="rect">
            <a:avLst/>
          </a:prstGeom>
          <a:noFill/>
          <a:ln/>
        </p:spPr>
        <p:txBody>
          <a:bodyPr wrap="square" lIns="0" tIns="0" rIns="0" bIns="0" rtlCol="0" anchor="ctr"/>
          <a:lstStyle/>
          <a:p>
            <a:pPr algn="ctr" indent="0" marL="0">
              <a:buNone/>
            </a:pPr>
            <a:r>
              <a:rPr lang="en-US" sz="2200" b="1" dirty="0">
                <a:solidFill>
                  <a:schemeClr val="tx2"/>
                </a:solidFill>
              </a:rPr>
              <a:t>Result</a:t>
            </a:r>
            <a:endParaRPr lang="en-US" sz="2200" dirty="0"/>
          </a:p>
          <a:p>
            <a:pPr algn="ctr" indent="0" marL="0">
              <a:buNone/>
            </a:pPr>
            <a:r>
              <a:rPr lang="en-US" sz="2000" dirty="0">
                <a:solidFill>
                  <a:schemeClr val="tx2"/>
                </a:solidFill>
              </a:rPr>
              <a:t>20 to 30 sec</a:t>
            </a:r>
            <a:endParaRPr lang="en-US" sz="2200" dirty="0"/>
          </a:p>
        </p:txBody>
      </p:sp>
      <p:sp>
        <p:nvSpPr>
          <p:cNvPr id="12" name="Decorative: timing segment">
            <a:extLst>
              <a:ext uri="{C183D7F6-B498-43B3-948B-1728B52AA6E4}">
                <adec:decorative xmlns:adec="http://schemas.microsoft.com/office/drawing/2017/decorative" val="1"/>
              </a:ext>
            </a:extLst>
          </p:cNvPr>
          <p:cNvSpPr/>
          <p:nvPr/>
        </p:nvSpPr>
        <p:spPr>
          <a:xfrm>
            <a:off x="9313841" y="2011680"/>
            <a:ext cx="2256062" cy="1371600"/>
          </a:xfrm>
          <a:prstGeom prst="roundRect">
            <a:avLst>
              <a:gd name="adj" fmla="val 8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9423569" y="2011680"/>
            <a:ext cx="2036606" cy="1371600"/>
          </a:xfrm>
          <a:prstGeom prst="rect">
            <a:avLst/>
          </a:prstGeom>
          <a:noFill/>
          <a:ln/>
        </p:spPr>
        <p:txBody>
          <a:bodyPr wrap="square" lIns="0" tIns="0" rIns="0" bIns="0" rtlCol="0" anchor="ctr"/>
          <a:lstStyle/>
          <a:p>
            <a:pPr algn="ctr" indent="0" marL="0">
              <a:buNone/>
            </a:pPr>
            <a:r>
              <a:rPr lang="en-US" sz="2200" b="1" dirty="0">
                <a:solidFill>
                  <a:schemeClr val="tx2"/>
                </a:solidFill>
              </a:rPr>
              <a:t>Transfer</a:t>
            </a:r>
            <a:endParaRPr lang="en-US" sz="2200" dirty="0"/>
          </a:p>
          <a:p>
            <a:pPr algn="ctr" indent="0" marL="0">
              <a:buNone/>
            </a:pPr>
            <a:r>
              <a:rPr lang="en-US" sz="2000" dirty="0">
                <a:solidFill>
                  <a:schemeClr val="tx2"/>
                </a:solidFill>
              </a:rPr>
              <a:t>30 to 45 sec</a:t>
            </a:r>
            <a:endParaRPr lang="en-US" sz="2200" dirty="0"/>
          </a:p>
        </p:txBody>
      </p:sp>
      <p:sp>
        <p:nvSpPr>
          <p:cNvPr id="14" name="Text 12"/>
          <p:cNvSpPr txBox="1"/>
          <p:nvPr/>
        </p:nvSpPr>
        <p:spPr>
          <a:xfrm>
            <a:off x="548640" y="3611880"/>
            <a:ext cx="11094415" cy="502920"/>
          </a:xfrm>
          <a:prstGeom prst="rect">
            <a:avLst/>
          </a:prstGeom>
          <a:noFill/>
          <a:ln/>
        </p:spPr>
        <p:txBody>
          <a:bodyPr wrap="square" lIns="0" tIns="0" rIns="0" bIns="0" rtlCol="0" anchor="t"/>
          <a:lstStyle/>
          <a:p>
            <a:pPr indent="0" marL="0">
              <a:buNone/>
            </a:pPr>
            <a:r>
              <a:rPr lang="en-US" sz="2400" i="1" dirty="0">
                <a:solidFill>
                  <a:schemeClr val="accent1"/>
                </a:solidFill>
              </a:rPr>
              <a:t>Running long? Trim the Situation first.</a:t>
            </a:r>
            <a:endParaRPr lang="en-US" sz="2400" dirty="0"/>
          </a:p>
        </p:txBody>
      </p:sp>
      <p:sp>
        <p:nvSpPr>
          <p:cNvPr id="15" name="Decorative: callout">
            <a:extLst>
              <a:ext uri="{C183D7F6-B498-43B3-948B-1728B52AA6E4}">
                <adec:decorative xmlns:adec="http://schemas.microsoft.com/office/drawing/2017/decorative" val="1"/>
              </a:ext>
            </a:extLst>
          </p:cNvPr>
          <p:cNvSpPr/>
          <p:nvPr/>
        </p:nvSpPr>
        <p:spPr>
          <a:xfrm>
            <a:off x="548640" y="47548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868680" y="48646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Recordings are never scored on delivery. Only the story and its structure count.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TELL IT OUT LOUD</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options, story by story</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2567864" cy="2743200"/>
          </a:xfrm>
          <a:prstGeom prst="roundRect">
            <a:avLst>
              <a:gd name="adj" fmla="val 427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E7A614"/>
          </a:solidFill>
          <a:ln w="12700">
            <a:solidFill>
              <a:srgbClr val="E7A614"/>
            </a:solidFill>
            <a:prstDash val="solid"/>
          </a:ln>
        </p:spPr>
      </p:sp>
      <p:pic>
        <p:nvPicPr>
          <p:cNvPr id="6" name="Decorative: LuVideo">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Video</a:t>
            </a:r>
            <a:endParaRPr lang="en-US" sz="2400" dirty="0"/>
          </a:p>
          <a:p>
            <a:pPr indent="0" marL="0">
              <a:spcBef>
                <a:spcPts val="600"/>
              </a:spcBef>
              <a:buNone/>
            </a:pPr>
            <a:r>
              <a:rPr lang="en-US" sz="2400" dirty="0">
                <a:solidFill>
                  <a:schemeClr val="tx1"/>
                </a:solidFill>
              </a:rPr>
              <a:t>Closest to a real interview.</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3390824"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665144" y="2148840"/>
            <a:ext cx="685800" cy="685800"/>
          </a:xfrm>
          <a:prstGeom prst="ellipse">
            <a:avLst/>
          </a:prstGeom>
          <a:solidFill>
            <a:srgbClr val="00467F"/>
          </a:solidFill>
          <a:ln w="12700">
            <a:solidFill>
              <a:srgbClr val="00467F"/>
            </a:solidFill>
            <a:prstDash val="solid"/>
          </a:ln>
        </p:spPr>
      </p:sp>
      <p:pic>
        <p:nvPicPr>
          <p:cNvPr id="10" name="Decorative: LuMic">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16020" y="2299716"/>
            <a:ext cx="384048" cy="384048"/>
          </a:xfrm>
          <a:prstGeom prst="rect">
            <a:avLst/>
          </a:prstGeom>
        </p:spPr>
      </p:pic>
      <p:sp>
        <p:nvSpPr>
          <p:cNvPr id="11" name="Text 7"/>
          <p:cNvSpPr txBox="1"/>
          <p:nvPr/>
        </p:nvSpPr>
        <p:spPr>
          <a:xfrm>
            <a:off x="3665144"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Audio only</a:t>
            </a:r>
            <a:endParaRPr lang="en-US" sz="2400" dirty="0"/>
          </a:p>
          <a:p>
            <a:pPr indent="0" marL="0">
              <a:spcBef>
                <a:spcPts val="600"/>
              </a:spcBef>
              <a:buNone/>
            </a:pPr>
            <a:r>
              <a:rPr lang="en-US" sz="2400" dirty="0">
                <a:solidFill>
                  <a:schemeClr val="tx1"/>
                </a:solidFill>
              </a:rPr>
              <a:t>Your voice. Completely fine.</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6233008"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6507328" y="2148840"/>
            <a:ext cx="685800" cy="685800"/>
          </a:xfrm>
          <a:prstGeom prst="ellipse">
            <a:avLst/>
          </a:prstGeom>
          <a:solidFill>
            <a:srgbClr val="00467F"/>
          </a:solidFill>
          <a:ln w="12700">
            <a:solidFill>
              <a:srgbClr val="00467F"/>
            </a:solidFill>
            <a:prstDash val="solid"/>
          </a:ln>
        </p:spPr>
      </p:sp>
      <p:pic>
        <p:nvPicPr>
          <p:cNvPr id="14" name="Decorative: LuSmartphon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8204" y="2299716"/>
            <a:ext cx="384048" cy="384048"/>
          </a:xfrm>
          <a:prstGeom prst="rect">
            <a:avLst/>
          </a:prstGeom>
        </p:spPr>
      </p:pic>
      <p:sp>
        <p:nvSpPr>
          <p:cNvPr id="15" name="Text 10"/>
          <p:cNvSpPr txBox="1"/>
          <p:nvPr/>
        </p:nvSpPr>
        <p:spPr>
          <a:xfrm>
            <a:off x="6507328"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Your phone</a:t>
            </a:r>
            <a:endParaRPr lang="en-US" sz="2400" dirty="0"/>
          </a:p>
          <a:p>
            <a:pPr indent="0" marL="0">
              <a:spcBef>
                <a:spcPts val="600"/>
              </a:spcBef>
              <a:buNone/>
            </a:pPr>
            <a:r>
              <a:rPr lang="en-US" sz="2400" dirty="0">
                <a:solidFill>
                  <a:schemeClr val="tx1"/>
                </a:solidFill>
              </a:rPr>
              <a:t>Record, then upload.</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9075191"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9349511" y="2148840"/>
            <a:ext cx="685800" cy="685800"/>
          </a:xfrm>
          <a:prstGeom prst="ellipse">
            <a:avLst/>
          </a:prstGeom>
          <a:solidFill>
            <a:srgbClr val="00467F"/>
          </a:solidFill>
          <a:ln w="12700">
            <a:solidFill>
              <a:srgbClr val="00467F"/>
            </a:solidFill>
            <a:prstDash val="solid"/>
          </a:ln>
        </p:spPr>
      </p:sp>
      <p:pic>
        <p:nvPicPr>
          <p:cNvPr id="18" name="Decorative: LuKeyboar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00387" y="2299716"/>
            <a:ext cx="384048" cy="384048"/>
          </a:xfrm>
          <a:prstGeom prst="rect">
            <a:avLst/>
          </a:prstGeom>
        </p:spPr>
      </p:pic>
      <p:sp>
        <p:nvSpPr>
          <p:cNvPr id="19" name="Text 13"/>
          <p:cNvSpPr txBox="1"/>
          <p:nvPr/>
        </p:nvSpPr>
        <p:spPr>
          <a:xfrm>
            <a:off x="9349511"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Typed</a:t>
            </a:r>
            <a:endParaRPr lang="en-US" sz="2400" dirty="0"/>
          </a:p>
          <a:p>
            <a:pPr indent="0" marL="0">
              <a:spcBef>
                <a:spcPts val="600"/>
              </a:spcBef>
              <a:buNone/>
            </a:pPr>
            <a:r>
              <a:rPr lang="en-US" sz="2400" dirty="0">
                <a:solidFill>
                  <a:schemeClr val="tx1"/>
                </a:solidFill>
              </a:rPr>
              <a:t>In the box. All five steps.</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49834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0932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Blackboard's built-in recorder is the camera button in the submission box.</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MAKE IT STRONG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Three fixes that move a story up</a:t>
            </a:r>
            <a:endParaRPr lang="en-US" sz="4000" dirty="0"/>
          </a:p>
        </p:txBody>
      </p:sp>
      <p:sp>
        <p:nvSpPr>
          <p:cNvPr id="4" name="Text 2"/>
          <p:cNvSpPr txBox="1"/>
          <p:nvPr/>
        </p:nvSpPr>
        <p:spPr>
          <a:xfrm>
            <a:off x="3703320" y="1783080"/>
            <a:ext cx="3855568" cy="365760"/>
          </a:xfrm>
          <a:prstGeom prst="rect">
            <a:avLst/>
          </a:prstGeom>
          <a:noFill/>
          <a:ln/>
        </p:spPr>
        <p:txBody>
          <a:bodyPr wrap="square" lIns="0" tIns="0" rIns="0" bIns="0" rtlCol="0" anchor="t"/>
          <a:lstStyle/>
          <a:p>
            <a:pPr indent="0" marL="0">
              <a:buNone/>
            </a:pPr>
            <a:r>
              <a:rPr lang="en-US" sz="2000" b="1" spc="200" kern="0" dirty="0">
                <a:solidFill>
                  <a:srgbClr val="C0392B"/>
                </a:solidFill>
              </a:rPr>
              <a:t>BEFORE</a:t>
            </a:r>
            <a:endParaRPr lang="en-US" sz="2000" dirty="0"/>
          </a:p>
        </p:txBody>
      </p:sp>
      <p:sp>
        <p:nvSpPr>
          <p:cNvPr id="5" name="Text 3"/>
          <p:cNvSpPr txBox="1"/>
          <p:nvPr/>
        </p:nvSpPr>
        <p:spPr>
          <a:xfrm>
            <a:off x="7787488" y="1783080"/>
            <a:ext cx="3855568" cy="365760"/>
          </a:xfrm>
          <a:prstGeom prst="rect">
            <a:avLst/>
          </a:prstGeom>
          <a:noFill/>
          <a:ln/>
        </p:spPr>
        <p:txBody>
          <a:bodyPr wrap="square" lIns="0" tIns="0" rIns="0" bIns="0" rtlCol="0" anchor="t"/>
          <a:lstStyle/>
          <a:p>
            <a:pPr indent="0" marL="0">
              <a:buNone/>
            </a:pPr>
            <a:r>
              <a:rPr lang="en-US" sz="2000" b="1" spc="200" kern="0" dirty="0">
                <a:solidFill>
                  <a:srgbClr val="1E7B34"/>
                </a:solidFill>
              </a:rPr>
              <a:t>AFTER</a:t>
            </a:r>
            <a:endParaRPr lang="en-US" sz="2000" dirty="0"/>
          </a:p>
        </p:txBody>
      </p:sp>
      <p:sp>
        <p:nvSpPr>
          <p:cNvPr id="6" name="Text 4"/>
          <p:cNvSpPr txBox="1"/>
          <p:nvPr/>
        </p:nvSpPr>
        <p:spPr>
          <a:xfrm>
            <a:off x="548640" y="2240280"/>
            <a:ext cx="2926080" cy="1051560"/>
          </a:xfrm>
          <a:prstGeom prst="rect">
            <a:avLst/>
          </a:prstGeom>
          <a:noFill/>
          <a:ln/>
        </p:spPr>
        <p:txBody>
          <a:bodyPr wrap="square" lIns="0" tIns="0" rIns="0" bIns="0" rtlCol="0" anchor="ctr"/>
          <a:lstStyle/>
          <a:p>
            <a:pPr indent="0" marL="0">
              <a:buNone/>
            </a:pPr>
            <a:r>
              <a:rPr lang="en-US" sz="2400" b="1" dirty="0">
                <a:solidFill>
                  <a:schemeClr val="tx2"/>
                </a:solidFill>
              </a:rPr>
              <a:t>Swap "we" for "I"</a:t>
            </a:r>
            <a:endParaRPr lang="en-US" sz="2400" dirty="0"/>
          </a:p>
        </p:txBody>
      </p:sp>
      <p:sp>
        <p:nvSpPr>
          <p:cNvPr id="7" name="Decorative: before card">
            <a:extLst>
              <a:ext uri="{C183D7F6-B498-43B3-948B-1728B52AA6E4}">
                <adec:decorative xmlns:adec="http://schemas.microsoft.com/office/drawing/2017/decorative" val="1"/>
              </a:ext>
            </a:extLst>
          </p:cNvPr>
          <p:cNvSpPr/>
          <p:nvPr/>
        </p:nvSpPr>
        <p:spPr>
          <a:xfrm>
            <a:off x="3703320" y="2240280"/>
            <a:ext cx="3855568" cy="1051560"/>
          </a:xfrm>
          <a:prstGeom prst="roundRect">
            <a:avLst>
              <a:gd name="adj" fmla="val 10435"/>
            </a:avLst>
          </a:prstGeom>
          <a:solidFill>
            <a:srgbClr val="FDECEA"/>
          </a:solidFill>
          <a:ln w="12700">
            <a:solidFill>
              <a:srgbClr val="FDECEA"/>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3931920" y="2240280"/>
            <a:ext cx="3398368" cy="1051560"/>
          </a:xfrm>
          <a:prstGeom prst="rect">
            <a:avLst/>
          </a:prstGeom>
          <a:noFill/>
          <a:ln/>
        </p:spPr>
        <p:txBody>
          <a:bodyPr wrap="square" lIns="0" tIns="0" rIns="0" bIns="0" rtlCol="0" anchor="ctr"/>
          <a:lstStyle/>
          <a:p>
            <a:pPr indent="0" marL="0">
              <a:buNone/>
            </a:pPr>
            <a:r>
              <a:rPr lang="en-US" sz="2200" i="1" dirty="0">
                <a:solidFill>
                  <a:schemeClr val="tx1"/>
                </a:solidFill>
              </a:rPr>
              <a:t>We reorganized the schedule.</a:t>
            </a:r>
            <a:endParaRPr lang="en-US" sz="2200" dirty="0"/>
          </a:p>
        </p:txBody>
      </p:sp>
      <p:sp>
        <p:nvSpPr>
          <p:cNvPr id="9" name="Decorative: after card">
            <a:extLst>
              <a:ext uri="{C183D7F6-B498-43B3-948B-1728B52AA6E4}">
                <adec:decorative xmlns:adec="http://schemas.microsoft.com/office/drawing/2017/decorative" val="1"/>
              </a:ext>
            </a:extLst>
          </p:cNvPr>
          <p:cNvSpPr/>
          <p:nvPr/>
        </p:nvSpPr>
        <p:spPr>
          <a:xfrm>
            <a:off x="7787488" y="2240280"/>
            <a:ext cx="3855568" cy="1051560"/>
          </a:xfrm>
          <a:prstGeom prst="roundRect">
            <a:avLst>
              <a:gd name="adj" fmla="val 10435"/>
            </a:avLst>
          </a:prstGeom>
          <a:solidFill>
            <a:srgbClr val="E6F4EA"/>
          </a:solidFill>
          <a:ln w="12700">
            <a:solidFill>
              <a:srgbClr val="E6F4EA"/>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8016088" y="2240280"/>
            <a:ext cx="3398368" cy="1051560"/>
          </a:xfrm>
          <a:prstGeom prst="rect">
            <a:avLst/>
          </a:prstGeom>
          <a:noFill/>
          <a:ln/>
        </p:spPr>
        <p:txBody>
          <a:bodyPr wrap="square" lIns="0" tIns="0" rIns="0" bIns="0" rtlCol="0" anchor="ctr"/>
          <a:lstStyle/>
          <a:p>
            <a:pPr indent="0" marL="0">
              <a:buNone/>
            </a:pPr>
            <a:r>
              <a:rPr lang="en-US" sz="2200" dirty="0">
                <a:solidFill>
                  <a:schemeClr val="tx1"/>
                </a:solidFill>
              </a:rPr>
              <a:t>I asked for everyone's hours and built a new schedule that night.</a:t>
            </a:r>
            <a:endParaRPr lang="en-US" sz="2200" dirty="0"/>
          </a:p>
        </p:txBody>
      </p:sp>
      <p:sp>
        <p:nvSpPr>
          <p:cNvPr id="11" name="Text 9"/>
          <p:cNvSpPr txBox="1"/>
          <p:nvPr/>
        </p:nvSpPr>
        <p:spPr>
          <a:xfrm>
            <a:off x="548640" y="3474720"/>
            <a:ext cx="2926080" cy="1051560"/>
          </a:xfrm>
          <a:prstGeom prst="rect">
            <a:avLst/>
          </a:prstGeom>
          <a:noFill/>
          <a:ln/>
        </p:spPr>
        <p:txBody>
          <a:bodyPr wrap="square" lIns="0" tIns="0" rIns="0" bIns="0" rtlCol="0" anchor="ctr"/>
          <a:lstStyle/>
          <a:p>
            <a:pPr indent="0" marL="0">
              <a:buNone/>
            </a:pPr>
            <a:r>
              <a:rPr lang="en-US" sz="2400" b="1" dirty="0">
                <a:solidFill>
                  <a:schemeClr val="tx2"/>
                </a:solidFill>
              </a:rPr>
              <a:t>Make the Result concrete</a:t>
            </a:r>
            <a:endParaRPr lang="en-US" sz="2400" dirty="0"/>
          </a:p>
        </p:txBody>
      </p:sp>
      <p:sp>
        <p:nvSpPr>
          <p:cNvPr id="12" name="Decorative: before card">
            <a:extLst>
              <a:ext uri="{C183D7F6-B498-43B3-948B-1728B52AA6E4}">
                <adec:decorative xmlns:adec="http://schemas.microsoft.com/office/drawing/2017/decorative" val="1"/>
              </a:ext>
            </a:extLst>
          </p:cNvPr>
          <p:cNvSpPr/>
          <p:nvPr/>
        </p:nvSpPr>
        <p:spPr>
          <a:xfrm>
            <a:off x="3703320" y="3474720"/>
            <a:ext cx="3855568" cy="1051560"/>
          </a:xfrm>
          <a:prstGeom prst="roundRect">
            <a:avLst>
              <a:gd name="adj" fmla="val 10435"/>
            </a:avLst>
          </a:prstGeom>
          <a:solidFill>
            <a:srgbClr val="FDECEA"/>
          </a:solidFill>
          <a:ln w="12700">
            <a:solidFill>
              <a:srgbClr val="FDECEA"/>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3931920" y="3474720"/>
            <a:ext cx="3398368" cy="1051560"/>
          </a:xfrm>
          <a:prstGeom prst="rect">
            <a:avLst/>
          </a:prstGeom>
          <a:noFill/>
          <a:ln/>
        </p:spPr>
        <p:txBody>
          <a:bodyPr wrap="square" lIns="0" tIns="0" rIns="0" bIns="0" rtlCol="0" anchor="ctr"/>
          <a:lstStyle/>
          <a:p>
            <a:pPr indent="0" marL="0">
              <a:buNone/>
            </a:pPr>
            <a:r>
              <a:rPr lang="en-US" sz="2200" i="1" dirty="0">
                <a:solidFill>
                  <a:schemeClr val="tx1"/>
                </a:solidFill>
              </a:rPr>
              <a:t>It went really well.</a:t>
            </a:r>
            <a:endParaRPr lang="en-US" sz="2200" dirty="0"/>
          </a:p>
        </p:txBody>
      </p:sp>
      <p:sp>
        <p:nvSpPr>
          <p:cNvPr id="14" name="Decorative: after card">
            <a:extLst>
              <a:ext uri="{C183D7F6-B498-43B3-948B-1728B52AA6E4}">
                <adec:decorative xmlns:adec="http://schemas.microsoft.com/office/drawing/2017/decorative" val="1"/>
              </a:ext>
            </a:extLst>
          </p:cNvPr>
          <p:cNvSpPr/>
          <p:nvPr/>
        </p:nvSpPr>
        <p:spPr>
          <a:xfrm>
            <a:off x="7787488" y="3474720"/>
            <a:ext cx="3855568" cy="1051560"/>
          </a:xfrm>
          <a:prstGeom prst="roundRect">
            <a:avLst>
              <a:gd name="adj" fmla="val 10435"/>
            </a:avLst>
          </a:prstGeom>
          <a:solidFill>
            <a:srgbClr val="E6F4EA"/>
          </a:solidFill>
          <a:ln w="12700">
            <a:solidFill>
              <a:srgbClr val="E6F4EA"/>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8016088" y="3474720"/>
            <a:ext cx="3398368" cy="1051560"/>
          </a:xfrm>
          <a:prstGeom prst="rect">
            <a:avLst/>
          </a:prstGeom>
          <a:noFill/>
          <a:ln/>
        </p:spPr>
        <p:txBody>
          <a:bodyPr wrap="square" lIns="0" tIns="0" rIns="0" bIns="0" rtlCol="0" anchor="ctr"/>
          <a:lstStyle/>
          <a:p>
            <a:pPr indent="0" marL="0">
              <a:buNone/>
            </a:pPr>
            <a:r>
              <a:rPr lang="en-US" sz="2200" dirty="0">
                <a:solidFill>
                  <a:schemeClr val="tx1"/>
                </a:solidFill>
              </a:rPr>
              <a:t>Everyone made the next three meetings.</a:t>
            </a:r>
            <a:endParaRPr lang="en-US" sz="2200" dirty="0"/>
          </a:p>
        </p:txBody>
      </p:sp>
      <p:sp>
        <p:nvSpPr>
          <p:cNvPr id="16" name="Text 14"/>
          <p:cNvSpPr txBox="1"/>
          <p:nvPr/>
        </p:nvSpPr>
        <p:spPr>
          <a:xfrm>
            <a:off x="548640" y="4709160"/>
            <a:ext cx="2926080" cy="1051560"/>
          </a:xfrm>
          <a:prstGeom prst="rect">
            <a:avLst/>
          </a:prstGeom>
          <a:noFill/>
          <a:ln/>
        </p:spPr>
        <p:txBody>
          <a:bodyPr wrap="square" lIns="0" tIns="0" rIns="0" bIns="0" rtlCol="0" anchor="ctr"/>
          <a:lstStyle/>
          <a:p>
            <a:pPr indent="0" marL="0">
              <a:buNone/>
            </a:pPr>
            <a:r>
              <a:rPr lang="en-US" sz="2400" b="1" dirty="0">
                <a:solidFill>
                  <a:schemeClr val="tx2"/>
                </a:solidFill>
              </a:rPr>
              <a:t>Name where the Transfer goes</a:t>
            </a:r>
            <a:endParaRPr lang="en-US" sz="2400" dirty="0"/>
          </a:p>
        </p:txBody>
      </p:sp>
      <p:sp>
        <p:nvSpPr>
          <p:cNvPr id="17" name="Decorative: before card">
            <a:extLst>
              <a:ext uri="{C183D7F6-B498-43B3-948B-1728B52AA6E4}">
                <adec:decorative xmlns:adec="http://schemas.microsoft.com/office/drawing/2017/decorative" val="1"/>
              </a:ext>
            </a:extLst>
          </p:cNvPr>
          <p:cNvSpPr/>
          <p:nvPr/>
        </p:nvSpPr>
        <p:spPr>
          <a:xfrm>
            <a:off x="3703320" y="4709160"/>
            <a:ext cx="3855568" cy="1051560"/>
          </a:xfrm>
          <a:prstGeom prst="roundRect">
            <a:avLst>
              <a:gd name="adj" fmla="val 10435"/>
            </a:avLst>
          </a:prstGeom>
          <a:solidFill>
            <a:srgbClr val="FDECEA"/>
          </a:solidFill>
          <a:ln w="12700">
            <a:solidFill>
              <a:srgbClr val="FDECEA"/>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3931920" y="4709160"/>
            <a:ext cx="3398368" cy="1051560"/>
          </a:xfrm>
          <a:prstGeom prst="rect">
            <a:avLst/>
          </a:prstGeom>
          <a:noFill/>
          <a:ln/>
        </p:spPr>
        <p:txBody>
          <a:bodyPr wrap="square" lIns="0" tIns="0" rIns="0" bIns="0" rtlCol="0" anchor="ctr"/>
          <a:lstStyle/>
          <a:p>
            <a:pPr indent="0" marL="0">
              <a:buNone/>
            </a:pPr>
            <a:r>
              <a:rPr lang="en-US" sz="2200" i="1" dirty="0">
                <a:solidFill>
                  <a:schemeClr val="tx1"/>
                </a:solidFill>
              </a:rPr>
              <a:t>This will help in my career.</a:t>
            </a:r>
            <a:endParaRPr lang="en-US" sz="2200" dirty="0"/>
          </a:p>
        </p:txBody>
      </p:sp>
      <p:sp>
        <p:nvSpPr>
          <p:cNvPr id="19" name="Decorative: after card">
            <a:extLst>
              <a:ext uri="{C183D7F6-B498-43B3-948B-1728B52AA6E4}">
                <adec:decorative xmlns:adec="http://schemas.microsoft.com/office/drawing/2017/decorative" val="1"/>
              </a:ext>
            </a:extLst>
          </p:cNvPr>
          <p:cNvSpPr/>
          <p:nvPr/>
        </p:nvSpPr>
        <p:spPr>
          <a:xfrm>
            <a:off x="7787488" y="4709160"/>
            <a:ext cx="3855568" cy="1051560"/>
          </a:xfrm>
          <a:prstGeom prst="roundRect">
            <a:avLst>
              <a:gd name="adj" fmla="val 10435"/>
            </a:avLst>
          </a:prstGeom>
          <a:solidFill>
            <a:srgbClr val="E6F4EA"/>
          </a:solidFill>
          <a:ln w="12700">
            <a:solidFill>
              <a:srgbClr val="E6F4EA"/>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8016088" y="4709160"/>
            <a:ext cx="3398368" cy="1051560"/>
          </a:xfrm>
          <a:prstGeom prst="rect">
            <a:avLst/>
          </a:prstGeom>
          <a:noFill/>
          <a:ln/>
        </p:spPr>
        <p:txBody>
          <a:bodyPr wrap="square" lIns="0" tIns="0" rIns="0" bIns="0" rtlCol="0" anchor="ctr"/>
          <a:lstStyle/>
          <a:p>
            <a:pPr indent="0" marL="0">
              <a:buNone/>
            </a:pPr>
            <a:r>
              <a:rPr lang="en-US" sz="2200" dirty="0">
                <a:solidFill>
                  <a:schemeClr val="tx1"/>
                </a:solidFill>
              </a:rPr>
              <a:t>In clinicals, I'll ask about everyone's shifts before I plan.</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SUBMIT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Before you submit</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828800"/>
            <a:ext cx="548640" cy="548640"/>
          </a:xfrm>
          <a:prstGeom prst="ellipse">
            <a:avLst/>
          </a:prstGeom>
          <a:solidFill>
            <a:srgbClr val="00467F"/>
          </a:solidFill>
          <a:ln w="12700">
            <a:solidFill>
              <a:srgbClr val="00467F"/>
            </a:solidFill>
            <a:prstDash val="solid"/>
          </a:ln>
        </p:spPr>
      </p:sp>
      <p:pic>
        <p:nvPicPr>
          <p:cNvPr id="5" name="Decorative: LuFolde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1949501"/>
            <a:ext cx="307238" cy="307238"/>
          </a:xfrm>
          <a:prstGeom prst="rect">
            <a:avLst/>
          </a:prstGeom>
        </p:spPr>
      </p:pic>
      <p:sp>
        <p:nvSpPr>
          <p:cNvPr id="6" name="Text 3"/>
          <p:cNvSpPr txBox="1"/>
          <p:nvPr/>
        </p:nvSpPr>
        <p:spPr>
          <a:xfrm>
            <a:off x="1325880" y="1828800"/>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Right journal</a:t>
            </a:r>
            <a:pPr indent="0" marL="0">
              <a:buNone/>
            </a:pPr>
            <a:r>
              <a:rPr lang="en-US" sz="2400" dirty="0">
                <a:solidFill>
                  <a:schemeClr val="tx1"/>
                </a:solidFill>
              </a:rPr>
              <a:t>: one for each skill, labeled in Blackboard</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542032"/>
            <a:ext cx="548640" cy="548640"/>
          </a:xfrm>
          <a:prstGeom prst="ellipse">
            <a:avLst/>
          </a:prstGeom>
          <a:solidFill>
            <a:srgbClr val="00467F"/>
          </a:solidFill>
          <a:ln w="12700">
            <a:solidFill>
              <a:srgbClr val="00467F"/>
            </a:solidFill>
            <a:prstDash val="solid"/>
          </a:ln>
        </p:spPr>
      </p:sp>
      <p:pic>
        <p:nvPicPr>
          <p:cNvPr id="8" name="Decorative: LuTime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662733"/>
            <a:ext cx="307238" cy="307238"/>
          </a:xfrm>
          <a:prstGeom prst="rect">
            <a:avLst/>
          </a:prstGeom>
        </p:spPr>
      </p:pic>
      <p:sp>
        <p:nvSpPr>
          <p:cNvPr id="9" name="Text 5"/>
          <p:cNvSpPr txBox="1"/>
          <p:nvPr/>
        </p:nvSpPr>
        <p:spPr>
          <a:xfrm>
            <a:off x="1325880" y="2542032"/>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Right length</a:t>
            </a:r>
            <a:pPr indent="0" marL="0">
              <a:buNone/>
            </a:pPr>
            <a:r>
              <a:rPr lang="en-US" sz="2400" dirty="0">
                <a:solidFill>
                  <a:schemeClr val="tx1"/>
                </a:solidFill>
              </a:rPr>
              <a:t>: about 2 to 4 minutes, or typed in the box</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255264"/>
            <a:ext cx="548640" cy="548640"/>
          </a:xfrm>
          <a:prstGeom prst="ellipse">
            <a:avLst/>
          </a:prstGeom>
          <a:solidFill>
            <a:srgbClr val="00467F"/>
          </a:solidFill>
          <a:ln w="12700">
            <a:solidFill>
              <a:srgbClr val="00467F"/>
            </a:solidFill>
            <a:prstDash val="solid"/>
          </a:ln>
        </p:spPr>
      </p:sp>
      <p:pic>
        <p:nvPicPr>
          <p:cNvPr id="11" name="Decorative: LuListOrdered">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375965"/>
            <a:ext cx="307238" cy="307238"/>
          </a:xfrm>
          <a:prstGeom prst="rect">
            <a:avLst/>
          </a:prstGeom>
        </p:spPr>
      </p:pic>
      <p:sp>
        <p:nvSpPr>
          <p:cNvPr id="12" name="Text 7"/>
          <p:cNvSpPr txBox="1"/>
          <p:nvPr/>
        </p:nvSpPr>
        <p:spPr>
          <a:xfrm>
            <a:off x="1325880" y="3255264"/>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All five steps</a:t>
            </a:r>
            <a:pPr indent="0" marL="0">
              <a:buNone/>
            </a:pPr>
            <a:r>
              <a:rPr lang="en-US" sz="2400" dirty="0">
                <a:solidFill>
                  <a:schemeClr val="tx1"/>
                </a:solidFill>
              </a:rPr>
              <a:t>: in order</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3968496"/>
            <a:ext cx="548640" cy="548640"/>
          </a:xfrm>
          <a:prstGeom prst="ellipse">
            <a:avLst/>
          </a:prstGeom>
          <a:solidFill>
            <a:srgbClr val="00467F"/>
          </a:solidFill>
          <a:ln w="12700">
            <a:solidFill>
              <a:srgbClr val="00467F"/>
            </a:solidFill>
            <a:prstDash val="solid"/>
          </a:ln>
        </p:spPr>
      </p:sp>
      <p:pic>
        <p:nvPicPr>
          <p:cNvPr id="14" name="Decorative: LuCircleHelp">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4089197"/>
            <a:ext cx="307238" cy="307238"/>
          </a:xfrm>
          <a:prstGeom prst="rect">
            <a:avLst/>
          </a:prstGeom>
        </p:spPr>
      </p:pic>
      <p:sp>
        <p:nvSpPr>
          <p:cNvPr id="15" name="Text 9"/>
          <p:cNvSpPr txBox="1"/>
          <p:nvPr/>
        </p:nvSpPr>
        <p:spPr>
          <a:xfrm>
            <a:off x="1325880" y="3968496"/>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Choice story</a:t>
            </a:r>
            <a:pPr indent="0" marL="0">
              <a:buNone/>
            </a:pPr>
            <a:r>
              <a:rPr lang="en-US" sz="2400" dirty="0">
                <a:solidFill>
                  <a:schemeClr val="tx1"/>
                </a:solidFill>
              </a:rPr>
              <a:t>: name your skill and why, up front</a:t>
            </a:r>
            <a:endParaRPr lang="en-US" sz="2400" dirty="0"/>
          </a:p>
        </p:txBody>
      </p:sp>
      <p:sp>
        <p:nvSpPr>
          <p:cNvPr id="16" name="Decorative: icon circle">
            <a:extLst>
              <a:ext uri="{C183D7F6-B498-43B3-948B-1728B52AA6E4}">
                <adec:decorative xmlns:adec="http://schemas.microsoft.com/office/drawing/2017/decorative" val="1"/>
              </a:ext>
            </a:extLst>
          </p:cNvPr>
          <p:cNvSpPr/>
          <p:nvPr/>
        </p:nvSpPr>
        <p:spPr>
          <a:xfrm>
            <a:off x="548640" y="4681728"/>
            <a:ext cx="548640" cy="548640"/>
          </a:xfrm>
          <a:prstGeom prst="ellipse">
            <a:avLst/>
          </a:prstGeom>
          <a:solidFill>
            <a:srgbClr val="00467F"/>
          </a:solidFill>
          <a:ln w="12700">
            <a:solidFill>
              <a:srgbClr val="00467F"/>
            </a:solidFill>
            <a:prstDash val="solid"/>
          </a:ln>
        </p:spPr>
      </p:sp>
      <p:pic>
        <p:nvPicPr>
          <p:cNvPr id="17" name="Decorative: LuUserCheck">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4802429"/>
            <a:ext cx="307238" cy="307238"/>
          </a:xfrm>
          <a:prstGeom prst="rect">
            <a:avLst/>
          </a:prstGeom>
        </p:spPr>
      </p:pic>
      <p:sp>
        <p:nvSpPr>
          <p:cNvPr id="18" name="Text 11"/>
          <p:cNvSpPr txBox="1"/>
          <p:nvPr/>
        </p:nvSpPr>
        <p:spPr>
          <a:xfrm>
            <a:off x="1325880" y="4681728"/>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Sounds like you</a:t>
            </a:r>
            <a:pPr indent="0" marL="0">
              <a:buNone/>
            </a:pPr>
            <a:r>
              <a:rPr lang="en-US" sz="2400" dirty="0">
                <a:solidFill>
                  <a:schemeClr val="tx1"/>
                </a:solidFill>
              </a:rPr>
              <a:t>: not a template, and not AI</a:t>
            </a:r>
            <a:endParaRPr lang="en-US" sz="2400" dirty="0"/>
          </a:p>
        </p:txBody>
      </p:sp>
      <p:sp>
        <p:nvSpPr>
          <p:cNvPr id="19" name="Decorative: callout">
            <a:extLst>
              <a:ext uri="{C183D7F6-B498-43B3-948B-1728B52AA6E4}">
                <adec:decorative xmlns:adec="http://schemas.microsoft.com/office/drawing/2017/decorative" val="1"/>
              </a:ext>
            </a:extLst>
          </p:cNvPr>
          <p:cNvSpPr/>
          <p:nvPr/>
        </p:nvSpPr>
        <p:spPr>
          <a:xfrm>
            <a:off x="548640" y="54864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3"/>
          <p:cNvSpPr txBox="1"/>
          <p:nvPr/>
        </p:nvSpPr>
        <p:spPr>
          <a:xfrm>
            <a:off x="868680" y="55961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AI can help you remember details. It can't tell your story.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with Module 12, on Sunday</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74520"/>
            <a:ext cx="3108960" cy="397764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201168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the STAR(T) Stories Guide</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79192"/>
            <a:ext cx="2231136" cy="2231136"/>
          </a:xfrm>
          <a:prstGeom prst="roundRect">
            <a:avLst>
              <a:gd name="adj" fmla="val 4098"/>
            </a:avLst>
          </a:prstGeom>
          <a:solidFill>
            <a:srgbClr val="FFFFFF"/>
          </a:solidFill>
          <a:ln w="12700">
            <a:solidFill>
              <a:srgbClr val="D9E2EA"/>
            </a:solidFill>
            <a:prstDash val="solid"/>
          </a:ln>
        </p:spPr>
      </p:sp>
      <p:pic>
        <p:nvPicPr>
          <p:cNvPr id="7" name="QR code: Scan for the STAR(T) Stories Guide" descr="QR code for Scan for the STAR(T) Stories Guide: https://octc-instructional-design.github.io/FYE100-pathfinder-guidebook/chapters/start/">    </p:cNvPr>
          <p:cNvPicPr>
            <a:picLocks noChangeAspect="1"/>
          </p:cNvPicPr>
          <p:nvPr/>
        </p:nvPicPr>
        <p:blipFill>
          <a:blip r:embed="rId1"/>
          <a:stretch>
            <a:fillRect/>
          </a:stretch>
        </p:blipFill>
        <p:spPr>
          <a:xfrm>
            <a:off x="9082735" y="2788920"/>
            <a:ext cx="2011680" cy="2011680"/>
          </a:xfrm>
          <a:prstGeom prst="rect">
            <a:avLst/>
          </a:prstGeom>
        </p:spPr>
      </p:pic>
      <p:sp>
        <p:nvSpPr>
          <p:cNvPr id="8" name="Address: Scan for the STAR(T) Stories Guide"/>
          <p:cNvSpPr txBox="1"/>
          <p:nvPr/>
        </p:nvSpPr>
        <p:spPr>
          <a:xfrm>
            <a:off x="8534095" y="493776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Practice guides for all four stories</a:t>
            </a:r>
            <a:endParaRPr lang="en-US" sz="2000" dirty="0"/>
          </a:p>
        </p:txBody>
      </p:sp>
      <p:sp>
        <p:nvSpPr>
          <p:cNvPr id="9" name="Decorative: assignment row">
            <a:extLst>
              <a:ext uri="{C183D7F6-B498-43B3-948B-1728B52AA6E4}">
                <adec:decorative xmlns:adec="http://schemas.microsoft.com/office/drawing/2017/decorative" val="1"/>
              </a:ext>
            </a:extLst>
          </p:cNvPr>
          <p:cNvSpPr/>
          <p:nvPr/>
        </p:nvSpPr>
        <p:spPr>
          <a:xfrm>
            <a:off x="548640" y="187452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11" name="Decorative: LuSta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2086661"/>
            <a:ext cx="307238" cy="307238"/>
          </a:xfrm>
          <a:prstGeom prst="rect">
            <a:avLst/>
          </a:prstGeom>
        </p:spPr>
      </p:pic>
      <p:sp>
        <p:nvSpPr>
          <p:cNvPr id="12" name="Text 8"/>
          <p:cNvSpPr txBox="1"/>
          <p:nvPr/>
        </p:nvSpPr>
        <p:spPr>
          <a:xfrm>
            <a:off x="1508760" y="192938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STAR(T) Story #1: Adaptability &amp; Leadership</a:t>
            </a:r>
            <a:endParaRPr lang="en-US" sz="2400" dirty="0"/>
          </a:p>
        </p:txBody>
      </p:sp>
      <p:sp>
        <p:nvSpPr>
          <p:cNvPr id="13" name="Decorative: assignment row">
            <a:extLst>
              <a:ext uri="{C183D7F6-B498-43B3-948B-1728B52AA6E4}">
                <adec:decorative xmlns:adec="http://schemas.microsoft.com/office/drawing/2017/decorative" val="1"/>
              </a:ext>
            </a:extLst>
          </p:cNvPr>
          <p:cNvSpPr/>
          <p:nvPr/>
        </p:nvSpPr>
        <p:spPr>
          <a:xfrm>
            <a:off x="548640" y="288036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4"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5" name="Decorative: LuSta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3092501"/>
            <a:ext cx="307238" cy="307238"/>
          </a:xfrm>
          <a:prstGeom prst="rect">
            <a:avLst/>
          </a:prstGeom>
        </p:spPr>
      </p:pic>
      <p:sp>
        <p:nvSpPr>
          <p:cNvPr id="16" name="Text 11"/>
          <p:cNvSpPr txBox="1"/>
          <p:nvPr/>
        </p:nvSpPr>
        <p:spPr>
          <a:xfrm>
            <a:off x="1508760" y="293522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STAR(T) Story #2: Professionalism</a:t>
            </a:r>
            <a:endParaRPr lang="en-US" sz="2400" dirty="0"/>
          </a:p>
        </p:txBody>
      </p:sp>
      <p:sp>
        <p:nvSpPr>
          <p:cNvPr id="17" name="Decorative: assignment row">
            <a:extLst>
              <a:ext uri="{C183D7F6-B498-43B3-948B-1728B52AA6E4}">
                <adec:decorative xmlns:adec="http://schemas.microsoft.com/office/drawing/2017/decorative" val="1"/>
              </a:ext>
            </a:extLst>
          </p:cNvPr>
          <p:cNvSpPr/>
          <p:nvPr/>
        </p:nvSpPr>
        <p:spPr>
          <a:xfrm>
            <a:off x="548640" y="388620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8"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9" name="Decorative: LuSta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4098341"/>
            <a:ext cx="307238" cy="307238"/>
          </a:xfrm>
          <a:prstGeom prst="rect">
            <a:avLst/>
          </a:prstGeom>
        </p:spPr>
      </p:pic>
      <p:sp>
        <p:nvSpPr>
          <p:cNvPr id="20" name="Text 14"/>
          <p:cNvSpPr txBox="1"/>
          <p:nvPr/>
        </p:nvSpPr>
        <p:spPr>
          <a:xfrm>
            <a:off x="1508760" y="394106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STAR(T) Story #3: Knowledge Application</a:t>
            </a:r>
            <a:endParaRPr lang="en-US" sz="2400" dirty="0"/>
          </a:p>
        </p:txBody>
      </p:sp>
      <p:sp>
        <p:nvSpPr>
          <p:cNvPr id="21" name="Decorative: assignment row">
            <a:extLst>
              <a:ext uri="{C183D7F6-B498-43B3-948B-1728B52AA6E4}">
                <adec:decorative xmlns:adec="http://schemas.microsoft.com/office/drawing/2017/decorative" val="1"/>
              </a:ext>
            </a:extLst>
          </p:cNvPr>
          <p:cNvSpPr/>
          <p:nvPr/>
        </p:nvSpPr>
        <p:spPr>
          <a:xfrm>
            <a:off x="548640" y="489204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22" name="Decorative: icon circle">
            <a:extLst>
              <a:ext uri="{C183D7F6-B498-43B3-948B-1728B52AA6E4}">
                <adec:decorative xmlns:adec="http://schemas.microsoft.com/office/drawing/2017/decorative" val="1"/>
              </a:ext>
            </a:extLst>
          </p:cNvPr>
          <p:cNvSpPr/>
          <p:nvPr/>
        </p:nvSpPr>
        <p:spPr>
          <a:xfrm>
            <a:off x="731520" y="4983480"/>
            <a:ext cx="548640" cy="548640"/>
          </a:xfrm>
          <a:prstGeom prst="ellipse">
            <a:avLst/>
          </a:prstGeom>
          <a:solidFill>
            <a:srgbClr val="00467F"/>
          </a:solidFill>
          <a:ln w="12700">
            <a:solidFill>
              <a:srgbClr val="00467F"/>
            </a:solidFill>
            <a:prstDash val="solid"/>
          </a:ln>
        </p:spPr>
      </p:sp>
      <p:pic>
        <p:nvPicPr>
          <p:cNvPr id="23" name="Decorative: LuSta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2221" y="5104181"/>
            <a:ext cx="307238" cy="307238"/>
          </a:xfrm>
          <a:prstGeom prst="rect">
            <a:avLst/>
          </a:prstGeom>
        </p:spPr>
      </p:pic>
      <p:sp>
        <p:nvSpPr>
          <p:cNvPr id="24" name="Text 17"/>
          <p:cNvSpPr txBox="1"/>
          <p:nvPr/>
        </p:nvSpPr>
        <p:spPr>
          <a:xfrm>
            <a:off x="1508760" y="494690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STAR(T) Story #4: Your Choice</a:t>
            </a:r>
            <a:endParaRPr lang="en-US" sz="2400" dirty="0"/>
          </a:p>
          <a:p>
            <a:pPr indent="0" marL="0">
              <a:buNone/>
            </a:pPr>
            <a:r>
              <a:rPr lang="en-US" sz="2000" dirty="0">
                <a:solidFill>
                  <a:schemeClr val="accent6"/>
                </a:solidFill>
              </a:rPr>
              <a:t>Name your skill and why at the start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TRY IT OUT LOUD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Tell me about a time when...</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Pick one of your four skills and tell your partner the story in 2 minutes.</a:t>
            </a:r>
            <a:endParaRPr lang="en-US" sz="2400" dirty="0"/>
          </a:p>
          <a:p>
            <a:pPr marL="342900" indent="-342900">
              <a:spcAft>
                <a:spcPts val="1200"/>
              </a:spcAft>
              <a:buSzPct val="100000"/>
              <a:buFont typeface="+mj-lt"/>
              <a:buAutoNum type="arabicPeriod" startAt="1"/>
            </a:pPr>
            <a:r>
              <a:rPr lang="en-US" sz="2400" dirty="0">
                <a:solidFill>
                  <a:schemeClr val="bg1"/>
                </a:solidFill>
              </a:rPr>
              <a:t>Partner: which step was the thinnest? Ask one question about the Action.</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Two minutes each, then swap. Use your phone's timer.</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S: STAR(T) Stories</dc:title>
  <dc:subject>FYE 100 instructor slides</dc:subject>
  <dc:creator>OCTC FYE 100</dc:creator>
  <cp:lastModifiedBy>OCTC FYE 100</cp:lastModifiedBy>
  <cp:revision>1</cp:revision>
  <dcterms:created xsi:type="dcterms:W3CDTF">2026-10-19T20:33:48Z</dcterms:created>
  <dcterms:modified xsi:type="dcterms:W3CDTF">2026-10-19T20:33:48Z</dcterms:modified>
</cp:coreProperties>
</file>