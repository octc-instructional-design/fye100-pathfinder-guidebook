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7216712-6f2c-ed90-4efd-a9cbfedbf16c}">
          <p14:sldIdLst>
            <p14:sldId id="256"/>
            <p14:sldId id="257"/>
          </p14:sldIdLst>
        </p14:section>
        <p14:section name="This week" id="{5bd05758-b145-2ef7-cfd9-01d0277b2153}">
          <p14:sldIdLst>
            <p14:sldId id="258"/>
          </p14:sldIdLst>
        </p14:section>
        <p14:section name="Lessons" id="{50ecca83-88a7-aa7a-d569-d5e538a1fb83}">
          <p14:sldIdLst>
            <p14:sldId id="259"/>
            <p14:sldId id="260"/>
            <p14:sldId id="261"/>
            <p14:sldId id="262"/>
            <p14:sldId id="263"/>
            <p14:sldId id="264"/>
            <p14:sldId id="265"/>
            <p14:sldId id="266"/>
          </p14:sldIdLst>
        </p14:section>
        <p14:section name="This week's work" id="{4b935ef9-a9ad-92f6-eebf-f7cb84457e3f}">
          <p14:sldIdLst>
            <p14:sldId id="267"/>
            <p14:sldId id="268"/>
          </p14:sldIdLst>
        </p14:section>
        <p14:section name="Discussion" id="{6faf32e9-cd31-222d-040e-1df3ba5a25f0}">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FYE 100 and to Module 1: Your Pathfinder Journey Begins.
This week is about getting your bearings: what college expects, the skills this course builds, how to think about AI, and how to find your way around Blackboard.
The owl has a map for a reason. By the end of the week, you'll have one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Edit the announcements box before class. Hide this slide when recording for online sections (right-click the slide, Hide Slide).
Ideas for week 1: how to reach you and when you reply, where the Trailhead is in each module, and that the Pathfinder Guidebook is where the readings live.
Point out that every module follows the same pattern, so once students learn Module 1, the rest will feel familiar.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trail this week. Four things: know what college expects, meet the 10 Essential Skills, start using AI thoughtfully, and find your way around Blackboard.
The coins on the right are the four Essential Skills this module builds: Communication, Adaptability &amp; Leadership, Professionalism, and Information Literacy.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idea for the week: in high school, the system was built to catch you. In college, the system is built to support you, but only if you engage with it.
Walk the two shifts. Before, your teacher reminded you about the deadline. Now, the due date is in the syllabus, and if you're going to miss it, you reach out first, before the deadline. Before, your teacher noticed when you were lost. Now, you start the conversation.
Name both groups in the room: if you're coming from high school, the support is here but you go looking for it. If you're coming back after years of work and family, your professional habits are exactly what college expects. The adjustment is usually the systems, not the ability.
Lesson 1.1 has four of these shifts. Ask: which one will take the most adjustment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skim the syllabus once and never look at it again. It's one of the most common first-year mistakes.
Four things to find in every syllabus, this week: every deadline, the late work policy, how your instructor wants to be contacted and how fast they respond, and the AI policy.
When something is unclear, ask before you act on your assumption. "I read the syllabus and wasn't sure how this works" is a professional way to ask, and it shows you read it.
Lesson 1.1 also covers four unspoken expectations: follow all the directions, communicate like a professional, manage your own deadlines, and academic integrity. Pick one to emphasize for your section.
Option: run the syllabus speed hunt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public college in Kentucky, including OCTC, uses the Kentucky Graduate Profile, and at its center are these 10 Essential Skills. They show up in every job posting and every performance review. FYE 100 is built around them.
Each module opens with a Skill Spotlight on one of them.
Kentucky describes three levels. Benchmark is where most students start, about the level of finishing high school. Milestone is the target after two years of college: you can use the skill on your own in real situations. Capstone is the bachelor's degree level.
This week students rate themselves with the My Skills Snapshot. Encourage honesty over generosity: a realistic starting point makes growth easier to see. They'll take it again at the end.
Plant the seed: the final project is four STAR(T) Stories showing these skills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use AI, even if you don't call it that: voice assistants, recommendations, the summary at the top of a search.
Try the hum from the lesson: bum, bum, bum, buttabum, bum. Ask the room what song it is. Some will say "Under Pressure," some will say "Ice Ice Baby." Nobody is wrong. Each person completed the most familiar pattern.
That's close to how AI chat tools work. They predict the most likely next words. Usually that's useful. Sometimes the most likely answer isn't the true one. When AI produces something believable but false, that's a hallucination.
So the question isn't "did it make a mistake?" It's "that sounded right, but is sounding right the same as being right?"
The five BE behaviors describe thoughtful AI use, and they come back all semester. This week's BE Check has students match each one to a real situation.
Point out: no one has to love AI or use it. The course asks you to think before you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no single AI rule for college. Each course, and sometimes each assignment, sets its own. Look in two places: the AI Course Policy in the syllabus, then the AI use label on the assignment.
Three labels, from no AI to AI as part of the work. No AI: the skill itself is what you're practicing. AI-supported: AI can help with the parts your instructor names, like brainstorming, but the thinking and the final work are yours. AI-integrated: using AI well is part of the assignment.
The same course can have different labels on different assignments, so check every time.
In this course, the Mile Markers are AI-supported. Point to the label at the top of Mile Marker #1.
If there's no label or it's unclear, ask first. It's easy to answer before you start, and hard to sort out after you've turned something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know the rules, the 3 Qs keep you on track. Each one belongs to a moment in your work.
Before you ask AI: should I use AI for this part? Before you use its answer: how would I know if it's wrong? Before you turn it in: can I explain my work and how AI helped me?
They're the five BE behaviors turned into a routine. BE Safe applies every time: never paste anyone's personal information or passwords into an AI tool.
Keep a trail: write in Word saved to OneDrive, so there's a dated history of your draft, and jot down how you used AI in a OneNote notebook. If anyone ever asks how you did your work, you can show them. Tools that try to detect AI writing are sometimes wrong; your trail is real evidence.
And when AI is optional, choosing not to use it is a good choice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places you'll use every week inside a course.
Course Content is home base: your modules in order, top to bottom. Calendar shows what's due; the calendar on the main Blackboard page, before you open a course, shows all your courses at once. Gradebook has your scores, and select an item to read the feedback. Messages are private notes to your instructor or classmates. Announcements are updates from your instructor, also sent to your KCTCS email.
Submit work through the assignment, not by email, and don't wait until the last minute.
Read your feedback. In an online class it's the closest thing to a one-on-one conversation.
First thing to do: add a profile photo. Lesson 1.5 has the steps.
Option: demo the course live, or point to the optional Syllabus and Blackboard Scavenger Hunt.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KCTCS student in at least one class gets the full Office 365 suite free, on up to five devices: PC, Mac, phones, and tablets.
On a computer: sign in to your KCTCS Office 365 account and select Install Office. On a phone or tablet: install the Microsoft Office app and sign in with your student email.
Four tools to know this semester: Word for papers, OneDrive so your files follow you, OneNote for notes and your AI trail, and Copilot, the AI assistant that comes with your student account.
Trouble installing or signing in? OCTC Information Technology Services can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due Monday by 11:59 PM Central.
The My Skills Snapshot is your starting point on the 10 skills and on AI. It's completion only, so be honest, not generous. You'll retake it at the end and compare.
The BE Check is a short matching quiz on the five BE behaviors from Lesson 1.3.
Mile Marker #1 is the main assignment, next slide.
Online sections also have the Trailhead Introductions discussion: first post by Friday, replies by Monday. In-person sections: today's attendance counts.
There's also an optional Syllabus and Blackboard Scavenger Hunt for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 Marker #1 is five short questions about where you are right now.
Why college, and why OCTC. What success looks like for you this semester, in your own terms. One strength you already bring. One goal with two concrete steps; the test is whether someone else could tell you reached it, and whether you could put each step on a calendar. And where AI shows up in your life and how you feel about using it for school. Any honest position is a good answer there.
It's AI-supported: AI can help you think, but the writing is yours. The guidebook has an optional AI thinking partner prompt and a fill-in form that saves a PDF. There's a printable handout in Blackboard too.
You'll come back to this reflection at the end of the course, so honest beats perfect.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In-person introductions. Model it first with your own answer.
Pairs for three minutes, then each person introduces their partner to the room. Introducing someone else lowers the stakes on day one.
Listen for strengths students mention in passing, like work ethic, caring for family, or a trade skill, and name them. Those are Mile Marker #1, Question 3.
For online recordings: this is the Trailhead Introductions discussion. Ask students to answer the same two questions in their first 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YE Title">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1051560"/>
            <a:ext cx="7680960" cy="45720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554480"/>
            <a:ext cx="76809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3931920" y="3611880"/>
            <a:ext cx="6949440" cy="1005840"/>
          </a:xfrm>
          <a:prstGeom prst="rect">
            <a:avLst/>
          </a:prstGeom>
          <a:noFill/>
          <a:ln/>
        </p:spPr>
        <p:txBody>
          <a:bodyPr wrap="square" rtlCol="0"/>
          <a:lstStyle>
            <a:lvl1pPr algn="l" indent="0" marL="0">
              <a:buNone/>
              <a:defRPr lang="en-US" sz="3200" dirty="0">
                <a:solidFill>
                  <a:srgbClr val="D6EEFA"/>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YE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rtlCol="0"/>
          <a:lstStyle>
            <a:lvl1pPr algn="l" indent="0" marL="0">
              <a:buNone/>
              <a:defRPr lang="en-US" sz="2000" b="1" spc="300" kern="0" dirty="0">
                <a:solidFill>
                  <a:schemeClr val="accent4"/>
                </a:solidFill>
              </a:defRPr>
            </a:lvl1pPr>
          </a:lstStyle>
          <a:p>
            <a:pPr algn="l" indent="0" marL="0">
              <a:buNone/>
            </a:pP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YE Discussion">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640080"/>
            <a:ext cx="7680960" cy="41148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097280"/>
            <a:ext cx="76809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3.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1051560"/>
            <a:ext cx="7680960" cy="457200"/>
          </a:xfrm>
          <a:prstGeom prst="rect">
            <a:avLst/>
          </a:prstGeom>
          <a:noFill/>
          <a:ln/>
        </p:spPr>
        <p:txBody>
          <a:bodyPr wrap="square" lIns="0" tIns="0" rIns="0" bIns="0" rtlCol="0"/>
          <a:lstStyle/>
          <a:p>
            <a:pPr algn="l" indent="0" marL="0">
              <a:buNone/>
            </a:pPr>
            <a:r>
              <a:rPr lang="en-US" sz="2000" b="1" spc="300" kern="0" dirty="0">
                <a:solidFill>
                  <a:schemeClr val="accent2"/>
                </a:solidFill>
              </a:rPr>
              <a:t>MODULE 1</a:t>
            </a:r>
            <a:endParaRPr lang="en-US" sz="2000" dirty="0"/>
          </a:p>
        </p:txBody>
      </p:sp>
      <p:sp>
        <p:nvSpPr>
          <p:cNvPr id="4" name="Text 0"/>
          <p:cNvSpPr/>
          <p:nvPr>
            <p:ph idx="101" type="title" hasCustomPrompt="1"/>
          </p:nvPr>
        </p:nvSpPr>
        <p:spPr>
          <a:xfrm>
            <a:off x="3931920" y="1554480"/>
            <a:ext cx="7680960" cy="2011680"/>
          </a:xfrm>
          <a:prstGeom prst="rect">
            <a:avLst/>
          </a:prstGeom>
          <a:noFill/>
          <a:ln/>
        </p:spPr>
        <p:txBody>
          <a:bodyPr wrap="square" lIns="0" tIns="0" rIns="0" bIns="0" rtlCol="0" anchor="t"/>
          <a:lstStyle/>
          <a:p>
            <a:pPr algn="l" indent="0" marL="0">
              <a:buNone/>
            </a:pPr>
            <a:r>
              <a:rPr lang="en-US" sz="5400" b="1" dirty="0">
                <a:solidFill>
                  <a:schemeClr val="bg1"/>
                </a:solidFill>
              </a:rPr>
              <a:t>Your Pathfinder Journey Begins</a:t>
            </a:r>
            <a:endParaRPr lang="en-US" sz="5400" dirty="0"/>
          </a:p>
        </p:txBody>
      </p:sp>
      <p:sp>
        <p:nvSpPr>
          <p:cNvPr id="5" name="Text 0"/>
          <p:cNvSpPr/>
          <p:nvPr>
            <p:ph idx="102" type="body" hasCustomPrompt="1"/>
          </p:nvPr>
        </p:nvSpPr>
        <p:spPr>
          <a:xfrm>
            <a:off x="3931920" y="3611880"/>
            <a:ext cx="6949440" cy="1005840"/>
          </a:xfrm>
          <a:prstGeom prst="rect">
            <a:avLst/>
          </a:prstGeom>
          <a:noFill/>
          <a:ln/>
        </p:spPr>
        <p:txBody>
          <a:bodyPr wrap="square" lIns="0" tIns="0" rIns="0" bIns="0" rtlCol="0" anchor="t"/>
          <a:lstStyle/>
          <a:p>
            <a:pPr algn="l" indent="0" marL="0">
              <a:buNone/>
            </a:pPr>
            <a:r>
              <a:rPr lang="en-US" sz="3200" dirty="0">
                <a:solidFill>
                  <a:srgbClr val="D6EEFA"/>
                </a:solidFill>
              </a:rPr>
              <a:t>Every journey starts with a single step.</a:t>
            </a:r>
            <a:endParaRPr lang="en-US" sz="3200" dirty="0"/>
          </a:p>
        </p:txBody>
      </p:sp>
      <p:sp>
        <p:nvSpPr>
          <p:cNvPr id="6" name="Instructor and section (edit me)"/>
          <p:cNvSpPr txBox="1"/>
          <p:nvPr/>
        </p:nvSpPr>
        <p:spPr>
          <a:xfrm>
            <a:off x="3931920" y="4709160"/>
            <a:ext cx="5486400" cy="411480"/>
          </a:xfrm>
          <a:prstGeom prst="rect">
            <a:avLst/>
          </a:prstGeom>
          <a:noFill/>
          <a:ln/>
        </p:spPr>
        <p:txBody>
          <a:bodyPr wrap="square" lIns="0" tIns="0" rIns="0" bIns="0" rtlCol="0" anchor="t"/>
          <a:lstStyle/>
          <a:p>
            <a:pPr indent="0" marL="0">
              <a:buNone/>
            </a:pPr>
            <a:r>
              <a:rPr lang="en-US" sz="2000" dirty="0">
                <a:solidFill>
                  <a:srgbClr val="D6EEFA"/>
                </a:solidFill>
              </a:rPr>
              <a:t>Instructor name  ·  Section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INSTRUCTOR SLIDE · HOUSEKEEPING</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Base Camp</a:t>
            </a:r>
            <a:endParaRPr lang="en-US" sz="4000" dirty="0"/>
          </a:p>
        </p:txBody>
      </p:sp>
      <p:sp>
        <p:nvSpPr>
          <p:cNvPr id="4" name="Text 2"/>
          <p:cNvSpPr txBox="1"/>
          <p:nvPr/>
        </p:nvSpPr>
        <p:spPr>
          <a:xfrm>
            <a:off x="548640" y="1645920"/>
            <a:ext cx="10515600" cy="457200"/>
          </a:xfrm>
          <a:prstGeom prst="rect">
            <a:avLst/>
          </a:prstGeom>
          <a:noFill/>
          <a:ln/>
        </p:spPr>
        <p:txBody>
          <a:bodyPr wrap="square" lIns="0" tIns="0" rIns="0" bIns="0" rtlCol="0" anchor="t"/>
          <a:lstStyle/>
          <a:p>
            <a:pPr indent="0" marL="0">
              <a:buNone/>
            </a:pPr>
            <a:r>
              <a:rPr lang="en-US" sz="2400" i="1" dirty="0">
                <a:solidFill>
                  <a:schemeClr val="accent6"/>
                </a:solidFill>
              </a:rPr>
              <a:t>Welcome to FYE 100. Here is how this course works.</a:t>
            </a:r>
            <a:endParaRPr lang="en-US" sz="2400" dirty="0"/>
          </a:p>
        </p:txBody>
      </p:sp>
      <p:sp>
        <p:nvSpPr>
          <p:cNvPr id="5" name="Decorative: announcements panel">
            <a:extLst>
              <a:ext uri="{C183D7F6-B498-43B3-948B-1728B52AA6E4}">
                <adec:decorative xmlns:adec="http://schemas.microsoft.com/office/drawing/2017/decorative" val="1"/>
              </a:ext>
            </a:extLst>
          </p:cNvPr>
          <p:cNvSpPr/>
          <p:nvPr/>
        </p:nvSpPr>
        <p:spPr>
          <a:xfrm>
            <a:off x="548640" y="2331720"/>
            <a:ext cx="6949440" cy="3749040"/>
          </a:xfrm>
          <a:prstGeom prst="roundRect">
            <a:avLst>
              <a:gd name="adj" fmla="val 2927"/>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68680" y="2560320"/>
            <a:ext cx="6400800" cy="411480"/>
          </a:xfrm>
          <a:prstGeom prst="rect">
            <a:avLst/>
          </a:prstGeom>
          <a:noFill/>
          <a:ln/>
        </p:spPr>
        <p:txBody>
          <a:bodyPr wrap="square" lIns="0" tIns="0" rIns="0" bIns="0" rtlCol="0" anchor="t"/>
          <a:lstStyle/>
          <a:p>
            <a:pPr indent="0" marL="0">
              <a:buNone/>
            </a:pPr>
            <a:r>
              <a:rPr lang="en-US" sz="2800" b="1" dirty="0">
                <a:solidFill>
                  <a:schemeClr val="tx2"/>
                </a:solidFill>
              </a:rPr>
              <a:t>Announcements</a:t>
            </a:r>
            <a:endParaRPr lang="en-US" sz="2800" dirty="0"/>
          </a:p>
        </p:txBody>
      </p:sp>
      <p:sp>
        <p:nvSpPr>
          <p:cNvPr id="7" name="Announcements (edit me)"/>
          <p:cNvSpPr txBox="1"/>
          <p:nvPr/>
        </p:nvSpPr>
        <p:spPr>
          <a:xfrm>
            <a:off x="868680" y="3063240"/>
            <a:ext cx="6400800" cy="2743200"/>
          </a:xfrm>
          <a:prstGeom prst="rect">
            <a:avLst/>
          </a:prstGeom>
          <a:noFill/>
          <a:ln/>
        </p:spPr>
        <p:txBody>
          <a:bodyPr wrap="square" lIns="0" tIns="0" rIns="0" bIns="0" rtlCol="0" anchor="t"/>
          <a:lstStyle/>
          <a:p>
            <a:pPr indent="0" marL="0">
              <a:buNone/>
            </a:pPr>
            <a:r>
              <a:rPr lang="en-US" sz="2400" dirty="0">
                <a:solidFill>
                  <a:schemeClr val="accent6"/>
                </a:solidFill>
              </a:rPr>
              <a:t>Add this week's announcements here.</a:t>
            </a:r>
            <a:endParaRPr lang="en-US" sz="2400" dirty="0"/>
          </a:p>
          <a:p>
            <a:pPr indent="0" marL="0">
              <a:buNone/>
            </a:pPr>
            <a:r>
              <a:rPr lang="en-US" sz="2400" dirty="0">
                <a:solidFill>
                  <a:schemeClr val="accent6"/>
                </a:solidFill>
              </a:rPr>
              <a:t>Grades posted, office hours, campus dates.</a:t>
            </a:r>
            <a:endParaRPr lang="en-US" sz="2400" dirty="0"/>
          </a:p>
        </p:txBody>
      </p:sp>
      <p:sp>
        <p:nvSpPr>
          <p:cNvPr id="8" name="Decorative: looking ahead panel">
            <a:extLst>
              <a:ext uri="{C183D7F6-B498-43B3-948B-1728B52AA6E4}">
                <adec:decorative xmlns:adec="http://schemas.microsoft.com/office/drawing/2017/decorative" val="1"/>
              </a:ext>
            </a:extLst>
          </p:cNvPr>
          <p:cNvSpPr/>
          <p:nvPr/>
        </p:nvSpPr>
        <p:spPr>
          <a:xfrm>
            <a:off x="7818120" y="2331720"/>
            <a:ext cx="3824935" cy="3749040"/>
          </a:xfrm>
          <a:prstGeom prst="roundRect">
            <a:avLst>
              <a:gd name="adj" fmla="val 2927"/>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8138160" y="2606040"/>
            <a:ext cx="731520" cy="731520"/>
          </a:xfrm>
          <a:prstGeom prst="ellipse">
            <a:avLst/>
          </a:prstGeom>
          <a:solidFill>
            <a:srgbClr val="E7A614"/>
          </a:solidFill>
          <a:ln w="12700">
            <a:solidFill>
              <a:srgbClr val="E7A614"/>
            </a:solidFill>
            <a:prstDash val="solid"/>
          </a:ln>
        </p:spPr>
      </p:sp>
      <p:pic>
        <p:nvPicPr>
          <p:cNvPr id="10" name="Decorative: LuCalendar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99094" y="2766974"/>
            <a:ext cx="409651" cy="409651"/>
          </a:xfrm>
          <a:prstGeom prst="rect">
            <a:avLst/>
          </a:prstGeom>
        </p:spPr>
      </p:pic>
      <p:sp>
        <p:nvSpPr>
          <p:cNvPr id="11" name="Text 8"/>
          <p:cNvSpPr txBox="1"/>
          <p:nvPr/>
        </p:nvSpPr>
        <p:spPr>
          <a:xfrm>
            <a:off x="8138160" y="3474720"/>
            <a:ext cx="3291840" cy="411480"/>
          </a:xfrm>
          <a:prstGeom prst="rect">
            <a:avLst/>
          </a:prstGeom>
          <a:noFill/>
          <a:ln/>
        </p:spPr>
        <p:txBody>
          <a:bodyPr wrap="square" lIns="0" tIns="0" rIns="0" bIns="0" rtlCol="0" anchor="t"/>
          <a:lstStyle/>
          <a:p>
            <a:pPr indent="0" marL="0">
              <a:buNone/>
            </a:pPr>
            <a:r>
              <a:rPr lang="en-US" sz="2800" b="1" dirty="0">
                <a:solidFill>
                  <a:schemeClr val="tx2"/>
                </a:solidFill>
              </a:rPr>
              <a:t>Looking ahead</a:t>
            </a:r>
            <a:endParaRPr lang="en-US" sz="2800" dirty="0"/>
          </a:p>
        </p:txBody>
      </p:sp>
      <p:sp>
        <p:nvSpPr>
          <p:cNvPr id="12" name="Text 9"/>
          <p:cNvSpPr txBox="1"/>
          <p:nvPr/>
        </p:nvSpPr>
        <p:spPr>
          <a:xfrm>
            <a:off x="8138160" y="3977640"/>
            <a:ext cx="3291840" cy="2011680"/>
          </a:xfrm>
          <a:prstGeom prst="rect">
            <a:avLst/>
          </a:prstGeom>
          <a:noFill/>
          <a:ln/>
        </p:spPr>
        <p:txBody>
          <a:bodyPr wrap="square" lIns="0" tIns="0" rIns="0" bIns="0" rtlCol="0" anchor="t"/>
          <a:lstStyle/>
          <a:p>
            <a:pPr indent="0" marL="0">
              <a:buNone/>
            </a:pPr>
            <a:r>
              <a:rPr lang="en-US" sz="2400" dirty="0">
                <a:solidFill>
                  <a:schemeClr val="tx1"/>
                </a:solidFill>
              </a:rPr>
              <a:t>Module 1 work is due Monday by 11:59 PM Central.</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MODULE 1 · THIS WEEK</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Getting your bearings</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685800" cy="685800"/>
          </a:xfrm>
          <a:prstGeom prst="ellipse">
            <a:avLst/>
          </a:prstGeom>
          <a:solidFill>
            <a:srgbClr val="00467F"/>
          </a:solidFill>
          <a:ln w="12700">
            <a:solidFill>
              <a:srgbClr val="00467F"/>
            </a:solidFill>
            <a:prstDash val="solid"/>
          </a:ln>
        </p:spPr>
      </p:sp>
      <p:pic>
        <p:nvPicPr>
          <p:cNvPr id="5" name="Decorative: LuMap">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9516" y="2116836"/>
            <a:ext cx="384048" cy="384048"/>
          </a:xfrm>
          <a:prstGeom prst="rect">
            <a:avLst/>
          </a:prstGeom>
        </p:spPr>
      </p:pic>
      <p:sp>
        <p:nvSpPr>
          <p:cNvPr id="6" name="Text 3"/>
          <p:cNvSpPr txBox="1"/>
          <p:nvPr/>
        </p:nvSpPr>
        <p:spPr>
          <a:xfrm>
            <a:off x="1463040" y="2075688"/>
            <a:ext cx="6035040" cy="548640"/>
          </a:xfrm>
          <a:prstGeom prst="rect">
            <a:avLst/>
          </a:prstGeom>
          <a:noFill/>
          <a:ln/>
        </p:spPr>
        <p:txBody>
          <a:bodyPr wrap="square" lIns="0" tIns="0" rIns="0" bIns="0" rtlCol="0" anchor="ctr"/>
          <a:lstStyle/>
          <a:p>
            <a:pPr indent="0" marL="0">
              <a:buNone/>
            </a:pPr>
            <a:r>
              <a:rPr lang="en-US" sz="2400" dirty="0">
                <a:solidFill>
                  <a:schemeClr val="tx1"/>
                </a:solidFill>
              </a:rPr>
              <a:t>Know what college expects</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926080"/>
            <a:ext cx="685800" cy="685800"/>
          </a:xfrm>
          <a:prstGeom prst="ellipse">
            <a:avLst/>
          </a:prstGeom>
          <a:solidFill>
            <a:srgbClr val="00467F"/>
          </a:solidFill>
          <a:ln w="12700">
            <a:solidFill>
              <a:srgbClr val="00467F"/>
            </a:solidFill>
            <a:prstDash val="solid"/>
          </a:ln>
        </p:spPr>
      </p:sp>
      <p:pic>
        <p:nvPicPr>
          <p:cNvPr id="8" name="Decorative: LuSta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516" y="3076956"/>
            <a:ext cx="384048" cy="384048"/>
          </a:xfrm>
          <a:prstGeom prst="rect">
            <a:avLst/>
          </a:prstGeom>
        </p:spPr>
      </p:pic>
      <p:sp>
        <p:nvSpPr>
          <p:cNvPr id="9" name="Text 5"/>
          <p:cNvSpPr txBox="1"/>
          <p:nvPr/>
        </p:nvSpPr>
        <p:spPr>
          <a:xfrm>
            <a:off x="1463040" y="3035808"/>
            <a:ext cx="6035040" cy="548640"/>
          </a:xfrm>
          <a:prstGeom prst="rect">
            <a:avLst/>
          </a:prstGeom>
          <a:noFill/>
          <a:ln/>
        </p:spPr>
        <p:txBody>
          <a:bodyPr wrap="square" lIns="0" tIns="0" rIns="0" bIns="0" rtlCol="0" anchor="ctr"/>
          <a:lstStyle/>
          <a:p>
            <a:pPr indent="0" marL="0">
              <a:buNone/>
            </a:pPr>
            <a:r>
              <a:rPr lang="en-US" sz="2400" dirty="0">
                <a:solidFill>
                  <a:schemeClr val="tx1"/>
                </a:solidFill>
              </a:rPr>
              <a:t>Meet the 10 Essential Skills</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886200"/>
            <a:ext cx="685800" cy="685800"/>
          </a:xfrm>
          <a:prstGeom prst="ellipse">
            <a:avLst/>
          </a:prstGeom>
          <a:solidFill>
            <a:srgbClr val="00467F"/>
          </a:solidFill>
          <a:ln w="12700">
            <a:solidFill>
              <a:srgbClr val="00467F"/>
            </a:solidFill>
            <a:prstDash val="solid"/>
          </a:ln>
        </p:spPr>
      </p:sp>
      <p:pic>
        <p:nvPicPr>
          <p:cNvPr id="11" name="Decorative: LuSparkles">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9516" y="4037076"/>
            <a:ext cx="384048" cy="384048"/>
          </a:xfrm>
          <a:prstGeom prst="rect">
            <a:avLst/>
          </a:prstGeom>
        </p:spPr>
      </p:pic>
      <p:sp>
        <p:nvSpPr>
          <p:cNvPr id="12" name="Text 7"/>
          <p:cNvSpPr txBox="1"/>
          <p:nvPr/>
        </p:nvSpPr>
        <p:spPr>
          <a:xfrm>
            <a:off x="1463040" y="3995928"/>
            <a:ext cx="6035040" cy="548640"/>
          </a:xfrm>
          <a:prstGeom prst="rect">
            <a:avLst/>
          </a:prstGeom>
          <a:noFill/>
          <a:ln/>
        </p:spPr>
        <p:txBody>
          <a:bodyPr wrap="square" lIns="0" tIns="0" rIns="0" bIns="0" rtlCol="0" anchor="ctr"/>
          <a:lstStyle/>
          <a:p>
            <a:pPr indent="0" marL="0">
              <a:buNone/>
            </a:pPr>
            <a:r>
              <a:rPr lang="en-US" sz="2400" dirty="0">
                <a:solidFill>
                  <a:schemeClr val="tx1"/>
                </a:solidFill>
              </a:rPr>
              <a:t>Use AI thoughtfully</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4846320"/>
            <a:ext cx="685800" cy="685800"/>
          </a:xfrm>
          <a:prstGeom prst="ellipse">
            <a:avLst/>
          </a:prstGeom>
          <a:solidFill>
            <a:srgbClr val="00467F"/>
          </a:solidFill>
          <a:ln w="12700">
            <a:solidFill>
              <a:srgbClr val="00467F"/>
            </a:solidFill>
            <a:prstDash val="solid"/>
          </a:ln>
        </p:spPr>
      </p:sp>
      <p:pic>
        <p:nvPicPr>
          <p:cNvPr id="14" name="Decorative: LuLayoutDashboard">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516" y="4997196"/>
            <a:ext cx="384048" cy="384048"/>
          </a:xfrm>
          <a:prstGeom prst="rect">
            <a:avLst/>
          </a:prstGeom>
        </p:spPr>
      </p:pic>
      <p:sp>
        <p:nvSpPr>
          <p:cNvPr id="15" name="Text 9"/>
          <p:cNvSpPr txBox="1"/>
          <p:nvPr/>
        </p:nvSpPr>
        <p:spPr>
          <a:xfrm>
            <a:off x="1463040" y="4956048"/>
            <a:ext cx="6035040" cy="548640"/>
          </a:xfrm>
          <a:prstGeom prst="rect">
            <a:avLst/>
          </a:prstGeom>
          <a:noFill/>
          <a:ln/>
        </p:spPr>
        <p:txBody>
          <a:bodyPr wrap="square" lIns="0" tIns="0" rIns="0" bIns="0" rtlCol="0" anchor="ctr"/>
          <a:lstStyle/>
          <a:p>
            <a:pPr indent="0" marL="0">
              <a:buNone/>
            </a:pPr>
            <a:r>
              <a:rPr lang="en-US" sz="2400" dirty="0">
                <a:solidFill>
                  <a:schemeClr val="tx1"/>
                </a:solidFill>
              </a:rPr>
              <a:t>Find your way around Blackboard</a:t>
            </a:r>
            <a:endParaRPr lang="en-US" sz="2400" dirty="0"/>
          </a:p>
        </p:txBody>
      </p:sp>
      <p:sp>
        <p:nvSpPr>
          <p:cNvPr id="16" name="Decorative: skills panel">
            <a:extLst>
              <a:ext uri="{C183D7F6-B498-43B3-948B-1728B52AA6E4}">
                <adec:decorative xmlns:adec="http://schemas.microsoft.com/office/drawing/2017/decorative" val="1"/>
              </a:ext>
            </a:extLst>
          </p:cNvPr>
          <p:cNvSpPr/>
          <p:nvPr/>
        </p:nvSpPr>
        <p:spPr>
          <a:xfrm>
            <a:off x="7863840" y="1965960"/>
            <a:ext cx="3779215" cy="3840480"/>
          </a:xfrm>
          <a:prstGeom prst="roundRect">
            <a:avLst>
              <a:gd name="adj" fmla="val 290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Text 11"/>
          <p:cNvSpPr txBox="1"/>
          <p:nvPr/>
        </p:nvSpPr>
        <p:spPr>
          <a:xfrm>
            <a:off x="8183880" y="2194560"/>
            <a:ext cx="3291840" cy="411480"/>
          </a:xfrm>
          <a:prstGeom prst="rect">
            <a:avLst/>
          </a:prstGeom>
          <a:noFill/>
          <a:ln/>
        </p:spPr>
        <p:txBody>
          <a:bodyPr wrap="square" lIns="0" tIns="0" rIns="0" bIns="0" rtlCol="0" anchor="t"/>
          <a:lstStyle/>
          <a:p>
            <a:pPr indent="0" marL="0">
              <a:buNone/>
            </a:pPr>
            <a:r>
              <a:rPr lang="en-US" sz="2800" b="1" dirty="0">
                <a:solidFill>
                  <a:schemeClr val="tx2"/>
                </a:solidFill>
              </a:rPr>
              <a:t>Skills you'll build</a:t>
            </a:r>
            <a:endParaRPr lang="en-US" sz="2800" dirty="0"/>
          </a:p>
        </p:txBody>
      </p:sp>
      <p:pic>
        <p:nvPicPr>
          <p:cNvPr id="18" name="Decorative: skill coi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83880" y="2697480"/>
            <a:ext cx="621792" cy="621792"/>
          </a:xfrm>
          <a:prstGeom prst="rect">
            <a:avLst/>
          </a:prstGeom>
        </p:spPr>
      </p:pic>
      <p:sp>
        <p:nvSpPr>
          <p:cNvPr id="19" name="Text 12"/>
          <p:cNvSpPr txBox="1"/>
          <p:nvPr/>
        </p:nvSpPr>
        <p:spPr>
          <a:xfrm>
            <a:off x="8988552" y="265176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#1 </a:t>
            </a:r>
            <a:pPr indent="0" marL="0">
              <a:buNone/>
            </a:pPr>
            <a:r>
              <a:rPr lang="en-US" sz="2000" dirty="0">
                <a:solidFill>
                  <a:schemeClr val="tx1"/>
                </a:solidFill>
              </a:rPr>
              <a:t>Communication</a:t>
            </a:r>
            <a:endParaRPr lang="en-US" sz="2000" dirty="0"/>
          </a:p>
        </p:txBody>
      </p:sp>
      <p:pic>
        <p:nvPicPr>
          <p:cNvPr id="20" name="Decorative: skill coin">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183880" y="3429000"/>
            <a:ext cx="621792" cy="621792"/>
          </a:xfrm>
          <a:prstGeom prst="rect">
            <a:avLst/>
          </a:prstGeom>
        </p:spPr>
      </p:pic>
      <p:sp>
        <p:nvSpPr>
          <p:cNvPr id="21" name="Text 13"/>
          <p:cNvSpPr txBox="1"/>
          <p:nvPr/>
        </p:nvSpPr>
        <p:spPr>
          <a:xfrm>
            <a:off x="8988552" y="338328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#5 </a:t>
            </a:r>
            <a:pPr indent="0" marL="0">
              <a:buNone/>
            </a:pPr>
            <a:r>
              <a:rPr lang="en-US" sz="2000" dirty="0">
                <a:solidFill>
                  <a:schemeClr val="tx1"/>
                </a:solidFill>
              </a:rPr>
              <a:t>Adaptability &amp; Leadership</a:t>
            </a:r>
            <a:endParaRPr lang="en-US" sz="2000" dirty="0"/>
          </a:p>
        </p:txBody>
      </p:sp>
      <p:pic>
        <p:nvPicPr>
          <p:cNvPr id="22" name="Decorative: skill coin">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183880" y="4160520"/>
            <a:ext cx="621792" cy="621792"/>
          </a:xfrm>
          <a:prstGeom prst="rect">
            <a:avLst/>
          </a:prstGeom>
        </p:spPr>
      </p:pic>
      <p:sp>
        <p:nvSpPr>
          <p:cNvPr id="23" name="Text 14"/>
          <p:cNvSpPr txBox="1"/>
          <p:nvPr/>
        </p:nvSpPr>
        <p:spPr>
          <a:xfrm>
            <a:off x="8988552" y="411480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#6 </a:t>
            </a:r>
            <a:pPr indent="0" marL="0">
              <a:buNone/>
            </a:pPr>
            <a:r>
              <a:rPr lang="en-US" sz="2000" dirty="0">
                <a:solidFill>
                  <a:schemeClr val="tx1"/>
                </a:solidFill>
              </a:rPr>
              <a:t>Professionalism</a:t>
            </a:r>
            <a:endParaRPr lang="en-US" sz="2000" dirty="0"/>
          </a:p>
        </p:txBody>
      </p:sp>
      <p:pic>
        <p:nvPicPr>
          <p:cNvPr id="24" name="Decorative: skill coin">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183880" y="4892040"/>
            <a:ext cx="621792" cy="621792"/>
          </a:xfrm>
          <a:prstGeom prst="rect">
            <a:avLst/>
          </a:prstGeom>
        </p:spPr>
      </p:pic>
      <p:sp>
        <p:nvSpPr>
          <p:cNvPr id="25" name="Text 15"/>
          <p:cNvSpPr txBox="1"/>
          <p:nvPr/>
        </p:nvSpPr>
        <p:spPr>
          <a:xfrm>
            <a:off x="8988552" y="484632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#10 </a:t>
            </a:r>
            <a:pPr indent="0" marL="0">
              <a:buNone/>
            </a:pPr>
            <a:r>
              <a:rPr lang="en-US" sz="2000" dirty="0">
                <a:solidFill>
                  <a:schemeClr val="tx1"/>
                </a:solidFill>
              </a:rPr>
              <a:t>Information Literacy</a:t>
            </a:r>
            <a:endParaRPr lang="en-US" sz="2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1.1</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Responsibility moves to you</a:t>
            </a:r>
            <a:endParaRPr lang="en-US" sz="4000" dirty="0"/>
          </a:p>
        </p:txBody>
      </p:sp>
      <p:sp>
        <p:nvSpPr>
          <p:cNvPr id="4" name="Text 2"/>
          <p:cNvSpPr txBox="1"/>
          <p:nvPr/>
        </p:nvSpPr>
        <p:spPr>
          <a:xfrm>
            <a:off x="548640" y="1783080"/>
            <a:ext cx="5364328" cy="365760"/>
          </a:xfrm>
          <a:prstGeom prst="rect">
            <a:avLst/>
          </a:prstGeom>
          <a:noFill/>
          <a:ln/>
        </p:spPr>
        <p:txBody>
          <a:bodyPr wrap="square" lIns="0" tIns="0" rIns="0" bIns="0" rtlCol="0" anchor="t"/>
          <a:lstStyle/>
          <a:p>
            <a:pPr indent="0" marL="0">
              <a:buNone/>
            </a:pPr>
            <a:r>
              <a:rPr lang="en-US" sz="2000" b="1" spc="200" kern="0" dirty="0">
                <a:solidFill>
                  <a:schemeClr val="accent4"/>
                </a:solidFill>
              </a:rPr>
              <a:t>BEFORE</a:t>
            </a:r>
            <a:endParaRPr lang="en-US" sz="2000" dirty="0"/>
          </a:p>
        </p:txBody>
      </p:sp>
      <p:sp>
        <p:nvSpPr>
          <p:cNvPr id="5" name="Text 3"/>
          <p:cNvSpPr txBox="1"/>
          <p:nvPr/>
        </p:nvSpPr>
        <p:spPr>
          <a:xfrm>
            <a:off x="6278728" y="1783080"/>
            <a:ext cx="5364328" cy="365760"/>
          </a:xfrm>
          <a:prstGeom prst="rect">
            <a:avLst/>
          </a:prstGeom>
          <a:noFill/>
          <a:ln/>
        </p:spPr>
        <p:txBody>
          <a:bodyPr wrap="square" lIns="0" tIns="0" rIns="0" bIns="0" rtlCol="0" anchor="t"/>
          <a:lstStyle/>
          <a:p>
            <a:pPr indent="0" marL="0">
              <a:buNone/>
            </a:pPr>
            <a:r>
              <a:rPr lang="en-US" sz="2000" b="1" spc="200" kern="0" dirty="0">
                <a:solidFill>
                  <a:srgbClr val="7A5500"/>
                </a:solidFill>
              </a:rPr>
              <a:t>NOW</a:t>
            </a:r>
            <a:endParaRPr lang="en-US" sz="2000" dirty="0"/>
          </a:p>
        </p:txBody>
      </p:sp>
      <p:sp>
        <p:nvSpPr>
          <p:cNvPr id="6" name="Decorative: before card">
            <a:extLst>
              <a:ext uri="{C183D7F6-B498-43B3-948B-1728B52AA6E4}">
                <adec:decorative xmlns:adec="http://schemas.microsoft.com/office/drawing/2017/decorative" val="1"/>
              </a:ext>
            </a:extLst>
          </p:cNvPr>
          <p:cNvSpPr/>
          <p:nvPr/>
        </p:nvSpPr>
        <p:spPr>
          <a:xfrm>
            <a:off x="548640" y="2240280"/>
            <a:ext cx="5364328" cy="1645920"/>
          </a:xfrm>
          <a:prstGeom prst="roundRect">
            <a:avLst>
              <a:gd name="adj" fmla="val 6667"/>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868680" y="2468880"/>
            <a:ext cx="4724248" cy="1188720"/>
          </a:xfrm>
          <a:prstGeom prst="rect">
            <a:avLst/>
          </a:prstGeom>
          <a:noFill/>
          <a:ln/>
        </p:spPr>
        <p:txBody>
          <a:bodyPr wrap="square" lIns="0" tIns="0" rIns="0" bIns="0" rtlCol="0" anchor="ctr"/>
          <a:lstStyle/>
          <a:p>
            <a:pPr indent="0" marL="0">
              <a:buNone/>
            </a:pPr>
            <a:r>
              <a:rPr lang="en-US" sz="2400" dirty="0">
                <a:solidFill>
                  <a:schemeClr val="tx1"/>
                </a:solidFill>
              </a:rPr>
              <a:t>Your teacher reminded you about the deadline.</a:t>
            </a:r>
            <a:endParaRPr lang="en-US" sz="2400" dirty="0"/>
          </a:p>
        </p:txBody>
      </p:sp>
      <p:sp>
        <p:nvSpPr>
          <p:cNvPr id="8" name="Decorative: now card">
            <a:extLst>
              <a:ext uri="{C183D7F6-B498-43B3-948B-1728B52AA6E4}">
                <adec:decorative xmlns:adec="http://schemas.microsoft.com/office/drawing/2017/decorative" val="1"/>
              </a:ext>
            </a:extLst>
          </p:cNvPr>
          <p:cNvSpPr/>
          <p:nvPr/>
        </p:nvSpPr>
        <p:spPr>
          <a:xfrm>
            <a:off x="6278728" y="2240280"/>
            <a:ext cx="5364328" cy="1645920"/>
          </a:xfrm>
          <a:prstGeom prst="roundRect">
            <a:avLst>
              <a:gd name="adj" fmla="val 6667"/>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6598768" y="2468880"/>
            <a:ext cx="4724248" cy="1188720"/>
          </a:xfrm>
          <a:prstGeom prst="rect">
            <a:avLst/>
          </a:prstGeom>
          <a:noFill/>
          <a:ln/>
        </p:spPr>
        <p:txBody>
          <a:bodyPr wrap="square" lIns="0" tIns="0" rIns="0" bIns="0" rtlCol="0" anchor="ctr"/>
          <a:lstStyle/>
          <a:p>
            <a:pPr indent="0" marL="0">
              <a:buNone/>
            </a:pPr>
            <a:r>
              <a:rPr lang="en-US" sz="2400" dirty="0">
                <a:solidFill>
                  <a:schemeClr val="tx1"/>
                </a:solidFill>
              </a:rPr>
              <a:t>The due date is in the syllabus. If you'll miss it, you reach out first.</a:t>
            </a:r>
            <a:endParaRPr lang="en-US" sz="2400" dirty="0"/>
          </a:p>
        </p:txBody>
      </p:sp>
      <p:sp>
        <p:nvSpPr>
          <p:cNvPr id="10" name="Decorative: before card">
            <a:extLst>
              <a:ext uri="{C183D7F6-B498-43B3-948B-1728B52AA6E4}">
                <adec:decorative xmlns:adec="http://schemas.microsoft.com/office/drawing/2017/decorative" val="1"/>
              </a:ext>
            </a:extLst>
          </p:cNvPr>
          <p:cNvSpPr/>
          <p:nvPr/>
        </p:nvSpPr>
        <p:spPr>
          <a:xfrm>
            <a:off x="548640" y="4114800"/>
            <a:ext cx="5364328" cy="1645920"/>
          </a:xfrm>
          <a:prstGeom prst="roundRect">
            <a:avLst>
              <a:gd name="adj" fmla="val 6667"/>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868680" y="4343400"/>
            <a:ext cx="4724248" cy="1188720"/>
          </a:xfrm>
          <a:prstGeom prst="rect">
            <a:avLst/>
          </a:prstGeom>
          <a:noFill/>
          <a:ln/>
        </p:spPr>
        <p:txBody>
          <a:bodyPr wrap="square" lIns="0" tIns="0" rIns="0" bIns="0" rtlCol="0" anchor="ctr"/>
          <a:lstStyle/>
          <a:p>
            <a:pPr indent="0" marL="0">
              <a:buNone/>
            </a:pPr>
            <a:r>
              <a:rPr lang="en-US" sz="2400" dirty="0">
                <a:solidFill>
                  <a:schemeClr val="tx1"/>
                </a:solidFill>
              </a:rPr>
              <a:t>Your teacher noticed when you were lost.</a:t>
            </a:r>
            <a:endParaRPr lang="en-US" sz="2400" dirty="0"/>
          </a:p>
        </p:txBody>
      </p:sp>
      <p:sp>
        <p:nvSpPr>
          <p:cNvPr id="12" name="Decorative: now card">
            <a:extLst>
              <a:ext uri="{C183D7F6-B498-43B3-948B-1728B52AA6E4}">
                <adec:decorative xmlns:adec="http://schemas.microsoft.com/office/drawing/2017/decorative" val="1"/>
              </a:ext>
            </a:extLst>
          </p:cNvPr>
          <p:cNvSpPr/>
          <p:nvPr/>
        </p:nvSpPr>
        <p:spPr>
          <a:xfrm>
            <a:off x="6278728" y="4114800"/>
            <a:ext cx="5364328" cy="1645920"/>
          </a:xfrm>
          <a:prstGeom prst="roundRect">
            <a:avLst>
              <a:gd name="adj" fmla="val 6667"/>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6598768" y="4343400"/>
            <a:ext cx="4724248" cy="1188720"/>
          </a:xfrm>
          <a:prstGeom prst="rect">
            <a:avLst/>
          </a:prstGeom>
          <a:noFill/>
          <a:ln/>
        </p:spPr>
        <p:txBody>
          <a:bodyPr wrap="square" lIns="0" tIns="0" rIns="0" bIns="0" rtlCol="0" anchor="ctr"/>
          <a:lstStyle/>
          <a:p>
            <a:pPr indent="0" marL="0">
              <a:buNone/>
            </a:pPr>
            <a:r>
              <a:rPr lang="en-US" sz="2400" dirty="0">
                <a:solidFill>
                  <a:schemeClr val="tx1"/>
                </a:solidFill>
              </a:rPr>
              <a:t>You start the conversation: office hours, email, or tutoring.</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1.1</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Your syllabus is a contract</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2567864" cy="292608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48840"/>
            <a:ext cx="685800" cy="685800"/>
          </a:xfrm>
          <a:prstGeom prst="ellipse">
            <a:avLst/>
          </a:prstGeom>
          <a:solidFill>
            <a:srgbClr val="00467F"/>
          </a:solidFill>
          <a:ln w="12700">
            <a:solidFill>
              <a:srgbClr val="00467F"/>
            </a:solidFill>
            <a:prstDash val="solid"/>
          </a:ln>
        </p:spPr>
      </p:sp>
      <p:pic>
        <p:nvPicPr>
          <p:cNvPr id="6" name="Decorative: LuCalendarDays">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99716"/>
            <a:ext cx="384048" cy="384048"/>
          </a:xfrm>
          <a:prstGeom prst="rect">
            <a:avLst/>
          </a:prstGeom>
        </p:spPr>
      </p:pic>
      <p:sp>
        <p:nvSpPr>
          <p:cNvPr id="7" name="Text 4"/>
          <p:cNvSpPr txBox="1"/>
          <p:nvPr/>
        </p:nvSpPr>
        <p:spPr>
          <a:xfrm>
            <a:off x="822960" y="2971800"/>
            <a:ext cx="2019224" cy="1645920"/>
          </a:xfrm>
          <a:prstGeom prst="rect">
            <a:avLst/>
          </a:prstGeom>
          <a:noFill/>
          <a:ln/>
        </p:spPr>
        <p:txBody>
          <a:bodyPr wrap="square" lIns="0" tIns="0" rIns="0" bIns="0" rtlCol="0" anchor="t"/>
          <a:lstStyle/>
          <a:p>
            <a:pPr indent="0" marL="0">
              <a:buNone/>
            </a:pPr>
            <a:r>
              <a:rPr lang="en-US" sz="2600" b="1" dirty="0">
                <a:solidFill>
                  <a:schemeClr val="tx2"/>
                </a:solidFill>
              </a:rPr>
              <a:t>Deadlines</a:t>
            </a:r>
            <a:endParaRPr lang="en-US" sz="2400" dirty="0"/>
          </a:p>
          <a:p>
            <a:pPr indent="0" marL="0">
              <a:spcBef>
                <a:spcPts val="600"/>
              </a:spcBef>
              <a:buNone/>
            </a:pPr>
            <a:r>
              <a:rPr lang="en-US" sz="2400" dirty="0">
                <a:solidFill>
                  <a:schemeClr val="tx1"/>
                </a:solidFill>
              </a:rPr>
              <a:t>Put every one in your phone.</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3390824" y="1874520"/>
            <a:ext cx="2567864" cy="292608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3665144" y="2148840"/>
            <a:ext cx="685800" cy="685800"/>
          </a:xfrm>
          <a:prstGeom prst="ellipse">
            <a:avLst/>
          </a:prstGeom>
          <a:solidFill>
            <a:srgbClr val="00467F"/>
          </a:solidFill>
          <a:ln w="12700">
            <a:solidFill>
              <a:srgbClr val="00467F"/>
            </a:solidFill>
            <a:prstDash val="solid"/>
          </a:ln>
        </p:spPr>
      </p:sp>
      <p:pic>
        <p:nvPicPr>
          <p:cNvPr id="10" name="Decorative: LuHourglass">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816020" y="2299716"/>
            <a:ext cx="384048" cy="384048"/>
          </a:xfrm>
          <a:prstGeom prst="rect">
            <a:avLst/>
          </a:prstGeom>
        </p:spPr>
      </p:pic>
      <p:sp>
        <p:nvSpPr>
          <p:cNvPr id="11" name="Text 7"/>
          <p:cNvSpPr txBox="1"/>
          <p:nvPr/>
        </p:nvSpPr>
        <p:spPr>
          <a:xfrm>
            <a:off x="3665144" y="2971800"/>
            <a:ext cx="2019224" cy="1645920"/>
          </a:xfrm>
          <a:prstGeom prst="rect">
            <a:avLst/>
          </a:prstGeom>
          <a:noFill/>
          <a:ln/>
        </p:spPr>
        <p:txBody>
          <a:bodyPr wrap="square" lIns="0" tIns="0" rIns="0" bIns="0" rtlCol="0" anchor="t"/>
          <a:lstStyle/>
          <a:p>
            <a:pPr indent="0" marL="0">
              <a:buNone/>
            </a:pPr>
            <a:r>
              <a:rPr lang="en-US" sz="2600" b="1" dirty="0">
                <a:solidFill>
                  <a:schemeClr val="tx2"/>
                </a:solidFill>
              </a:rPr>
              <a:t>Late work</a:t>
            </a:r>
            <a:endParaRPr lang="en-US" sz="2400" dirty="0"/>
          </a:p>
          <a:p>
            <a:pPr indent="0" marL="0">
              <a:spcBef>
                <a:spcPts val="600"/>
              </a:spcBef>
              <a:buNone/>
            </a:pPr>
            <a:r>
              <a:rPr lang="en-US" sz="2400" dirty="0">
                <a:solidFill>
                  <a:schemeClr val="tx1"/>
                </a:solidFill>
              </a:rPr>
              <a:t>Know the rule before it matters.</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6233008" y="1874520"/>
            <a:ext cx="2567864" cy="292608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6507328" y="2148840"/>
            <a:ext cx="685800" cy="685800"/>
          </a:xfrm>
          <a:prstGeom prst="ellipse">
            <a:avLst/>
          </a:prstGeom>
          <a:solidFill>
            <a:srgbClr val="00467F"/>
          </a:solidFill>
          <a:ln w="12700">
            <a:solidFill>
              <a:srgbClr val="00467F"/>
            </a:solidFill>
            <a:prstDash val="solid"/>
          </a:ln>
        </p:spPr>
      </p:sp>
      <p:pic>
        <p:nvPicPr>
          <p:cNvPr id="14" name="Decorative: LuMail">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58204" y="2299716"/>
            <a:ext cx="384048" cy="384048"/>
          </a:xfrm>
          <a:prstGeom prst="rect">
            <a:avLst/>
          </a:prstGeom>
        </p:spPr>
      </p:pic>
      <p:sp>
        <p:nvSpPr>
          <p:cNvPr id="15" name="Text 10"/>
          <p:cNvSpPr txBox="1"/>
          <p:nvPr/>
        </p:nvSpPr>
        <p:spPr>
          <a:xfrm>
            <a:off x="6507328" y="2971800"/>
            <a:ext cx="2019224" cy="1645920"/>
          </a:xfrm>
          <a:prstGeom prst="rect">
            <a:avLst/>
          </a:prstGeom>
          <a:noFill/>
          <a:ln/>
        </p:spPr>
        <p:txBody>
          <a:bodyPr wrap="square" lIns="0" tIns="0" rIns="0" bIns="0" rtlCol="0" anchor="t"/>
          <a:lstStyle/>
          <a:p>
            <a:pPr indent="0" marL="0">
              <a:buNone/>
            </a:pPr>
            <a:r>
              <a:rPr lang="en-US" sz="2600" b="1" dirty="0">
                <a:solidFill>
                  <a:schemeClr val="tx2"/>
                </a:solidFill>
              </a:rPr>
              <a:t>Contact</a:t>
            </a:r>
            <a:endParaRPr lang="en-US" sz="2400" dirty="0"/>
          </a:p>
          <a:p>
            <a:pPr indent="0" marL="0">
              <a:spcBef>
                <a:spcPts val="600"/>
              </a:spcBef>
              <a:buNone/>
            </a:pPr>
            <a:r>
              <a:rPr lang="en-US" sz="2400" dirty="0">
                <a:solidFill>
                  <a:schemeClr val="tx1"/>
                </a:solidFill>
              </a:rPr>
              <a:t>How, and how fast?</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9075191" y="1874520"/>
            <a:ext cx="2567864" cy="292608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9349511" y="2148840"/>
            <a:ext cx="685800" cy="685800"/>
          </a:xfrm>
          <a:prstGeom prst="ellipse">
            <a:avLst/>
          </a:prstGeom>
          <a:solidFill>
            <a:srgbClr val="00467F"/>
          </a:solidFill>
          <a:ln w="12700">
            <a:solidFill>
              <a:srgbClr val="00467F"/>
            </a:solidFill>
            <a:prstDash val="solid"/>
          </a:ln>
        </p:spPr>
      </p:sp>
      <p:pic>
        <p:nvPicPr>
          <p:cNvPr id="18" name="Decorative: LuSparkles">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00387" y="2299716"/>
            <a:ext cx="384048" cy="384048"/>
          </a:xfrm>
          <a:prstGeom prst="rect">
            <a:avLst/>
          </a:prstGeom>
        </p:spPr>
      </p:pic>
      <p:sp>
        <p:nvSpPr>
          <p:cNvPr id="19" name="Text 13"/>
          <p:cNvSpPr txBox="1"/>
          <p:nvPr/>
        </p:nvSpPr>
        <p:spPr>
          <a:xfrm>
            <a:off x="9349511" y="2971800"/>
            <a:ext cx="2019224" cy="1645920"/>
          </a:xfrm>
          <a:prstGeom prst="rect">
            <a:avLst/>
          </a:prstGeom>
          <a:noFill/>
          <a:ln/>
        </p:spPr>
        <p:txBody>
          <a:bodyPr wrap="square" lIns="0" tIns="0" rIns="0" bIns="0" rtlCol="0" anchor="t"/>
          <a:lstStyle/>
          <a:p>
            <a:pPr indent="0" marL="0">
              <a:buNone/>
            </a:pPr>
            <a:r>
              <a:rPr lang="en-US" sz="2600" b="1" dirty="0">
                <a:solidFill>
                  <a:schemeClr val="tx2"/>
                </a:solidFill>
              </a:rPr>
              <a:t>AI policy</a:t>
            </a:r>
            <a:endParaRPr lang="en-US" sz="2400" dirty="0"/>
          </a:p>
          <a:p>
            <a:pPr indent="0" marL="0">
              <a:spcBef>
                <a:spcPts val="600"/>
              </a:spcBef>
              <a:buNone/>
            </a:pPr>
            <a:r>
              <a:rPr lang="en-US" sz="2400" dirty="0">
                <a:solidFill>
                  <a:schemeClr val="tx1"/>
                </a:solidFill>
              </a:rPr>
              <a:t>It changes course to course.</a:t>
            </a:r>
            <a:endParaRPr lang="en-US" sz="2400" dirty="0"/>
          </a:p>
        </p:txBody>
      </p:sp>
      <p:sp>
        <p:nvSpPr>
          <p:cNvPr id="20" name="Decorative: callout">
            <a:extLst>
              <a:ext uri="{C183D7F6-B498-43B3-948B-1728B52AA6E4}">
                <adec:decorative xmlns:adec="http://schemas.microsoft.com/office/drawing/2017/decorative" val="1"/>
              </a:ext>
            </a:extLst>
          </p:cNvPr>
          <p:cNvSpPr/>
          <p:nvPr/>
        </p:nvSpPr>
        <p:spPr>
          <a:xfrm>
            <a:off x="548640" y="512064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1" name="Text 15"/>
          <p:cNvSpPr txBox="1"/>
          <p:nvPr/>
        </p:nvSpPr>
        <p:spPr>
          <a:xfrm>
            <a:off x="868680" y="523036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If you didn't know, the first question will be: was it in the syllabus?</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1.2</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The 10 Essential Skills</a:t>
            </a:r>
            <a:endParaRPr lang="en-US" sz="4000" dirty="0"/>
          </a:p>
        </p:txBody>
      </p:sp>
      <p:pic>
        <p:nvPicPr>
          <p:cNvPr id="4" name="Decorative: skill co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292322" y="1783080"/>
            <a:ext cx="731520" cy="731520"/>
          </a:xfrm>
          <a:prstGeom prst="rect">
            <a:avLst/>
          </a:prstGeom>
        </p:spPr>
      </p:pic>
      <p:sp>
        <p:nvSpPr>
          <p:cNvPr id="5" name="Text 2"/>
          <p:cNvSpPr txBox="1"/>
          <p:nvPr/>
        </p:nvSpPr>
        <p:spPr>
          <a:xfrm>
            <a:off x="594360" y="2560320"/>
            <a:ext cx="2127443" cy="731520"/>
          </a:xfrm>
          <a:prstGeom prst="rect">
            <a:avLst/>
          </a:prstGeom>
          <a:noFill/>
          <a:ln/>
        </p:spPr>
        <p:txBody>
          <a:bodyPr wrap="square" lIns="0" tIns="0" rIns="0" bIns="0" rtlCol="0" anchor="t"/>
          <a:lstStyle/>
          <a:p>
            <a:pPr algn="ctr" indent="0" marL="0">
              <a:buNone/>
            </a:pPr>
            <a:r>
              <a:rPr lang="en-US" sz="2000" b="1" dirty="0">
                <a:solidFill>
                  <a:schemeClr val="tx2"/>
                </a:solidFill>
              </a:rPr>
              <a:t>Communication</a:t>
            </a:r>
            <a:endParaRPr lang="en-US" sz="2000" dirty="0"/>
          </a:p>
        </p:txBody>
      </p:sp>
      <p:pic>
        <p:nvPicPr>
          <p:cNvPr id="6" name="Decorative: skill coin">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511205" y="1783080"/>
            <a:ext cx="731520" cy="731520"/>
          </a:xfrm>
          <a:prstGeom prst="rect">
            <a:avLst/>
          </a:prstGeom>
        </p:spPr>
      </p:pic>
      <p:sp>
        <p:nvSpPr>
          <p:cNvPr id="7" name="Text 3"/>
          <p:cNvSpPr txBox="1"/>
          <p:nvPr/>
        </p:nvSpPr>
        <p:spPr>
          <a:xfrm>
            <a:off x="2813243" y="2560320"/>
            <a:ext cx="2127443" cy="731520"/>
          </a:xfrm>
          <a:prstGeom prst="rect">
            <a:avLst/>
          </a:prstGeom>
          <a:noFill/>
          <a:ln/>
        </p:spPr>
        <p:txBody>
          <a:bodyPr wrap="square" lIns="0" tIns="0" rIns="0" bIns="0" rtlCol="0" anchor="t"/>
          <a:lstStyle/>
          <a:p>
            <a:pPr algn="ctr" indent="0" marL="0">
              <a:buNone/>
            </a:pPr>
            <a:r>
              <a:rPr lang="en-US" sz="2000" b="1" dirty="0">
                <a:solidFill>
                  <a:schemeClr val="tx2"/>
                </a:solidFill>
              </a:rPr>
              <a:t>Critical &amp; Creative Thinking</a:t>
            </a:r>
            <a:endParaRPr lang="en-US" sz="2000" dirty="0"/>
          </a:p>
        </p:txBody>
      </p:sp>
      <p:pic>
        <p:nvPicPr>
          <p:cNvPr id="8" name="Decorative: skill coin">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730088" y="1783080"/>
            <a:ext cx="731520" cy="731520"/>
          </a:xfrm>
          <a:prstGeom prst="rect">
            <a:avLst/>
          </a:prstGeom>
        </p:spPr>
      </p:pic>
      <p:sp>
        <p:nvSpPr>
          <p:cNvPr id="9" name="Text 4"/>
          <p:cNvSpPr txBox="1"/>
          <p:nvPr/>
        </p:nvSpPr>
        <p:spPr>
          <a:xfrm>
            <a:off x="5032126" y="2560320"/>
            <a:ext cx="2127443" cy="731520"/>
          </a:xfrm>
          <a:prstGeom prst="rect">
            <a:avLst/>
          </a:prstGeom>
          <a:noFill/>
          <a:ln/>
        </p:spPr>
        <p:txBody>
          <a:bodyPr wrap="square" lIns="0" tIns="0" rIns="0" bIns="0" rtlCol="0" anchor="t"/>
          <a:lstStyle/>
          <a:p>
            <a:pPr algn="ctr" indent="0" marL="0">
              <a:buNone/>
            </a:pPr>
            <a:r>
              <a:rPr lang="en-US" sz="2000" b="1" dirty="0">
                <a:solidFill>
                  <a:schemeClr val="tx2"/>
                </a:solidFill>
              </a:rPr>
              <a:t>Quantitative Reasoning</a:t>
            </a:r>
            <a:endParaRPr lang="en-US" sz="2000" dirty="0"/>
          </a:p>
        </p:txBody>
      </p:sp>
      <p:pic>
        <p:nvPicPr>
          <p:cNvPr id="10" name="Decorative: skill coin">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948971" y="1783080"/>
            <a:ext cx="731520" cy="731520"/>
          </a:xfrm>
          <a:prstGeom prst="rect">
            <a:avLst/>
          </a:prstGeom>
        </p:spPr>
      </p:pic>
      <p:sp>
        <p:nvSpPr>
          <p:cNvPr id="11" name="Text 5"/>
          <p:cNvSpPr txBox="1"/>
          <p:nvPr/>
        </p:nvSpPr>
        <p:spPr>
          <a:xfrm>
            <a:off x="7251009" y="2560320"/>
            <a:ext cx="2127443" cy="731520"/>
          </a:xfrm>
          <a:prstGeom prst="rect">
            <a:avLst/>
          </a:prstGeom>
          <a:noFill/>
          <a:ln/>
        </p:spPr>
        <p:txBody>
          <a:bodyPr wrap="square" lIns="0" tIns="0" rIns="0" bIns="0" rtlCol="0" anchor="t"/>
          <a:lstStyle/>
          <a:p>
            <a:pPr algn="ctr" indent="0" marL="0">
              <a:buNone/>
            </a:pPr>
            <a:r>
              <a:rPr lang="en-US" sz="2000" b="1" dirty="0">
                <a:solidFill>
                  <a:schemeClr val="tx2"/>
                </a:solidFill>
              </a:rPr>
              <a:t>Interpersonal Relations</a:t>
            </a:r>
            <a:endParaRPr lang="en-US" sz="2000" dirty="0"/>
          </a:p>
        </p:txBody>
      </p:sp>
      <p:pic>
        <p:nvPicPr>
          <p:cNvPr id="12" name="Decorative: skill coi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167854" y="1783080"/>
            <a:ext cx="731520" cy="731520"/>
          </a:xfrm>
          <a:prstGeom prst="rect">
            <a:avLst/>
          </a:prstGeom>
        </p:spPr>
      </p:pic>
      <p:sp>
        <p:nvSpPr>
          <p:cNvPr id="13" name="Text 6"/>
          <p:cNvSpPr txBox="1"/>
          <p:nvPr/>
        </p:nvSpPr>
        <p:spPr>
          <a:xfrm>
            <a:off x="9469892" y="2560320"/>
            <a:ext cx="2127443" cy="731520"/>
          </a:xfrm>
          <a:prstGeom prst="rect">
            <a:avLst/>
          </a:prstGeom>
          <a:noFill/>
          <a:ln/>
        </p:spPr>
        <p:txBody>
          <a:bodyPr wrap="square" lIns="0" tIns="0" rIns="0" bIns="0" rtlCol="0" anchor="t"/>
          <a:lstStyle/>
          <a:p>
            <a:pPr algn="ctr" indent="0" marL="0">
              <a:buNone/>
            </a:pPr>
            <a:r>
              <a:rPr lang="en-US" sz="2000" b="1" dirty="0">
                <a:solidFill>
                  <a:schemeClr val="tx2"/>
                </a:solidFill>
              </a:rPr>
              <a:t>Adaptability &amp; Leadership</a:t>
            </a:r>
            <a:endParaRPr lang="en-US" sz="2000" dirty="0"/>
          </a:p>
        </p:txBody>
      </p:sp>
      <p:pic>
        <p:nvPicPr>
          <p:cNvPr id="14" name="Decorative: skill coin">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292322" y="3383280"/>
            <a:ext cx="731520" cy="731520"/>
          </a:xfrm>
          <a:prstGeom prst="rect">
            <a:avLst/>
          </a:prstGeom>
        </p:spPr>
      </p:pic>
      <p:sp>
        <p:nvSpPr>
          <p:cNvPr id="15" name="Text 7"/>
          <p:cNvSpPr txBox="1"/>
          <p:nvPr/>
        </p:nvSpPr>
        <p:spPr>
          <a:xfrm>
            <a:off x="594360" y="4160520"/>
            <a:ext cx="2127443" cy="731520"/>
          </a:xfrm>
          <a:prstGeom prst="rect">
            <a:avLst/>
          </a:prstGeom>
          <a:noFill/>
          <a:ln/>
        </p:spPr>
        <p:txBody>
          <a:bodyPr wrap="square" lIns="0" tIns="0" rIns="0" bIns="0" rtlCol="0" anchor="t"/>
          <a:lstStyle/>
          <a:p>
            <a:pPr algn="ctr" indent="0" marL="0">
              <a:buNone/>
            </a:pPr>
            <a:r>
              <a:rPr lang="en-US" sz="2000" b="1" dirty="0">
                <a:solidFill>
                  <a:schemeClr val="tx2"/>
                </a:solidFill>
              </a:rPr>
              <a:t>Professionalism</a:t>
            </a:r>
            <a:endParaRPr lang="en-US" sz="2000" dirty="0"/>
          </a:p>
        </p:txBody>
      </p:sp>
      <p:pic>
        <p:nvPicPr>
          <p:cNvPr id="16" name="Decorative: skill coin">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3511205" y="3383280"/>
            <a:ext cx="731520" cy="731520"/>
          </a:xfrm>
          <a:prstGeom prst="rect">
            <a:avLst/>
          </a:prstGeom>
        </p:spPr>
      </p:pic>
      <p:sp>
        <p:nvSpPr>
          <p:cNvPr id="17" name="Text 8"/>
          <p:cNvSpPr txBox="1"/>
          <p:nvPr/>
        </p:nvSpPr>
        <p:spPr>
          <a:xfrm>
            <a:off x="2813243" y="4160520"/>
            <a:ext cx="2127443" cy="731520"/>
          </a:xfrm>
          <a:prstGeom prst="rect">
            <a:avLst/>
          </a:prstGeom>
          <a:noFill/>
          <a:ln/>
        </p:spPr>
        <p:txBody>
          <a:bodyPr wrap="square" lIns="0" tIns="0" rIns="0" bIns="0" rtlCol="0" anchor="t"/>
          <a:lstStyle/>
          <a:p>
            <a:pPr algn="ctr" indent="0" marL="0">
              <a:buNone/>
            </a:pPr>
            <a:r>
              <a:rPr lang="en-US" sz="2000" b="1" dirty="0">
                <a:solidFill>
                  <a:schemeClr val="tx2"/>
                </a:solidFill>
              </a:rPr>
              <a:t>Civic Engagement</a:t>
            </a:r>
            <a:endParaRPr lang="en-US" sz="2000" dirty="0"/>
          </a:p>
        </p:txBody>
      </p:sp>
      <p:pic>
        <p:nvPicPr>
          <p:cNvPr id="18" name="Decorative: skill coin">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5730088" y="3383280"/>
            <a:ext cx="731520" cy="731520"/>
          </a:xfrm>
          <a:prstGeom prst="rect">
            <a:avLst/>
          </a:prstGeom>
        </p:spPr>
      </p:pic>
      <p:sp>
        <p:nvSpPr>
          <p:cNvPr id="19" name="Text 9"/>
          <p:cNvSpPr txBox="1"/>
          <p:nvPr/>
        </p:nvSpPr>
        <p:spPr>
          <a:xfrm>
            <a:off x="5032126" y="4160520"/>
            <a:ext cx="2127443" cy="731520"/>
          </a:xfrm>
          <a:prstGeom prst="rect">
            <a:avLst/>
          </a:prstGeom>
          <a:noFill/>
          <a:ln/>
        </p:spPr>
        <p:txBody>
          <a:bodyPr wrap="square" lIns="0" tIns="0" rIns="0" bIns="0" rtlCol="0" anchor="t"/>
          <a:lstStyle/>
          <a:p>
            <a:pPr algn="ctr" indent="0" marL="0">
              <a:buNone/>
            </a:pPr>
            <a:r>
              <a:rPr lang="en-US" sz="2000" b="1" dirty="0">
                <a:solidFill>
                  <a:schemeClr val="tx2"/>
                </a:solidFill>
              </a:rPr>
              <a:t>Collaboration &amp; Teamwork</a:t>
            </a:r>
            <a:endParaRPr lang="en-US" sz="2000" dirty="0"/>
          </a:p>
        </p:txBody>
      </p:sp>
      <p:pic>
        <p:nvPicPr>
          <p:cNvPr id="20" name="Decorative: skill coin">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7948971" y="3383280"/>
            <a:ext cx="731520" cy="731520"/>
          </a:xfrm>
          <a:prstGeom prst="rect">
            <a:avLst/>
          </a:prstGeom>
        </p:spPr>
      </p:pic>
      <p:sp>
        <p:nvSpPr>
          <p:cNvPr id="21" name="Text 10"/>
          <p:cNvSpPr txBox="1"/>
          <p:nvPr/>
        </p:nvSpPr>
        <p:spPr>
          <a:xfrm>
            <a:off x="7251009" y="4160520"/>
            <a:ext cx="2127443" cy="731520"/>
          </a:xfrm>
          <a:prstGeom prst="rect">
            <a:avLst/>
          </a:prstGeom>
          <a:noFill/>
          <a:ln/>
        </p:spPr>
        <p:txBody>
          <a:bodyPr wrap="square" lIns="0" tIns="0" rIns="0" bIns="0" rtlCol="0" anchor="t"/>
          <a:lstStyle/>
          <a:p>
            <a:pPr algn="ctr" indent="0" marL="0">
              <a:buNone/>
            </a:pPr>
            <a:r>
              <a:rPr lang="en-US" sz="2000" b="1" dirty="0">
                <a:solidFill>
                  <a:schemeClr val="tx2"/>
                </a:solidFill>
              </a:rPr>
              <a:t>Knowledge Application</a:t>
            </a:r>
            <a:endParaRPr lang="en-US" sz="2000" dirty="0"/>
          </a:p>
        </p:txBody>
      </p:sp>
      <p:pic>
        <p:nvPicPr>
          <p:cNvPr id="22" name="Decorative: skill coin">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10167854" y="3383280"/>
            <a:ext cx="731520" cy="731520"/>
          </a:xfrm>
          <a:prstGeom prst="rect">
            <a:avLst/>
          </a:prstGeom>
        </p:spPr>
      </p:pic>
      <p:sp>
        <p:nvSpPr>
          <p:cNvPr id="23" name="Text 11"/>
          <p:cNvSpPr txBox="1"/>
          <p:nvPr/>
        </p:nvSpPr>
        <p:spPr>
          <a:xfrm>
            <a:off x="9469892" y="4160520"/>
            <a:ext cx="2127443" cy="731520"/>
          </a:xfrm>
          <a:prstGeom prst="rect">
            <a:avLst/>
          </a:prstGeom>
          <a:noFill/>
          <a:ln/>
        </p:spPr>
        <p:txBody>
          <a:bodyPr wrap="square" lIns="0" tIns="0" rIns="0" bIns="0" rtlCol="0" anchor="t"/>
          <a:lstStyle/>
          <a:p>
            <a:pPr algn="ctr" indent="0" marL="0">
              <a:buNone/>
            </a:pPr>
            <a:r>
              <a:rPr lang="en-US" sz="2000" b="1" dirty="0">
                <a:solidFill>
                  <a:schemeClr val="tx2"/>
                </a:solidFill>
              </a:rPr>
              <a:t>Information Literacy</a:t>
            </a:r>
            <a:endParaRPr lang="en-US" sz="2000" dirty="0"/>
          </a:p>
        </p:txBody>
      </p:sp>
      <p:sp>
        <p:nvSpPr>
          <p:cNvPr id="24" name="Decorative: levels callout">
            <a:extLst>
              <a:ext uri="{C183D7F6-B498-43B3-948B-1728B52AA6E4}">
                <adec:decorative xmlns:adec="http://schemas.microsoft.com/office/drawing/2017/decorative" val="1"/>
              </a:ext>
            </a:extLst>
          </p:cNvPr>
          <p:cNvSpPr/>
          <p:nvPr/>
        </p:nvSpPr>
        <p:spPr>
          <a:xfrm>
            <a:off x="548640" y="5120640"/>
            <a:ext cx="11094415" cy="868680"/>
          </a:xfrm>
          <a:prstGeom prst="roundRect">
            <a:avLst>
              <a:gd name="adj" fmla="val 12632"/>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5" name="Text 13"/>
          <p:cNvSpPr txBox="1"/>
          <p:nvPr/>
        </p:nvSpPr>
        <p:spPr>
          <a:xfrm>
            <a:off x="868680" y="5120640"/>
            <a:ext cx="10454335" cy="868680"/>
          </a:xfrm>
          <a:prstGeom prst="rect">
            <a:avLst/>
          </a:prstGeom>
          <a:noFill/>
          <a:ln/>
        </p:spPr>
        <p:txBody>
          <a:bodyPr wrap="square" lIns="0" tIns="0" rIns="0" bIns="0" rtlCol="0" anchor="ctr"/>
          <a:lstStyle/>
          <a:p>
            <a:pPr indent="0" marL="0">
              <a:buNone/>
            </a:pPr>
            <a:r>
              <a:rPr lang="en-US" sz="2400" b="1" dirty="0">
                <a:solidFill>
                  <a:schemeClr val="tx2"/>
                </a:solidFill>
              </a:rPr>
              <a:t>Benchmark</a:t>
            </a:r>
            <a:pPr indent="0" marL="0">
              <a:buNone/>
            </a:pPr>
            <a:r>
              <a:rPr lang="en-US" sz="2400" dirty="0">
                <a:solidFill>
                  <a:schemeClr val="tx2"/>
                </a:solidFill>
              </a:rPr>
              <a:t>  where most students start   →   </a:t>
            </a:r>
            <a:pPr indent="0" marL="0">
              <a:buNone/>
            </a:pPr>
            <a:r>
              <a:rPr lang="en-US" sz="2400" b="1" dirty="0">
                <a:solidFill>
                  <a:srgbClr val="7A5500"/>
                </a:solidFill>
              </a:rPr>
              <a:t>Milestone</a:t>
            </a:r>
            <a:pPr indent="0" marL="0">
              <a:buNone/>
            </a:pPr>
            <a:r>
              <a:rPr lang="en-US" sz="2400" dirty="0">
                <a:solidFill>
                  <a:schemeClr val="tx2"/>
                </a:solidFill>
              </a:rPr>
              <a:t>  your target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1.3</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Sounding right isn't being right</a:t>
            </a:r>
            <a:endParaRPr lang="en-US" sz="4000" dirty="0"/>
          </a:p>
        </p:txBody>
      </p:sp>
      <p:sp>
        <p:nvSpPr>
          <p:cNvPr id="4" name="Decorative: pattern card">
            <a:extLst>
              <a:ext uri="{C183D7F6-B498-43B3-948B-1728B52AA6E4}">
                <adec:decorative xmlns:adec="http://schemas.microsoft.com/office/drawing/2017/decorative" val="1"/>
              </a:ext>
            </a:extLst>
          </p:cNvPr>
          <p:cNvSpPr/>
          <p:nvPr/>
        </p:nvSpPr>
        <p:spPr>
          <a:xfrm>
            <a:off x="548640" y="1783080"/>
            <a:ext cx="5364328" cy="2514600"/>
          </a:xfrm>
          <a:prstGeom prst="roundRect">
            <a:avLst>
              <a:gd name="adj" fmla="val 4364"/>
            </a:avLst>
          </a:prstGeom>
          <a:solidFill>
            <a:srgbClr val="011D41"/>
          </a:solidFill>
          <a:ln w="12700">
            <a:solidFill>
              <a:srgbClr val="011D41"/>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68680" y="2011680"/>
            <a:ext cx="4724248" cy="2103120"/>
          </a:xfrm>
          <a:prstGeom prst="rect">
            <a:avLst/>
          </a:prstGeom>
          <a:noFill/>
          <a:ln/>
        </p:spPr>
        <p:txBody>
          <a:bodyPr wrap="square" lIns="0" tIns="0" rIns="0" bIns="0" rtlCol="0" anchor="t"/>
          <a:lstStyle/>
          <a:p>
            <a:pPr indent="0" marL="0">
              <a:buNone/>
            </a:pPr>
            <a:r>
              <a:rPr lang="en-US" sz="2600" b="1" dirty="0">
                <a:solidFill>
                  <a:srgbClr val="FFC94A"/>
                </a:solidFill>
              </a:rPr>
              <a:t>Name that tune</a:t>
            </a:r>
            <a:endParaRPr lang="en-US" sz="2400" dirty="0"/>
          </a:p>
          <a:p>
            <a:pPr indent="0" marL="0">
              <a:spcBef>
                <a:spcPts val="600"/>
              </a:spcBef>
              <a:buNone/>
            </a:pPr>
            <a:r>
              <a:rPr lang="en-US" sz="2400" i="1" dirty="0">
                <a:solidFill>
                  <a:schemeClr val="bg1"/>
                </a:solidFill>
              </a:rPr>
              <a:t>"bum, bum, bum, buttabum, bum…"</a:t>
            </a:r>
            <a:endParaRPr lang="en-US" sz="2400" dirty="0"/>
          </a:p>
          <a:p>
            <a:pPr indent="0" marL="0">
              <a:spcBef>
                <a:spcPts val="600"/>
              </a:spcBef>
              <a:buNone/>
            </a:pPr>
            <a:r>
              <a:rPr lang="en-US" sz="2400" dirty="0">
                <a:solidFill>
                  <a:schemeClr val="bg1"/>
                </a:solidFill>
              </a:rPr>
              <a:t>Two people, two songs. Neither is wrong.</a:t>
            </a:r>
            <a:endParaRPr lang="en-US" sz="2400" dirty="0"/>
          </a:p>
        </p:txBody>
      </p:sp>
      <p:sp>
        <p:nvSpPr>
          <p:cNvPr id="6" name="Decorative: definition card">
            <a:extLst>
              <a:ext uri="{C183D7F6-B498-43B3-948B-1728B52AA6E4}">
                <adec:decorative xmlns:adec="http://schemas.microsoft.com/office/drawing/2017/decorative" val="1"/>
              </a:ext>
            </a:extLst>
          </p:cNvPr>
          <p:cNvSpPr/>
          <p:nvPr/>
        </p:nvSpPr>
        <p:spPr>
          <a:xfrm>
            <a:off x="6278728" y="1783080"/>
            <a:ext cx="5364328" cy="2514600"/>
          </a:xfrm>
          <a:prstGeom prst="roundRect">
            <a:avLst>
              <a:gd name="adj" fmla="val 436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6598768" y="2011680"/>
            <a:ext cx="4724248" cy="2103120"/>
          </a:xfrm>
          <a:prstGeom prst="rect">
            <a:avLst/>
          </a:prstGeom>
          <a:noFill/>
          <a:ln/>
        </p:spPr>
        <p:txBody>
          <a:bodyPr wrap="square" lIns="0" tIns="0" rIns="0" bIns="0" rtlCol="0" anchor="t"/>
          <a:lstStyle/>
          <a:p>
            <a:pPr indent="0" marL="0">
              <a:buNone/>
            </a:pPr>
            <a:r>
              <a:rPr lang="en-US" sz="2600" b="1" dirty="0">
                <a:solidFill>
                  <a:schemeClr val="tx2"/>
                </a:solidFill>
              </a:rPr>
              <a:t>Hallucination</a:t>
            </a:r>
            <a:endParaRPr lang="en-US" sz="2400" dirty="0"/>
          </a:p>
          <a:p>
            <a:pPr indent="0" marL="0">
              <a:spcBef>
                <a:spcPts val="600"/>
              </a:spcBef>
              <a:buNone/>
            </a:pPr>
            <a:r>
              <a:rPr lang="en-US" sz="2400" dirty="0">
                <a:solidFill>
                  <a:schemeClr val="tx1"/>
                </a:solidFill>
              </a:rPr>
              <a:t>When AI fills a gap with something that sounds believable but isn't true.</a:t>
            </a:r>
            <a:endParaRPr lang="en-US" sz="2400" dirty="0"/>
          </a:p>
        </p:txBody>
      </p:sp>
      <p:sp>
        <p:nvSpPr>
          <p:cNvPr id="8" name="Text 6"/>
          <p:cNvSpPr txBox="1"/>
          <p:nvPr/>
        </p:nvSpPr>
        <p:spPr>
          <a:xfrm>
            <a:off x="548640" y="4526280"/>
            <a:ext cx="7315200" cy="457200"/>
          </a:xfrm>
          <a:prstGeom prst="rect">
            <a:avLst/>
          </a:prstGeom>
          <a:noFill/>
          <a:ln/>
        </p:spPr>
        <p:txBody>
          <a:bodyPr wrap="square" lIns="0" tIns="0" rIns="0" bIns="0" rtlCol="0" anchor="t"/>
          <a:lstStyle/>
          <a:p>
            <a:pPr indent="0" marL="0">
              <a:buNone/>
            </a:pPr>
            <a:r>
              <a:rPr lang="en-US" sz="2400" b="1" dirty="0">
                <a:solidFill>
                  <a:schemeClr val="tx2"/>
                </a:solidFill>
              </a:rPr>
              <a:t>Five ways to show up</a:t>
            </a:r>
            <a:endParaRPr lang="en-US" sz="2400" dirty="0"/>
          </a:p>
        </p:txBody>
      </p:sp>
      <p:sp>
        <p:nvSpPr>
          <p:cNvPr id="9" name="Decorative: BE chip">
            <a:extLst>
              <a:ext uri="{C183D7F6-B498-43B3-948B-1728B52AA6E4}">
                <adec:decorative xmlns:adec="http://schemas.microsoft.com/office/drawing/2017/decorative" val="1"/>
              </a:ext>
            </a:extLst>
          </p:cNvPr>
          <p:cNvSpPr/>
          <p:nvPr/>
        </p:nvSpPr>
        <p:spPr>
          <a:xfrm>
            <a:off x="548640" y="5074920"/>
            <a:ext cx="2036003" cy="777240"/>
          </a:xfrm>
          <a:prstGeom prst="roundRect">
            <a:avLst>
              <a:gd name="adj" fmla="val 14118"/>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548640" y="5074920"/>
            <a:ext cx="2036003" cy="777240"/>
          </a:xfrm>
          <a:prstGeom prst="rect">
            <a:avLst/>
          </a:prstGeom>
          <a:noFill/>
          <a:ln/>
        </p:spPr>
        <p:txBody>
          <a:bodyPr wrap="square" lIns="0" tIns="0" rIns="0" bIns="0" rtlCol="0" anchor="ctr"/>
          <a:lstStyle/>
          <a:p>
            <a:pPr algn="ctr" indent="0" marL="0">
              <a:buNone/>
            </a:pPr>
            <a:r>
              <a:rPr lang="en-US" sz="2400" b="1" dirty="0">
                <a:solidFill>
                  <a:schemeClr val="tx2"/>
                </a:solidFill>
              </a:rPr>
              <a:t>BE Safe</a:t>
            </a:r>
            <a:endParaRPr lang="en-US" sz="2400" dirty="0"/>
          </a:p>
        </p:txBody>
      </p:sp>
      <p:sp>
        <p:nvSpPr>
          <p:cNvPr id="11" name="Decorative: BE chip">
            <a:extLst>
              <a:ext uri="{C183D7F6-B498-43B3-948B-1728B52AA6E4}">
                <adec:decorative xmlns:adec="http://schemas.microsoft.com/office/drawing/2017/decorative" val="1"/>
              </a:ext>
            </a:extLst>
          </p:cNvPr>
          <p:cNvSpPr/>
          <p:nvPr/>
        </p:nvSpPr>
        <p:spPr>
          <a:xfrm>
            <a:off x="2813243" y="5074920"/>
            <a:ext cx="2036003" cy="777240"/>
          </a:xfrm>
          <a:prstGeom prst="roundRect">
            <a:avLst>
              <a:gd name="adj" fmla="val 14118"/>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2813243" y="5074920"/>
            <a:ext cx="2036003" cy="777240"/>
          </a:xfrm>
          <a:prstGeom prst="rect">
            <a:avLst/>
          </a:prstGeom>
          <a:noFill/>
          <a:ln/>
        </p:spPr>
        <p:txBody>
          <a:bodyPr wrap="square" lIns="0" tIns="0" rIns="0" bIns="0" rtlCol="0" anchor="ctr"/>
          <a:lstStyle/>
          <a:p>
            <a:pPr algn="ctr" indent="0" marL="0">
              <a:buNone/>
            </a:pPr>
            <a:r>
              <a:rPr lang="en-US" sz="2400" b="1" dirty="0">
                <a:solidFill>
                  <a:schemeClr val="tx2"/>
                </a:solidFill>
              </a:rPr>
              <a:t>BE Honest</a:t>
            </a:r>
            <a:endParaRPr lang="en-US" sz="2400" dirty="0"/>
          </a:p>
        </p:txBody>
      </p:sp>
      <p:sp>
        <p:nvSpPr>
          <p:cNvPr id="13" name="Decorative: BE chip">
            <a:extLst>
              <a:ext uri="{C183D7F6-B498-43B3-948B-1728B52AA6E4}">
                <adec:decorative xmlns:adec="http://schemas.microsoft.com/office/drawing/2017/decorative" val="1"/>
              </a:ext>
            </a:extLst>
          </p:cNvPr>
          <p:cNvSpPr/>
          <p:nvPr/>
        </p:nvSpPr>
        <p:spPr>
          <a:xfrm>
            <a:off x="5077846" y="5074920"/>
            <a:ext cx="2036003" cy="777240"/>
          </a:xfrm>
          <a:prstGeom prst="roundRect">
            <a:avLst>
              <a:gd name="adj" fmla="val 14118"/>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4" name="Text 12"/>
          <p:cNvSpPr txBox="1"/>
          <p:nvPr/>
        </p:nvSpPr>
        <p:spPr>
          <a:xfrm>
            <a:off x="5077846" y="5074920"/>
            <a:ext cx="2036003" cy="777240"/>
          </a:xfrm>
          <a:prstGeom prst="rect">
            <a:avLst/>
          </a:prstGeom>
          <a:noFill/>
          <a:ln/>
        </p:spPr>
        <p:txBody>
          <a:bodyPr wrap="square" lIns="0" tIns="0" rIns="0" bIns="0" rtlCol="0" anchor="ctr"/>
          <a:lstStyle/>
          <a:p>
            <a:pPr algn="ctr" indent="0" marL="0">
              <a:buNone/>
            </a:pPr>
            <a:r>
              <a:rPr lang="en-US" sz="2400" b="1" dirty="0">
                <a:solidFill>
                  <a:schemeClr val="tx2"/>
                </a:solidFill>
              </a:rPr>
              <a:t>BE Critical</a:t>
            </a:r>
            <a:endParaRPr lang="en-US" sz="2400" dirty="0"/>
          </a:p>
        </p:txBody>
      </p:sp>
      <p:sp>
        <p:nvSpPr>
          <p:cNvPr id="15" name="Decorative: BE chip">
            <a:extLst>
              <a:ext uri="{C183D7F6-B498-43B3-948B-1728B52AA6E4}">
                <adec:decorative xmlns:adec="http://schemas.microsoft.com/office/drawing/2017/decorative" val="1"/>
              </a:ext>
            </a:extLst>
          </p:cNvPr>
          <p:cNvSpPr/>
          <p:nvPr/>
        </p:nvSpPr>
        <p:spPr>
          <a:xfrm>
            <a:off x="7342449" y="5074920"/>
            <a:ext cx="2036003" cy="777240"/>
          </a:xfrm>
          <a:prstGeom prst="roundRect">
            <a:avLst>
              <a:gd name="adj" fmla="val 14118"/>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7342449" y="5074920"/>
            <a:ext cx="2036003" cy="777240"/>
          </a:xfrm>
          <a:prstGeom prst="rect">
            <a:avLst/>
          </a:prstGeom>
          <a:noFill/>
          <a:ln/>
        </p:spPr>
        <p:txBody>
          <a:bodyPr wrap="square" lIns="0" tIns="0" rIns="0" bIns="0" rtlCol="0" anchor="ctr"/>
          <a:lstStyle/>
          <a:p>
            <a:pPr algn="ctr" indent="0" marL="0">
              <a:buNone/>
            </a:pPr>
            <a:r>
              <a:rPr lang="en-US" sz="2400" b="1" dirty="0">
                <a:solidFill>
                  <a:schemeClr val="tx2"/>
                </a:solidFill>
              </a:rPr>
              <a:t>BE Responsible</a:t>
            </a:r>
            <a:endParaRPr lang="en-US" sz="2400" dirty="0"/>
          </a:p>
        </p:txBody>
      </p:sp>
      <p:sp>
        <p:nvSpPr>
          <p:cNvPr id="17" name="Decorative: BE chip">
            <a:extLst>
              <a:ext uri="{C183D7F6-B498-43B3-948B-1728B52AA6E4}">
                <adec:decorative xmlns:adec="http://schemas.microsoft.com/office/drawing/2017/decorative" val="1"/>
              </a:ext>
            </a:extLst>
          </p:cNvPr>
          <p:cNvSpPr/>
          <p:nvPr/>
        </p:nvSpPr>
        <p:spPr>
          <a:xfrm>
            <a:off x="9607052" y="5074920"/>
            <a:ext cx="2036003" cy="777240"/>
          </a:xfrm>
          <a:prstGeom prst="roundRect">
            <a:avLst>
              <a:gd name="adj" fmla="val 14118"/>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8" name="Text 16"/>
          <p:cNvSpPr txBox="1"/>
          <p:nvPr/>
        </p:nvSpPr>
        <p:spPr>
          <a:xfrm>
            <a:off x="9607052" y="5074920"/>
            <a:ext cx="2036003" cy="777240"/>
          </a:xfrm>
          <a:prstGeom prst="rect">
            <a:avLst/>
          </a:prstGeom>
          <a:noFill/>
          <a:ln/>
        </p:spPr>
        <p:txBody>
          <a:bodyPr wrap="square" lIns="0" tIns="0" rIns="0" bIns="0" rtlCol="0" anchor="ctr"/>
          <a:lstStyle/>
          <a:p>
            <a:pPr algn="ctr" indent="0" marL="0">
              <a:buNone/>
            </a:pPr>
            <a:r>
              <a:rPr lang="en-US" sz="2400" b="1" dirty="0">
                <a:solidFill>
                  <a:schemeClr val="tx2"/>
                </a:solidFill>
              </a:rPr>
              <a:t>BE Reflective</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1.4</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Every assignment has an AI use label</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3515258" cy="2926080"/>
          </a:xfrm>
          <a:prstGeom prst="roundRect">
            <a:avLst>
              <a:gd name="adj" fmla="val 375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48840"/>
            <a:ext cx="685800" cy="685800"/>
          </a:xfrm>
          <a:prstGeom prst="ellipse">
            <a:avLst/>
          </a:prstGeom>
          <a:solidFill>
            <a:srgbClr val="00467F"/>
          </a:solidFill>
          <a:ln w="12700">
            <a:solidFill>
              <a:srgbClr val="00467F"/>
            </a:solidFill>
            <a:prstDash val="solid"/>
          </a:ln>
        </p:spPr>
      </p:sp>
      <p:pic>
        <p:nvPicPr>
          <p:cNvPr id="6" name="Decorative: LuCircleOff">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99716"/>
            <a:ext cx="384048" cy="384048"/>
          </a:xfrm>
          <a:prstGeom prst="rect">
            <a:avLst/>
          </a:prstGeom>
        </p:spPr>
      </p:pic>
      <p:sp>
        <p:nvSpPr>
          <p:cNvPr id="7" name="Text 4"/>
          <p:cNvSpPr txBox="1"/>
          <p:nvPr/>
        </p:nvSpPr>
        <p:spPr>
          <a:xfrm>
            <a:off x="822960" y="2971800"/>
            <a:ext cx="2966618" cy="1645920"/>
          </a:xfrm>
          <a:prstGeom prst="rect">
            <a:avLst/>
          </a:prstGeom>
          <a:noFill/>
          <a:ln/>
        </p:spPr>
        <p:txBody>
          <a:bodyPr wrap="square" lIns="0" tIns="0" rIns="0" bIns="0" rtlCol="0" anchor="t"/>
          <a:lstStyle/>
          <a:p>
            <a:pPr indent="0" marL="0">
              <a:buNone/>
            </a:pPr>
            <a:r>
              <a:rPr lang="en-US" sz="2600" b="1" dirty="0">
                <a:solidFill>
                  <a:schemeClr val="tx2"/>
                </a:solidFill>
              </a:rPr>
              <a:t>No AI</a:t>
            </a:r>
            <a:endParaRPr lang="en-US" sz="2400" dirty="0"/>
          </a:p>
          <a:p>
            <a:pPr indent="0" marL="0">
              <a:spcBef>
                <a:spcPts val="600"/>
              </a:spcBef>
              <a:buNone/>
            </a:pPr>
            <a:r>
              <a:rPr lang="en-US" sz="2400" dirty="0">
                <a:solidFill>
                  <a:schemeClr val="tx1"/>
                </a:solidFill>
              </a:rPr>
              <a:t>You do this work on your own.</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4338218" y="1874520"/>
            <a:ext cx="3515258" cy="2926080"/>
          </a:xfrm>
          <a:prstGeom prst="roundRect">
            <a:avLst>
              <a:gd name="adj" fmla="val 3750"/>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4612538" y="2148840"/>
            <a:ext cx="685800" cy="685800"/>
          </a:xfrm>
          <a:prstGeom prst="ellipse">
            <a:avLst/>
          </a:prstGeom>
          <a:solidFill>
            <a:srgbClr val="E7A614"/>
          </a:solidFill>
          <a:ln w="12700">
            <a:solidFill>
              <a:srgbClr val="E7A614"/>
            </a:solidFill>
            <a:prstDash val="solid"/>
          </a:ln>
        </p:spPr>
      </p:sp>
      <p:pic>
        <p:nvPicPr>
          <p:cNvPr id="10" name="Decorative: LuHandHelping">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763414" y="2299716"/>
            <a:ext cx="384048" cy="384048"/>
          </a:xfrm>
          <a:prstGeom prst="rect">
            <a:avLst/>
          </a:prstGeom>
        </p:spPr>
      </p:pic>
      <p:sp>
        <p:nvSpPr>
          <p:cNvPr id="11" name="Text 7"/>
          <p:cNvSpPr txBox="1"/>
          <p:nvPr/>
        </p:nvSpPr>
        <p:spPr>
          <a:xfrm>
            <a:off x="4612538" y="2971800"/>
            <a:ext cx="2966618" cy="1645920"/>
          </a:xfrm>
          <a:prstGeom prst="rect">
            <a:avLst/>
          </a:prstGeom>
          <a:noFill/>
          <a:ln/>
        </p:spPr>
        <p:txBody>
          <a:bodyPr wrap="square" lIns="0" tIns="0" rIns="0" bIns="0" rtlCol="0" anchor="t"/>
          <a:lstStyle/>
          <a:p>
            <a:pPr indent="0" marL="0">
              <a:buNone/>
            </a:pPr>
            <a:r>
              <a:rPr lang="en-US" sz="2600" b="1" dirty="0">
                <a:solidFill>
                  <a:schemeClr val="tx2"/>
                </a:solidFill>
              </a:rPr>
              <a:t>AI-supported</a:t>
            </a:r>
            <a:endParaRPr lang="en-US" sz="2400" dirty="0"/>
          </a:p>
          <a:p>
            <a:pPr indent="0" marL="0">
              <a:spcBef>
                <a:spcPts val="600"/>
              </a:spcBef>
              <a:buNone/>
            </a:pPr>
            <a:r>
              <a:rPr lang="en-US" sz="2400" dirty="0">
                <a:solidFill>
                  <a:schemeClr val="tx1"/>
                </a:solidFill>
              </a:rPr>
              <a:t>AI helps with the parts your instructor names.</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8127797" y="1874520"/>
            <a:ext cx="3515258" cy="2926080"/>
          </a:xfrm>
          <a:prstGeom prst="roundRect">
            <a:avLst>
              <a:gd name="adj" fmla="val 375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8402117" y="2148840"/>
            <a:ext cx="685800" cy="685800"/>
          </a:xfrm>
          <a:prstGeom prst="ellipse">
            <a:avLst/>
          </a:prstGeom>
          <a:solidFill>
            <a:srgbClr val="00467F"/>
          </a:solidFill>
          <a:ln w="12700">
            <a:solidFill>
              <a:srgbClr val="00467F"/>
            </a:solidFill>
            <a:prstDash val="solid"/>
          </a:ln>
        </p:spPr>
      </p:sp>
      <p:pic>
        <p:nvPicPr>
          <p:cNvPr id="14" name="Decorative: LuSparkles">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52993" y="2299716"/>
            <a:ext cx="384048" cy="384048"/>
          </a:xfrm>
          <a:prstGeom prst="rect">
            <a:avLst/>
          </a:prstGeom>
        </p:spPr>
      </p:pic>
      <p:sp>
        <p:nvSpPr>
          <p:cNvPr id="15" name="Text 10"/>
          <p:cNvSpPr txBox="1"/>
          <p:nvPr/>
        </p:nvSpPr>
        <p:spPr>
          <a:xfrm>
            <a:off x="8402117" y="2971800"/>
            <a:ext cx="2966618" cy="1645920"/>
          </a:xfrm>
          <a:prstGeom prst="rect">
            <a:avLst/>
          </a:prstGeom>
          <a:noFill/>
          <a:ln/>
        </p:spPr>
        <p:txBody>
          <a:bodyPr wrap="square" lIns="0" tIns="0" rIns="0" bIns="0" rtlCol="0" anchor="t"/>
          <a:lstStyle/>
          <a:p>
            <a:pPr indent="0" marL="0">
              <a:buNone/>
            </a:pPr>
            <a:r>
              <a:rPr lang="en-US" sz="2600" b="1" dirty="0">
                <a:solidFill>
                  <a:schemeClr val="tx2"/>
                </a:solidFill>
              </a:rPr>
              <a:t>AI-integrated</a:t>
            </a:r>
            <a:endParaRPr lang="en-US" sz="2400" dirty="0"/>
          </a:p>
          <a:p>
            <a:pPr indent="0" marL="0">
              <a:spcBef>
                <a:spcPts val="600"/>
              </a:spcBef>
              <a:buNone/>
            </a:pPr>
            <a:r>
              <a:rPr lang="en-US" sz="2400" dirty="0">
                <a:solidFill>
                  <a:schemeClr val="tx1"/>
                </a:solidFill>
              </a:rPr>
              <a:t>Using AI well is part of the assignment.</a:t>
            </a:r>
            <a:endParaRPr lang="en-US" sz="2400" dirty="0"/>
          </a:p>
        </p:txBody>
      </p:sp>
      <p:sp>
        <p:nvSpPr>
          <p:cNvPr id="16" name="Decorative: callout">
            <a:extLst>
              <a:ext uri="{C183D7F6-B498-43B3-948B-1728B52AA6E4}">
                <adec:decorative xmlns:adec="http://schemas.microsoft.com/office/drawing/2017/decorative" val="1"/>
              </a:ext>
            </a:extLst>
          </p:cNvPr>
          <p:cNvSpPr/>
          <p:nvPr/>
        </p:nvSpPr>
        <p:spPr>
          <a:xfrm>
            <a:off x="548640" y="512064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7" name="Text 12"/>
          <p:cNvSpPr txBox="1"/>
          <p:nvPr/>
        </p:nvSpPr>
        <p:spPr>
          <a:xfrm>
            <a:off x="868680" y="523036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Not sure? Ask before you use AI, not after.</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1.4</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The 3 Qs, and keep a trail</a:t>
            </a:r>
            <a:endParaRPr lang="en-US" sz="4000" dirty="0"/>
          </a:p>
        </p:txBody>
      </p:sp>
      <p:sp>
        <p:nvSpPr>
          <p:cNvPr id="4" name="Decorative: question row">
            <a:extLst>
              <a:ext uri="{C183D7F6-B498-43B3-948B-1728B52AA6E4}">
                <adec:decorative xmlns:adec="http://schemas.microsoft.com/office/drawing/2017/decorative" val="1"/>
              </a:ext>
            </a:extLst>
          </p:cNvPr>
          <p:cNvSpPr/>
          <p:nvPr/>
        </p:nvSpPr>
        <p:spPr>
          <a:xfrm>
            <a:off x="548640" y="1828800"/>
            <a:ext cx="7223760" cy="960120"/>
          </a:xfrm>
          <a:prstGeom prst="roundRect">
            <a:avLst>
              <a:gd name="adj" fmla="val 11429"/>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22960" y="1828800"/>
            <a:ext cx="6766560" cy="960120"/>
          </a:xfrm>
          <a:prstGeom prst="rect">
            <a:avLst/>
          </a:prstGeom>
          <a:noFill/>
          <a:ln/>
        </p:spPr>
        <p:txBody>
          <a:bodyPr wrap="square" lIns="0" tIns="0" rIns="0" bIns="0" rtlCol="0" anchor="ctr"/>
          <a:lstStyle/>
          <a:p>
            <a:pPr indent="0" marL="0">
              <a:buNone/>
            </a:pPr>
            <a:r>
              <a:rPr lang="en-US" sz="2000" b="1" spc="100" kern="0" dirty="0">
                <a:solidFill>
                  <a:schemeClr val="accent4"/>
                </a:solidFill>
              </a:rPr>
              <a:t>BEFORE YOU ASK AI</a:t>
            </a:r>
            <a:endParaRPr lang="en-US" sz="2400" dirty="0"/>
          </a:p>
          <a:p>
            <a:pPr indent="0" marL="0">
              <a:buNone/>
            </a:pPr>
            <a:r>
              <a:rPr lang="en-US" sz="2400" b="1" dirty="0">
                <a:solidFill>
                  <a:schemeClr val="tx2"/>
                </a:solidFill>
              </a:rPr>
              <a:t>Should I use AI for this part?</a:t>
            </a:r>
            <a:endParaRPr lang="en-US" sz="2400" dirty="0"/>
          </a:p>
        </p:txBody>
      </p:sp>
      <p:sp>
        <p:nvSpPr>
          <p:cNvPr id="6" name="Decorative: question row">
            <a:extLst>
              <a:ext uri="{C183D7F6-B498-43B3-948B-1728B52AA6E4}">
                <adec:decorative xmlns:adec="http://schemas.microsoft.com/office/drawing/2017/decorative" val="1"/>
              </a:ext>
            </a:extLst>
          </p:cNvPr>
          <p:cNvSpPr/>
          <p:nvPr/>
        </p:nvSpPr>
        <p:spPr>
          <a:xfrm>
            <a:off x="548640" y="2880360"/>
            <a:ext cx="7223760" cy="960120"/>
          </a:xfrm>
          <a:prstGeom prst="roundRect">
            <a:avLst>
              <a:gd name="adj" fmla="val 11429"/>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822960" y="2880360"/>
            <a:ext cx="6766560" cy="960120"/>
          </a:xfrm>
          <a:prstGeom prst="rect">
            <a:avLst/>
          </a:prstGeom>
          <a:noFill/>
          <a:ln/>
        </p:spPr>
        <p:txBody>
          <a:bodyPr wrap="square" lIns="0" tIns="0" rIns="0" bIns="0" rtlCol="0" anchor="ctr"/>
          <a:lstStyle/>
          <a:p>
            <a:pPr indent="0" marL="0">
              <a:buNone/>
            </a:pPr>
            <a:r>
              <a:rPr lang="en-US" sz="2000" b="1" spc="100" kern="0" dirty="0">
                <a:solidFill>
                  <a:schemeClr val="accent4"/>
                </a:solidFill>
              </a:rPr>
              <a:t>BEFORE YOU USE ITS ANSWER</a:t>
            </a:r>
            <a:endParaRPr lang="en-US" sz="2400" dirty="0"/>
          </a:p>
          <a:p>
            <a:pPr indent="0" marL="0">
              <a:buNone/>
            </a:pPr>
            <a:r>
              <a:rPr lang="en-US" sz="2400" b="1" dirty="0">
                <a:solidFill>
                  <a:schemeClr val="tx2"/>
                </a:solidFill>
              </a:rPr>
              <a:t>How would I know if it's wrong?</a:t>
            </a:r>
            <a:endParaRPr lang="en-US" sz="2400" dirty="0"/>
          </a:p>
        </p:txBody>
      </p:sp>
      <p:sp>
        <p:nvSpPr>
          <p:cNvPr id="8" name="Decorative: question row">
            <a:extLst>
              <a:ext uri="{C183D7F6-B498-43B3-948B-1728B52AA6E4}">
                <adec:decorative xmlns:adec="http://schemas.microsoft.com/office/drawing/2017/decorative" val="1"/>
              </a:ext>
            </a:extLst>
          </p:cNvPr>
          <p:cNvSpPr/>
          <p:nvPr/>
        </p:nvSpPr>
        <p:spPr>
          <a:xfrm>
            <a:off x="548640" y="3931920"/>
            <a:ext cx="7223760" cy="960120"/>
          </a:xfrm>
          <a:prstGeom prst="roundRect">
            <a:avLst>
              <a:gd name="adj" fmla="val 11429"/>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822960" y="3931920"/>
            <a:ext cx="6766560" cy="960120"/>
          </a:xfrm>
          <a:prstGeom prst="rect">
            <a:avLst/>
          </a:prstGeom>
          <a:noFill/>
          <a:ln/>
        </p:spPr>
        <p:txBody>
          <a:bodyPr wrap="square" lIns="0" tIns="0" rIns="0" bIns="0" rtlCol="0" anchor="ctr"/>
          <a:lstStyle/>
          <a:p>
            <a:pPr indent="0" marL="0">
              <a:buNone/>
            </a:pPr>
            <a:r>
              <a:rPr lang="en-US" sz="2000" b="1" spc="100" kern="0" dirty="0">
                <a:solidFill>
                  <a:schemeClr val="accent4"/>
                </a:solidFill>
              </a:rPr>
              <a:t>BEFORE YOU TURN IT IN</a:t>
            </a:r>
            <a:endParaRPr lang="en-US" sz="2400" dirty="0"/>
          </a:p>
          <a:p>
            <a:pPr indent="0" marL="0">
              <a:buNone/>
            </a:pPr>
            <a:r>
              <a:rPr lang="en-US" sz="2400" b="1" dirty="0">
                <a:solidFill>
                  <a:schemeClr val="tx2"/>
                </a:solidFill>
              </a:rPr>
              <a:t>Can I explain my work and how AI helped?</a:t>
            </a:r>
            <a:endParaRPr lang="en-US" sz="2400" dirty="0"/>
          </a:p>
        </p:txBody>
      </p:sp>
      <p:sp>
        <p:nvSpPr>
          <p:cNvPr id="10" name="Decorative: trail panel">
            <a:extLst>
              <a:ext uri="{C183D7F6-B498-43B3-948B-1728B52AA6E4}">
                <adec:decorative xmlns:adec="http://schemas.microsoft.com/office/drawing/2017/decorative" val="1"/>
              </a:ext>
            </a:extLst>
          </p:cNvPr>
          <p:cNvSpPr/>
          <p:nvPr/>
        </p:nvSpPr>
        <p:spPr>
          <a:xfrm>
            <a:off x="8092440" y="1828800"/>
            <a:ext cx="3550615" cy="3063240"/>
          </a:xfrm>
          <a:prstGeom prst="roundRect">
            <a:avLst>
              <a:gd name="adj" fmla="val 3582"/>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8366760" y="2057400"/>
            <a:ext cx="3001975" cy="2651760"/>
          </a:xfrm>
          <a:prstGeom prst="rect">
            <a:avLst/>
          </a:prstGeom>
          <a:noFill/>
          <a:ln/>
        </p:spPr>
        <p:txBody>
          <a:bodyPr wrap="square" lIns="0" tIns="0" rIns="0" bIns="0" rtlCol="0" anchor="t"/>
          <a:lstStyle/>
          <a:p>
            <a:pPr indent="0" marL="0">
              <a:buNone/>
            </a:pPr>
            <a:r>
              <a:rPr lang="en-US" sz="2600" b="1" dirty="0">
                <a:solidFill>
                  <a:schemeClr val="tx2"/>
                </a:solidFill>
              </a:rPr>
              <a:t>Keep a trail</a:t>
            </a:r>
            <a:endParaRPr lang="en-US" sz="2400" dirty="0"/>
          </a:p>
          <a:p>
            <a:pPr indent="0" marL="0">
              <a:spcBef>
                <a:spcPts val="600"/>
              </a:spcBef>
              <a:buNone/>
            </a:pPr>
            <a:r>
              <a:rPr lang="en-US" sz="2400" dirty="0">
                <a:solidFill>
                  <a:schemeClr val="tx1"/>
                </a:solidFill>
              </a:rPr>
              <a:t>Write in Word on OneDrive. Note how you used AI in OneNote.</a:t>
            </a:r>
            <a:endParaRPr lang="en-US" sz="2400" dirty="0"/>
          </a:p>
        </p:txBody>
      </p:sp>
      <p:sp>
        <p:nvSpPr>
          <p:cNvPr id="12" name="Decorative: callout">
            <a:extLst>
              <a:ext uri="{C183D7F6-B498-43B3-948B-1728B52AA6E4}">
                <adec:decorative xmlns:adec="http://schemas.microsoft.com/office/drawing/2017/decorative" val="1"/>
              </a:ext>
            </a:extLst>
          </p:cNvPr>
          <p:cNvSpPr/>
          <p:nvPr/>
        </p:nvSpPr>
        <p:spPr>
          <a:xfrm>
            <a:off x="548640" y="525780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868680" y="536752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BE Safe every time: nothing private goes into an AI tool.</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1.5</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Find your way around Blackboard</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783080"/>
            <a:ext cx="530352" cy="530352"/>
          </a:xfrm>
          <a:prstGeom prst="ellipse">
            <a:avLst/>
          </a:prstGeom>
          <a:solidFill>
            <a:srgbClr val="00467F"/>
          </a:solidFill>
          <a:ln w="12700">
            <a:solidFill>
              <a:srgbClr val="00467F"/>
            </a:solidFill>
            <a:prstDash val="solid"/>
          </a:ln>
        </p:spPr>
      </p:sp>
      <p:pic>
        <p:nvPicPr>
          <p:cNvPr id="5" name="Decorative: LuLayoutLis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5317" y="1899757"/>
            <a:ext cx="296997" cy="296997"/>
          </a:xfrm>
          <a:prstGeom prst="rect">
            <a:avLst/>
          </a:prstGeom>
        </p:spPr>
      </p:pic>
      <p:sp>
        <p:nvSpPr>
          <p:cNvPr id="6" name="Text 3"/>
          <p:cNvSpPr txBox="1"/>
          <p:nvPr/>
        </p:nvSpPr>
        <p:spPr>
          <a:xfrm>
            <a:off x="1280160" y="1783080"/>
            <a:ext cx="10058400" cy="530352"/>
          </a:xfrm>
          <a:prstGeom prst="rect">
            <a:avLst/>
          </a:prstGeom>
          <a:noFill/>
          <a:ln/>
        </p:spPr>
        <p:txBody>
          <a:bodyPr wrap="square" lIns="0" tIns="0" rIns="0" bIns="0" rtlCol="0" anchor="ctr"/>
          <a:lstStyle/>
          <a:p>
            <a:pPr indent="0" marL="0">
              <a:buNone/>
            </a:pPr>
            <a:r>
              <a:rPr lang="en-US" sz="2400" b="1" dirty="0">
                <a:solidFill>
                  <a:schemeClr val="tx2"/>
                </a:solidFill>
              </a:rPr>
              <a:t>Course Content</a:t>
            </a:r>
            <a:pPr indent="0" marL="0">
              <a:buNone/>
            </a:pPr>
            <a:r>
              <a:rPr lang="en-US" sz="2400" dirty="0">
                <a:solidFill>
                  <a:schemeClr val="tx1"/>
                </a:solidFill>
              </a:rPr>
              <a:t>: home base, your modules in order</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423160"/>
            <a:ext cx="530352" cy="530352"/>
          </a:xfrm>
          <a:prstGeom prst="ellipse">
            <a:avLst/>
          </a:prstGeom>
          <a:solidFill>
            <a:srgbClr val="00467F"/>
          </a:solidFill>
          <a:ln w="12700">
            <a:solidFill>
              <a:srgbClr val="00467F"/>
            </a:solidFill>
            <a:prstDash val="solid"/>
          </a:ln>
        </p:spPr>
      </p:sp>
      <p:pic>
        <p:nvPicPr>
          <p:cNvPr id="8" name="Decorative: LuCalenda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5317" y="2539837"/>
            <a:ext cx="296997" cy="296997"/>
          </a:xfrm>
          <a:prstGeom prst="rect">
            <a:avLst/>
          </a:prstGeom>
        </p:spPr>
      </p:pic>
      <p:sp>
        <p:nvSpPr>
          <p:cNvPr id="9" name="Text 5"/>
          <p:cNvSpPr txBox="1"/>
          <p:nvPr/>
        </p:nvSpPr>
        <p:spPr>
          <a:xfrm>
            <a:off x="1280160" y="2423160"/>
            <a:ext cx="10058400" cy="530352"/>
          </a:xfrm>
          <a:prstGeom prst="rect">
            <a:avLst/>
          </a:prstGeom>
          <a:noFill/>
          <a:ln/>
        </p:spPr>
        <p:txBody>
          <a:bodyPr wrap="square" lIns="0" tIns="0" rIns="0" bIns="0" rtlCol="0" anchor="ctr"/>
          <a:lstStyle/>
          <a:p>
            <a:pPr indent="0" marL="0">
              <a:buNone/>
            </a:pPr>
            <a:r>
              <a:rPr lang="en-US" sz="2400" b="1" dirty="0">
                <a:solidFill>
                  <a:schemeClr val="tx2"/>
                </a:solidFill>
              </a:rPr>
              <a:t>Calendar</a:t>
            </a:r>
            <a:pPr indent="0" marL="0">
              <a:buNone/>
            </a:pPr>
            <a:r>
              <a:rPr lang="en-US" sz="2400" dirty="0">
                <a:solidFill>
                  <a:schemeClr val="tx1"/>
                </a:solidFill>
              </a:rPr>
              <a:t>: what's due, and when</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063240"/>
            <a:ext cx="530352" cy="530352"/>
          </a:xfrm>
          <a:prstGeom prst="ellipse">
            <a:avLst/>
          </a:prstGeom>
          <a:solidFill>
            <a:srgbClr val="00467F"/>
          </a:solidFill>
          <a:ln w="12700">
            <a:solidFill>
              <a:srgbClr val="00467F"/>
            </a:solidFill>
            <a:prstDash val="solid"/>
          </a:ln>
        </p:spPr>
      </p:sp>
      <p:pic>
        <p:nvPicPr>
          <p:cNvPr id="11" name="Decorative: LuChartColumn">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5317" y="3179917"/>
            <a:ext cx="296997" cy="296997"/>
          </a:xfrm>
          <a:prstGeom prst="rect">
            <a:avLst/>
          </a:prstGeom>
        </p:spPr>
      </p:pic>
      <p:sp>
        <p:nvSpPr>
          <p:cNvPr id="12" name="Text 7"/>
          <p:cNvSpPr txBox="1"/>
          <p:nvPr/>
        </p:nvSpPr>
        <p:spPr>
          <a:xfrm>
            <a:off x="1280160" y="3063240"/>
            <a:ext cx="10058400" cy="530352"/>
          </a:xfrm>
          <a:prstGeom prst="rect">
            <a:avLst/>
          </a:prstGeom>
          <a:noFill/>
          <a:ln/>
        </p:spPr>
        <p:txBody>
          <a:bodyPr wrap="square" lIns="0" tIns="0" rIns="0" bIns="0" rtlCol="0" anchor="ctr"/>
          <a:lstStyle/>
          <a:p>
            <a:pPr indent="0" marL="0">
              <a:buNone/>
            </a:pPr>
            <a:r>
              <a:rPr lang="en-US" sz="2400" b="1" dirty="0">
                <a:solidFill>
                  <a:schemeClr val="tx2"/>
                </a:solidFill>
              </a:rPr>
              <a:t>Gradebook</a:t>
            </a:r>
            <a:pPr indent="0" marL="0">
              <a:buNone/>
            </a:pPr>
            <a:r>
              <a:rPr lang="en-US" sz="2400" dirty="0">
                <a:solidFill>
                  <a:schemeClr val="tx1"/>
                </a:solidFill>
              </a:rPr>
              <a:t>: scores and feedback</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3703320"/>
            <a:ext cx="530352" cy="530352"/>
          </a:xfrm>
          <a:prstGeom prst="ellipse">
            <a:avLst/>
          </a:prstGeom>
          <a:solidFill>
            <a:srgbClr val="00467F"/>
          </a:solidFill>
          <a:ln w="12700">
            <a:solidFill>
              <a:srgbClr val="00467F"/>
            </a:solidFill>
            <a:prstDash val="solid"/>
          </a:ln>
        </p:spPr>
      </p:sp>
      <p:pic>
        <p:nvPicPr>
          <p:cNvPr id="14" name="Decorative: LuMessageSquare">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5317" y="3819997"/>
            <a:ext cx="296997" cy="296997"/>
          </a:xfrm>
          <a:prstGeom prst="rect">
            <a:avLst/>
          </a:prstGeom>
        </p:spPr>
      </p:pic>
      <p:sp>
        <p:nvSpPr>
          <p:cNvPr id="15" name="Text 9"/>
          <p:cNvSpPr txBox="1"/>
          <p:nvPr/>
        </p:nvSpPr>
        <p:spPr>
          <a:xfrm>
            <a:off x="1280160" y="3703320"/>
            <a:ext cx="10058400" cy="530352"/>
          </a:xfrm>
          <a:prstGeom prst="rect">
            <a:avLst/>
          </a:prstGeom>
          <a:noFill/>
          <a:ln/>
        </p:spPr>
        <p:txBody>
          <a:bodyPr wrap="square" lIns="0" tIns="0" rIns="0" bIns="0" rtlCol="0" anchor="ctr"/>
          <a:lstStyle/>
          <a:p>
            <a:pPr indent="0" marL="0">
              <a:buNone/>
            </a:pPr>
            <a:r>
              <a:rPr lang="en-US" sz="2400" b="1" dirty="0">
                <a:solidFill>
                  <a:schemeClr val="tx2"/>
                </a:solidFill>
              </a:rPr>
              <a:t>Messages</a:t>
            </a:r>
            <a:pPr indent="0" marL="0">
              <a:buNone/>
            </a:pPr>
            <a:r>
              <a:rPr lang="en-US" sz="2400" dirty="0">
                <a:solidFill>
                  <a:schemeClr val="tx1"/>
                </a:solidFill>
              </a:rPr>
              <a:t>: a quick note to your instructor</a:t>
            </a:r>
            <a:endParaRPr lang="en-US" sz="2400" dirty="0"/>
          </a:p>
        </p:txBody>
      </p:sp>
      <p:sp>
        <p:nvSpPr>
          <p:cNvPr id="16" name="Decorative: icon circle">
            <a:extLst>
              <a:ext uri="{C183D7F6-B498-43B3-948B-1728B52AA6E4}">
                <adec:decorative xmlns:adec="http://schemas.microsoft.com/office/drawing/2017/decorative" val="1"/>
              </a:ext>
            </a:extLst>
          </p:cNvPr>
          <p:cNvSpPr/>
          <p:nvPr/>
        </p:nvSpPr>
        <p:spPr>
          <a:xfrm>
            <a:off x="548640" y="4343400"/>
            <a:ext cx="530352" cy="530352"/>
          </a:xfrm>
          <a:prstGeom prst="ellipse">
            <a:avLst/>
          </a:prstGeom>
          <a:solidFill>
            <a:srgbClr val="00467F"/>
          </a:solidFill>
          <a:ln w="12700">
            <a:solidFill>
              <a:srgbClr val="00467F"/>
            </a:solidFill>
            <a:prstDash val="solid"/>
          </a:ln>
        </p:spPr>
      </p:sp>
      <p:pic>
        <p:nvPicPr>
          <p:cNvPr id="17" name="Decorative: LuMegaphone">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5317" y="4460077"/>
            <a:ext cx="296997" cy="296997"/>
          </a:xfrm>
          <a:prstGeom prst="rect">
            <a:avLst/>
          </a:prstGeom>
        </p:spPr>
      </p:pic>
      <p:sp>
        <p:nvSpPr>
          <p:cNvPr id="18" name="Text 11"/>
          <p:cNvSpPr txBox="1"/>
          <p:nvPr/>
        </p:nvSpPr>
        <p:spPr>
          <a:xfrm>
            <a:off x="1280160" y="4343400"/>
            <a:ext cx="10058400" cy="530352"/>
          </a:xfrm>
          <a:prstGeom prst="rect">
            <a:avLst/>
          </a:prstGeom>
          <a:noFill/>
          <a:ln/>
        </p:spPr>
        <p:txBody>
          <a:bodyPr wrap="square" lIns="0" tIns="0" rIns="0" bIns="0" rtlCol="0" anchor="ctr"/>
          <a:lstStyle/>
          <a:p>
            <a:pPr indent="0" marL="0">
              <a:buNone/>
            </a:pPr>
            <a:r>
              <a:rPr lang="en-US" sz="2400" b="1" dirty="0">
                <a:solidFill>
                  <a:schemeClr val="tx2"/>
                </a:solidFill>
              </a:rPr>
              <a:t>Announcements</a:t>
            </a:r>
            <a:pPr indent="0" marL="0">
              <a:buNone/>
            </a:pPr>
            <a:r>
              <a:rPr lang="en-US" sz="2400" dirty="0">
                <a:solidFill>
                  <a:schemeClr val="tx1"/>
                </a:solidFill>
              </a:rPr>
              <a:t>: updates, also sent to your email</a:t>
            </a:r>
            <a:endParaRPr lang="en-US" sz="2400" dirty="0"/>
          </a:p>
        </p:txBody>
      </p:sp>
      <p:sp>
        <p:nvSpPr>
          <p:cNvPr id="19" name="Decorative: callout">
            <a:extLst>
              <a:ext uri="{C183D7F6-B498-43B3-948B-1728B52AA6E4}">
                <adec:decorative xmlns:adec="http://schemas.microsoft.com/office/drawing/2017/decorative" val="1"/>
              </a:ext>
            </a:extLst>
          </p:cNvPr>
          <p:cNvSpPr/>
          <p:nvPr/>
        </p:nvSpPr>
        <p:spPr>
          <a:xfrm>
            <a:off x="548640" y="512064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0" name="Text 13"/>
          <p:cNvSpPr txBox="1"/>
          <p:nvPr/>
        </p:nvSpPr>
        <p:spPr>
          <a:xfrm>
            <a:off x="868680" y="523036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Add a profile photo. It turns a username into a person.</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TRAIL TIP</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Your free Office 365</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48840"/>
            <a:ext cx="685800" cy="685800"/>
          </a:xfrm>
          <a:prstGeom prst="ellipse">
            <a:avLst/>
          </a:prstGeom>
          <a:solidFill>
            <a:srgbClr val="00467F"/>
          </a:solidFill>
          <a:ln w="12700">
            <a:solidFill>
              <a:srgbClr val="00467F"/>
            </a:solidFill>
            <a:prstDash val="solid"/>
          </a:ln>
        </p:spPr>
      </p:sp>
      <p:pic>
        <p:nvPicPr>
          <p:cNvPr id="6" name="Decorative: LuFileTex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99716"/>
            <a:ext cx="384048" cy="384048"/>
          </a:xfrm>
          <a:prstGeom prst="rect">
            <a:avLst/>
          </a:prstGeom>
        </p:spPr>
      </p:pic>
      <p:sp>
        <p:nvSpPr>
          <p:cNvPr id="7" name="Text 4"/>
          <p:cNvSpPr txBox="1"/>
          <p:nvPr/>
        </p:nvSpPr>
        <p:spPr>
          <a:xfrm>
            <a:off x="822960"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Word</a:t>
            </a:r>
            <a:endParaRPr lang="en-US" sz="2400" dirty="0"/>
          </a:p>
          <a:p>
            <a:pPr indent="0" marL="0">
              <a:spcBef>
                <a:spcPts val="600"/>
              </a:spcBef>
              <a:buNone/>
            </a:pPr>
            <a:r>
              <a:rPr lang="en-US" sz="2400" dirty="0">
                <a:solidFill>
                  <a:schemeClr val="tx1"/>
                </a:solidFill>
              </a:rPr>
              <a:t>Papers and reports.</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3390824"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3665144" y="2148840"/>
            <a:ext cx="685800" cy="685800"/>
          </a:xfrm>
          <a:prstGeom prst="ellipse">
            <a:avLst/>
          </a:prstGeom>
          <a:solidFill>
            <a:srgbClr val="00467F"/>
          </a:solidFill>
          <a:ln w="12700">
            <a:solidFill>
              <a:srgbClr val="00467F"/>
            </a:solidFill>
            <a:prstDash val="solid"/>
          </a:ln>
        </p:spPr>
      </p:sp>
      <p:pic>
        <p:nvPicPr>
          <p:cNvPr id="10" name="Decorative: LuCloud">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816020" y="2299716"/>
            <a:ext cx="384048" cy="384048"/>
          </a:xfrm>
          <a:prstGeom prst="rect">
            <a:avLst/>
          </a:prstGeom>
        </p:spPr>
      </p:pic>
      <p:sp>
        <p:nvSpPr>
          <p:cNvPr id="11" name="Text 7"/>
          <p:cNvSpPr txBox="1"/>
          <p:nvPr/>
        </p:nvSpPr>
        <p:spPr>
          <a:xfrm>
            <a:off x="3665144"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OneDrive</a:t>
            </a:r>
            <a:endParaRPr lang="en-US" sz="2400" dirty="0"/>
          </a:p>
          <a:p>
            <a:pPr indent="0" marL="0">
              <a:spcBef>
                <a:spcPts val="600"/>
              </a:spcBef>
              <a:buNone/>
            </a:pPr>
            <a:r>
              <a:rPr lang="en-US" sz="2400" dirty="0">
                <a:solidFill>
                  <a:schemeClr val="tx1"/>
                </a:solidFill>
              </a:rPr>
              <a:t>Your files, everywhere.</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6233008"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6507328" y="2148840"/>
            <a:ext cx="685800" cy="685800"/>
          </a:xfrm>
          <a:prstGeom prst="ellipse">
            <a:avLst/>
          </a:prstGeom>
          <a:solidFill>
            <a:srgbClr val="00467F"/>
          </a:solidFill>
          <a:ln w="12700">
            <a:solidFill>
              <a:srgbClr val="00467F"/>
            </a:solidFill>
            <a:prstDash val="solid"/>
          </a:ln>
        </p:spPr>
      </p:sp>
      <p:pic>
        <p:nvPicPr>
          <p:cNvPr id="14" name="Decorative: LuNotebookPen">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58204" y="2299716"/>
            <a:ext cx="384048" cy="384048"/>
          </a:xfrm>
          <a:prstGeom prst="rect">
            <a:avLst/>
          </a:prstGeom>
        </p:spPr>
      </p:pic>
      <p:sp>
        <p:nvSpPr>
          <p:cNvPr id="15" name="Text 10"/>
          <p:cNvSpPr txBox="1"/>
          <p:nvPr/>
        </p:nvSpPr>
        <p:spPr>
          <a:xfrm>
            <a:off x="6507328"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OneNote</a:t>
            </a:r>
            <a:endParaRPr lang="en-US" sz="2400" dirty="0"/>
          </a:p>
          <a:p>
            <a:pPr indent="0" marL="0">
              <a:spcBef>
                <a:spcPts val="600"/>
              </a:spcBef>
              <a:buNone/>
            </a:pPr>
            <a:r>
              <a:rPr lang="en-US" sz="2400" dirty="0">
                <a:solidFill>
                  <a:schemeClr val="tx1"/>
                </a:solidFill>
              </a:rPr>
              <a:t>Notes, and your trail.</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9075191"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9349511" y="2148840"/>
            <a:ext cx="685800" cy="685800"/>
          </a:xfrm>
          <a:prstGeom prst="ellipse">
            <a:avLst/>
          </a:prstGeom>
          <a:solidFill>
            <a:srgbClr val="00467F"/>
          </a:solidFill>
          <a:ln w="12700">
            <a:solidFill>
              <a:srgbClr val="00467F"/>
            </a:solidFill>
            <a:prstDash val="solid"/>
          </a:ln>
        </p:spPr>
      </p:sp>
      <p:pic>
        <p:nvPicPr>
          <p:cNvPr id="18" name="Decorative: LuSparkles">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00387" y="2299716"/>
            <a:ext cx="384048" cy="384048"/>
          </a:xfrm>
          <a:prstGeom prst="rect">
            <a:avLst/>
          </a:prstGeom>
        </p:spPr>
      </p:pic>
      <p:sp>
        <p:nvSpPr>
          <p:cNvPr id="19" name="Text 13"/>
          <p:cNvSpPr txBox="1"/>
          <p:nvPr/>
        </p:nvSpPr>
        <p:spPr>
          <a:xfrm>
            <a:off x="9349511"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Copilot</a:t>
            </a:r>
            <a:endParaRPr lang="en-US" sz="2400" dirty="0"/>
          </a:p>
          <a:p>
            <a:pPr indent="0" marL="0">
              <a:spcBef>
                <a:spcPts val="600"/>
              </a:spcBef>
              <a:buNone/>
            </a:pPr>
            <a:r>
              <a:rPr lang="en-US" sz="2400" dirty="0">
                <a:solidFill>
                  <a:schemeClr val="tx1"/>
                </a:solidFill>
              </a:rPr>
              <a:t>AI, with your student login.</a:t>
            </a:r>
            <a:endParaRPr lang="en-US" sz="2400" dirty="0"/>
          </a:p>
        </p:txBody>
      </p:sp>
      <p:sp>
        <p:nvSpPr>
          <p:cNvPr id="20" name="Decorative: callout">
            <a:extLst>
              <a:ext uri="{C183D7F6-B498-43B3-948B-1728B52AA6E4}">
                <adec:decorative xmlns:adec="http://schemas.microsoft.com/office/drawing/2017/decorative" val="1"/>
              </a:ext>
            </a:extLst>
          </p:cNvPr>
          <p:cNvSpPr/>
          <p:nvPr/>
        </p:nvSpPr>
        <p:spPr>
          <a:xfrm>
            <a:off x="548640" y="498348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1" name="Text 15"/>
          <p:cNvSpPr txBox="1"/>
          <p:nvPr/>
        </p:nvSpPr>
        <p:spPr>
          <a:xfrm>
            <a:off x="868680" y="509320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Free on up to five devices while you're enrolled at KCTCS.</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ASSIGNMENTS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Due Monday by 11:59 PM Central</a:t>
            </a:r>
            <a:endParaRPr lang="en-US" sz="4000" dirty="0"/>
          </a:p>
        </p:txBody>
      </p:sp>
      <p:sp>
        <p:nvSpPr>
          <p:cNvPr id="4" name="Decorative: assignment row">
            <a:extLst>
              <a:ext uri="{C183D7F6-B498-43B3-948B-1728B52AA6E4}">
                <adec:decorative xmlns:adec="http://schemas.microsoft.com/office/drawing/2017/decorative" val="1"/>
              </a:ext>
            </a:extLst>
          </p:cNvPr>
          <p:cNvSpPr/>
          <p:nvPr/>
        </p:nvSpPr>
        <p:spPr>
          <a:xfrm>
            <a:off x="548640" y="187452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731520" y="1965960"/>
            <a:ext cx="548640" cy="548640"/>
          </a:xfrm>
          <a:prstGeom prst="ellipse">
            <a:avLst/>
          </a:prstGeom>
          <a:solidFill>
            <a:srgbClr val="00467F"/>
          </a:solidFill>
          <a:ln w="12700">
            <a:solidFill>
              <a:srgbClr val="00467F"/>
            </a:solidFill>
            <a:prstDash val="solid"/>
          </a:ln>
        </p:spPr>
      </p:sp>
      <p:pic>
        <p:nvPicPr>
          <p:cNvPr id="6" name="Decorative: LuClipboard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2221" y="2086661"/>
            <a:ext cx="307238" cy="307238"/>
          </a:xfrm>
          <a:prstGeom prst="rect">
            <a:avLst/>
          </a:prstGeom>
        </p:spPr>
      </p:pic>
      <p:sp>
        <p:nvSpPr>
          <p:cNvPr id="7" name="Text 4"/>
          <p:cNvSpPr txBox="1"/>
          <p:nvPr/>
        </p:nvSpPr>
        <p:spPr>
          <a:xfrm>
            <a:off x="1508760" y="192938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Task: My Skills Snapshot, Start of Semester</a:t>
            </a:r>
            <a:endParaRPr lang="en-US" sz="2400" dirty="0"/>
          </a:p>
          <a:p>
            <a:pPr indent="0" marL="0">
              <a:buNone/>
            </a:pPr>
            <a:r>
              <a:rPr lang="en-US" sz="2000" dirty="0">
                <a:solidFill>
                  <a:schemeClr val="accent6"/>
                </a:solidFill>
              </a:rPr>
              <a:t>Rate yourself honestly on the 10 skills and AI</a:t>
            </a:r>
            <a:endParaRPr lang="en-US" sz="2400" dirty="0"/>
          </a:p>
        </p:txBody>
      </p:sp>
      <p:sp>
        <p:nvSpPr>
          <p:cNvPr id="8" name="Decorative: assignment row">
            <a:extLst>
              <a:ext uri="{C183D7F6-B498-43B3-948B-1728B52AA6E4}">
                <adec:decorative xmlns:adec="http://schemas.microsoft.com/office/drawing/2017/decorative" val="1"/>
              </a:ext>
            </a:extLst>
          </p:cNvPr>
          <p:cNvSpPr/>
          <p:nvPr/>
        </p:nvSpPr>
        <p:spPr>
          <a:xfrm>
            <a:off x="548640" y="288036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731520" y="2971800"/>
            <a:ext cx="548640" cy="548640"/>
          </a:xfrm>
          <a:prstGeom prst="ellipse">
            <a:avLst/>
          </a:prstGeom>
          <a:solidFill>
            <a:srgbClr val="00467F"/>
          </a:solidFill>
          <a:ln w="12700">
            <a:solidFill>
              <a:srgbClr val="00467F"/>
            </a:solidFill>
            <a:prstDash val="solid"/>
          </a:ln>
        </p:spPr>
      </p:sp>
      <p:pic>
        <p:nvPicPr>
          <p:cNvPr id="10" name="Decorative: LuCircleCheck">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2221" y="3092501"/>
            <a:ext cx="307238" cy="307238"/>
          </a:xfrm>
          <a:prstGeom prst="rect">
            <a:avLst/>
          </a:prstGeom>
        </p:spPr>
      </p:pic>
      <p:sp>
        <p:nvSpPr>
          <p:cNvPr id="11" name="Text 7"/>
          <p:cNvSpPr txBox="1"/>
          <p:nvPr/>
        </p:nvSpPr>
        <p:spPr>
          <a:xfrm>
            <a:off x="1508760" y="293522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BE Check</a:t>
            </a:r>
            <a:endParaRPr lang="en-US" sz="2400" dirty="0"/>
          </a:p>
          <a:p>
            <a:pPr indent="0" marL="0">
              <a:buNone/>
            </a:pPr>
            <a:r>
              <a:rPr lang="en-US" sz="2000" dirty="0">
                <a:solidFill>
                  <a:schemeClr val="accent6"/>
                </a:solidFill>
              </a:rPr>
              <a:t>Match the five BE behaviors to real situations</a:t>
            </a:r>
            <a:endParaRPr lang="en-US" sz="2400" dirty="0"/>
          </a:p>
        </p:txBody>
      </p:sp>
      <p:sp>
        <p:nvSpPr>
          <p:cNvPr id="12" name="Decorative: assignment row">
            <a:extLst>
              <a:ext uri="{C183D7F6-B498-43B3-948B-1728B52AA6E4}">
                <adec:decorative xmlns:adec="http://schemas.microsoft.com/office/drawing/2017/decorative" val="1"/>
              </a:ext>
            </a:extLst>
          </p:cNvPr>
          <p:cNvSpPr/>
          <p:nvPr/>
        </p:nvSpPr>
        <p:spPr>
          <a:xfrm>
            <a:off x="548640" y="388620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731520" y="3977640"/>
            <a:ext cx="548640" cy="548640"/>
          </a:xfrm>
          <a:prstGeom prst="ellipse">
            <a:avLst/>
          </a:prstGeom>
          <a:solidFill>
            <a:srgbClr val="00467F"/>
          </a:solidFill>
          <a:ln w="12700">
            <a:solidFill>
              <a:srgbClr val="00467F"/>
            </a:solidFill>
            <a:prstDash val="solid"/>
          </a:ln>
        </p:spPr>
      </p:sp>
      <p:pic>
        <p:nvPicPr>
          <p:cNvPr id="14" name="Decorative: LuFlag">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2221" y="4098341"/>
            <a:ext cx="307238" cy="307238"/>
          </a:xfrm>
          <a:prstGeom prst="rect">
            <a:avLst/>
          </a:prstGeom>
        </p:spPr>
      </p:pic>
      <p:sp>
        <p:nvSpPr>
          <p:cNvPr id="15" name="Text 10"/>
          <p:cNvSpPr txBox="1"/>
          <p:nvPr/>
        </p:nvSpPr>
        <p:spPr>
          <a:xfrm>
            <a:off x="1508760" y="394106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Mile Marker #1: My Starting Point</a:t>
            </a:r>
            <a:endParaRPr lang="en-US" sz="2400" dirty="0"/>
          </a:p>
          <a:p>
            <a:pPr indent="0" marL="0">
              <a:buNone/>
            </a:pPr>
            <a:r>
              <a:rPr lang="en-US" sz="2000" dirty="0">
                <a:solidFill>
                  <a:schemeClr val="accent6"/>
                </a:solidFill>
              </a:rPr>
              <a:t>Five questions about where you are right now</a:t>
            </a:r>
            <a:endParaRPr lang="en-US" sz="2400" dirty="0"/>
          </a:p>
        </p:txBody>
      </p:sp>
      <p:sp>
        <p:nvSpPr>
          <p:cNvPr id="16" name="Decorative: assignment row">
            <a:extLst>
              <a:ext uri="{C183D7F6-B498-43B3-948B-1728B52AA6E4}">
                <adec:decorative xmlns:adec="http://schemas.microsoft.com/office/drawing/2017/decorative" val="1"/>
              </a:ext>
            </a:extLst>
          </p:cNvPr>
          <p:cNvSpPr/>
          <p:nvPr/>
        </p:nvSpPr>
        <p:spPr>
          <a:xfrm>
            <a:off x="548640" y="489204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731520" y="4983480"/>
            <a:ext cx="548640" cy="548640"/>
          </a:xfrm>
          <a:prstGeom prst="ellipse">
            <a:avLst/>
          </a:prstGeom>
          <a:solidFill>
            <a:srgbClr val="00467F"/>
          </a:solidFill>
          <a:ln w="12700">
            <a:solidFill>
              <a:srgbClr val="00467F"/>
            </a:solidFill>
            <a:prstDash val="solid"/>
          </a:ln>
        </p:spPr>
      </p:sp>
      <p:pic>
        <p:nvPicPr>
          <p:cNvPr id="18" name="Decorative: LuMessagesSquare">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52221" y="5104181"/>
            <a:ext cx="307238" cy="307238"/>
          </a:xfrm>
          <a:prstGeom prst="rect">
            <a:avLst/>
          </a:prstGeom>
        </p:spPr>
      </p:pic>
      <p:sp>
        <p:nvSpPr>
          <p:cNvPr id="19" name="Text 13"/>
          <p:cNvSpPr txBox="1"/>
          <p:nvPr/>
        </p:nvSpPr>
        <p:spPr>
          <a:xfrm>
            <a:off x="1508760" y="494690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Online sections: Trailhead Introductions</a:t>
            </a:r>
            <a:endParaRPr lang="en-US" sz="2400" dirty="0"/>
          </a:p>
          <a:p>
            <a:pPr indent="0" marL="0">
              <a:buNone/>
            </a:pPr>
            <a:r>
              <a:rPr lang="en-US" sz="2000" dirty="0">
                <a:solidFill>
                  <a:schemeClr val="accent6"/>
                </a:solidFill>
              </a:rPr>
              <a:t>First post Friday, replies Monday</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MILE MARKER #1</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My Starting Point</a:t>
            </a:r>
            <a:endParaRPr lang="en-US" sz="4000" dirty="0"/>
          </a:p>
        </p:txBody>
      </p:sp>
      <p:sp>
        <p:nvSpPr>
          <p:cNvPr id="4" name="Decorative: number circle">
            <a:extLst>
              <a:ext uri="{C183D7F6-B498-43B3-948B-1728B52AA6E4}">
                <adec:decorative xmlns:adec="http://schemas.microsoft.com/office/drawing/2017/decorative" val="1"/>
              </a:ext>
            </a:extLst>
          </p:cNvPr>
          <p:cNvSpPr/>
          <p:nvPr/>
        </p:nvSpPr>
        <p:spPr>
          <a:xfrm>
            <a:off x="548640" y="1874520"/>
            <a:ext cx="566928" cy="566928"/>
          </a:xfrm>
          <a:prstGeom prst="ellipse">
            <a:avLst/>
          </a:prstGeom>
          <a:solidFill>
            <a:srgbClr val="E7A614"/>
          </a:solidFill>
          <a:ln w="12700">
            <a:solidFill>
              <a:srgbClr val="E7A614"/>
            </a:solidFill>
            <a:prstDash val="solid"/>
          </a:ln>
        </p:spPr>
      </p:sp>
      <p:sp>
        <p:nvSpPr>
          <p:cNvPr id="5" name="Question 1 number"/>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6" name="Text 4"/>
          <p:cNvSpPr txBox="1"/>
          <p:nvPr/>
        </p:nvSpPr>
        <p:spPr>
          <a:xfrm>
            <a:off x="1389888" y="1874520"/>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Why college, and why OCTC?</a:t>
            </a:r>
            <a:endParaRPr lang="en-US" sz="2400" dirty="0"/>
          </a:p>
        </p:txBody>
      </p:sp>
      <p:sp>
        <p:nvSpPr>
          <p:cNvPr id="7" name="Decorative: number circle">
            <a:extLst>
              <a:ext uri="{C183D7F6-B498-43B3-948B-1728B52AA6E4}">
                <adec:decorative xmlns:adec="http://schemas.microsoft.com/office/drawing/2017/decorative" val="1"/>
              </a:ext>
            </a:extLst>
          </p:cNvPr>
          <p:cNvSpPr/>
          <p:nvPr/>
        </p:nvSpPr>
        <p:spPr>
          <a:xfrm>
            <a:off x="548640" y="2715768"/>
            <a:ext cx="566928" cy="566928"/>
          </a:xfrm>
          <a:prstGeom prst="ellipse">
            <a:avLst/>
          </a:prstGeom>
          <a:solidFill>
            <a:srgbClr val="E7A614"/>
          </a:solidFill>
          <a:ln w="12700">
            <a:solidFill>
              <a:srgbClr val="E7A614"/>
            </a:solidFill>
            <a:prstDash val="solid"/>
          </a:ln>
        </p:spPr>
      </p:sp>
      <p:sp>
        <p:nvSpPr>
          <p:cNvPr id="8" name="Question 2 number"/>
          <p:cNvSpPr txBox="1"/>
          <p:nvPr/>
        </p:nvSpPr>
        <p:spPr>
          <a:xfrm>
            <a:off x="548640" y="2715768"/>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9" name="Text 7"/>
          <p:cNvSpPr txBox="1"/>
          <p:nvPr/>
        </p:nvSpPr>
        <p:spPr>
          <a:xfrm>
            <a:off x="1389888" y="2715768"/>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What does success look like for you this semester?</a:t>
            </a:r>
            <a:endParaRPr lang="en-US" sz="2400" dirty="0"/>
          </a:p>
        </p:txBody>
      </p:sp>
      <p:sp>
        <p:nvSpPr>
          <p:cNvPr id="10" name="Decorative: number circle">
            <a:extLst>
              <a:ext uri="{C183D7F6-B498-43B3-948B-1728B52AA6E4}">
                <adec:decorative xmlns:adec="http://schemas.microsoft.com/office/drawing/2017/decorative" val="1"/>
              </a:ext>
            </a:extLst>
          </p:cNvPr>
          <p:cNvSpPr/>
          <p:nvPr/>
        </p:nvSpPr>
        <p:spPr>
          <a:xfrm>
            <a:off x="548640" y="3557016"/>
            <a:ext cx="566928" cy="566928"/>
          </a:xfrm>
          <a:prstGeom prst="ellipse">
            <a:avLst/>
          </a:prstGeom>
          <a:solidFill>
            <a:srgbClr val="E7A614"/>
          </a:solidFill>
          <a:ln w="12700">
            <a:solidFill>
              <a:srgbClr val="E7A614"/>
            </a:solidFill>
            <a:prstDash val="solid"/>
          </a:ln>
        </p:spPr>
      </p:sp>
      <p:sp>
        <p:nvSpPr>
          <p:cNvPr id="11" name="Question 3 number"/>
          <p:cNvSpPr txBox="1"/>
          <p:nvPr/>
        </p:nvSpPr>
        <p:spPr>
          <a:xfrm>
            <a:off x="548640" y="3557016"/>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12" name="Text 10"/>
          <p:cNvSpPr txBox="1"/>
          <p:nvPr/>
        </p:nvSpPr>
        <p:spPr>
          <a:xfrm>
            <a:off x="1389888" y="3557016"/>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What's one strength you already bring?</a:t>
            </a:r>
            <a:endParaRPr lang="en-US" sz="2400" dirty="0"/>
          </a:p>
        </p:txBody>
      </p:sp>
      <p:sp>
        <p:nvSpPr>
          <p:cNvPr id="13" name="Decorative: number circle">
            <a:extLst>
              <a:ext uri="{C183D7F6-B498-43B3-948B-1728B52AA6E4}">
                <adec:decorative xmlns:adec="http://schemas.microsoft.com/office/drawing/2017/decorative" val="1"/>
              </a:ext>
            </a:extLst>
          </p:cNvPr>
          <p:cNvSpPr/>
          <p:nvPr/>
        </p:nvSpPr>
        <p:spPr>
          <a:xfrm>
            <a:off x="548640" y="4398264"/>
            <a:ext cx="566928" cy="566928"/>
          </a:xfrm>
          <a:prstGeom prst="ellipse">
            <a:avLst/>
          </a:prstGeom>
          <a:solidFill>
            <a:srgbClr val="E7A614"/>
          </a:solidFill>
          <a:ln w="12700">
            <a:solidFill>
              <a:srgbClr val="E7A614"/>
            </a:solidFill>
            <a:prstDash val="solid"/>
          </a:ln>
        </p:spPr>
      </p:sp>
      <p:sp>
        <p:nvSpPr>
          <p:cNvPr id="14" name="Question 4 number"/>
          <p:cNvSpPr txBox="1"/>
          <p:nvPr/>
        </p:nvSpPr>
        <p:spPr>
          <a:xfrm>
            <a:off x="548640" y="4398264"/>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4</a:t>
            </a:r>
            <a:endParaRPr lang="en-US" sz="2400" dirty="0"/>
          </a:p>
        </p:txBody>
      </p:sp>
      <p:sp>
        <p:nvSpPr>
          <p:cNvPr id="15" name="Text 13"/>
          <p:cNvSpPr txBox="1"/>
          <p:nvPr/>
        </p:nvSpPr>
        <p:spPr>
          <a:xfrm>
            <a:off x="1389888" y="4398264"/>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One goal, and two concrete steps to reach it</a:t>
            </a:r>
            <a:endParaRPr lang="en-US" sz="2400" dirty="0"/>
          </a:p>
        </p:txBody>
      </p:sp>
      <p:sp>
        <p:nvSpPr>
          <p:cNvPr id="16" name="Decorative: number circle">
            <a:extLst>
              <a:ext uri="{C183D7F6-B498-43B3-948B-1728B52AA6E4}">
                <adec:decorative xmlns:adec="http://schemas.microsoft.com/office/drawing/2017/decorative" val="1"/>
              </a:ext>
            </a:extLst>
          </p:cNvPr>
          <p:cNvSpPr/>
          <p:nvPr/>
        </p:nvSpPr>
        <p:spPr>
          <a:xfrm>
            <a:off x="548640" y="5239512"/>
            <a:ext cx="566928" cy="566928"/>
          </a:xfrm>
          <a:prstGeom prst="ellipse">
            <a:avLst/>
          </a:prstGeom>
          <a:solidFill>
            <a:srgbClr val="E7A614"/>
          </a:solidFill>
          <a:ln w="12700">
            <a:solidFill>
              <a:srgbClr val="E7A614"/>
            </a:solidFill>
            <a:prstDash val="solid"/>
          </a:ln>
        </p:spPr>
      </p:sp>
      <p:sp>
        <p:nvSpPr>
          <p:cNvPr id="17" name="Question 5 number"/>
          <p:cNvSpPr txBox="1"/>
          <p:nvPr/>
        </p:nvSpPr>
        <p:spPr>
          <a:xfrm>
            <a:off x="548640" y="5239512"/>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5</a:t>
            </a:r>
            <a:endParaRPr lang="en-US" sz="2400" dirty="0"/>
          </a:p>
        </p:txBody>
      </p:sp>
      <p:sp>
        <p:nvSpPr>
          <p:cNvPr id="18" name="Text 16"/>
          <p:cNvSpPr txBox="1"/>
          <p:nvPr/>
        </p:nvSpPr>
        <p:spPr>
          <a:xfrm>
            <a:off x="1389888" y="5239512"/>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Where does AI show up in your life, and how do you feel about it for school?</a:t>
            </a:r>
            <a:endParaRPr lang="en-US" sz="2400" dirty="0"/>
          </a:p>
        </p:txBody>
      </p:sp>
      <p:sp>
        <p:nvSpPr>
          <p:cNvPr id="19" name="Decorative: mile marker details panel">
            <a:extLst>
              <a:ext uri="{C183D7F6-B498-43B3-948B-1728B52AA6E4}">
                <adec:decorative xmlns:adec="http://schemas.microsoft.com/office/drawing/2017/decorative" val="1"/>
              </a:ext>
            </a:extLst>
          </p:cNvPr>
          <p:cNvSpPr/>
          <p:nvPr/>
        </p:nvSpPr>
        <p:spPr>
          <a:xfrm>
            <a:off x="8229600" y="1874520"/>
            <a:ext cx="3413455" cy="3794760"/>
          </a:xfrm>
          <a:prstGeom prst="roundRect">
            <a:avLst>
              <a:gd name="adj" fmla="val 3215"/>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8503920" y="2103120"/>
            <a:ext cx="2864815" cy="3383280"/>
          </a:xfrm>
          <a:prstGeom prst="rect">
            <a:avLst/>
          </a:prstGeom>
          <a:noFill/>
          <a:ln/>
        </p:spPr>
        <p:txBody>
          <a:bodyPr wrap="square" lIns="0" tIns="0" rIns="0" bIns="0" rtlCol="0" anchor="t"/>
          <a:lstStyle/>
          <a:p>
            <a:pPr indent="0" marL="0">
              <a:spcAft>
                <a:spcPts val="1000"/>
              </a:spcAft>
              <a:buNone/>
            </a:pPr>
            <a:r>
              <a:rPr lang="en-US" sz="2200" b="1" dirty="0">
                <a:solidFill>
                  <a:srgbClr val="7A5500"/>
                </a:solidFill>
              </a:rPr>
              <a:t>AI use: AI-supported</a:t>
            </a:r>
            <a:endParaRPr lang="en-US" sz="2200" dirty="0"/>
          </a:p>
          <a:p>
            <a:pPr indent="0" marL="0">
              <a:spcAft>
                <a:spcPts val="1000"/>
              </a:spcAft>
              <a:buNone/>
            </a:pPr>
            <a:r>
              <a:rPr lang="en-US" sz="2200" dirty="0">
                <a:solidFill>
                  <a:schemeClr val="tx1"/>
                </a:solidFill>
              </a:rPr>
              <a:t>Use AI to think it through. Write it in your own words.</a:t>
            </a:r>
            <a:endParaRPr lang="en-US" sz="2200" dirty="0"/>
          </a:p>
          <a:p>
            <a:pPr indent="0" marL="0">
              <a:spcAft>
                <a:spcPts val="1000"/>
              </a:spcAft>
              <a:buNone/>
            </a:pPr>
            <a:r>
              <a:rPr lang="en-US" sz="1000" dirty="0">
                <a:solidFill>
                  <a:schemeClr val="tx1"/>
                </a:solidFill>
              </a:rPr>
              <a:t> </a:t>
            </a:r>
            <a:endParaRPr lang="en-US" sz="2200" dirty="0"/>
          </a:p>
          <a:p>
            <a:pPr indent="0" marL="0">
              <a:spcAft>
                <a:spcPts val="1000"/>
              </a:spcAft>
              <a:buNone/>
            </a:pPr>
            <a:r>
              <a:rPr lang="en-US" sz="2200" b="1" dirty="0">
                <a:solidFill>
                  <a:srgbClr val="7A5500"/>
                </a:solidFill>
              </a:rPr>
              <a:t>Honest beats perfect.</a:t>
            </a:r>
            <a:endParaRPr lang="en-US" sz="2200" dirty="0"/>
          </a:p>
          <a:p>
            <a:pPr indent="0" marL="0">
              <a:spcAft>
                <a:spcPts val="1000"/>
              </a:spcAft>
              <a:buNone/>
            </a:pPr>
            <a:r>
              <a:rPr lang="en-US" sz="2200" dirty="0">
                <a:solidFill>
                  <a:schemeClr val="tx1"/>
                </a:solidFill>
              </a:rPr>
              <a:t>You'll come back to this at the end of the course.</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640080"/>
            <a:ext cx="7680960" cy="411480"/>
          </a:xfrm>
          <a:prstGeom prst="rect">
            <a:avLst/>
          </a:prstGeom>
          <a:noFill/>
          <a:ln/>
        </p:spPr>
        <p:txBody>
          <a:bodyPr wrap="square" lIns="0" tIns="0" rIns="0" bIns="0" rtlCol="0"/>
          <a:lstStyle/>
          <a:p>
            <a:pPr algn="l" indent="0" marL="0">
              <a:buNone/>
            </a:pPr>
            <a:r>
              <a:rPr lang="en-US" sz="2000" b="1" spc="300" kern="0" dirty="0">
                <a:solidFill>
                  <a:schemeClr val="accent2"/>
                </a:solidFill>
              </a:rPr>
              <a:t>TALK IT THROUGH · IN CLASS</a:t>
            </a:r>
            <a:endParaRPr lang="en-US" sz="2000" dirty="0"/>
          </a:p>
        </p:txBody>
      </p:sp>
      <p:sp>
        <p:nvSpPr>
          <p:cNvPr id="4" name="Text 0"/>
          <p:cNvSpPr/>
          <p:nvPr>
            <p:ph idx="101" type="title" hasCustomPrompt="1"/>
          </p:nvPr>
        </p:nvSpPr>
        <p:spPr>
          <a:xfrm>
            <a:off x="3931920" y="1097280"/>
            <a:ext cx="7680960" cy="1371600"/>
          </a:xfrm>
          <a:prstGeom prst="rect">
            <a:avLst/>
          </a:prstGeom>
          <a:noFill/>
          <a:ln/>
        </p:spPr>
        <p:txBody>
          <a:bodyPr wrap="square" lIns="0" tIns="0" rIns="0" bIns="0" rtlCol="0" anchor="t"/>
          <a:lstStyle/>
          <a:p>
            <a:pPr algn="l" indent="0" marL="0">
              <a:buNone/>
            </a:pPr>
            <a:r>
              <a:rPr lang="en-US" sz="4000" b="1" dirty="0">
                <a:solidFill>
                  <a:schemeClr val="bg1"/>
                </a:solidFill>
              </a:rPr>
              <a:t>Who's on the trail with you?</a:t>
            </a:r>
            <a:endParaRPr lang="en-US" sz="4000" dirty="0"/>
          </a:p>
        </p:txBody>
      </p:sp>
      <p:sp>
        <p:nvSpPr>
          <p:cNvPr id="5" name="Discussion questions"/>
          <p:cNvSpPr txBox="1"/>
          <p:nvPr/>
        </p:nvSpPr>
        <p:spPr>
          <a:xfrm>
            <a:off x="3931920" y="2697480"/>
            <a:ext cx="7589520" cy="18288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400" dirty="0">
                <a:solidFill>
                  <a:schemeClr val="bg1"/>
                </a:solidFill>
              </a:rPr>
              <a:t>Your name, and what you're here for: a program, a goal, or a fresh start.</a:t>
            </a:r>
            <a:endParaRPr lang="en-US" sz="2400" dirty="0"/>
          </a:p>
          <a:p>
            <a:pPr marL="342900" indent="-342900">
              <a:spcAft>
                <a:spcPts val="1200"/>
              </a:spcAft>
              <a:buSzPct val="100000"/>
              <a:buFont typeface="+mj-lt"/>
              <a:buAutoNum type="arabicPeriod" startAt="1"/>
            </a:pPr>
            <a:r>
              <a:rPr lang="en-US" sz="2400" dirty="0">
                <a:solidFill>
                  <a:schemeClr val="bg1"/>
                </a:solidFill>
              </a:rPr>
              <a:t>One thing you're bringing with you: a skill, a habit, or a story.</a:t>
            </a:r>
            <a:endParaRPr lang="en-US" sz="2400" dirty="0"/>
          </a:p>
        </p:txBody>
      </p:sp>
      <p:sp>
        <p:nvSpPr>
          <p:cNvPr id="6" name="Text 3"/>
          <p:cNvSpPr txBox="1"/>
          <p:nvPr/>
        </p:nvSpPr>
        <p:spPr>
          <a:xfrm>
            <a:off x="3931920" y="4617720"/>
            <a:ext cx="5120640" cy="731520"/>
          </a:xfrm>
          <a:prstGeom prst="rect">
            <a:avLst/>
          </a:prstGeom>
          <a:noFill/>
          <a:ln/>
        </p:spPr>
        <p:txBody>
          <a:bodyPr wrap="square" lIns="0" tIns="0" rIns="0" bIns="0" rtlCol="0" anchor="t"/>
          <a:lstStyle/>
          <a:p>
            <a:pPr indent="0" marL="0">
              <a:buNone/>
            </a:pPr>
            <a:r>
              <a:rPr lang="en-US" sz="2200" i="1" dirty="0">
                <a:solidFill>
                  <a:srgbClr val="D6EEFA"/>
                </a:solidFill>
              </a:rPr>
              <a:t>Pair up for 3 minutes, then introduce your partner to the room.</a:t>
            </a:r>
            <a:endParaRPr lang="en-US" sz="2200" dirty="0"/>
          </a:p>
        </p:txBody>
      </p:sp>
    </p:spTree>
  </p:cSld>
  <p:clrMapOvr>
    <a:masterClrMapping/>
  </p:clrMapOvr>
</p:sld>
</file>

<file path=ppt/theme/theme1.xml><?xml version="1.0" encoding="utf-8"?>
<a:theme xmlns:a="http://schemas.openxmlformats.org/drawingml/2006/main" name="FYE 100 Pathfinder">
  <a:themeElements>
    <a:clrScheme name="FYE 100 Pathfinder">
      <a:dk1>
        <a:srgbClr val="17212B"/>
      </a:dk1>
      <a:lt1>
        <a:srgbClr val="FFFFFF"/>
      </a:lt1>
      <a:dk2>
        <a:srgbClr val="011D41"/>
      </a:dk2>
      <a:lt2>
        <a:srgbClr val="EAF4FB"/>
      </a:lt2>
      <a:accent1>
        <a:srgbClr val="00467F"/>
      </a:accent1>
      <a:accent2>
        <a:srgbClr val="E7A614"/>
      </a:accent2>
      <a:accent3>
        <a:srgbClr val="3BB3E5"/>
      </a:accent3>
      <a:accent4>
        <a:srgbClr val="0B5F86"/>
      </a:accent4>
      <a:accent5>
        <a:srgbClr val="FFF5DC"/>
      </a:accent5>
      <a:accent6>
        <a:srgbClr val="52606D"/>
      </a:accent6>
      <a:hlink>
        <a:srgbClr val="00467F"/>
      </a:hlink>
      <a:folHlink>
        <a:srgbClr val="0B5F86"/>
      </a:folHlink>
    </a:clrScheme>
    <a:fontScheme name="FYE 100 Pathfi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Owensboro Community &amp;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FYE 100 Module 1: Your Pathfinder Journey Begins</dc:title>
  <dc:subject>FYE 100 instructor slides</dc:subject>
  <dc:creator>OCTC FYE 100</dc:creator>
  <cp:lastModifiedBy>OCTC FYE 100</cp:lastModifiedBy>
  <cp:revision>1</cp:revision>
  <dcterms:created xsi:type="dcterms:W3CDTF">2026-10-19T20:09:08Z</dcterms:created>
  <dcterms:modified xsi:type="dcterms:W3CDTF">2026-10-19T20:09:08Z</dcterms:modified>
</cp:coreProperties>
</file>