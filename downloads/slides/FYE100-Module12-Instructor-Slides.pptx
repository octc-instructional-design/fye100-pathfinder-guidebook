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90f75a-dcff-e917-b2a4-2de073432f9d}">
          <p14:sldIdLst>
            <p14:sldId id="256"/>
            <p14:sldId id="257"/>
          </p14:sldIdLst>
        </p14:section>
        <p14:section name="This week" id="{99b9ce9a-fcc0-aa55-e172-154de44a105a}">
          <p14:sldIdLst>
            <p14:sldId id="258"/>
          </p14:sldIdLst>
        </p14:section>
        <p14:section name="Lessons" id="{5a0dff59-6617-3222-5412-3c04487abaf3}">
          <p14:sldIdLst>
            <p14:sldId id="259"/>
            <p14:sldId id="260"/>
            <p14:sldId id="261"/>
          </p14:sldIdLst>
        </p14:section>
        <p14:section name="This week's work" id="{58efca0d-e283-602e-1414-5b0e0f8b261c}">
          <p14:sldIdLst>
            <p14:sldId id="262"/>
            <p14:sldId id="263"/>
          </p14:sldIdLst>
        </p14:section>
        <p14:section name="Discussion" id="{b406b800-545e-c09e-bc35-8da83ef4b8ce}">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12: Reflecting Back, Moving Forward.
The last mile marker on the trail, and a look at everything you've built along the way. This week you finish your STAR(T) Stories and reflect on how far you've come.
The owl is ready to graduate.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Everything this week is due Sunday, not Monday, so you can grade before final grades are due. Say it twice.
Thank students. Many of them did harder things this semester than the course 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finish your four STAR(T) Stories, look back at your Mile Markers, retake My Skills Snapshot, and plan for finals in your other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before students submit. Run each story through this list.
All five steps are there. The Action is yours: you say "I," not just "we." The skill is evident, not just stated; someone listening could name it even if you didn't. The Transfer is specific: where and how this skill shows up next, not "this will help me." It sounds like you, not a template and not AI. And the fourth story starts by naming the skill and why you chose it.
Each story goes in its own labeled journal in Blackboard. Students don't have to submit them all at once.
If you didn't show the STAR(T) Stories overview deck in Module 11, its fixes and checklist slides work well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the final reflection, take a quick look back at the trail.
Mile Marker #1 is the starting line. Mile Marker #12, Question 1 asks students to open it and compare.
The Look Back Trail Tool lists every Mile Marker with room to jot what stands out. Students don't need to reread everything; skimming is enough.
And the end-of-semester Skills Snapshot: students rate themselves again and compare with Module 1.
Guidebook forms save only in the browser on the device a student used. If they switched devices, their submitted Mile Markers are in Blackboard.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FYE 100 may end before students' other classes do. Here's how to finish the semester.
Check every syllabus now: finals look different across classes, and nothing should catch you off guard.
Go back to your time plan from Module 3. Map your week, and watch your batteries.
Use your support team. FYE 100 ends, but your Success Coach and the resources from Module 2 don't. Asking for help at the end of the semester is just as valid as at the beginning.
Know your grades: where you stand, and what a final can and can't change. The grades Trail Tip from Module 6 shows how. If a final can't raise a grade enough, the Success Coach can help think through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Sunday by 11:59 PM Central, earlier than the usual Monday.
The end-of-semester Skills Snapshot: scan the code on this slide. It's this semester's shared form for all FYE 100 sections. Rate yourself honestly again, then compare with Module 1.
Mile Marker #12 is four questions.
All four STAR(T) Stories, each in its own labeled journal in Blackboard. Students can add context in the journal if they want their instructor to know something.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#12 is the final reflection, four questions.
One, growth: open Mile Marker #1 and compare. Two or three specific ways you've grown, academically, personally, or professionally. If your thinking about AI changed, you can include that.
Two, lessons learned: what you wish you'd known at the start, and one habit, strategy, or tool you'll keep using.
Three, words of wisdom: a short message to your Week 1 self, or to a future FYE 100 student.
Four, still growing: one area where you still want to grow, and one concrete next step.
It's AI-supported: AI can ask questions that help you remember, but it wasn't there for your semester. The guidebook has an optional AI thinking partner interview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closing discussion, built from Mile Marker #12, Question 3.
Pairs for three minutes, then invite volunteers to share one piece of advice with the room. Consider collecting them, anonymously and with permission, to share with next semester's students.
Close the course: thank students, and remind them their Success Coach is still there after FYE 100 ends.
For online recordings: share a few words of wisdom from past students, if you have them, and invite students to write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12</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Reflecting Back, Moving Forward</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The last mile marker on the trail.</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11. This is the last stretch of the trail.</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12 and all four STAR(T) Stories are due Sunday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12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Finish strong</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Sta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Finish your four STAR(T) Stories</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History">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Look back at your Mile Markers</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ClipboardChe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Retake My Skills Snapshot</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Flag">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Plan for finals in your other classes</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4"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83880" y="4892040"/>
            <a:ext cx="621792" cy="621792"/>
          </a:xfrm>
          <a:prstGeom prst="rect">
            <a:avLst/>
          </a:prstGeom>
        </p:spPr>
      </p:pic>
      <p:sp>
        <p:nvSpPr>
          <p:cNvPr id="25" name="Text 15"/>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#9 </a:t>
            </a:r>
            <a:pPr indent="0" marL="0">
              <a:buNone/>
            </a:pPr>
            <a:r>
              <a:rPr lang="en-US" sz="2000" dirty="0">
                <a:solidFill>
                  <a:schemeClr val="tx1"/>
                </a:solidFill>
              </a:rPr>
              <a:t>Knowledge Application</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12.1</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Final review for your STAR(T) Stories</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783080"/>
            <a:ext cx="548640" cy="548640"/>
          </a:xfrm>
          <a:prstGeom prst="ellipse">
            <a:avLst/>
          </a:prstGeom>
          <a:solidFill>
            <a:srgbClr val="00467F"/>
          </a:solidFill>
          <a:ln w="12700">
            <a:solidFill>
              <a:srgbClr val="00467F"/>
            </a:solidFill>
            <a:prstDash val="solid"/>
          </a:ln>
        </p:spPr>
      </p:sp>
      <p:pic>
        <p:nvPicPr>
          <p:cNvPr id="5" name="Decorative: LuListOrdered">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1903781"/>
            <a:ext cx="307238" cy="307238"/>
          </a:xfrm>
          <a:prstGeom prst="rect">
            <a:avLst/>
          </a:prstGeom>
        </p:spPr>
      </p:pic>
      <p:sp>
        <p:nvSpPr>
          <p:cNvPr id="6" name="Text 3"/>
          <p:cNvSpPr txBox="1"/>
          <p:nvPr/>
        </p:nvSpPr>
        <p:spPr>
          <a:xfrm>
            <a:off x="1325880" y="178308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All five steps</a:t>
            </a:r>
            <a:pPr indent="0" marL="0">
              <a:buNone/>
            </a:pPr>
            <a:r>
              <a:rPr lang="en-US" sz="2400" dirty="0">
                <a:solidFill>
                  <a:schemeClr val="tx1"/>
                </a:solidFill>
              </a:rPr>
              <a:t>: Situation, Task, Action, Result, Transfer</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423160"/>
            <a:ext cx="548640" cy="548640"/>
          </a:xfrm>
          <a:prstGeom prst="ellipse">
            <a:avLst/>
          </a:prstGeom>
          <a:solidFill>
            <a:srgbClr val="00467F"/>
          </a:solidFill>
          <a:ln w="12700">
            <a:solidFill>
              <a:srgbClr val="00467F"/>
            </a:solidFill>
            <a:prstDash val="solid"/>
          </a:ln>
        </p:spPr>
      </p:sp>
      <p:pic>
        <p:nvPicPr>
          <p:cNvPr id="8" name="Decorative: LuUse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543861"/>
            <a:ext cx="307238" cy="307238"/>
          </a:xfrm>
          <a:prstGeom prst="rect">
            <a:avLst/>
          </a:prstGeom>
        </p:spPr>
      </p:pic>
      <p:sp>
        <p:nvSpPr>
          <p:cNvPr id="9" name="Text 5"/>
          <p:cNvSpPr txBox="1"/>
          <p:nvPr/>
        </p:nvSpPr>
        <p:spPr>
          <a:xfrm>
            <a:off x="1325880" y="242316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The Action is yours</a:t>
            </a:r>
            <a:pPr indent="0" marL="0">
              <a:buNone/>
            </a:pPr>
            <a:r>
              <a:rPr lang="en-US" sz="2400" dirty="0">
                <a:solidFill>
                  <a:schemeClr val="tx1"/>
                </a:solidFill>
              </a:rPr>
              <a:t>: say "I," and name what you did</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063240"/>
            <a:ext cx="548640" cy="548640"/>
          </a:xfrm>
          <a:prstGeom prst="ellipse">
            <a:avLst/>
          </a:prstGeom>
          <a:solidFill>
            <a:srgbClr val="00467F"/>
          </a:solidFill>
          <a:ln w="12700">
            <a:solidFill>
              <a:srgbClr val="00467F"/>
            </a:solidFill>
            <a:prstDash val="solid"/>
          </a:ln>
        </p:spPr>
      </p:sp>
      <p:pic>
        <p:nvPicPr>
          <p:cNvPr id="11" name="Decorative: LuEy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183941"/>
            <a:ext cx="307238" cy="307238"/>
          </a:xfrm>
          <a:prstGeom prst="rect">
            <a:avLst/>
          </a:prstGeom>
        </p:spPr>
      </p:pic>
      <p:sp>
        <p:nvSpPr>
          <p:cNvPr id="12" name="Text 7"/>
          <p:cNvSpPr txBox="1"/>
          <p:nvPr/>
        </p:nvSpPr>
        <p:spPr>
          <a:xfrm>
            <a:off x="1325880" y="306324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The skill is evident</a:t>
            </a:r>
            <a:pPr indent="0" marL="0">
              <a:buNone/>
            </a:pPr>
            <a:r>
              <a:rPr lang="en-US" sz="2400" dirty="0">
                <a:solidFill>
                  <a:schemeClr val="tx1"/>
                </a:solidFill>
              </a:rPr>
              <a:t>: not just stated</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3703320"/>
            <a:ext cx="548640" cy="548640"/>
          </a:xfrm>
          <a:prstGeom prst="ellipse">
            <a:avLst/>
          </a:prstGeom>
          <a:solidFill>
            <a:srgbClr val="00467F"/>
          </a:solidFill>
          <a:ln w="12700">
            <a:solidFill>
              <a:srgbClr val="00467F"/>
            </a:solidFill>
            <a:prstDash val="solid"/>
          </a:ln>
        </p:spPr>
      </p:sp>
      <p:pic>
        <p:nvPicPr>
          <p:cNvPr id="14" name="Decorative: LuMapPin">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824021"/>
            <a:ext cx="307238" cy="307238"/>
          </a:xfrm>
          <a:prstGeom prst="rect">
            <a:avLst/>
          </a:prstGeom>
        </p:spPr>
      </p:pic>
      <p:sp>
        <p:nvSpPr>
          <p:cNvPr id="15" name="Text 9"/>
          <p:cNvSpPr txBox="1"/>
          <p:nvPr/>
        </p:nvSpPr>
        <p:spPr>
          <a:xfrm>
            <a:off x="1325880" y="370332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The Transfer is specific</a:t>
            </a:r>
            <a:pPr indent="0" marL="0">
              <a:buNone/>
            </a:pPr>
            <a:r>
              <a:rPr lang="en-US" sz="2400" dirty="0">
                <a:solidFill>
                  <a:schemeClr val="tx1"/>
                </a:solidFill>
              </a:rPr>
              <a:t>: where this skill shows up next</a:t>
            </a:r>
            <a:endParaRPr lang="en-US" sz="2400" dirty="0"/>
          </a:p>
        </p:txBody>
      </p:sp>
      <p:sp>
        <p:nvSpPr>
          <p:cNvPr id="16" name="Decorative: icon circle">
            <a:extLst>
              <a:ext uri="{C183D7F6-B498-43B3-948B-1728B52AA6E4}">
                <adec:decorative xmlns:adec="http://schemas.microsoft.com/office/drawing/2017/decorative" val="1"/>
              </a:ext>
            </a:extLst>
          </p:cNvPr>
          <p:cNvSpPr/>
          <p:nvPr/>
        </p:nvSpPr>
        <p:spPr>
          <a:xfrm>
            <a:off x="548640" y="4343400"/>
            <a:ext cx="548640" cy="548640"/>
          </a:xfrm>
          <a:prstGeom prst="ellipse">
            <a:avLst/>
          </a:prstGeom>
          <a:solidFill>
            <a:srgbClr val="00467F"/>
          </a:solidFill>
          <a:ln w="12700">
            <a:solidFill>
              <a:srgbClr val="00467F"/>
            </a:solidFill>
            <a:prstDash val="solid"/>
          </a:ln>
        </p:spPr>
      </p:sp>
      <p:pic>
        <p:nvPicPr>
          <p:cNvPr id="17" name="Decorative: LuMic">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464101"/>
            <a:ext cx="307238" cy="307238"/>
          </a:xfrm>
          <a:prstGeom prst="rect">
            <a:avLst/>
          </a:prstGeom>
        </p:spPr>
      </p:pic>
      <p:sp>
        <p:nvSpPr>
          <p:cNvPr id="18" name="Text 11"/>
          <p:cNvSpPr txBox="1"/>
          <p:nvPr/>
        </p:nvSpPr>
        <p:spPr>
          <a:xfrm>
            <a:off x="1325880" y="434340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It sounds like you</a:t>
            </a:r>
            <a:pPr indent="0" marL="0">
              <a:buNone/>
            </a:pPr>
            <a:r>
              <a:rPr lang="en-US" sz="2400" dirty="0">
                <a:solidFill>
                  <a:schemeClr val="tx1"/>
                </a:solidFill>
              </a:rPr>
              <a:t>: not a template, and not AI</a:t>
            </a:r>
            <a:endParaRPr lang="en-US" sz="2400" dirty="0"/>
          </a:p>
        </p:txBody>
      </p:sp>
      <p:sp>
        <p:nvSpPr>
          <p:cNvPr id="19" name="Decorative: icon circle">
            <a:extLst>
              <a:ext uri="{C183D7F6-B498-43B3-948B-1728B52AA6E4}">
                <adec:decorative xmlns:adec="http://schemas.microsoft.com/office/drawing/2017/decorative" val="1"/>
              </a:ext>
            </a:extLst>
          </p:cNvPr>
          <p:cNvSpPr/>
          <p:nvPr/>
        </p:nvSpPr>
        <p:spPr>
          <a:xfrm>
            <a:off x="548640" y="4983480"/>
            <a:ext cx="548640" cy="548640"/>
          </a:xfrm>
          <a:prstGeom prst="ellipse">
            <a:avLst/>
          </a:prstGeom>
          <a:solidFill>
            <a:srgbClr val="00467F"/>
          </a:solidFill>
          <a:ln w="12700">
            <a:solidFill>
              <a:srgbClr val="00467F"/>
            </a:solidFill>
            <a:prstDash val="solid"/>
          </a:ln>
        </p:spPr>
      </p:sp>
      <p:pic>
        <p:nvPicPr>
          <p:cNvPr id="20" name="Decorative: LuCircleHelp">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5104181"/>
            <a:ext cx="307238" cy="307238"/>
          </a:xfrm>
          <a:prstGeom prst="rect">
            <a:avLst/>
          </a:prstGeom>
        </p:spPr>
      </p:pic>
      <p:sp>
        <p:nvSpPr>
          <p:cNvPr id="21" name="Text 13"/>
          <p:cNvSpPr txBox="1"/>
          <p:nvPr/>
        </p:nvSpPr>
        <p:spPr>
          <a:xfrm>
            <a:off x="1325880" y="498348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Your fourth story explains your choice</a:t>
            </a:r>
            <a:pPr indent="0" marL="0">
              <a:buNone/>
            </a:pPr>
            <a:r>
              <a:rPr lang="en-US" sz="2400" dirty="0">
                <a:solidFill>
                  <a:schemeClr val="tx1"/>
                </a:solidFill>
              </a:rPr>
              <a:t>: up front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TOOL</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Look back before you write</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3515258" cy="2926080"/>
          </a:xfrm>
          <a:prstGeom prst="roundRect">
            <a:avLst>
              <a:gd name="adj" fmla="val 375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E7A614"/>
          </a:solidFill>
          <a:ln w="12700">
            <a:solidFill>
              <a:srgbClr val="E7A614"/>
            </a:solidFill>
            <a:prstDash val="solid"/>
          </a:ln>
        </p:spPr>
      </p:sp>
      <p:pic>
        <p:nvPicPr>
          <p:cNvPr id="6" name="Decorative: LuFlag">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Mile Marker #1</a:t>
            </a:r>
            <a:endParaRPr lang="en-US" sz="2400" dirty="0"/>
          </a:p>
          <a:p>
            <a:pPr indent="0" marL="0">
              <a:spcBef>
                <a:spcPts val="600"/>
              </a:spcBef>
              <a:buNone/>
            </a:pPr>
            <a:r>
              <a:rPr lang="en-US" sz="2400" dirty="0">
                <a:solidFill>
                  <a:schemeClr val="tx1"/>
                </a:solidFill>
              </a:rPr>
              <a:t>Where you started. Compare it with now.</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4338218"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4612538" y="2148840"/>
            <a:ext cx="685800" cy="685800"/>
          </a:xfrm>
          <a:prstGeom prst="ellipse">
            <a:avLst/>
          </a:prstGeom>
          <a:solidFill>
            <a:srgbClr val="00467F"/>
          </a:solidFill>
          <a:ln w="12700">
            <a:solidFill>
              <a:srgbClr val="00467F"/>
            </a:solidFill>
            <a:prstDash val="solid"/>
          </a:ln>
        </p:spPr>
      </p:sp>
      <p:pic>
        <p:nvPicPr>
          <p:cNvPr id="10" name="Decorative: LuHistory">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63414" y="2299716"/>
            <a:ext cx="384048" cy="384048"/>
          </a:xfrm>
          <a:prstGeom prst="rect">
            <a:avLst/>
          </a:prstGeom>
        </p:spPr>
      </p:pic>
      <p:sp>
        <p:nvSpPr>
          <p:cNvPr id="11" name="Text 7"/>
          <p:cNvSpPr txBox="1"/>
          <p:nvPr/>
        </p:nvSpPr>
        <p:spPr>
          <a:xfrm>
            <a:off x="4612538"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Look Back</a:t>
            </a:r>
            <a:endParaRPr lang="en-US" sz="2400" dirty="0"/>
          </a:p>
          <a:p>
            <a:pPr indent="0" marL="0">
              <a:spcBef>
                <a:spcPts val="600"/>
              </a:spcBef>
              <a:buNone/>
            </a:pPr>
            <a:r>
              <a:rPr lang="en-US" sz="2400" dirty="0">
                <a:solidFill>
                  <a:schemeClr val="tx1"/>
                </a:solidFill>
              </a:rPr>
              <a:t>Skim your Mile Markers. Jot what stands out.</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8127797" y="1874520"/>
            <a:ext cx="3515258" cy="2926080"/>
          </a:xfrm>
          <a:prstGeom prst="roundRect">
            <a:avLst>
              <a:gd name="adj" fmla="val 375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402117" y="2148840"/>
            <a:ext cx="685800" cy="685800"/>
          </a:xfrm>
          <a:prstGeom prst="ellipse">
            <a:avLst/>
          </a:prstGeom>
          <a:solidFill>
            <a:srgbClr val="00467F"/>
          </a:solidFill>
          <a:ln w="12700">
            <a:solidFill>
              <a:srgbClr val="00467F"/>
            </a:solidFill>
            <a:prstDash val="solid"/>
          </a:ln>
        </p:spPr>
      </p:sp>
      <p:pic>
        <p:nvPicPr>
          <p:cNvPr id="14" name="Decorative: LuClipboardChe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52993" y="2299716"/>
            <a:ext cx="384048" cy="384048"/>
          </a:xfrm>
          <a:prstGeom prst="rect">
            <a:avLst/>
          </a:prstGeom>
        </p:spPr>
      </p:pic>
      <p:sp>
        <p:nvSpPr>
          <p:cNvPr id="15" name="Text 10"/>
          <p:cNvSpPr txBox="1"/>
          <p:nvPr/>
        </p:nvSpPr>
        <p:spPr>
          <a:xfrm>
            <a:off x="8402117" y="2971800"/>
            <a:ext cx="2966618" cy="1645920"/>
          </a:xfrm>
          <a:prstGeom prst="rect">
            <a:avLst/>
          </a:prstGeom>
          <a:noFill/>
          <a:ln/>
        </p:spPr>
        <p:txBody>
          <a:bodyPr wrap="square" lIns="0" tIns="0" rIns="0" bIns="0" rtlCol="0" anchor="t"/>
          <a:lstStyle/>
          <a:p>
            <a:pPr indent="0" marL="0">
              <a:buNone/>
            </a:pPr>
            <a:r>
              <a:rPr lang="en-US" sz="2600" b="1" dirty="0">
                <a:solidFill>
                  <a:schemeClr val="tx2"/>
                </a:solidFill>
              </a:rPr>
              <a:t>My Skills Snapshot</a:t>
            </a:r>
            <a:endParaRPr lang="en-US" sz="2400" dirty="0"/>
          </a:p>
          <a:p>
            <a:pPr indent="0" marL="0">
              <a:spcBef>
                <a:spcPts val="600"/>
              </a:spcBef>
              <a:buNone/>
            </a:pPr>
            <a:r>
              <a:rPr lang="en-US" sz="2400" dirty="0">
                <a:solidFill>
                  <a:schemeClr val="tx1"/>
                </a:solidFill>
              </a:rPr>
              <a:t>Retake it, then compare with Module 1.</a:t>
            </a:r>
            <a:endParaRPr lang="en-US" sz="2400" dirty="0"/>
          </a:p>
        </p:txBody>
      </p:sp>
      <p:sp>
        <p:nvSpPr>
          <p:cNvPr id="16"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2"/>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Switched devices? Your submitted Mile Markers are in Blackboard.</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Finishing strong</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FileTex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Check every syllabus now</a:t>
            </a:r>
            <a:endParaRPr lang="en-US" sz="2400" dirty="0"/>
          </a:p>
          <a:p>
            <a:pPr indent="0" marL="0">
              <a:buNone/>
            </a:pPr>
            <a:r>
              <a:rPr lang="en-US" sz="2400" dirty="0">
                <a:solidFill>
                  <a:schemeClr val="tx1"/>
                </a:solidFill>
              </a:rPr>
              <a:t>What each final is, and when.</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CalendarRang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Go back to your time plan</a:t>
            </a:r>
            <a:endParaRPr lang="en-US" sz="2400" dirty="0"/>
          </a:p>
          <a:p>
            <a:pPr indent="0" marL="0">
              <a:buNone/>
            </a:pPr>
            <a:r>
              <a:rPr lang="en-US" sz="2400" dirty="0">
                <a:solidFill>
                  <a:schemeClr val="tx1"/>
                </a:solidFill>
              </a:rPr>
              <a:t>Map your week. Watch your batteries.</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4160520"/>
            <a:ext cx="685800" cy="685800"/>
          </a:xfrm>
          <a:prstGeom prst="ellipse">
            <a:avLst/>
          </a:prstGeom>
          <a:solidFill>
            <a:srgbClr val="00467F"/>
          </a:solidFill>
          <a:ln w="12700">
            <a:solidFill>
              <a:srgbClr val="00467F"/>
            </a:solidFill>
            <a:prstDash val="solid"/>
          </a:ln>
        </p:spPr>
      </p:sp>
      <p:pic>
        <p:nvPicPr>
          <p:cNvPr id="14" name="Decorative: LuLifeBuoy">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311396"/>
            <a:ext cx="384048" cy="384048"/>
          </a:xfrm>
          <a:prstGeom prst="rect">
            <a:avLst/>
          </a:prstGeom>
        </p:spPr>
      </p:pic>
      <p:sp>
        <p:nvSpPr>
          <p:cNvPr id="15" name="Text 10"/>
          <p:cNvSpPr txBox="1"/>
          <p:nvPr/>
        </p:nvSpPr>
        <p:spPr>
          <a:xfrm>
            <a:off x="1737360"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Use your support team</a:t>
            </a:r>
            <a:endParaRPr lang="en-US" sz="2400" dirty="0"/>
          </a:p>
          <a:p>
            <a:pPr indent="0" marL="0">
              <a:buNone/>
            </a:pPr>
            <a:r>
              <a:rPr lang="en-US" sz="2400" dirty="0">
                <a:solidFill>
                  <a:schemeClr val="tx1"/>
                </a:solidFill>
              </a:rPr>
              <a:t>Your Success Coach is still there.</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4160520"/>
            <a:ext cx="685800" cy="685800"/>
          </a:xfrm>
          <a:prstGeom prst="ellipse">
            <a:avLst/>
          </a:prstGeom>
          <a:solidFill>
            <a:srgbClr val="00467F"/>
          </a:solidFill>
          <a:ln w="12700">
            <a:solidFill>
              <a:srgbClr val="00467F"/>
            </a:solidFill>
            <a:prstDash val="solid"/>
          </a:ln>
        </p:spPr>
      </p:sp>
      <p:pic>
        <p:nvPicPr>
          <p:cNvPr id="18" name="Decorative: LuCalculato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311396"/>
            <a:ext cx="384048" cy="384048"/>
          </a:xfrm>
          <a:prstGeom prst="rect">
            <a:avLst/>
          </a:prstGeom>
        </p:spPr>
      </p:pic>
      <p:sp>
        <p:nvSpPr>
          <p:cNvPr id="19" name="Text 13"/>
          <p:cNvSpPr txBox="1"/>
          <p:nvPr/>
        </p:nvSpPr>
        <p:spPr>
          <a:xfrm>
            <a:off x="7444588"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Know your grades</a:t>
            </a:r>
            <a:endParaRPr lang="en-US" sz="2400" dirty="0"/>
          </a:p>
          <a:p>
            <a:pPr indent="0" marL="0">
              <a:buNone/>
            </a:pPr>
            <a:r>
              <a:rPr lang="en-US" sz="2400" dirty="0">
                <a:solidFill>
                  <a:schemeClr val="tx1"/>
                </a:solidFill>
              </a:rPr>
              <a:t>What a final can, and can't, change.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Sunday by 11:59 PM Central</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74520"/>
            <a:ext cx="3108960" cy="397764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201168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My Skills Snapshot</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79192"/>
            <a:ext cx="2231136" cy="2231136"/>
          </a:xfrm>
          <a:prstGeom prst="roundRect">
            <a:avLst>
              <a:gd name="adj" fmla="val 4098"/>
            </a:avLst>
          </a:prstGeom>
          <a:solidFill>
            <a:srgbClr val="FFFFFF"/>
          </a:solidFill>
          <a:ln w="12700">
            <a:solidFill>
              <a:srgbClr val="D9E2EA"/>
            </a:solidFill>
            <a:prstDash val="solid"/>
          </a:ln>
        </p:spPr>
      </p:sp>
      <p:pic>
        <p:nvPicPr>
          <p:cNvPr id="7" name="QR code: Scan for My Skills Snapshot" descr="QR code for Scan for My Skills Snapshot: https://forms.cloud.microsoft/r/VaGVMzPwem?origin=QRCode">    </p:cNvPr>
          <p:cNvPicPr>
            <a:picLocks noChangeAspect="1"/>
          </p:cNvPicPr>
          <p:nvPr/>
        </p:nvPicPr>
        <p:blipFill>
          <a:blip r:embed="rId1"/>
          <a:stretch>
            <a:fillRect/>
          </a:stretch>
        </p:blipFill>
        <p:spPr>
          <a:xfrm>
            <a:off x="9082735" y="2788920"/>
            <a:ext cx="2011680" cy="2011680"/>
          </a:xfrm>
          <a:prstGeom prst="rect">
            <a:avLst/>
          </a:prstGeom>
        </p:spPr>
      </p:pic>
      <p:sp>
        <p:nvSpPr>
          <p:cNvPr id="8" name="Address: Scan for My Skills Snapshot"/>
          <p:cNvSpPr txBox="1"/>
          <p:nvPr/>
        </p:nvSpPr>
        <p:spPr>
          <a:xfrm>
            <a:off x="8534095" y="493776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forms.cloud.microsoft/r/VaGVMzPwem</a:t>
            </a:r>
            <a:endParaRPr lang="en-US" sz="2000" dirty="0"/>
          </a:p>
        </p:txBody>
      </p:sp>
      <p:sp>
        <p:nvSpPr>
          <p:cNvPr id="9" name="Decorative: assignment row">
            <a:extLst>
              <a:ext uri="{C183D7F6-B498-43B3-948B-1728B52AA6E4}">
                <adec:decorative xmlns:adec="http://schemas.microsoft.com/office/drawing/2017/decorative" val="1"/>
              </a:ext>
            </a:extLst>
          </p:cNvPr>
          <p:cNvSpPr/>
          <p:nvPr/>
        </p:nvSpPr>
        <p:spPr>
          <a:xfrm>
            <a:off x="548640" y="187452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11" name="Decorative: LuClipboardChec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2086661"/>
            <a:ext cx="307238" cy="307238"/>
          </a:xfrm>
          <a:prstGeom prst="rect">
            <a:avLst/>
          </a:prstGeom>
        </p:spPr>
      </p:pic>
      <p:sp>
        <p:nvSpPr>
          <p:cNvPr id="12" name="Text 8"/>
          <p:cNvSpPr txBox="1"/>
          <p:nvPr/>
        </p:nvSpPr>
        <p:spPr>
          <a:xfrm>
            <a:off x="1508760" y="192938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Task: My Skills Snapshot, End of Semester</a:t>
            </a:r>
            <a:endParaRPr lang="en-US" sz="2400" dirty="0"/>
          </a:p>
          <a:p>
            <a:pPr indent="0" marL="0">
              <a:buNone/>
            </a:pPr>
            <a:r>
              <a:rPr lang="en-US" sz="2000" dirty="0">
                <a:solidFill>
                  <a:schemeClr val="accent6"/>
                </a:solidFill>
              </a:rPr>
              <a:t>Rate yourself again, then compare</a:t>
            </a:r>
            <a:endParaRPr lang="en-US" sz="2400" dirty="0"/>
          </a:p>
        </p:txBody>
      </p:sp>
      <p:sp>
        <p:nvSpPr>
          <p:cNvPr id="13" name="Decorative: assignment row">
            <a:extLst>
              <a:ext uri="{C183D7F6-B498-43B3-948B-1728B52AA6E4}">
                <adec:decorative xmlns:adec="http://schemas.microsoft.com/office/drawing/2017/decorative" val="1"/>
              </a:ext>
            </a:extLst>
          </p:cNvPr>
          <p:cNvSpPr/>
          <p:nvPr/>
        </p:nvSpPr>
        <p:spPr>
          <a:xfrm>
            <a:off x="548640" y="288036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5"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3092501"/>
            <a:ext cx="307238" cy="307238"/>
          </a:xfrm>
          <a:prstGeom prst="rect">
            <a:avLst/>
          </a:prstGeom>
        </p:spPr>
      </p:pic>
      <p:sp>
        <p:nvSpPr>
          <p:cNvPr id="16" name="Text 11"/>
          <p:cNvSpPr txBox="1"/>
          <p:nvPr/>
        </p:nvSpPr>
        <p:spPr>
          <a:xfrm>
            <a:off x="1508760" y="293522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#12: My Story to Share</a:t>
            </a:r>
            <a:endParaRPr lang="en-US" sz="2400" dirty="0"/>
          </a:p>
          <a:p>
            <a:pPr indent="0" marL="0">
              <a:buNone/>
            </a:pPr>
            <a:r>
              <a:rPr lang="en-US" sz="2000" dirty="0">
                <a:solidFill>
                  <a:schemeClr val="accent6"/>
                </a:solidFill>
              </a:rPr>
              <a:t>Four questions</a:t>
            </a:r>
            <a:endParaRPr lang="en-US" sz="2400" dirty="0"/>
          </a:p>
        </p:txBody>
      </p:sp>
      <p:sp>
        <p:nvSpPr>
          <p:cNvPr id="17" name="Decorative: assignment row">
            <a:extLst>
              <a:ext uri="{C183D7F6-B498-43B3-948B-1728B52AA6E4}">
                <adec:decorative xmlns:adec="http://schemas.microsoft.com/office/drawing/2017/decorative" val="1"/>
              </a:ext>
            </a:extLst>
          </p:cNvPr>
          <p:cNvSpPr/>
          <p:nvPr/>
        </p:nvSpPr>
        <p:spPr>
          <a:xfrm>
            <a:off x="548640" y="388620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8"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9" name="Decorative: LuSta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4098341"/>
            <a:ext cx="307238" cy="307238"/>
          </a:xfrm>
          <a:prstGeom prst="rect">
            <a:avLst/>
          </a:prstGeom>
        </p:spPr>
      </p:pic>
      <p:sp>
        <p:nvSpPr>
          <p:cNvPr id="20" name="Text 14"/>
          <p:cNvSpPr txBox="1"/>
          <p:nvPr/>
        </p:nvSpPr>
        <p:spPr>
          <a:xfrm>
            <a:off x="1508760" y="394106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STAR(T) Stories, all four</a:t>
            </a:r>
            <a:endParaRPr lang="en-US" sz="2400" dirty="0"/>
          </a:p>
          <a:p>
            <a:pPr indent="0" marL="0">
              <a:buNone/>
            </a:pPr>
            <a:r>
              <a:rPr lang="en-US" sz="2000" dirty="0">
                <a:solidFill>
                  <a:schemeClr val="accent6"/>
                </a:solidFill>
              </a:rPr>
              <a:t>Each in its own labeled journal in Blackboard</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#12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Story to Share</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Growth: two or three ways you've grown</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Lessons learned, and one habit you'll keep</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Words of wisdom for Week 1 you</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Still growing: one area, and a next step</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AI wasn't there for your semester. You were.</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Start here:</a:t>
            </a:r>
            <a:endParaRPr lang="en-US" sz="2200" dirty="0"/>
          </a:p>
          <a:p>
            <a:pPr indent="0" marL="0">
              <a:spcAft>
                <a:spcPts val="1000"/>
              </a:spcAft>
              <a:buNone/>
            </a:pPr>
            <a:r>
              <a:rPr lang="en-US" sz="2200" dirty="0">
                <a:solidFill>
                  <a:schemeClr val="tx1"/>
                </a:solidFill>
              </a:rPr>
              <a:t>open Mile Marker #1.</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Words of wisdom</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What do you know now that you wish you'd known in Week 1?</a:t>
            </a:r>
            <a:endParaRPr lang="en-US" sz="2400" dirty="0"/>
          </a:p>
          <a:p>
            <a:pPr marL="342900" indent="-342900">
              <a:spcAft>
                <a:spcPts val="1200"/>
              </a:spcAft>
              <a:buSzPct val="100000"/>
              <a:buFont typeface="+mj-lt"/>
              <a:buAutoNum type="arabicPeriod" startAt="1"/>
            </a:pPr>
            <a:r>
              <a:rPr lang="en-US" sz="2400" dirty="0">
                <a:solidFill>
                  <a:schemeClr val="bg1"/>
                </a:solidFill>
              </a:rPr>
              <a:t>What's one thing from this course you'll keep using?</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piece of advice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12: Reflecting Back, Moving Forward</dc:title>
  <dc:subject>FYE 100 instructor slides</dc:subject>
  <dc:creator>OCTC FYE 100</dc:creator>
  <cp:lastModifiedBy>OCTC FYE 100</cp:lastModifiedBy>
  <cp:revision>1</cp:revision>
  <dcterms:created xsi:type="dcterms:W3CDTF">2026-10-19T21:15:10Z</dcterms:created>
  <dcterms:modified xsi:type="dcterms:W3CDTF">2026-10-19T21:15:10Z</dcterms:modified>
</cp:coreProperties>
</file>