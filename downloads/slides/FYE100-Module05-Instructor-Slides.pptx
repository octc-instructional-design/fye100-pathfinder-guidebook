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5a6d3c6a-2903-2d85-de08-696764a7f8be}">
          <p14:sldIdLst>
            <p14:sldId id="256"/>
            <p14:sldId id="257"/>
          </p14:sldIdLst>
        </p14:section>
        <p14:section name="This week" id="{4af094ea-a89f-13f8-56de-2c4341983df0}">
          <p14:sldIdLst>
            <p14:sldId id="258"/>
          </p14:sldIdLst>
        </p14:section>
        <p14:section name="Lessons" id="{62307dbd-a9b7-8df2-889e-cc3394383015}">
          <p14:sldIdLst>
            <p14:sldId id="259"/>
            <p14:sldId id="260"/>
            <p14:sldId id="261"/>
            <p14:sldId id="262"/>
            <p14:sldId id="263"/>
          </p14:sldIdLst>
        </p14:section>
        <p14:section name="This week's work" id="{413a3c73-310d-462f-abed-8091a96f1441}">
          <p14:sldIdLst>
            <p14:sldId id="264"/>
            <p14:sldId id="265"/>
          </p14:sldIdLst>
        </p14:section>
        <p14:section name="Discussion" id="{9fc5e0f5-c0d1-7a1f-e402-ec21aaf0801a}">
          <p14:sldIdLst>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Module 5: Financial Planning with Purpose.
Money touches everything: your stress, your schedule, and whether you can stay in school. This module is about seeing your money clearly before trying to change anything, at any income.
The owl is saving up this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SLIDE. Edit the announcements box before class. Hide this slide when recording for online sections (right-click the slide, Hide Slide).
Look back at Module 4: Merit Activity #1 status, and anything you noticed in the Is This Legit? chats.
This week is personal for many students. Set the tone early: nobody shares numbers, and nobody is judged.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week: track where your money actually goes, give every dollar a job, learn the two numbers that protect your financial aid, and keep your financial details private when you use AI.
Two skills: Quantitative Reasoning, this week's Skill Spotlight, and Professionalism.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week's Skill Spotlight is #3, Quantitative Reasoning.
It isn't math for a test. It's thinking clearly with numbers in real life, and you already do it: comparing prices, splitting a bill, figuring out whether you can afford something before payday.
Left: where most students start, working with numbers. Right: where you're headed, thinking with them, from calculating to reasoning.
A note on math anxiety, from the lesson: it's real and common, and it usually means something went wrong in how you were taught, not that you can't do this. This level doesn't require algebra. It takes attention, honesty, and a willingness to look at numbers without flinching.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pattern as Module 3: look back, then look ahead.
The Dollar Tracker is looking back: where your money actually went in the last week or two. It feeds Mile Marker #5, Question 1.
The Budget Builder is looking ahead: a zero-based budget, where every dollar coming in gets a job, including savings, until nothing is left without a plan. It feeds Question 4.
Privacy matters here. The Mile Marker never asks for dollar amounts, and the tools stay in your browser or on your paper.
Both are fillable in the guidebook, and there are fillable PDFs in Blackboard.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Financial wellness is feeling steady and in some control of your money because you know where it goes and make choices on purpose. It's a direction, not a dollar amount, and you can work toward it at any income.
What it is: knowing roughly where your money goes, feeling some control, handling a small unexpected expense without a crisis, and worrying less over time. What it isn't: having a lot of money, never struggling, a perfect budget every month, or having no debt.
Money stress takes real mental space. It affects focus, memory, and planning. The lesson lists money help at OCTC and beyond. If money is getting in the way of school, reach out to Financial Aid, your Success Coach, or your instructor.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can't manage what you can't see. Three steps: look at the last week or two, notice what surprises you, and find your money leaks.
A money leak is spending that doesn't line up with what you value or need. What counts is what you recognize as out of line with your own priorities, not what someone else thinks is unnecessary.
Common leaks: delivery fees when there's food at home, subscriptions you forgot about, convenience buys because you didn't plan ahead, and impulse buys you regret.
Then give every dollar a job: list what's coming in this month, list every place it needs to go, assign until you reach zero, and adjust as the month happens.
If you use AI as a money thinking partner, describe your situation in general terms. Never share real account numbers, income, or debt amounts.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numbers protect your financial aid. Keep your GPA at 2.0 or higher, and pass at least 67 percent, two-thirds, of the credit hours you sign up for.
Withdrawing from a class counts as attempted but not completed, so it can pull your completion rate down. That's why the lesson says: ask Financial Aid before you change your schedule.
The Trail Tip also covers the steps to get and keep aid: your StudentAid.gov account, the FAFSA, scholarships, checking your tasks in Student Self-Service, choosing how you'll get your refund, and checking your bill.
There's a Financial Aid presentation in Blackboard. If you fall below either number, there's a process, and Financial Aid is the place to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is due Monday by 11:59 PM Central.
The Appreciative Advising Inventory is a short inventory, completion only. Scan the code on this slide to open it; it's this semester's shared form for all FYE 100 sections. What students say in it shapes the course; the Instructor Guide's Results in Action page shows what changed because of it.
Mile Marker #5 is the main assignment, with no dollar amounts required.
Online sections: the money tip discussion. First post by Friday, replies by Monday. In-person sections: today's attendance 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Mile Marker #5 has five questions, and none of them needs a dollar amount.
One: what you noticed from the Dollar Tracker, what surprised you or confirmed a hunch. Two: your financial situation, described honestly for clarity, not judgment. Three: one small, realistic thing you'll do differently, or keep doing. Four: your zero-based budget from the Budget Builder, described without amounts. Five: if you used AI, what you left out to protect your privacy. If you didn't use AI, say so.
It's AI-supported, with one firm rule: never share real account numbers, income, or debt with an AI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In-person discussion. This mirrors the online Money Tip discussion.
Pairs for three minutes, then build a class top-ten list on the board.
Ground rule before you start: no numbers, and no one has to share anything personal. Tips are enough.
Watch for students who share hardship. Thank them, keep it moving, and follow up privately if needed.
For online recordings: pose the questions and point students to the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FYE Title">
    <p:bg>
      <p:bgPr>
        <a:solidFill>
          <a:srgbClr val="011D4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3931920" y="1051560"/>
            <a:ext cx="7680960" cy="457200"/>
          </a:xfrm>
          <a:prstGeom prst="rect">
            <a:avLst/>
          </a:prstGeom>
          <a:noFill/>
          <a:ln/>
        </p:spPr>
        <p:txBody>
          <a:bodyPr wrap="square" rtlCol="0"/>
          <a:lstStyle>
            <a:lvl1pPr algn="l" indent="0" marL="0">
              <a:buNone/>
              <a:defRPr lang="en-US" sz="2000" b="1" spc="300" kern="0" dirty="0">
                <a:solidFill>
                  <a:schemeClr val="accent2"/>
                </a:solidFill>
              </a:defRPr>
            </a:lvl1pPr>
          </a:lstStyle>
          <a:p>
            <a:pPr algn="l" indent="0" marL="0">
              <a:buNone/>
            </a:pPr>
            <a:endParaRPr lang="en-US" sz="2000" dirty="0"/>
          </a:p>
        </p:txBody>
      </p:sp>
      <p:sp>
        <p:nvSpPr>
          <p:cNvPr id="3" name="Text 0"/>
          <p:cNvSpPr/>
          <p:nvPr>
            <p:ph idx="101" type="title" hasCustomPrompt="1"/>
          </p:nvPr>
        </p:nvSpPr>
        <p:spPr>
          <a:xfrm>
            <a:off x="3931920" y="1554480"/>
            <a:ext cx="7680960" cy="201168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4" name="Text 0"/>
          <p:cNvSpPr/>
          <p:nvPr>
            <p:ph idx="102" type="body" hasCustomPrompt="1"/>
          </p:nvPr>
        </p:nvSpPr>
        <p:spPr>
          <a:xfrm>
            <a:off x="3931920" y="3611880"/>
            <a:ext cx="6949440" cy="1005840"/>
          </a:xfrm>
          <a:prstGeom prst="rect">
            <a:avLst/>
          </a:prstGeom>
          <a:noFill/>
          <a:ln/>
        </p:spPr>
        <p:txBody>
          <a:bodyPr wrap="square" rtlCol="0"/>
          <a:lstStyle>
            <a:lvl1pPr algn="l" indent="0" marL="0">
              <a:buNone/>
              <a:defRPr lang="en-US" sz="3200" dirty="0">
                <a:solidFill>
                  <a:srgbClr val="D6EEFA"/>
                </a:solidFill>
              </a:defRPr>
            </a:lvl1pPr>
          </a:lstStyle>
          <a:p>
            <a:pPr algn="l" indent="0" marL="0">
              <a:buNone/>
            </a:pPr>
            <a:endParaRPr lang="en-US" sz="3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FYE 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rtlCol="0"/>
          <a:lstStyle>
            <a:lvl1pPr algn="l" indent="0" marL="0">
              <a:buNone/>
              <a:defRPr lang="en-US" sz="2000" b="1" spc="300" kern="0" dirty="0">
                <a:solidFill>
                  <a:schemeClr val="accent4"/>
                </a:solidFill>
              </a:defRPr>
            </a:lvl1pPr>
          </a:lstStyle>
          <a:p>
            <a:pPr algn="l" indent="0" marL="0">
              <a:buNone/>
            </a:pP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rtlCol="0"/>
          <a:lstStyle>
            <a:lvl1pPr algn="l" indent="0" marL="0">
              <a:buNone/>
              <a:defRPr lang="en-US" sz="4000" b="1" dirty="0">
                <a:solidFill>
                  <a:schemeClr val="tx2"/>
                </a:solidFill>
              </a:defRPr>
            </a:lvl1pPr>
          </a:lstStyle>
          <a:p>
            <a:pPr algn="l" indent="0" marL="0">
              <a:buNone/>
            </a:pPr>
            <a:endParaRPr lang="en-US" sz="40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FYE Discussion">
    <p:bg>
      <p:bgPr>
        <a:solidFill>
          <a:srgbClr val="011D4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3931920" y="640080"/>
            <a:ext cx="7680960" cy="411480"/>
          </a:xfrm>
          <a:prstGeom prst="rect">
            <a:avLst/>
          </a:prstGeom>
          <a:noFill/>
          <a:ln/>
        </p:spPr>
        <p:txBody>
          <a:bodyPr wrap="square" rtlCol="0"/>
          <a:lstStyle>
            <a:lvl1pPr algn="l" indent="0" marL="0">
              <a:buNone/>
              <a:defRPr lang="en-US" sz="2000" b="1" spc="300" kern="0" dirty="0">
                <a:solidFill>
                  <a:schemeClr val="accent2"/>
                </a:solidFill>
              </a:defRPr>
            </a:lvl1pPr>
          </a:lstStyle>
          <a:p>
            <a:pPr algn="l" indent="0" marL="0">
              <a:buNone/>
            </a:pPr>
            <a:endParaRPr lang="en-US" sz="2000" dirty="0"/>
          </a:p>
        </p:txBody>
      </p:sp>
      <p:sp>
        <p:nvSpPr>
          <p:cNvPr id="3" name="Text 0"/>
          <p:cNvSpPr/>
          <p:nvPr>
            <p:ph idx="101" type="title" hasCustomPrompt="1"/>
          </p:nvPr>
        </p:nvSpPr>
        <p:spPr>
          <a:xfrm>
            <a:off x="3931920" y="1097280"/>
            <a:ext cx="7680960" cy="13716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Decorative: module cover art">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0" type="body" hasCustomPrompt="1"/>
          </p:nvPr>
        </p:nvSpPr>
        <p:spPr>
          <a:xfrm>
            <a:off x="3931920" y="1051560"/>
            <a:ext cx="7680960" cy="457200"/>
          </a:xfrm>
          <a:prstGeom prst="rect">
            <a:avLst/>
          </a:prstGeom>
          <a:noFill/>
          <a:ln/>
        </p:spPr>
        <p:txBody>
          <a:bodyPr wrap="square" lIns="0" tIns="0" rIns="0" bIns="0" rtlCol="0"/>
          <a:lstStyle/>
          <a:p>
            <a:pPr algn="l" indent="0" marL="0">
              <a:buNone/>
            </a:pPr>
            <a:r>
              <a:rPr lang="en-US" sz="2000" b="1" spc="300" kern="0" dirty="0">
                <a:solidFill>
                  <a:schemeClr val="accent2"/>
                </a:solidFill>
              </a:rPr>
              <a:t>MODULE 5</a:t>
            </a:r>
            <a:endParaRPr lang="en-US" sz="2000" dirty="0"/>
          </a:p>
        </p:txBody>
      </p:sp>
      <p:sp>
        <p:nvSpPr>
          <p:cNvPr id="4" name="Text 0"/>
          <p:cNvSpPr/>
          <p:nvPr>
            <p:ph idx="101" type="title" hasCustomPrompt="1"/>
          </p:nvPr>
        </p:nvSpPr>
        <p:spPr>
          <a:xfrm>
            <a:off x="3931920" y="1554480"/>
            <a:ext cx="7680960" cy="2011680"/>
          </a:xfrm>
          <a:prstGeom prst="rect">
            <a:avLst/>
          </a:prstGeom>
          <a:noFill/>
          <a:ln/>
        </p:spPr>
        <p:txBody>
          <a:bodyPr wrap="square" lIns="0" tIns="0" rIns="0" bIns="0" rtlCol="0" anchor="t"/>
          <a:lstStyle/>
          <a:p>
            <a:pPr algn="l" indent="0" marL="0">
              <a:buNone/>
            </a:pPr>
            <a:r>
              <a:rPr lang="en-US" sz="5400" b="1" dirty="0">
                <a:solidFill>
                  <a:schemeClr val="bg1"/>
                </a:solidFill>
              </a:rPr>
              <a:t>Financial Planning with Purpose</a:t>
            </a:r>
            <a:endParaRPr lang="en-US" sz="5400" dirty="0"/>
          </a:p>
        </p:txBody>
      </p:sp>
      <p:sp>
        <p:nvSpPr>
          <p:cNvPr id="5" name="Text 0"/>
          <p:cNvSpPr/>
          <p:nvPr>
            <p:ph idx="102" type="body" hasCustomPrompt="1"/>
          </p:nvPr>
        </p:nvSpPr>
        <p:spPr>
          <a:xfrm>
            <a:off x="3931920" y="3611880"/>
            <a:ext cx="6949440" cy="1005840"/>
          </a:xfrm>
          <a:prstGeom prst="rect">
            <a:avLst/>
          </a:prstGeom>
          <a:noFill/>
          <a:ln/>
        </p:spPr>
        <p:txBody>
          <a:bodyPr wrap="square" lIns="0" tIns="0" rIns="0" bIns="0" rtlCol="0" anchor="t"/>
          <a:lstStyle/>
          <a:p>
            <a:pPr algn="l" indent="0" marL="0">
              <a:buNone/>
            </a:pPr>
            <a:r>
              <a:rPr lang="en-US" sz="3200" dirty="0">
                <a:solidFill>
                  <a:srgbClr val="D6EEFA"/>
                </a:solidFill>
              </a:rPr>
              <a:t>See it clearly before you change it.</a:t>
            </a:r>
            <a:endParaRPr lang="en-US" sz="3200" dirty="0"/>
          </a:p>
        </p:txBody>
      </p:sp>
      <p:sp>
        <p:nvSpPr>
          <p:cNvPr id="6" name="Instructor and section (edit me)"/>
          <p:cNvSpPr txBox="1"/>
          <p:nvPr/>
        </p:nvSpPr>
        <p:spPr>
          <a:xfrm>
            <a:off x="3931920" y="4709160"/>
            <a:ext cx="5486400" cy="411480"/>
          </a:xfrm>
          <a:prstGeom prst="rect">
            <a:avLst/>
          </a:prstGeom>
          <a:noFill/>
          <a:ln/>
        </p:spPr>
        <p:txBody>
          <a:bodyPr wrap="square" lIns="0" tIns="0" rIns="0" bIns="0" rtlCol="0" anchor="t"/>
          <a:lstStyle/>
          <a:p>
            <a:pPr indent="0" marL="0">
              <a:buNone/>
            </a:pPr>
            <a:r>
              <a:rPr lang="en-US" sz="2000" dirty="0">
                <a:solidFill>
                  <a:srgbClr val="D6EEFA"/>
                </a:solidFill>
              </a:rPr>
              <a:t>Instructor name  ·  Section</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INSTRUCTOR SLIDE · HOUSEKEEPING</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Breaking Camp</a:t>
            </a:r>
            <a:endParaRPr lang="en-US" sz="4000" dirty="0"/>
          </a:p>
        </p:txBody>
      </p:sp>
      <p:sp>
        <p:nvSpPr>
          <p:cNvPr id="4" name="Text 2"/>
          <p:cNvSpPr txBox="1"/>
          <p:nvPr/>
        </p:nvSpPr>
        <p:spPr>
          <a:xfrm>
            <a:off x="548640" y="1645920"/>
            <a:ext cx="10515600" cy="457200"/>
          </a:xfrm>
          <a:prstGeom prst="rect">
            <a:avLst/>
          </a:prstGeom>
          <a:noFill/>
          <a:ln/>
        </p:spPr>
        <p:txBody>
          <a:bodyPr wrap="square" lIns="0" tIns="0" rIns="0" bIns="0" rtlCol="0" anchor="t"/>
          <a:lstStyle/>
          <a:p>
            <a:pPr indent="0" marL="0">
              <a:buNone/>
            </a:pPr>
            <a:r>
              <a:rPr lang="en-US" sz="2400" i="1" dirty="0">
                <a:solidFill>
                  <a:schemeClr val="accent6"/>
                </a:solidFill>
              </a:rPr>
              <a:t>Pack up Module 4, then look ahead to Module 5.</a:t>
            </a:r>
            <a:endParaRPr lang="en-US" sz="2400" dirty="0"/>
          </a:p>
        </p:txBody>
      </p:sp>
      <p:sp>
        <p:nvSpPr>
          <p:cNvPr id="5" name="Decorative: announcements panel">
            <a:extLst>
              <a:ext uri="{C183D7F6-B498-43B3-948B-1728B52AA6E4}">
                <adec:decorative xmlns:adec="http://schemas.microsoft.com/office/drawing/2017/decorative" val="1"/>
              </a:ext>
            </a:extLst>
          </p:cNvPr>
          <p:cNvSpPr/>
          <p:nvPr/>
        </p:nvSpPr>
        <p:spPr>
          <a:xfrm>
            <a:off x="548640" y="2331720"/>
            <a:ext cx="6949440" cy="3749040"/>
          </a:xfrm>
          <a:prstGeom prst="roundRect">
            <a:avLst>
              <a:gd name="adj" fmla="val 2927"/>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6" name="Text 4"/>
          <p:cNvSpPr txBox="1"/>
          <p:nvPr/>
        </p:nvSpPr>
        <p:spPr>
          <a:xfrm>
            <a:off x="868680" y="2560320"/>
            <a:ext cx="6400800" cy="411480"/>
          </a:xfrm>
          <a:prstGeom prst="rect">
            <a:avLst/>
          </a:prstGeom>
          <a:noFill/>
          <a:ln/>
        </p:spPr>
        <p:txBody>
          <a:bodyPr wrap="square" lIns="0" tIns="0" rIns="0" bIns="0" rtlCol="0" anchor="t"/>
          <a:lstStyle/>
          <a:p>
            <a:pPr indent="0" marL="0">
              <a:buNone/>
            </a:pPr>
            <a:r>
              <a:rPr lang="en-US" sz="2800" b="1" dirty="0">
                <a:solidFill>
                  <a:schemeClr val="tx2"/>
                </a:solidFill>
              </a:rPr>
              <a:t>Announcements</a:t>
            </a:r>
            <a:endParaRPr lang="en-US" sz="2800" dirty="0"/>
          </a:p>
        </p:txBody>
      </p:sp>
      <p:sp>
        <p:nvSpPr>
          <p:cNvPr id="7" name="Announcements (edit me)"/>
          <p:cNvSpPr txBox="1"/>
          <p:nvPr/>
        </p:nvSpPr>
        <p:spPr>
          <a:xfrm>
            <a:off x="868680" y="3063240"/>
            <a:ext cx="6400800" cy="2743200"/>
          </a:xfrm>
          <a:prstGeom prst="rect">
            <a:avLst/>
          </a:prstGeom>
          <a:noFill/>
          <a:ln/>
        </p:spPr>
        <p:txBody>
          <a:bodyPr wrap="square" lIns="0" tIns="0" rIns="0" bIns="0" rtlCol="0" anchor="t"/>
          <a:lstStyle/>
          <a:p>
            <a:pPr indent="0" marL="0">
              <a:buNone/>
            </a:pPr>
            <a:r>
              <a:rPr lang="en-US" sz="2400" dirty="0">
                <a:solidFill>
                  <a:schemeClr val="accent6"/>
                </a:solidFill>
              </a:rPr>
              <a:t>Add this week's announcements here.</a:t>
            </a:r>
            <a:endParaRPr lang="en-US" sz="2400" dirty="0"/>
          </a:p>
          <a:p>
            <a:pPr indent="0" marL="0">
              <a:buNone/>
            </a:pPr>
            <a:r>
              <a:rPr lang="en-US" sz="2400" dirty="0">
                <a:solidFill>
                  <a:schemeClr val="accent6"/>
                </a:solidFill>
              </a:rPr>
              <a:t>Grades posted, office hours, campus dates.</a:t>
            </a:r>
            <a:endParaRPr lang="en-US" sz="2400" dirty="0"/>
          </a:p>
        </p:txBody>
      </p:sp>
      <p:sp>
        <p:nvSpPr>
          <p:cNvPr id="8" name="Decorative: looking ahead panel">
            <a:extLst>
              <a:ext uri="{C183D7F6-B498-43B3-948B-1728B52AA6E4}">
                <adec:decorative xmlns:adec="http://schemas.microsoft.com/office/drawing/2017/decorative" val="1"/>
              </a:ext>
            </a:extLst>
          </p:cNvPr>
          <p:cNvSpPr/>
          <p:nvPr/>
        </p:nvSpPr>
        <p:spPr>
          <a:xfrm>
            <a:off x="7818120" y="2331720"/>
            <a:ext cx="3824935" cy="3749040"/>
          </a:xfrm>
          <a:prstGeom prst="roundRect">
            <a:avLst>
              <a:gd name="adj" fmla="val 2927"/>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9" name="Decorative: icon circle">
            <a:extLst>
              <a:ext uri="{C183D7F6-B498-43B3-948B-1728B52AA6E4}">
                <adec:decorative xmlns:adec="http://schemas.microsoft.com/office/drawing/2017/decorative" val="1"/>
              </a:ext>
            </a:extLst>
          </p:cNvPr>
          <p:cNvSpPr/>
          <p:nvPr/>
        </p:nvSpPr>
        <p:spPr>
          <a:xfrm>
            <a:off x="8138160" y="2606040"/>
            <a:ext cx="731520" cy="731520"/>
          </a:xfrm>
          <a:prstGeom prst="ellipse">
            <a:avLst/>
          </a:prstGeom>
          <a:solidFill>
            <a:srgbClr val="E7A614"/>
          </a:solidFill>
          <a:ln w="12700">
            <a:solidFill>
              <a:srgbClr val="E7A614"/>
            </a:solidFill>
            <a:prstDash val="solid"/>
          </a:ln>
        </p:spPr>
      </p:sp>
      <p:pic>
        <p:nvPicPr>
          <p:cNvPr id="10" name="Decorative: LuCalendarCheck">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299094" y="2766974"/>
            <a:ext cx="409651" cy="409651"/>
          </a:xfrm>
          <a:prstGeom prst="rect">
            <a:avLst/>
          </a:prstGeom>
        </p:spPr>
      </p:pic>
      <p:sp>
        <p:nvSpPr>
          <p:cNvPr id="11" name="Text 8"/>
          <p:cNvSpPr txBox="1"/>
          <p:nvPr/>
        </p:nvSpPr>
        <p:spPr>
          <a:xfrm>
            <a:off x="8138160" y="3474720"/>
            <a:ext cx="3291840" cy="411480"/>
          </a:xfrm>
          <a:prstGeom prst="rect">
            <a:avLst/>
          </a:prstGeom>
          <a:noFill/>
          <a:ln/>
        </p:spPr>
        <p:txBody>
          <a:bodyPr wrap="square" lIns="0" tIns="0" rIns="0" bIns="0" rtlCol="0" anchor="t"/>
          <a:lstStyle/>
          <a:p>
            <a:pPr indent="0" marL="0">
              <a:buNone/>
            </a:pPr>
            <a:r>
              <a:rPr lang="en-US" sz="2800" b="1" dirty="0">
                <a:solidFill>
                  <a:schemeClr val="tx2"/>
                </a:solidFill>
              </a:rPr>
              <a:t>Looking ahead</a:t>
            </a:r>
            <a:endParaRPr lang="en-US" sz="2800" dirty="0"/>
          </a:p>
        </p:txBody>
      </p:sp>
      <p:sp>
        <p:nvSpPr>
          <p:cNvPr id="12" name="Text 9"/>
          <p:cNvSpPr txBox="1"/>
          <p:nvPr/>
        </p:nvSpPr>
        <p:spPr>
          <a:xfrm>
            <a:off x="8138160" y="3977640"/>
            <a:ext cx="3291840" cy="2011680"/>
          </a:xfrm>
          <a:prstGeom prst="rect">
            <a:avLst/>
          </a:prstGeom>
          <a:noFill/>
          <a:ln/>
        </p:spPr>
        <p:txBody>
          <a:bodyPr wrap="square" lIns="0" tIns="0" rIns="0" bIns="0" rtlCol="0" anchor="t"/>
          <a:lstStyle/>
          <a:p>
            <a:pPr indent="0" marL="0">
              <a:buNone/>
            </a:pPr>
            <a:r>
              <a:rPr lang="en-US" sz="2400" dirty="0">
                <a:solidFill>
                  <a:schemeClr val="tx1"/>
                </a:solidFill>
              </a:rPr>
              <a:t>Module 5 work is due Monday by 11:59 PM Central.</a:t>
            </a:r>
            <a:endParaRPr lang="en-US" sz="24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MODULE 5 · THIS WEEK</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Seeing your money clearly</a:t>
            </a:r>
            <a:endParaRPr lang="en-US" sz="4000" dirty="0"/>
          </a:p>
        </p:txBody>
      </p:sp>
      <p:sp>
        <p:nvSpPr>
          <p:cNvPr id="4" name="Decorative: icon circle">
            <a:extLst>
              <a:ext uri="{C183D7F6-B498-43B3-948B-1728B52AA6E4}">
                <adec:decorative xmlns:adec="http://schemas.microsoft.com/office/drawing/2017/decorative" val="1"/>
              </a:ext>
            </a:extLst>
          </p:cNvPr>
          <p:cNvSpPr/>
          <p:nvPr/>
        </p:nvSpPr>
        <p:spPr>
          <a:xfrm>
            <a:off x="548640" y="1965960"/>
            <a:ext cx="685800" cy="685800"/>
          </a:xfrm>
          <a:prstGeom prst="ellipse">
            <a:avLst/>
          </a:prstGeom>
          <a:solidFill>
            <a:srgbClr val="00467F"/>
          </a:solidFill>
          <a:ln w="12700">
            <a:solidFill>
              <a:srgbClr val="00467F"/>
            </a:solidFill>
            <a:prstDash val="solid"/>
          </a:ln>
        </p:spPr>
      </p:sp>
      <p:pic>
        <p:nvPicPr>
          <p:cNvPr id="5" name="Decorative: LuReceipt">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99516" y="2116836"/>
            <a:ext cx="384048" cy="384048"/>
          </a:xfrm>
          <a:prstGeom prst="rect">
            <a:avLst/>
          </a:prstGeom>
        </p:spPr>
      </p:pic>
      <p:sp>
        <p:nvSpPr>
          <p:cNvPr id="6" name="Text 3"/>
          <p:cNvSpPr txBox="1"/>
          <p:nvPr/>
        </p:nvSpPr>
        <p:spPr>
          <a:xfrm>
            <a:off x="1463040" y="2075688"/>
            <a:ext cx="6035040" cy="548640"/>
          </a:xfrm>
          <a:prstGeom prst="rect">
            <a:avLst/>
          </a:prstGeom>
          <a:noFill/>
          <a:ln/>
        </p:spPr>
        <p:txBody>
          <a:bodyPr wrap="square" lIns="0" tIns="0" rIns="0" bIns="0" rtlCol="0" anchor="ctr"/>
          <a:lstStyle/>
          <a:p>
            <a:pPr indent="0" marL="0">
              <a:buNone/>
            </a:pPr>
            <a:r>
              <a:rPr lang="en-US" sz="2400" dirty="0">
                <a:solidFill>
                  <a:schemeClr val="tx1"/>
                </a:solidFill>
              </a:rPr>
              <a:t>Track where it actually goes</a:t>
            </a:r>
            <a:endParaRPr lang="en-US" sz="2400" dirty="0"/>
          </a:p>
        </p:txBody>
      </p:sp>
      <p:sp>
        <p:nvSpPr>
          <p:cNvPr id="7" name="Decorative: icon circle">
            <a:extLst>
              <a:ext uri="{C183D7F6-B498-43B3-948B-1728B52AA6E4}">
                <adec:decorative xmlns:adec="http://schemas.microsoft.com/office/drawing/2017/decorative" val="1"/>
              </a:ext>
            </a:extLst>
          </p:cNvPr>
          <p:cNvSpPr/>
          <p:nvPr/>
        </p:nvSpPr>
        <p:spPr>
          <a:xfrm>
            <a:off x="548640" y="2926080"/>
            <a:ext cx="685800" cy="685800"/>
          </a:xfrm>
          <a:prstGeom prst="ellipse">
            <a:avLst/>
          </a:prstGeom>
          <a:solidFill>
            <a:srgbClr val="00467F"/>
          </a:solidFill>
          <a:ln w="12700">
            <a:solidFill>
              <a:srgbClr val="00467F"/>
            </a:solidFill>
            <a:prstDash val="solid"/>
          </a:ln>
        </p:spPr>
      </p:sp>
      <p:pic>
        <p:nvPicPr>
          <p:cNvPr id="8" name="Decorative: LuPiggyBank">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99516" y="3076956"/>
            <a:ext cx="384048" cy="384048"/>
          </a:xfrm>
          <a:prstGeom prst="rect">
            <a:avLst/>
          </a:prstGeom>
        </p:spPr>
      </p:pic>
      <p:sp>
        <p:nvSpPr>
          <p:cNvPr id="9" name="Text 5"/>
          <p:cNvSpPr txBox="1"/>
          <p:nvPr/>
        </p:nvSpPr>
        <p:spPr>
          <a:xfrm>
            <a:off x="1463040" y="3035808"/>
            <a:ext cx="6035040" cy="548640"/>
          </a:xfrm>
          <a:prstGeom prst="rect">
            <a:avLst/>
          </a:prstGeom>
          <a:noFill/>
          <a:ln/>
        </p:spPr>
        <p:txBody>
          <a:bodyPr wrap="square" lIns="0" tIns="0" rIns="0" bIns="0" rtlCol="0" anchor="ctr"/>
          <a:lstStyle/>
          <a:p>
            <a:pPr indent="0" marL="0">
              <a:buNone/>
            </a:pPr>
            <a:r>
              <a:rPr lang="en-US" sz="2400" dirty="0">
                <a:solidFill>
                  <a:schemeClr val="tx1"/>
                </a:solidFill>
              </a:rPr>
              <a:t>Give every dollar a job</a:t>
            </a:r>
            <a:endParaRPr lang="en-US" sz="2400" dirty="0"/>
          </a:p>
        </p:txBody>
      </p:sp>
      <p:sp>
        <p:nvSpPr>
          <p:cNvPr id="10" name="Decorative: icon circle">
            <a:extLst>
              <a:ext uri="{C183D7F6-B498-43B3-948B-1728B52AA6E4}">
                <adec:decorative xmlns:adec="http://schemas.microsoft.com/office/drawing/2017/decorative" val="1"/>
              </a:ext>
            </a:extLst>
          </p:cNvPr>
          <p:cNvSpPr/>
          <p:nvPr/>
        </p:nvSpPr>
        <p:spPr>
          <a:xfrm>
            <a:off x="548640" y="3886200"/>
            <a:ext cx="685800" cy="685800"/>
          </a:xfrm>
          <a:prstGeom prst="ellipse">
            <a:avLst/>
          </a:prstGeom>
          <a:solidFill>
            <a:srgbClr val="00467F"/>
          </a:solidFill>
          <a:ln w="12700">
            <a:solidFill>
              <a:srgbClr val="00467F"/>
            </a:solidFill>
            <a:prstDash val="solid"/>
          </a:ln>
        </p:spPr>
      </p:sp>
      <p:pic>
        <p:nvPicPr>
          <p:cNvPr id="11" name="Decorative: LuGraduationCap">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99516" y="4037076"/>
            <a:ext cx="384048" cy="384048"/>
          </a:xfrm>
          <a:prstGeom prst="rect">
            <a:avLst/>
          </a:prstGeom>
        </p:spPr>
      </p:pic>
      <p:sp>
        <p:nvSpPr>
          <p:cNvPr id="12" name="Text 7"/>
          <p:cNvSpPr txBox="1"/>
          <p:nvPr/>
        </p:nvSpPr>
        <p:spPr>
          <a:xfrm>
            <a:off x="1463040" y="3995928"/>
            <a:ext cx="6035040" cy="548640"/>
          </a:xfrm>
          <a:prstGeom prst="rect">
            <a:avLst/>
          </a:prstGeom>
          <a:noFill/>
          <a:ln/>
        </p:spPr>
        <p:txBody>
          <a:bodyPr wrap="square" lIns="0" tIns="0" rIns="0" bIns="0" rtlCol="0" anchor="ctr"/>
          <a:lstStyle/>
          <a:p>
            <a:pPr indent="0" marL="0">
              <a:buNone/>
            </a:pPr>
            <a:r>
              <a:rPr lang="en-US" sz="2400" dirty="0">
                <a:solidFill>
                  <a:schemeClr val="tx1"/>
                </a:solidFill>
              </a:rPr>
              <a:t>Keep your financial aid</a:t>
            </a:r>
            <a:endParaRPr lang="en-US" sz="2400" dirty="0"/>
          </a:p>
        </p:txBody>
      </p:sp>
      <p:sp>
        <p:nvSpPr>
          <p:cNvPr id="13" name="Decorative: icon circle">
            <a:extLst>
              <a:ext uri="{C183D7F6-B498-43B3-948B-1728B52AA6E4}">
                <adec:decorative xmlns:adec="http://schemas.microsoft.com/office/drawing/2017/decorative" val="1"/>
              </a:ext>
            </a:extLst>
          </p:cNvPr>
          <p:cNvSpPr/>
          <p:nvPr/>
        </p:nvSpPr>
        <p:spPr>
          <a:xfrm>
            <a:off x="548640" y="4846320"/>
            <a:ext cx="685800" cy="685800"/>
          </a:xfrm>
          <a:prstGeom prst="ellipse">
            <a:avLst/>
          </a:prstGeom>
          <a:solidFill>
            <a:srgbClr val="00467F"/>
          </a:solidFill>
          <a:ln w="12700">
            <a:solidFill>
              <a:srgbClr val="00467F"/>
            </a:solidFill>
            <a:prstDash val="solid"/>
          </a:ln>
        </p:spPr>
      </p:sp>
      <p:pic>
        <p:nvPicPr>
          <p:cNvPr id="14" name="Decorative: LuShieldCheck">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99516" y="4997196"/>
            <a:ext cx="384048" cy="384048"/>
          </a:xfrm>
          <a:prstGeom prst="rect">
            <a:avLst/>
          </a:prstGeom>
        </p:spPr>
      </p:pic>
      <p:sp>
        <p:nvSpPr>
          <p:cNvPr id="15" name="Text 9"/>
          <p:cNvSpPr txBox="1"/>
          <p:nvPr/>
        </p:nvSpPr>
        <p:spPr>
          <a:xfrm>
            <a:off x="1463040" y="4956048"/>
            <a:ext cx="6035040" cy="548640"/>
          </a:xfrm>
          <a:prstGeom prst="rect">
            <a:avLst/>
          </a:prstGeom>
          <a:noFill/>
          <a:ln/>
        </p:spPr>
        <p:txBody>
          <a:bodyPr wrap="square" lIns="0" tIns="0" rIns="0" bIns="0" rtlCol="0" anchor="ctr"/>
          <a:lstStyle/>
          <a:p>
            <a:pPr indent="0" marL="0">
              <a:buNone/>
            </a:pPr>
            <a:r>
              <a:rPr lang="en-US" sz="2400" dirty="0">
                <a:solidFill>
                  <a:schemeClr val="tx1"/>
                </a:solidFill>
              </a:rPr>
              <a:t>Keep your numbers private</a:t>
            </a:r>
            <a:endParaRPr lang="en-US" sz="2400" dirty="0"/>
          </a:p>
        </p:txBody>
      </p:sp>
      <p:sp>
        <p:nvSpPr>
          <p:cNvPr id="16" name="Decorative: skills panel">
            <a:extLst>
              <a:ext uri="{C183D7F6-B498-43B3-948B-1728B52AA6E4}">
                <adec:decorative xmlns:adec="http://schemas.microsoft.com/office/drawing/2017/decorative" val="1"/>
              </a:ext>
            </a:extLst>
          </p:cNvPr>
          <p:cNvSpPr/>
          <p:nvPr/>
        </p:nvSpPr>
        <p:spPr>
          <a:xfrm>
            <a:off x="7863840" y="1965960"/>
            <a:ext cx="3779215" cy="3840480"/>
          </a:xfrm>
          <a:prstGeom prst="roundRect">
            <a:avLst>
              <a:gd name="adj" fmla="val 2903"/>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17" name="Text 11"/>
          <p:cNvSpPr txBox="1"/>
          <p:nvPr/>
        </p:nvSpPr>
        <p:spPr>
          <a:xfrm>
            <a:off x="8183880" y="2194560"/>
            <a:ext cx="3291840" cy="411480"/>
          </a:xfrm>
          <a:prstGeom prst="rect">
            <a:avLst/>
          </a:prstGeom>
          <a:noFill/>
          <a:ln/>
        </p:spPr>
        <p:txBody>
          <a:bodyPr wrap="square" lIns="0" tIns="0" rIns="0" bIns="0" rtlCol="0" anchor="t"/>
          <a:lstStyle/>
          <a:p>
            <a:pPr indent="0" marL="0">
              <a:buNone/>
            </a:pPr>
            <a:r>
              <a:rPr lang="en-US" sz="2800" b="1" dirty="0">
                <a:solidFill>
                  <a:schemeClr val="tx2"/>
                </a:solidFill>
              </a:rPr>
              <a:t>Skills you'll build</a:t>
            </a:r>
            <a:endParaRPr lang="en-US" sz="2800" dirty="0"/>
          </a:p>
        </p:txBody>
      </p:sp>
      <p:pic>
        <p:nvPicPr>
          <p:cNvPr id="18" name="Decorative: skill coin">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183880" y="2788920"/>
            <a:ext cx="731520" cy="731520"/>
          </a:xfrm>
          <a:prstGeom prst="rect">
            <a:avLst/>
          </a:prstGeom>
        </p:spPr>
      </p:pic>
      <p:sp>
        <p:nvSpPr>
          <p:cNvPr id="19" name="Text 12"/>
          <p:cNvSpPr txBox="1"/>
          <p:nvPr/>
        </p:nvSpPr>
        <p:spPr>
          <a:xfrm>
            <a:off x="9098280" y="2743200"/>
            <a:ext cx="2514600" cy="822960"/>
          </a:xfrm>
          <a:prstGeom prst="rect">
            <a:avLst/>
          </a:prstGeom>
          <a:noFill/>
          <a:ln/>
        </p:spPr>
        <p:txBody>
          <a:bodyPr wrap="square" lIns="0" tIns="0" rIns="0" bIns="0" rtlCol="0" anchor="ctr"/>
          <a:lstStyle/>
          <a:p>
            <a:pPr indent="0" marL="0">
              <a:buNone/>
            </a:pPr>
            <a:r>
              <a:rPr lang="en-US" sz="2000" b="1" dirty="0">
                <a:solidFill>
                  <a:schemeClr val="accent4"/>
                </a:solidFill>
              </a:rPr>
              <a:t>#3 </a:t>
            </a:r>
            <a:pPr indent="0" marL="0">
              <a:buNone/>
            </a:pPr>
            <a:r>
              <a:rPr lang="en-US" sz="2000" dirty="0">
                <a:solidFill>
                  <a:schemeClr val="tx1"/>
                </a:solidFill>
              </a:rPr>
              <a:t>Quantitative Reasoning</a:t>
            </a:r>
            <a:endParaRPr lang="en-US" sz="2000" dirty="0"/>
          </a:p>
        </p:txBody>
      </p:sp>
      <p:pic>
        <p:nvPicPr>
          <p:cNvPr id="20" name="Decorative: skill coin">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8183880" y="3703320"/>
            <a:ext cx="731520" cy="731520"/>
          </a:xfrm>
          <a:prstGeom prst="rect">
            <a:avLst/>
          </a:prstGeom>
        </p:spPr>
      </p:pic>
      <p:sp>
        <p:nvSpPr>
          <p:cNvPr id="21" name="Text 13"/>
          <p:cNvSpPr txBox="1"/>
          <p:nvPr/>
        </p:nvSpPr>
        <p:spPr>
          <a:xfrm>
            <a:off x="9098280" y="3657600"/>
            <a:ext cx="2514600" cy="822960"/>
          </a:xfrm>
          <a:prstGeom prst="rect">
            <a:avLst/>
          </a:prstGeom>
          <a:noFill/>
          <a:ln/>
        </p:spPr>
        <p:txBody>
          <a:bodyPr wrap="square" lIns="0" tIns="0" rIns="0" bIns="0" rtlCol="0" anchor="ctr"/>
          <a:lstStyle/>
          <a:p>
            <a:pPr indent="0" marL="0">
              <a:buNone/>
            </a:pPr>
            <a:r>
              <a:rPr lang="en-US" sz="2000" b="1" dirty="0">
                <a:solidFill>
                  <a:schemeClr val="accent4"/>
                </a:solidFill>
              </a:rPr>
              <a:t>#6 </a:t>
            </a:r>
            <a:pPr indent="0" marL="0">
              <a:buNone/>
            </a:pPr>
            <a:r>
              <a:rPr lang="en-US" sz="2000" dirty="0">
                <a:solidFill>
                  <a:schemeClr val="tx1"/>
                </a:solidFill>
              </a:rPr>
              <a:t>Professionalism</a:t>
            </a:r>
            <a:endParaRPr lang="en-US" sz="20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LESSON 5.1 · SKILL SPOTLIGHT</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Quantitative Reasoning</a:t>
            </a:r>
            <a:endParaRPr lang="en-US" sz="4000" dirty="0"/>
          </a:p>
        </p:txBody>
      </p:sp>
      <p:pic>
        <p:nvPicPr>
          <p:cNvPr id="4" name="Decorative: skill coin">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548640" y="1920240"/>
            <a:ext cx="1188720" cy="1188720"/>
          </a:xfrm>
          <a:prstGeom prst="rect">
            <a:avLst/>
          </a:prstGeom>
        </p:spPr>
      </p:pic>
      <p:sp>
        <p:nvSpPr>
          <p:cNvPr id="5" name="Text 2"/>
          <p:cNvSpPr txBox="1"/>
          <p:nvPr/>
        </p:nvSpPr>
        <p:spPr>
          <a:xfrm>
            <a:off x="2011680" y="1965960"/>
            <a:ext cx="9601200" cy="1097280"/>
          </a:xfrm>
          <a:prstGeom prst="rect">
            <a:avLst/>
          </a:prstGeom>
          <a:noFill/>
          <a:ln/>
        </p:spPr>
        <p:txBody>
          <a:bodyPr wrap="square" lIns="0" tIns="0" rIns="0" bIns="0" rtlCol="0" anchor="ctr"/>
          <a:lstStyle/>
          <a:p>
            <a:pPr indent="0" marL="0">
              <a:buNone/>
            </a:pPr>
            <a:r>
              <a:rPr lang="en-US" sz="2600" dirty="0">
                <a:solidFill>
                  <a:schemeClr val="tx1"/>
                </a:solidFill>
              </a:rPr>
              <a:t>Thinking clearly with numbers, which you already do every day.</a:t>
            </a:r>
            <a:endParaRPr lang="en-US" sz="2600" dirty="0"/>
          </a:p>
        </p:txBody>
      </p:sp>
      <p:sp>
        <p:nvSpPr>
          <p:cNvPr id="6" name="Decorative: benchmark card">
            <a:extLst>
              <a:ext uri="{C183D7F6-B498-43B3-948B-1728B52AA6E4}">
                <adec:decorative xmlns:adec="http://schemas.microsoft.com/office/drawing/2017/decorative" val="1"/>
              </a:ext>
            </a:extLst>
          </p:cNvPr>
          <p:cNvSpPr/>
          <p:nvPr/>
        </p:nvSpPr>
        <p:spPr>
          <a:xfrm>
            <a:off x="548640" y="3429000"/>
            <a:ext cx="5090008" cy="2514600"/>
          </a:xfrm>
          <a:prstGeom prst="roundRect">
            <a:avLst>
              <a:gd name="adj" fmla="val 4364"/>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7" name="Text 4"/>
          <p:cNvSpPr txBox="1"/>
          <p:nvPr/>
        </p:nvSpPr>
        <p:spPr>
          <a:xfrm>
            <a:off x="868680" y="3703320"/>
            <a:ext cx="4449928" cy="2057400"/>
          </a:xfrm>
          <a:prstGeom prst="rect">
            <a:avLst/>
          </a:prstGeom>
          <a:noFill/>
          <a:ln/>
        </p:spPr>
        <p:txBody>
          <a:bodyPr wrap="square" lIns="0" tIns="0" rIns="0" bIns="0" rtlCol="0" anchor="t"/>
          <a:lstStyle/>
          <a:p>
            <a:pPr indent="0" marL="0">
              <a:buNone/>
            </a:pPr>
            <a:r>
              <a:rPr lang="en-US" sz="2000" b="1" spc="200" kern="0" dirty="0">
                <a:solidFill>
                  <a:schemeClr val="accent4"/>
                </a:solidFill>
              </a:rPr>
              <a:t>WHERE YOU START</a:t>
            </a:r>
            <a:endParaRPr lang="en-US" sz="2400" dirty="0"/>
          </a:p>
          <a:p>
            <a:pPr indent="0" marL="0">
              <a:buNone/>
            </a:pPr>
            <a:r>
              <a:rPr lang="en-US" sz="2400" dirty="0">
                <a:solidFill>
                  <a:schemeClr val="tx1"/>
                </a:solidFill>
              </a:rPr>
              <a:t>You can read a table, figure a percentage, and tell when numbers matter.</a:t>
            </a:r>
            <a:endParaRPr lang="en-US" sz="2400" dirty="0"/>
          </a:p>
        </p:txBody>
      </p:sp>
      <p:pic>
        <p:nvPicPr>
          <p:cNvPr id="8" name="Decorative: arrow">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5821528" y="4411980"/>
            <a:ext cx="548640" cy="548640"/>
          </a:xfrm>
          <a:prstGeom prst="rect">
            <a:avLst/>
          </a:prstGeom>
        </p:spPr>
      </p:pic>
      <p:sp>
        <p:nvSpPr>
          <p:cNvPr id="9" name="Decorative: milestone card">
            <a:extLst>
              <a:ext uri="{C183D7F6-B498-43B3-948B-1728B52AA6E4}">
                <adec:decorative xmlns:adec="http://schemas.microsoft.com/office/drawing/2017/decorative" val="1"/>
              </a:ext>
            </a:extLst>
          </p:cNvPr>
          <p:cNvSpPr/>
          <p:nvPr/>
        </p:nvSpPr>
        <p:spPr>
          <a:xfrm>
            <a:off x="6553048" y="3429000"/>
            <a:ext cx="5090008" cy="2514600"/>
          </a:xfrm>
          <a:prstGeom prst="roundRect">
            <a:avLst>
              <a:gd name="adj" fmla="val 4364"/>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10" name="Text 6"/>
          <p:cNvSpPr txBox="1"/>
          <p:nvPr/>
        </p:nvSpPr>
        <p:spPr>
          <a:xfrm>
            <a:off x="6873088" y="3703320"/>
            <a:ext cx="4449928" cy="2057400"/>
          </a:xfrm>
          <a:prstGeom prst="rect">
            <a:avLst/>
          </a:prstGeom>
          <a:noFill/>
          <a:ln/>
        </p:spPr>
        <p:txBody>
          <a:bodyPr wrap="square" lIns="0" tIns="0" rIns="0" bIns="0" rtlCol="0" anchor="t"/>
          <a:lstStyle/>
          <a:p>
            <a:pPr indent="0" marL="0">
              <a:buNone/>
            </a:pPr>
            <a:r>
              <a:rPr lang="en-US" sz="2000" b="1" spc="200" kern="0" dirty="0">
                <a:solidFill>
                  <a:srgbClr val="7A5500"/>
                </a:solidFill>
              </a:rPr>
              <a:t>WHERE YOU'RE HEADED</a:t>
            </a:r>
            <a:endParaRPr lang="en-US" sz="2400" dirty="0"/>
          </a:p>
          <a:p>
            <a:pPr indent="0" marL="0">
              <a:buNone/>
            </a:pPr>
            <a:r>
              <a:rPr lang="en-US" sz="2400" dirty="0">
                <a:solidFill>
                  <a:schemeClr val="tx1"/>
                </a:solidFill>
              </a:rPr>
              <a:t>You use numbers to reason through real decisions, not just to calculate.</a:t>
            </a:r>
            <a:endParaRPr lang="en-US" sz="24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TRAIL TOOLS</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Look back, then look ahead</a:t>
            </a:r>
            <a:endParaRPr lang="en-US" sz="4000" dirty="0"/>
          </a:p>
        </p:txBody>
      </p:sp>
      <p:sp>
        <p:nvSpPr>
          <p:cNvPr id="4" name="Decorative: card">
            <a:extLst>
              <a:ext uri="{C183D7F6-B498-43B3-948B-1728B52AA6E4}">
                <adec:decorative xmlns:adec="http://schemas.microsoft.com/office/drawing/2017/decorative" val="1"/>
              </a:ext>
            </a:extLst>
          </p:cNvPr>
          <p:cNvSpPr/>
          <p:nvPr/>
        </p:nvSpPr>
        <p:spPr>
          <a:xfrm>
            <a:off x="548640" y="1874520"/>
            <a:ext cx="5364328" cy="2788920"/>
          </a:xfrm>
          <a:prstGeom prst="roundRect">
            <a:avLst>
              <a:gd name="adj" fmla="val 3934"/>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5" name="Decorative: icon circle">
            <a:extLst>
              <a:ext uri="{C183D7F6-B498-43B3-948B-1728B52AA6E4}">
                <adec:decorative xmlns:adec="http://schemas.microsoft.com/office/drawing/2017/decorative" val="1"/>
              </a:ext>
            </a:extLst>
          </p:cNvPr>
          <p:cNvSpPr/>
          <p:nvPr/>
        </p:nvSpPr>
        <p:spPr>
          <a:xfrm>
            <a:off x="868680" y="2194560"/>
            <a:ext cx="731520" cy="731520"/>
          </a:xfrm>
          <a:prstGeom prst="ellipse">
            <a:avLst/>
          </a:prstGeom>
          <a:solidFill>
            <a:srgbClr val="00467F"/>
          </a:solidFill>
          <a:ln w="12700">
            <a:solidFill>
              <a:srgbClr val="00467F"/>
            </a:solidFill>
            <a:prstDash val="solid"/>
          </a:ln>
        </p:spPr>
      </p:sp>
      <p:pic>
        <p:nvPicPr>
          <p:cNvPr id="6" name="Decorative: LuReceipt">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1029614" y="2355494"/>
            <a:ext cx="409651" cy="409651"/>
          </a:xfrm>
          <a:prstGeom prst="rect">
            <a:avLst/>
          </a:prstGeom>
        </p:spPr>
      </p:pic>
      <p:sp>
        <p:nvSpPr>
          <p:cNvPr id="7" name="Text 4"/>
          <p:cNvSpPr txBox="1"/>
          <p:nvPr/>
        </p:nvSpPr>
        <p:spPr>
          <a:xfrm>
            <a:off x="1783080" y="2221992"/>
            <a:ext cx="3809848" cy="685800"/>
          </a:xfrm>
          <a:prstGeom prst="rect">
            <a:avLst/>
          </a:prstGeom>
          <a:noFill/>
          <a:ln/>
        </p:spPr>
        <p:txBody>
          <a:bodyPr wrap="square" lIns="0" tIns="0" rIns="0" bIns="0" rtlCol="0" anchor="ctr"/>
          <a:lstStyle/>
          <a:p>
            <a:pPr indent="0" marL="0">
              <a:buNone/>
            </a:pPr>
            <a:r>
              <a:rPr lang="en-US" sz="2800" b="1" dirty="0">
                <a:solidFill>
                  <a:schemeClr val="tx2"/>
                </a:solidFill>
              </a:rPr>
              <a:t>Dollar Tracker</a:t>
            </a:r>
            <a:endParaRPr lang="en-US" sz="2800" dirty="0"/>
          </a:p>
        </p:txBody>
      </p:sp>
      <p:sp>
        <p:nvSpPr>
          <p:cNvPr id="8" name="Text 5"/>
          <p:cNvSpPr txBox="1"/>
          <p:nvPr/>
        </p:nvSpPr>
        <p:spPr>
          <a:xfrm>
            <a:off x="868680" y="3154680"/>
            <a:ext cx="4724248" cy="1325880"/>
          </a:xfrm>
          <a:prstGeom prst="rect">
            <a:avLst/>
          </a:prstGeom>
          <a:noFill/>
          <a:ln/>
        </p:spPr>
        <p:txBody>
          <a:bodyPr wrap="square" lIns="0" tIns="0" rIns="0" bIns="0" rtlCol="0" anchor="t"/>
          <a:lstStyle/>
          <a:p>
            <a:pPr indent="0" marL="0">
              <a:buNone/>
            </a:pPr>
            <a:r>
              <a:rPr lang="en-US" sz="2400" dirty="0">
                <a:solidFill>
                  <a:schemeClr val="tx1"/>
                </a:solidFill>
              </a:rPr>
              <a:t>Look back. Where did your money actually go in the last week or two?</a:t>
            </a:r>
            <a:endParaRPr lang="en-US" sz="2400" dirty="0"/>
          </a:p>
        </p:txBody>
      </p:sp>
      <p:sp>
        <p:nvSpPr>
          <p:cNvPr id="9" name="Decorative: card">
            <a:extLst>
              <a:ext uri="{C183D7F6-B498-43B3-948B-1728B52AA6E4}">
                <adec:decorative xmlns:adec="http://schemas.microsoft.com/office/drawing/2017/decorative" val="1"/>
              </a:ext>
            </a:extLst>
          </p:cNvPr>
          <p:cNvSpPr/>
          <p:nvPr/>
        </p:nvSpPr>
        <p:spPr>
          <a:xfrm>
            <a:off x="6278728" y="1874520"/>
            <a:ext cx="5364328" cy="2788920"/>
          </a:xfrm>
          <a:prstGeom prst="roundRect">
            <a:avLst>
              <a:gd name="adj" fmla="val 3934"/>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10" name="Decorative: icon circle">
            <a:extLst>
              <a:ext uri="{C183D7F6-B498-43B3-948B-1728B52AA6E4}">
                <adec:decorative xmlns:adec="http://schemas.microsoft.com/office/drawing/2017/decorative" val="1"/>
              </a:ext>
            </a:extLst>
          </p:cNvPr>
          <p:cNvSpPr/>
          <p:nvPr/>
        </p:nvSpPr>
        <p:spPr>
          <a:xfrm>
            <a:off x="6598768" y="2194560"/>
            <a:ext cx="731520" cy="731520"/>
          </a:xfrm>
          <a:prstGeom prst="ellipse">
            <a:avLst/>
          </a:prstGeom>
          <a:solidFill>
            <a:srgbClr val="E7A614"/>
          </a:solidFill>
          <a:ln w="12700">
            <a:solidFill>
              <a:srgbClr val="E7A614"/>
            </a:solidFill>
            <a:prstDash val="solid"/>
          </a:ln>
        </p:spPr>
      </p:sp>
      <p:pic>
        <p:nvPicPr>
          <p:cNvPr id="11" name="Decorative: LuPiggyBank">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759702" y="2355494"/>
            <a:ext cx="409651" cy="409651"/>
          </a:xfrm>
          <a:prstGeom prst="rect">
            <a:avLst/>
          </a:prstGeom>
        </p:spPr>
      </p:pic>
      <p:sp>
        <p:nvSpPr>
          <p:cNvPr id="12" name="Text 8"/>
          <p:cNvSpPr txBox="1"/>
          <p:nvPr/>
        </p:nvSpPr>
        <p:spPr>
          <a:xfrm>
            <a:off x="7513168" y="2221992"/>
            <a:ext cx="3809848" cy="685800"/>
          </a:xfrm>
          <a:prstGeom prst="rect">
            <a:avLst/>
          </a:prstGeom>
          <a:noFill/>
          <a:ln/>
        </p:spPr>
        <p:txBody>
          <a:bodyPr wrap="square" lIns="0" tIns="0" rIns="0" bIns="0" rtlCol="0" anchor="ctr"/>
          <a:lstStyle/>
          <a:p>
            <a:pPr indent="0" marL="0">
              <a:buNone/>
            </a:pPr>
            <a:r>
              <a:rPr lang="en-US" sz="2800" b="1" dirty="0">
                <a:solidFill>
                  <a:schemeClr val="tx2"/>
                </a:solidFill>
              </a:rPr>
              <a:t>Budget Builder</a:t>
            </a:r>
            <a:endParaRPr lang="en-US" sz="2800" dirty="0"/>
          </a:p>
        </p:txBody>
      </p:sp>
      <p:sp>
        <p:nvSpPr>
          <p:cNvPr id="13" name="Text 9"/>
          <p:cNvSpPr txBox="1"/>
          <p:nvPr/>
        </p:nvSpPr>
        <p:spPr>
          <a:xfrm>
            <a:off x="6598768" y="3154680"/>
            <a:ext cx="4724248" cy="1325880"/>
          </a:xfrm>
          <a:prstGeom prst="rect">
            <a:avLst/>
          </a:prstGeom>
          <a:noFill/>
          <a:ln/>
        </p:spPr>
        <p:txBody>
          <a:bodyPr wrap="square" lIns="0" tIns="0" rIns="0" bIns="0" rtlCol="0" anchor="t"/>
          <a:lstStyle/>
          <a:p>
            <a:pPr indent="0" marL="0">
              <a:buNone/>
            </a:pPr>
            <a:r>
              <a:rPr lang="en-US" sz="2400" dirty="0">
                <a:solidFill>
                  <a:schemeClr val="tx1"/>
                </a:solidFill>
              </a:rPr>
              <a:t>Look ahead. Give every dollar coming in a job, until nothing is left without a plan.</a:t>
            </a:r>
            <a:endParaRPr lang="en-US" sz="2400" dirty="0"/>
          </a:p>
        </p:txBody>
      </p:sp>
      <p:sp>
        <p:nvSpPr>
          <p:cNvPr id="14" name="Decorative: callout">
            <a:extLst>
              <a:ext uri="{C183D7F6-B498-43B3-948B-1728B52AA6E4}">
                <adec:decorative xmlns:adec="http://schemas.microsoft.com/office/drawing/2017/decorative" val="1"/>
              </a:ext>
            </a:extLst>
          </p:cNvPr>
          <p:cNvSpPr/>
          <p:nvPr/>
        </p:nvSpPr>
        <p:spPr>
          <a:xfrm>
            <a:off x="548640" y="5074920"/>
            <a:ext cx="11094415" cy="822960"/>
          </a:xfrm>
          <a:prstGeom prst="roundRect">
            <a:avLst>
              <a:gd name="adj" fmla="val 13333"/>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15" name="Text 11"/>
          <p:cNvSpPr txBox="1"/>
          <p:nvPr/>
        </p:nvSpPr>
        <p:spPr>
          <a:xfrm>
            <a:off x="868680" y="5184648"/>
            <a:ext cx="10454335" cy="603504"/>
          </a:xfrm>
          <a:prstGeom prst="rect">
            <a:avLst/>
          </a:prstGeom>
          <a:noFill/>
          <a:ln/>
        </p:spPr>
        <p:txBody>
          <a:bodyPr wrap="square" lIns="0" tIns="0" rIns="0" bIns="0" rtlCol="0" anchor="ctr"/>
          <a:lstStyle/>
          <a:p>
            <a:pPr indent="0" marL="0">
              <a:buNone/>
            </a:pPr>
            <a:r>
              <a:rPr lang="en-US" sz="2400" b="1" dirty="0">
                <a:solidFill>
                  <a:schemeClr val="tx2"/>
                </a:solidFill>
              </a:rPr>
              <a:t>You don't need to share any dollar amounts with your instructor.</a:t>
            </a:r>
            <a:endParaRPr lang="en-US" sz="24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LESSON 5.2</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Financial wellness is a direction</a:t>
            </a:r>
            <a:endParaRPr lang="en-US" sz="4000" dirty="0"/>
          </a:p>
        </p:txBody>
      </p:sp>
      <p:sp>
        <p:nvSpPr>
          <p:cNvPr id="4" name="Decorative: card">
            <a:extLst>
              <a:ext uri="{C183D7F6-B498-43B3-948B-1728B52AA6E4}">
                <adec:decorative xmlns:adec="http://schemas.microsoft.com/office/drawing/2017/decorative" val="1"/>
              </a:ext>
            </a:extLst>
          </p:cNvPr>
          <p:cNvSpPr/>
          <p:nvPr/>
        </p:nvSpPr>
        <p:spPr>
          <a:xfrm>
            <a:off x="548640" y="1874520"/>
            <a:ext cx="5364328" cy="2788920"/>
          </a:xfrm>
          <a:prstGeom prst="roundRect">
            <a:avLst>
              <a:gd name="adj" fmla="val 3934"/>
            </a:avLst>
          </a:prstGeom>
          <a:solidFill>
            <a:srgbClr val="E6F4EA"/>
          </a:solidFill>
          <a:ln w="12700">
            <a:solidFill>
              <a:srgbClr val="E6F4EA"/>
            </a:solidFill>
            <a:prstDash val="solid"/>
          </a:ln>
          <a:effectLst>
            <a:outerShdw sx="100000" sy="100000" kx="0" ky="0" algn="bl" rotWithShape="0" blurRad="101600" dist="25400" dir="5400000">
              <a:srgbClr val="000000">
                <a:alpha val="12000"/>
              </a:srgbClr>
            </a:outerShdw>
          </a:effectLst>
        </p:spPr>
      </p:sp>
      <p:sp>
        <p:nvSpPr>
          <p:cNvPr id="5" name="Decorative: icon circle">
            <a:extLst>
              <a:ext uri="{C183D7F6-B498-43B3-948B-1728B52AA6E4}">
                <adec:decorative xmlns:adec="http://schemas.microsoft.com/office/drawing/2017/decorative" val="1"/>
              </a:ext>
            </a:extLst>
          </p:cNvPr>
          <p:cNvSpPr/>
          <p:nvPr/>
        </p:nvSpPr>
        <p:spPr>
          <a:xfrm>
            <a:off x="868680" y="2194560"/>
            <a:ext cx="731520" cy="731520"/>
          </a:xfrm>
          <a:prstGeom prst="ellipse">
            <a:avLst/>
          </a:prstGeom>
          <a:solidFill>
            <a:srgbClr val="1E7B34"/>
          </a:solidFill>
          <a:ln w="12700">
            <a:solidFill>
              <a:srgbClr val="1E7B34"/>
            </a:solidFill>
            <a:prstDash val="solid"/>
          </a:ln>
        </p:spPr>
      </p:sp>
      <p:pic>
        <p:nvPicPr>
          <p:cNvPr id="6" name="Decorative: LuCheck">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1029614" y="2355494"/>
            <a:ext cx="409651" cy="409651"/>
          </a:xfrm>
          <a:prstGeom prst="rect">
            <a:avLst/>
          </a:prstGeom>
        </p:spPr>
      </p:pic>
      <p:sp>
        <p:nvSpPr>
          <p:cNvPr id="7" name="Text 4"/>
          <p:cNvSpPr txBox="1"/>
          <p:nvPr/>
        </p:nvSpPr>
        <p:spPr>
          <a:xfrm>
            <a:off x="1783080" y="2221992"/>
            <a:ext cx="3809848" cy="685800"/>
          </a:xfrm>
          <a:prstGeom prst="rect">
            <a:avLst/>
          </a:prstGeom>
          <a:noFill/>
          <a:ln/>
        </p:spPr>
        <p:txBody>
          <a:bodyPr wrap="square" lIns="0" tIns="0" rIns="0" bIns="0" rtlCol="0" anchor="ctr"/>
          <a:lstStyle/>
          <a:p>
            <a:pPr indent="0" marL="0">
              <a:buNone/>
            </a:pPr>
            <a:r>
              <a:rPr lang="en-US" sz="2800" b="1" dirty="0">
                <a:solidFill>
                  <a:schemeClr val="tx2"/>
                </a:solidFill>
              </a:rPr>
              <a:t>It is</a:t>
            </a:r>
            <a:endParaRPr lang="en-US" sz="2800" dirty="0"/>
          </a:p>
        </p:txBody>
      </p:sp>
      <p:sp>
        <p:nvSpPr>
          <p:cNvPr id="8" name="Text 5"/>
          <p:cNvSpPr txBox="1"/>
          <p:nvPr/>
        </p:nvSpPr>
        <p:spPr>
          <a:xfrm>
            <a:off x="868680" y="3154680"/>
            <a:ext cx="4724248" cy="1325880"/>
          </a:xfrm>
          <a:prstGeom prst="rect">
            <a:avLst/>
          </a:prstGeom>
          <a:noFill/>
          <a:ln/>
        </p:spPr>
        <p:txBody>
          <a:bodyPr wrap="square" lIns="0" tIns="0" rIns="0" bIns="0" rtlCol="0" anchor="t"/>
          <a:lstStyle/>
          <a:p>
            <a:pPr indent="0" marL="0">
              <a:buNone/>
            </a:pPr>
            <a:r>
              <a:rPr lang="en-US" sz="2400" dirty="0">
                <a:solidFill>
                  <a:schemeClr val="tx1"/>
                </a:solidFill>
              </a:rPr>
              <a:t>Knowing roughly where your money goes. Handling a small surprise without a crisis.</a:t>
            </a:r>
            <a:endParaRPr lang="en-US" sz="2400" dirty="0"/>
          </a:p>
        </p:txBody>
      </p:sp>
      <p:sp>
        <p:nvSpPr>
          <p:cNvPr id="9" name="Decorative: card">
            <a:extLst>
              <a:ext uri="{C183D7F6-B498-43B3-948B-1728B52AA6E4}">
                <adec:decorative xmlns:adec="http://schemas.microsoft.com/office/drawing/2017/decorative" val="1"/>
              </a:ext>
            </a:extLst>
          </p:cNvPr>
          <p:cNvSpPr/>
          <p:nvPr/>
        </p:nvSpPr>
        <p:spPr>
          <a:xfrm>
            <a:off x="6278728" y="1874520"/>
            <a:ext cx="5364328" cy="2788920"/>
          </a:xfrm>
          <a:prstGeom prst="roundRect">
            <a:avLst>
              <a:gd name="adj" fmla="val 3934"/>
            </a:avLst>
          </a:prstGeom>
          <a:solidFill>
            <a:srgbClr val="FDECEA"/>
          </a:solidFill>
          <a:ln w="12700">
            <a:solidFill>
              <a:srgbClr val="FDECEA"/>
            </a:solidFill>
            <a:prstDash val="solid"/>
          </a:ln>
          <a:effectLst>
            <a:outerShdw sx="100000" sy="100000" kx="0" ky="0" algn="bl" rotWithShape="0" blurRad="101600" dist="25400" dir="5400000">
              <a:srgbClr val="000000">
                <a:alpha val="12000"/>
              </a:srgbClr>
            </a:outerShdw>
          </a:effectLst>
        </p:spPr>
      </p:sp>
      <p:sp>
        <p:nvSpPr>
          <p:cNvPr id="10" name="Decorative: icon circle">
            <a:extLst>
              <a:ext uri="{C183D7F6-B498-43B3-948B-1728B52AA6E4}">
                <adec:decorative xmlns:adec="http://schemas.microsoft.com/office/drawing/2017/decorative" val="1"/>
              </a:ext>
            </a:extLst>
          </p:cNvPr>
          <p:cNvSpPr/>
          <p:nvPr/>
        </p:nvSpPr>
        <p:spPr>
          <a:xfrm>
            <a:off x="6598768" y="2194560"/>
            <a:ext cx="731520" cy="731520"/>
          </a:xfrm>
          <a:prstGeom prst="ellipse">
            <a:avLst/>
          </a:prstGeom>
          <a:solidFill>
            <a:srgbClr val="C0392B"/>
          </a:solidFill>
          <a:ln w="12700">
            <a:solidFill>
              <a:srgbClr val="C0392B"/>
            </a:solidFill>
            <a:prstDash val="solid"/>
          </a:ln>
        </p:spPr>
      </p:sp>
      <p:pic>
        <p:nvPicPr>
          <p:cNvPr id="11" name="Decorative: LuX">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759702" y="2355494"/>
            <a:ext cx="409651" cy="409651"/>
          </a:xfrm>
          <a:prstGeom prst="rect">
            <a:avLst/>
          </a:prstGeom>
        </p:spPr>
      </p:pic>
      <p:sp>
        <p:nvSpPr>
          <p:cNvPr id="12" name="Text 8"/>
          <p:cNvSpPr txBox="1"/>
          <p:nvPr/>
        </p:nvSpPr>
        <p:spPr>
          <a:xfrm>
            <a:off x="7513168" y="2221992"/>
            <a:ext cx="3809848" cy="685800"/>
          </a:xfrm>
          <a:prstGeom prst="rect">
            <a:avLst/>
          </a:prstGeom>
          <a:noFill/>
          <a:ln/>
        </p:spPr>
        <p:txBody>
          <a:bodyPr wrap="square" lIns="0" tIns="0" rIns="0" bIns="0" rtlCol="0" anchor="ctr"/>
          <a:lstStyle/>
          <a:p>
            <a:pPr indent="0" marL="0">
              <a:buNone/>
            </a:pPr>
            <a:r>
              <a:rPr lang="en-US" sz="2800" b="1" dirty="0">
                <a:solidFill>
                  <a:schemeClr val="tx2"/>
                </a:solidFill>
              </a:rPr>
              <a:t>It isn't</a:t>
            </a:r>
            <a:endParaRPr lang="en-US" sz="2800" dirty="0"/>
          </a:p>
        </p:txBody>
      </p:sp>
      <p:sp>
        <p:nvSpPr>
          <p:cNvPr id="13" name="Text 9"/>
          <p:cNvSpPr txBox="1"/>
          <p:nvPr/>
        </p:nvSpPr>
        <p:spPr>
          <a:xfrm>
            <a:off x="6598768" y="3154680"/>
            <a:ext cx="4724248" cy="1325880"/>
          </a:xfrm>
          <a:prstGeom prst="rect">
            <a:avLst/>
          </a:prstGeom>
          <a:noFill/>
          <a:ln/>
        </p:spPr>
        <p:txBody>
          <a:bodyPr wrap="square" lIns="0" tIns="0" rIns="0" bIns="0" rtlCol="0" anchor="t"/>
          <a:lstStyle/>
          <a:p>
            <a:pPr indent="0" marL="0">
              <a:buNone/>
            </a:pPr>
            <a:r>
              <a:rPr lang="en-US" sz="2400" dirty="0">
                <a:solidFill>
                  <a:schemeClr val="tx1"/>
                </a:solidFill>
              </a:rPr>
              <a:t>Having a lot of money. Never struggling. A perfect budget every month.</a:t>
            </a:r>
            <a:endParaRPr lang="en-US" sz="2400" dirty="0"/>
          </a:p>
        </p:txBody>
      </p:sp>
      <p:sp>
        <p:nvSpPr>
          <p:cNvPr id="14" name="Decorative: callout">
            <a:extLst>
              <a:ext uri="{C183D7F6-B498-43B3-948B-1728B52AA6E4}">
                <adec:decorative xmlns:adec="http://schemas.microsoft.com/office/drawing/2017/decorative" val="1"/>
              </a:ext>
            </a:extLst>
          </p:cNvPr>
          <p:cNvSpPr/>
          <p:nvPr/>
        </p:nvSpPr>
        <p:spPr>
          <a:xfrm>
            <a:off x="548640" y="5074920"/>
            <a:ext cx="11094415" cy="822960"/>
          </a:xfrm>
          <a:prstGeom prst="roundRect">
            <a:avLst>
              <a:gd name="adj" fmla="val 13333"/>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15" name="Text 11"/>
          <p:cNvSpPr txBox="1"/>
          <p:nvPr/>
        </p:nvSpPr>
        <p:spPr>
          <a:xfrm>
            <a:off x="868680" y="5184648"/>
            <a:ext cx="10454335" cy="603504"/>
          </a:xfrm>
          <a:prstGeom prst="rect">
            <a:avLst/>
          </a:prstGeom>
          <a:noFill/>
          <a:ln/>
        </p:spPr>
        <p:txBody>
          <a:bodyPr wrap="square" lIns="0" tIns="0" rIns="0" bIns="0" rtlCol="0" anchor="ctr"/>
          <a:lstStyle/>
          <a:p>
            <a:pPr indent="0" marL="0">
              <a:buNone/>
            </a:pPr>
            <a:r>
              <a:rPr lang="en-US" sz="2400" b="1" dirty="0">
                <a:solidFill>
                  <a:schemeClr val="tx2"/>
                </a:solidFill>
              </a:rPr>
              <a:t>Money stress is real mental load. If it's getting in the way of school, reach out.</a:t>
            </a:r>
            <a:endParaRPr lang="en-US" sz="24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LESSON 5.3</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Find your money leaks</a:t>
            </a:r>
            <a:endParaRPr lang="en-US" sz="4000" dirty="0"/>
          </a:p>
        </p:txBody>
      </p:sp>
      <p:sp>
        <p:nvSpPr>
          <p:cNvPr id="4" name="Decorative: card">
            <a:extLst>
              <a:ext uri="{C183D7F6-B498-43B3-948B-1728B52AA6E4}">
                <adec:decorative xmlns:adec="http://schemas.microsoft.com/office/drawing/2017/decorative" val="1"/>
              </a:ext>
            </a:extLst>
          </p:cNvPr>
          <p:cNvSpPr/>
          <p:nvPr/>
        </p:nvSpPr>
        <p:spPr>
          <a:xfrm>
            <a:off x="548640" y="1874520"/>
            <a:ext cx="2567864" cy="2743200"/>
          </a:xfrm>
          <a:prstGeom prst="roundRect">
            <a:avLst>
              <a:gd name="adj" fmla="val 4273"/>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5" name="Decorative: icon circle">
            <a:extLst>
              <a:ext uri="{C183D7F6-B498-43B3-948B-1728B52AA6E4}">
                <adec:decorative xmlns:adec="http://schemas.microsoft.com/office/drawing/2017/decorative" val="1"/>
              </a:ext>
            </a:extLst>
          </p:cNvPr>
          <p:cNvSpPr/>
          <p:nvPr/>
        </p:nvSpPr>
        <p:spPr>
          <a:xfrm>
            <a:off x="822960" y="2148840"/>
            <a:ext cx="685800" cy="685800"/>
          </a:xfrm>
          <a:prstGeom prst="ellipse">
            <a:avLst/>
          </a:prstGeom>
          <a:solidFill>
            <a:srgbClr val="00467F"/>
          </a:solidFill>
          <a:ln w="12700">
            <a:solidFill>
              <a:srgbClr val="00467F"/>
            </a:solidFill>
            <a:prstDash val="solid"/>
          </a:ln>
        </p:spPr>
      </p:sp>
      <p:pic>
        <p:nvPicPr>
          <p:cNvPr id="6" name="Decorative: LuTruck">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73836" y="2299716"/>
            <a:ext cx="384048" cy="384048"/>
          </a:xfrm>
          <a:prstGeom prst="rect">
            <a:avLst/>
          </a:prstGeom>
        </p:spPr>
      </p:pic>
      <p:sp>
        <p:nvSpPr>
          <p:cNvPr id="7" name="Text 4"/>
          <p:cNvSpPr txBox="1"/>
          <p:nvPr/>
        </p:nvSpPr>
        <p:spPr>
          <a:xfrm>
            <a:off x="822960" y="2971800"/>
            <a:ext cx="2019224" cy="1463040"/>
          </a:xfrm>
          <a:prstGeom prst="rect">
            <a:avLst/>
          </a:prstGeom>
          <a:noFill/>
          <a:ln/>
        </p:spPr>
        <p:txBody>
          <a:bodyPr wrap="square" lIns="0" tIns="0" rIns="0" bIns="0" rtlCol="0" anchor="t"/>
          <a:lstStyle/>
          <a:p>
            <a:pPr indent="0" marL="0">
              <a:buNone/>
            </a:pPr>
            <a:r>
              <a:rPr lang="en-US" sz="2600" b="1" dirty="0">
                <a:solidFill>
                  <a:schemeClr val="tx2"/>
                </a:solidFill>
              </a:rPr>
              <a:t>Delivery fees</a:t>
            </a:r>
            <a:endParaRPr lang="en-US" sz="2400" dirty="0"/>
          </a:p>
          <a:p>
            <a:pPr indent="0" marL="0">
              <a:spcBef>
                <a:spcPts val="600"/>
              </a:spcBef>
              <a:buNone/>
            </a:pPr>
            <a:r>
              <a:rPr lang="en-US" sz="2400" dirty="0">
                <a:solidFill>
                  <a:schemeClr val="tx1"/>
                </a:solidFill>
              </a:rPr>
              <a:t>When there's food at home.</a:t>
            </a:r>
            <a:endParaRPr lang="en-US" sz="2400" dirty="0"/>
          </a:p>
        </p:txBody>
      </p:sp>
      <p:sp>
        <p:nvSpPr>
          <p:cNvPr id="8" name="Decorative: card">
            <a:extLst>
              <a:ext uri="{C183D7F6-B498-43B3-948B-1728B52AA6E4}">
                <adec:decorative xmlns:adec="http://schemas.microsoft.com/office/drawing/2017/decorative" val="1"/>
              </a:ext>
            </a:extLst>
          </p:cNvPr>
          <p:cNvSpPr/>
          <p:nvPr/>
        </p:nvSpPr>
        <p:spPr>
          <a:xfrm>
            <a:off x="3390824" y="1874520"/>
            <a:ext cx="2567864" cy="2743200"/>
          </a:xfrm>
          <a:prstGeom prst="roundRect">
            <a:avLst>
              <a:gd name="adj" fmla="val 4273"/>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9" name="Decorative: icon circle">
            <a:extLst>
              <a:ext uri="{C183D7F6-B498-43B3-948B-1728B52AA6E4}">
                <adec:decorative xmlns:adec="http://schemas.microsoft.com/office/drawing/2017/decorative" val="1"/>
              </a:ext>
            </a:extLst>
          </p:cNvPr>
          <p:cNvSpPr/>
          <p:nvPr/>
        </p:nvSpPr>
        <p:spPr>
          <a:xfrm>
            <a:off x="3665144" y="2148840"/>
            <a:ext cx="685800" cy="685800"/>
          </a:xfrm>
          <a:prstGeom prst="ellipse">
            <a:avLst/>
          </a:prstGeom>
          <a:solidFill>
            <a:srgbClr val="00467F"/>
          </a:solidFill>
          <a:ln w="12700">
            <a:solidFill>
              <a:srgbClr val="00467F"/>
            </a:solidFill>
            <a:prstDash val="solid"/>
          </a:ln>
        </p:spPr>
      </p:sp>
      <p:pic>
        <p:nvPicPr>
          <p:cNvPr id="10" name="Decorative: LuRepeat">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3816020" y="2299716"/>
            <a:ext cx="384048" cy="384048"/>
          </a:xfrm>
          <a:prstGeom prst="rect">
            <a:avLst/>
          </a:prstGeom>
        </p:spPr>
      </p:pic>
      <p:sp>
        <p:nvSpPr>
          <p:cNvPr id="11" name="Text 7"/>
          <p:cNvSpPr txBox="1"/>
          <p:nvPr/>
        </p:nvSpPr>
        <p:spPr>
          <a:xfrm>
            <a:off x="3665144" y="2971800"/>
            <a:ext cx="2019224" cy="1463040"/>
          </a:xfrm>
          <a:prstGeom prst="rect">
            <a:avLst/>
          </a:prstGeom>
          <a:noFill/>
          <a:ln/>
        </p:spPr>
        <p:txBody>
          <a:bodyPr wrap="square" lIns="0" tIns="0" rIns="0" bIns="0" rtlCol="0" anchor="t"/>
          <a:lstStyle/>
          <a:p>
            <a:pPr indent="0" marL="0">
              <a:buNone/>
            </a:pPr>
            <a:r>
              <a:rPr lang="en-US" sz="2600" b="1" dirty="0">
                <a:solidFill>
                  <a:schemeClr val="tx2"/>
                </a:solidFill>
              </a:rPr>
              <a:t>Forgotten subscriptions</a:t>
            </a:r>
            <a:endParaRPr lang="en-US" sz="2400" dirty="0"/>
          </a:p>
          <a:p>
            <a:pPr indent="0" marL="0">
              <a:spcBef>
                <a:spcPts val="600"/>
              </a:spcBef>
              <a:buNone/>
            </a:pPr>
            <a:r>
              <a:rPr lang="en-US" sz="2400" dirty="0">
                <a:solidFill>
                  <a:schemeClr val="tx1"/>
                </a:solidFill>
              </a:rPr>
              <a:t>Still paying, not using.</a:t>
            </a:r>
            <a:endParaRPr lang="en-US" sz="2400" dirty="0"/>
          </a:p>
        </p:txBody>
      </p:sp>
      <p:sp>
        <p:nvSpPr>
          <p:cNvPr id="12" name="Decorative: card">
            <a:extLst>
              <a:ext uri="{C183D7F6-B498-43B3-948B-1728B52AA6E4}">
                <adec:decorative xmlns:adec="http://schemas.microsoft.com/office/drawing/2017/decorative" val="1"/>
              </a:ext>
            </a:extLst>
          </p:cNvPr>
          <p:cNvSpPr/>
          <p:nvPr/>
        </p:nvSpPr>
        <p:spPr>
          <a:xfrm>
            <a:off x="6233008" y="1874520"/>
            <a:ext cx="2567864" cy="2743200"/>
          </a:xfrm>
          <a:prstGeom prst="roundRect">
            <a:avLst>
              <a:gd name="adj" fmla="val 4273"/>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13" name="Decorative: icon circle">
            <a:extLst>
              <a:ext uri="{C183D7F6-B498-43B3-948B-1728B52AA6E4}">
                <adec:decorative xmlns:adec="http://schemas.microsoft.com/office/drawing/2017/decorative" val="1"/>
              </a:ext>
            </a:extLst>
          </p:cNvPr>
          <p:cNvSpPr/>
          <p:nvPr/>
        </p:nvSpPr>
        <p:spPr>
          <a:xfrm>
            <a:off x="6507328" y="2148840"/>
            <a:ext cx="685800" cy="685800"/>
          </a:xfrm>
          <a:prstGeom prst="ellipse">
            <a:avLst/>
          </a:prstGeom>
          <a:solidFill>
            <a:srgbClr val="00467F"/>
          </a:solidFill>
          <a:ln w="12700">
            <a:solidFill>
              <a:srgbClr val="00467F"/>
            </a:solidFill>
            <a:prstDash val="solid"/>
          </a:ln>
        </p:spPr>
      </p:sp>
      <p:pic>
        <p:nvPicPr>
          <p:cNvPr id="14" name="Decorative: LuStore">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658204" y="2299716"/>
            <a:ext cx="384048" cy="384048"/>
          </a:xfrm>
          <a:prstGeom prst="rect">
            <a:avLst/>
          </a:prstGeom>
        </p:spPr>
      </p:pic>
      <p:sp>
        <p:nvSpPr>
          <p:cNvPr id="15" name="Text 10"/>
          <p:cNvSpPr txBox="1"/>
          <p:nvPr/>
        </p:nvSpPr>
        <p:spPr>
          <a:xfrm>
            <a:off x="6507328" y="2971800"/>
            <a:ext cx="2019224" cy="1463040"/>
          </a:xfrm>
          <a:prstGeom prst="rect">
            <a:avLst/>
          </a:prstGeom>
          <a:noFill/>
          <a:ln/>
        </p:spPr>
        <p:txBody>
          <a:bodyPr wrap="square" lIns="0" tIns="0" rIns="0" bIns="0" rtlCol="0" anchor="t"/>
          <a:lstStyle/>
          <a:p>
            <a:pPr indent="0" marL="0">
              <a:buNone/>
            </a:pPr>
            <a:r>
              <a:rPr lang="en-US" sz="2600" b="1" dirty="0">
                <a:solidFill>
                  <a:schemeClr val="tx2"/>
                </a:solidFill>
              </a:rPr>
              <a:t>Convenience buys</a:t>
            </a:r>
            <a:endParaRPr lang="en-US" sz="2400" dirty="0"/>
          </a:p>
          <a:p>
            <a:pPr indent="0" marL="0">
              <a:spcBef>
                <a:spcPts val="600"/>
              </a:spcBef>
              <a:buNone/>
            </a:pPr>
            <a:r>
              <a:rPr lang="en-US" sz="2400" dirty="0">
                <a:solidFill>
                  <a:schemeClr val="tx1"/>
                </a:solidFill>
              </a:rPr>
              <a:t>Because there was no plan.</a:t>
            </a:r>
            <a:endParaRPr lang="en-US" sz="2400" dirty="0"/>
          </a:p>
        </p:txBody>
      </p:sp>
      <p:sp>
        <p:nvSpPr>
          <p:cNvPr id="16" name="Decorative: card">
            <a:extLst>
              <a:ext uri="{C183D7F6-B498-43B3-948B-1728B52AA6E4}">
                <adec:decorative xmlns:adec="http://schemas.microsoft.com/office/drawing/2017/decorative" val="1"/>
              </a:ext>
            </a:extLst>
          </p:cNvPr>
          <p:cNvSpPr/>
          <p:nvPr/>
        </p:nvSpPr>
        <p:spPr>
          <a:xfrm>
            <a:off x="9075191" y="1874520"/>
            <a:ext cx="2567864" cy="2743200"/>
          </a:xfrm>
          <a:prstGeom prst="roundRect">
            <a:avLst>
              <a:gd name="adj" fmla="val 4273"/>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17" name="Decorative: icon circle">
            <a:extLst>
              <a:ext uri="{C183D7F6-B498-43B3-948B-1728B52AA6E4}">
                <adec:decorative xmlns:adec="http://schemas.microsoft.com/office/drawing/2017/decorative" val="1"/>
              </a:ext>
            </a:extLst>
          </p:cNvPr>
          <p:cNvSpPr/>
          <p:nvPr/>
        </p:nvSpPr>
        <p:spPr>
          <a:xfrm>
            <a:off x="9349511" y="2148840"/>
            <a:ext cx="685800" cy="685800"/>
          </a:xfrm>
          <a:prstGeom prst="ellipse">
            <a:avLst/>
          </a:prstGeom>
          <a:solidFill>
            <a:srgbClr val="00467F"/>
          </a:solidFill>
          <a:ln w="12700">
            <a:solidFill>
              <a:srgbClr val="00467F"/>
            </a:solidFill>
            <a:prstDash val="solid"/>
          </a:ln>
        </p:spPr>
      </p:sp>
      <p:pic>
        <p:nvPicPr>
          <p:cNvPr id="18" name="Decorative: LuZap">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500387" y="2299716"/>
            <a:ext cx="384048" cy="384048"/>
          </a:xfrm>
          <a:prstGeom prst="rect">
            <a:avLst/>
          </a:prstGeom>
        </p:spPr>
      </p:pic>
      <p:sp>
        <p:nvSpPr>
          <p:cNvPr id="19" name="Text 13"/>
          <p:cNvSpPr txBox="1"/>
          <p:nvPr/>
        </p:nvSpPr>
        <p:spPr>
          <a:xfrm>
            <a:off x="9349511" y="2971800"/>
            <a:ext cx="2019224" cy="1463040"/>
          </a:xfrm>
          <a:prstGeom prst="rect">
            <a:avLst/>
          </a:prstGeom>
          <a:noFill/>
          <a:ln/>
        </p:spPr>
        <p:txBody>
          <a:bodyPr wrap="square" lIns="0" tIns="0" rIns="0" bIns="0" rtlCol="0" anchor="t"/>
          <a:lstStyle/>
          <a:p>
            <a:pPr indent="0" marL="0">
              <a:buNone/>
            </a:pPr>
            <a:r>
              <a:rPr lang="en-US" sz="2600" b="1" dirty="0">
                <a:solidFill>
                  <a:schemeClr val="tx2"/>
                </a:solidFill>
              </a:rPr>
              <a:t>Impulse buys</a:t>
            </a:r>
            <a:endParaRPr lang="en-US" sz="2400" dirty="0"/>
          </a:p>
          <a:p>
            <a:pPr indent="0" marL="0">
              <a:spcBef>
                <a:spcPts val="600"/>
              </a:spcBef>
              <a:buNone/>
            </a:pPr>
            <a:r>
              <a:rPr lang="en-US" sz="2400" dirty="0">
                <a:solidFill>
                  <a:schemeClr val="tx1"/>
                </a:solidFill>
              </a:rPr>
              <a:t>Regretted a day later.</a:t>
            </a:r>
            <a:endParaRPr lang="en-US" sz="2400" dirty="0"/>
          </a:p>
        </p:txBody>
      </p:sp>
      <p:sp>
        <p:nvSpPr>
          <p:cNvPr id="20" name="Decorative: callout">
            <a:extLst>
              <a:ext uri="{C183D7F6-B498-43B3-948B-1728B52AA6E4}">
                <adec:decorative xmlns:adec="http://schemas.microsoft.com/office/drawing/2017/decorative" val="1"/>
              </a:ext>
            </a:extLst>
          </p:cNvPr>
          <p:cNvSpPr/>
          <p:nvPr/>
        </p:nvSpPr>
        <p:spPr>
          <a:xfrm>
            <a:off x="548640" y="4983480"/>
            <a:ext cx="11094415" cy="822960"/>
          </a:xfrm>
          <a:prstGeom prst="roundRect">
            <a:avLst>
              <a:gd name="adj" fmla="val 13333"/>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21" name="Text 15"/>
          <p:cNvSpPr txBox="1"/>
          <p:nvPr/>
        </p:nvSpPr>
        <p:spPr>
          <a:xfrm>
            <a:off x="868680" y="5093208"/>
            <a:ext cx="10454335" cy="603504"/>
          </a:xfrm>
          <a:prstGeom prst="rect">
            <a:avLst/>
          </a:prstGeom>
          <a:noFill/>
          <a:ln/>
        </p:spPr>
        <p:txBody>
          <a:bodyPr wrap="square" lIns="0" tIns="0" rIns="0" bIns="0" rtlCol="0" anchor="ctr"/>
          <a:lstStyle/>
          <a:p>
            <a:pPr indent="0" marL="0">
              <a:buNone/>
            </a:pPr>
            <a:r>
              <a:rPr lang="en-US" sz="2400" b="1" dirty="0">
                <a:solidFill>
                  <a:schemeClr val="tx2"/>
                </a:solidFill>
              </a:rPr>
              <a:t>A leak is spending that doesn't match what you value.</a:t>
            </a:r>
            <a:endParaRPr lang="en-US" sz="24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TRAIL TIP</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Keep your financial aid</a:t>
            </a:r>
            <a:endParaRPr lang="en-US" sz="4000" dirty="0"/>
          </a:p>
        </p:txBody>
      </p:sp>
      <p:sp>
        <p:nvSpPr>
          <p:cNvPr id="4" name="Decorative: stat card">
            <a:extLst>
              <a:ext uri="{C183D7F6-B498-43B3-948B-1728B52AA6E4}">
                <adec:decorative xmlns:adec="http://schemas.microsoft.com/office/drawing/2017/decorative" val="1"/>
              </a:ext>
            </a:extLst>
          </p:cNvPr>
          <p:cNvSpPr/>
          <p:nvPr/>
        </p:nvSpPr>
        <p:spPr>
          <a:xfrm>
            <a:off x="548640" y="1874520"/>
            <a:ext cx="5364328" cy="2651760"/>
          </a:xfrm>
          <a:prstGeom prst="roundRect">
            <a:avLst>
              <a:gd name="adj" fmla="val 4138"/>
            </a:avLst>
          </a:prstGeom>
          <a:solidFill>
            <a:srgbClr val="011D41"/>
          </a:solidFill>
          <a:ln w="12700">
            <a:solidFill>
              <a:srgbClr val="011D41"/>
            </a:solidFill>
            <a:prstDash val="solid"/>
          </a:ln>
          <a:effectLst>
            <a:outerShdw sx="100000" sy="100000" kx="0" ky="0" algn="bl" rotWithShape="0" blurRad="101600" dist="25400" dir="5400000">
              <a:srgbClr val="000000">
                <a:alpha val="12000"/>
              </a:srgbClr>
            </a:outerShdw>
          </a:effectLst>
        </p:spPr>
      </p:sp>
      <p:sp>
        <p:nvSpPr>
          <p:cNvPr id="5" name="Text 3"/>
          <p:cNvSpPr txBox="1"/>
          <p:nvPr/>
        </p:nvSpPr>
        <p:spPr>
          <a:xfrm>
            <a:off x="914400" y="1965960"/>
            <a:ext cx="4632808" cy="2468880"/>
          </a:xfrm>
          <a:prstGeom prst="rect">
            <a:avLst/>
          </a:prstGeom>
          <a:noFill/>
          <a:ln/>
        </p:spPr>
        <p:txBody>
          <a:bodyPr wrap="square" lIns="0" tIns="0" rIns="0" bIns="0" rtlCol="0" anchor="ctr"/>
          <a:lstStyle/>
          <a:p>
            <a:pPr indent="0" marL="0">
              <a:buNone/>
            </a:pPr>
            <a:r>
              <a:rPr lang="en-US" sz="8000" b="1" dirty="0">
                <a:solidFill>
                  <a:srgbClr val="FFC94A"/>
                </a:solidFill>
              </a:rPr>
              <a:t>2.0</a:t>
            </a:r>
            <a:endParaRPr lang="en-US" sz="2400" dirty="0"/>
          </a:p>
          <a:p>
            <a:pPr indent="0" marL="0">
              <a:buNone/>
            </a:pPr>
            <a:r>
              <a:rPr lang="en-US" sz="2600" dirty="0">
                <a:solidFill>
                  <a:schemeClr val="bg1"/>
                </a:solidFill>
              </a:rPr>
              <a:t>GPA or higher</a:t>
            </a:r>
            <a:endParaRPr lang="en-US" sz="2400" dirty="0"/>
          </a:p>
        </p:txBody>
      </p:sp>
      <p:sp>
        <p:nvSpPr>
          <p:cNvPr id="6" name="Decorative: stat card">
            <a:extLst>
              <a:ext uri="{C183D7F6-B498-43B3-948B-1728B52AA6E4}">
                <adec:decorative xmlns:adec="http://schemas.microsoft.com/office/drawing/2017/decorative" val="1"/>
              </a:ext>
            </a:extLst>
          </p:cNvPr>
          <p:cNvSpPr/>
          <p:nvPr/>
        </p:nvSpPr>
        <p:spPr>
          <a:xfrm>
            <a:off x="6278728" y="1874520"/>
            <a:ext cx="5364328" cy="2651760"/>
          </a:xfrm>
          <a:prstGeom prst="roundRect">
            <a:avLst>
              <a:gd name="adj" fmla="val 4138"/>
            </a:avLst>
          </a:prstGeom>
          <a:solidFill>
            <a:srgbClr val="011D41"/>
          </a:solidFill>
          <a:ln w="12700">
            <a:solidFill>
              <a:srgbClr val="011D41"/>
            </a:solidFill>
            <a:prstDash val="solid"/>
          </a:ln>
          <a:effectLst>
            <a:outerShdw sx="100000" sy="100000" kx="0" ky="0" algn="bl" rotWithShape="0" blurRad="101600" dist="25400" dir="5400000">
              <a:srgbClr val="000000">
                <a:alpha val="12000"/>
              </a:srgbClr>
            </a:outerShdw>
          </a:effectLst>
        </p:spPr>
      </p:sp>
      <p:sp>
        <p:nvSpPr>
          <p:cNvPr id="7" name="Text 5"/>
          <p:cNvSpPr txBox="1"/>
          <p:nvPr/>
        </p:nvSpPr>
        <p:spPr>
          <a:xfrm>
            <a:off x="6644488" y="1965960"/>
            <a:ext cx="4632808" cy="2468880"/>
          </a:xfrm>
          <a:prstGeom prst="rect">
            <a:avLst/>
          </a:prstGeom>
          <a:noFill/>
          <a:ln/>
        </p:spPr>
        <p:txBody>
          <a:bodyPr wrap="square" lIns="0" tIns="0" rIns="0" bIns="0" rtlCol="0" anchor="ctr"/>
          <a:lstStyle/>
          <a:p>
            <a:pPr indent="0" marL="0">
              <a:buNone/>
            </a:pPr>
            <a:r>
              <a:rPr lang="en-US" sz="8000" b="1" dirty="0">
                <a:solidFill>
                  <a:srgbClr val="FFC94A"/>
                </a:solidFill>
              </a:rPr>
              <a:t>67%</a:t>
            </a:r>
            <a:endParaRPr lang="en-US" sz="2400" dirty="0"/>
          </a:p>
          <a:p>
            <a:pPr indent="0" marL="0">
              <a:buNone/>
            </a:pPr>
            <a:r>
              <a:rPr lang="en-US" sz="2600" dirty="0">
                <a:solidFill>
                  <a:schemeClr val="bg1"/>
                </a:solidFill>
              </a:rPr>
              <a:t>of the credit hours you sign up for, passed</a:t>
            </a:r>
            <a:endParaRPr lang="en-US" sz="2400" dirty="0"/>
          </a:p>
        </p:txBody>
      </p:sp>
      <p:sp>
        <p:nvSpPr>
          <p:cNvPr id="8" name="Decorative: callout">
            <a:extLst>
              <a:ext uri="{C183D7F6-B498-43B3-948B-1728B52AA6E4}">
                <adec:decorative xmlns:adec="http://schemas.microsoft.com/office/drawing/2017/decorative" val="1"/>
              </a:ext>
            </a:extLst>
          </p:cNvPr>
          <p:cNvSpPr/>
          <p:nvPr/>
        </p:nvSpPr>
        <p:spPr>
          <a:xfrm>
            <a:off x="548640" y="4983480"/>
            <a:ext cx="11094415" cy="822960"/>
          </a:xfrm>
          <a:prstGeom prst="roundRect">
            <a:avLst>
              <a:gd name="adj" fmla="val 13333"/>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9" name="Text 7"/>
          <p:cNvSpPr txBox="1"/>
          <p:nvPr/>
        </p:nvSpPr>
        <p:spPr>
          <a:xfrm>
            <a:off x="868680" y="5093208"/>
            <a:ext cx="10454335" cy="603504"/>
          </a:xfrm>
          <a:prstGeom prst="rect">
            <a:avLst/>
          </a:prstGeom>
          <a:noFill/>
          <a:ln/>
        </p:spPr>
        <p:txBody>
          <a:bodyPr wrap="square" lIns="0" tIns="0" rIns="0" bIns="0" rtlCol="0" anchor="ctr"/>
          <a:lstStyle/>
          <a:p>
            <a:pPr indent="0" marL="0">
              <a:buNone/>
            </a:pPr>
            <a:r>
              <a:rPr lang="en-US" sz="2400" b="1" dirty="0">
                <a:solidFill>
                  <a:schemeClr val="tx2"/>
                </a:solidFill>
              </a:rPr>
              <a:t>Thinking about dropping a class? Ask Financial Aid first.</a:t>
            </a:r>
            <a:endParaRPr lang="en-US" sz="24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ASSIGNMENTS</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Due Monday by 11:59 PM Central</a:t>
            </a:r>
            <a:endParaRPr lang="en-US" sz="4000" dirty="0"/>
          </a:p>
        </p:txBody>
      </p:sp>
      <p:sp>
        <p:nvSpPr>
          <p:cNvPr id="4" name="Decorative: QR panel">
            <a:extLst>
              <a:ext uri="{C183D7F6-B498-43B3-948B-1728B52AA6E4}">
                <adec:decorative xmlns:adec="http://schemas.microsoft.com/office/drawing/2017/decorative" val="1"/>
              </a:ext>
            </a:extLst>
          </p:cNvPr>
          <p:cNvSpPr/>
          <p:nvPr/>
        </p:nvSpPr>
        <p:spPr>
          <a:xfrm>
            <a:off x="8534095" y="1874520"/>
            <a:ext cx="3108960" cy="3977640"/>
          </a:xfrm>
          <a:prstGeom prst="roundRect">
            <a:avLst>
              <a:gd name="adj" fmla="val 3529"/>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5" name="Text 3"/>
          <p:cNvSpPr txBox="1"/>
          <p:nvPr/>
        </p:nvSpPr>
        <p:spPr>
          <a:xfrm>
            <a:off x="8762695" y="2011680"/>
            <a:ext cx="2651760" cy="685800"/>
          </a:xfrm>
          <a:prstGeom prst="rect">
            <a:avLst/>
          </a:prstGeom>
          <a:noFill/>
          <a:ln/>
        </p:spPr>
        <p:txBody>
          <a:bodyPr wrap="square" lIns="0" tIns="0" rIns="0" bIns="0" rtlCol="0" anchor="ctr"/>
          <a:lstStyle/>
          <a:p>
            <a:pPr algn="ctr" indent="0" marL="0">
              <a:buNone/>
            </a:pPr>
            <a:r>
              <a:rPr lang="en-US" sz="2000" b="1" dirty="0">
                <a:solidFill>
                  <a:schemeClr val="tx2"/>
                </a:solidFill>
              </a:rPr>
              <a:t>Scan for the Inventory</a:t>
            </a:r>
            <a:endParaRPr lang="en-US" sz="2000" dirty="0"/>
          </a:p>
        </p:txBody>
      </p:sp>
      <p:sp>
        <p:nvSpPr>
          <p:cNvPr id="6" name="Decorative: QR frame">
            <a:extLst>
              <a:ext uri="{C183D7F6-B498-43B3-948B-1728B52AA6E4}">
                <adec:decorative xmlns:adec="http://schemas.microsoft.com/office/drawing/2017/decorative" val="1"/>
              </a:ext>
            </a:extLst>
          </p:cNvPr>
          <p:cNvSpPr/>
          <p:nvPr/>
        </p:nvSpPr>
        <p:spPr>
          <a:xfrm>
            <a:off x="8973007" y="2679192"/>
            <a:ext cx="2231136" cy="2231136"/>
          </a:xfrm>
          <a:prstGeom prst="roundRect">
            <a:avLst>
              <a:gd name="adj" fmla="val 4098"/>
            </a:avLst>
          </a:prstGeom>
          <a:solidFill>
            <a:srgbClr val="FFFFFF"/>
          </a:solidFill>
          <a:ln w="12700">
            <a:solidFill>
              <a:srgbClr val="D9E2EA"/>
            </a:solidFill>
            <a:prstDash val="solid"/>
          </a:ln>
        </p:spPr>
      </p:sp>
      <p:pic>
        <p:nvPicPr>
          <p:cNvPr id="7" name="QR code: Scan for the Inventory" descr="QR code for Scan for the Inventory: https://forms.cloud.microsoft/r/J3LD45NjZX?origin=QRCode">    </p:cNvPr>
          <p:cNvPicPr>
            <a:picLocks noChangeAspect="1"/>
          </p:cNvPicPr>
          <p:nvPr/>
        </p:nvPicPr>
        <p:blipFill>
          <a:blip r:embed="rId1"/>
          <a:stretch>
            <a:fillRect/>
          </a:stretch>
        </p:blipFill>
        <p:spPr>
          <a:xfrm>
            <a:off x="9082735" y="2788920"/>
            <a:ext cx="2011680" cy="2011680"/>
          </a:xfrm>
          <a:prstGeom prst="rect">
            <a:avLst/>
          </a:prstGeom>
        </p:spPr>
      </p:pic>
      <p:sp>
        <p:nvSpPr>
          <p:cNvPr id="8" name="Address: Scan for the Inventory"/>
          <p:cNvSpPr txBox="1"/>
          <p:nvPr/>
        </p:nvSpPr>
        <p:spPr>
          <a:xfrm>
            <a:off x="8534095" y="4937760"/>
            <a:ext cx="3108960" cy="731520"/>
          </a:xfrm>
          <a:prstGeom prst="rect">
            <a:avLst/>
          </a:prstGeom>
          <a:noFill/>
          <a:ln/>
        </p:spPr>
        <p:txBody>
          <a:bodyPr wrap="square" lIns="0" tIns="0" rIns="0" bIns="0" rtlCol="0" anchor="t"/>
          <a:lstStyle/>
          <a:p>
            <a:pPr algn="ctr" indent="0" marL="0">
              <a:buNone/>
            </a:pPr>
            <a:r>
              <a:rPr lang="en-US" sz="2000" dirty="0">
                <a:solidFill>
                  <a:schemeClr val="accent6"/>
                </a:solidFill>
              </a:rPr>
              <a:t>forms.cloud.microsoft/r/J3LD45NjZX</a:t>
            </a:r>
            <a:endParaRPr lang="en-US" sz="2000" dirty="0"/>
          </a:p>
        </p:txBody>
      </p:sp>
      <p:sp>
        <p:nvSpPr>
          <p:cNvPr id="9" name="Decorative: assignment row">
            <a:extLst>
              <a:ext uri="{C183D7F6-B498-43B3-948B-1728B52AA6E4}">
                <adec:decorative xmlns:adec="http://schemas.microsoft.com/office/drawing/2017/decorative" val="1"/>
              </a:ext>
            </a:extLst>
          </p:cNvPr>
          <p:cNvSpPr/>
          <p:nvPr/>
        </p:nvSpPr>
        <p:spPr>
          <a:xfrm>
            <a:off x="548640" y="1874520"/>
            <a:ext cx="7665415" cy="841248"/>
          </a:xfrm>
          <a:prstGeom prst="roundRect">
            <a:avLst>
              <a:gd name="adj" fmla="val 13043"/>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10" name="Decorative: icon circle">
            <a:extLst>
              <a:ext uri="{C183D7F6-B498-43B3-948B-1728B52AA6E4}">
                <adec:decorative xmlns:adec="http://schemas.microsoft.com/office/drawing/2017/decorative" val="1"/>
              </a:ext>
            </a:extLst>
          </p:cNvPr>
          <p:cNvSpPr/>
          <p:nvPr/>
        </p:nvSpPr>
        <p:spPr>
          <a:xfrm>
            <a:off x="731520" y="1965960"/>
            <a:ext cx="548640" cy="548640"/>
          </a:xfrm>
          <a:prstGeom prst="ellipse">
            <a:avLst/>
          </a:prstGeom>
          <a:solidFill>
            <a:srgbClr val="00467F"/>
          </a:solidFill>
          <a:ln w="12700">
            <a:solidFill>
              <a:srgbClr val="00467F"/>
            </a:solidFill>
            <a:prstDash val="solid"/>
          </a:ln>
        </p:spPr>
      </p:sp>
      <p:pic>
        <p:nvPicPr>
          <p:cNvPr id="11" name="Decorative: LuClipboardCheck">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852221" y="2086661"/>
            <a:ext cx="307238" cy="307238"/>
          </a:xfrm>
          <a:prstGeom prst="rect">
            <a:avLst/>
          </a:prstGeom>
        </p:spPr>
      </p:pic>
      <p:sp>
        <p:nvSpPr>
          <p:cNvPr id="12" name="Text 8"/>
          <p:cNvSpPr txBox="1"/>
          <p:nvPr/>
        </p:nvSpPr>
        <p:spPr>
          <a:xfrm>
            <a:off x="1508760" y="1929384"/>
            <a:ext cx="6385255" cy="731520"/>
          </a:xfrm>
          <a:prstGeom prst="rect">
            <a:avLst/>
          </a:prstGeom>
          <a:noFill/>
          <a:ln/>
        </p:spPr>
        <p:txBody>
          <a:bodyPr wrap="square" lIns="0" tIns="0" rIns="0" bIns="0" rtlCol="0" anchor="ctr"/>
          <a:lstStyle/>
          <a:p>
            <a:pPr indent="0" marL="0">
              <a:buNone/>
            </a:pPr>
            <a:r>
              <a:rPr lang="en-US" sz="2400" b="1" dirty="0">
                <a:solidFill>
                  <a:schemeClr val="tx2"/>
                </a:solidFill>
              </a:rPr>
              <a:t>Task: Appreciative Advising Inventory</a:t>
            </a:r>
            <a:endParaRPr lang="en-US" sz="2400" dirty="0"/>
          </a:p>
          <a:p>
            <a:pPr indent="0" marL="0">
              <a:buNone/>
            </a:pPr>
            <a:r>
              <a:rPr lang="en-US" sz="2000" dirty="0">
                <a:solidFill>
                  <a:schemeClr val="accent6"/>
                </a:solidFill>
              </a:rPr>
              <a:t>A short inventory. Completion only.</a:t>
            </a:r>
            <a:endParaRPr lang="en-US" sz="2400" dirty="0"/>
          </a:p>
        </p:txBody>
      </p:sp>
      <p:sp>
        <p:nvSpPr>
          <p:cNvPr id="13" name="Decorative: assignment row">
            <a:extLst>
              <a:ext uri="{C183D7F6-B498-43B3-948B-1728B52AA6E4}">
                <adec:decorative xmlns:adec="http://schemas.microsoft.com/office/drawing/2017/decorative" val="1"/>
              </a:ext>
            </a:extLst>
          </p:cNvPr>
          <p:cNvSpPr/>
          <p:nvPr/>
        </p:nvSpPr>
        <p:spPr>
          <a:xfrm>
            <a:off x="548640" y="2880360"/>
            <a:ext cx="7665415" cy="841248"/>
          </a:xfrm>
          <a:prstGeom prst="roundRect">
            <a:avLst>
              <a:gd name="adj" fmla="val 13043"/>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14" name="Decorative: icon circle">
            <a:extLst>
              <a:ext uri="{C183D7F6-B498-43B3-948B-1728B52AA6E4}">
                <adec:decorative xmlns:adec="http://schemas.microsoft.com/office/drawing/2017/decorative" val="1"/>
              </a:ext>
            </a:extLst>
          </p:cNvPr>
          <p:cNvSpPr/>
          <p:nvPr/>
        </p:nvSpPr>
        <p:spPr>
          <a:xfrm>
            <a:off x="731520" y="2971800"/>
            <a:ext cx="548640" cy="548640"/>
          </a:xfrm>
          <a:prstGeom prst="ellipse">
            <a:avLst/>
          </a:prstGeom>
          <a:solidFill>
            <a:srgbClr val="00467F"/>
          </a:solidFill>
          <a:ln w="12700">
            <a:solidFill>
              <a:srgbClr val="00467F"/>
            </a:solidFill>
            <a:prstDash val="solid"/>
          </a:ln>
        </p:spPr>
      </p:sp>
      <p:pic>
        <p:nvPicPr>
          <p:cNvPr id="15" name="Decorative: LuFlag">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52221" y="3092501"/>
            <a:ext cx="307238" cy="307238"/>
          </a:xfrm>
          <a:prstGeom prst="rect">
            <a:avLst/>
          </a:prstGeom>
        </p:spPr>
      </p:pic>
      <p:sp>
        <p:nvSpPr>
          <p:cNvPr id="16" name="Text 11"/>
          <p:cNvSpPr txBox="1"/>
          <p:nvPr/>
        </p:nvSpPr>
        <p:spPr>
          <a:xfrm>
            <a:off x="1508760" y="2935224"/>
            <a:ext cx="6385255" cy="731520"/>
          </a:xfrm>
          <a:prstGeom prst="rect">
            <a:avLst/>
          </a:prstGeom>
          <a:noFill/>
          <a:ln/>
        </p:spPr>
        <p:txBody>
          <a:bodyPr wrap="square" lIns="0" tIns="0" rIns="0" bIns="0" rtlCol="0" anchor="ctr"/>
          <a:lstStyle/>
          <a:p>
            <a:pPr indent="0" marL="0">
              <a:buNone/>
            </a:pPr>
            <a:r>
              <a:rPr lang="en-US" sz="2400" b="1" dirty="0">
                <a:solidFill>
                  <a:schemeClr val="tx2"/>
                </a:solidFill>
              </a:rPr>
              <a:t>Mile Marker #5: Understanding My Money</a:t>
            </a:r>
            <a:endParaRPr lang="en-US" sz="2400" dirty="0"/>
          </a:p>
          <a:p>
            <a:pPr indent="0" marL="0">
              <a:buNone/>
            </a:pPr>
            <a:r>
              <a:rPr lang="en-US" sz="2000" dirty="0">
                <a:solidFill>
                  <a:schemeClr val="accent6"/>
                </a:solidFill>
              </a:rPr>
              <a:t>Five questions. No dollar amounts needed.</a:t>
            </a:r>
            <a:endParaRPr lang="en-US" sz="2400" dirty="0"/>
          </a:p>
        </p:txBody>
      </p:sp>
      <p:sp>
        <p:nvSpPr>
          <p:cNvPr id="17" name="Decorative: assignment row">
            <a:extLst>
              <a:ext uri="{C183D7F6-B498-43B3-948B-1728B52AA6E4}">
                <adec:decorative xmlns:adec="http://schemas.microsoft.com/office/drawing/2017/decorative" val="1"/>
              </a:ext>
            </a:extLst>
          </p:cNvPr>
          <p:cNvSpPr/>
          <p:nvPr/>
        </p:nvSpPr>
        <p:spPr>
          <a:xfrm>
            <a:off x="548640" y="3886200"/>
            <a:ext cx="7665415" cy="841248"/>
          </a:xfrm>
          <a:prstGeom prst="roundRect">
            <a:avLst>
              <a:gd name="adj" fmla="val 13043"/>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18" name="Decorative: icon circle">
            <a:extLst>
              <a:ext uri="{C183D7F6-B498-43B3-948B-1728B52AA6E4}">
                <adec:decorative xmlns:adec="http://schemas.microsoft.com/office/drawing/2017/decorative" val="1"/>
              </a:ext>
            </a:extLst>
          </p:cNvPr>
          <p:cNvSpPr/>
          <p:nvPr/>
        </p:nvSpPr>
        <p:spPr>
          <a:xfrm>
            <a:off x="731520" y="3977640"/>
            <a:ext cx="548640" cy="548640"/>
          </a:xfrm>
          <a:prstGeom prst="ellipse">
            <a:avLst/>
          </a:prstGeom>
          <a:solidFill>
            <a:srgbClr val="00467F"/>
          </a:solidFill>
          <a:ln w="12700">
            <a:solidFill>
              <a:srgbClr val="00467F"/>
            </a:solidFill>
            <a:prstDash val="solid"/>
          </a:ln>
        </p:spPr>
      </p:sp>
      <p:pic>
        <p:nvPicPr>
          <p:cNvPr id="19" name="Decorative: LuMessagesSquare">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852221" y="4098341"/>
            <a:ext cx="307238" cy="307238"/>
          </a:xfrm>
          <a:prstGeom prst="rect">
            <a:avLst/>
          </a:prstGeom>
        </p:spPr>
      </p:pic>
      <p:sp>
        <p:nvSpPr>
          <p:cNvPr id="20" name="Text 14"/>
          <p:cNvSpPr txBox="1"/>
          <p:nvPr/>
        </p:nvSpPr>
        <p:spPr>
          <a:xfrm>
            <a:off x="1508760" y="3941064"/>
            <a:ext cx="6385255" cy="731520"/>
          </a:xfrm>
          <a:prstGeom prst="rect">
            <a:avLst/>
          </a:prstGeom>
          <a:noFill/>
          <a:ln/>
        </p:spPr>
        <p:txBody>
          <a:bodyPr wrap="square" lIns="0" tIns="0" rIns="0" bIns="0" rtlCol="0" anchor="ctr"/>
          <a:lstStyle/>
          <a:p>
            <a:pPr indent="0" marL="0">
              <a:buNone/>
            </a:pPr>
            <a:r>
              <a:rPr lang="en-US" sz="2400" b="1" dirty="0">
                <a:solidFill>
                  <a:schemeClr val="tx2"/>
                </a:solidFill>
              </a:rPr>
              <a:t>Online sections: Money Tip discussion</a:t>
            </a:r>
            <a:endParaRPr lang="en-US" sz="2400" dirty="0"/>
          </a:p>
          <a:p>
            <a:pPr indent="0" marL="0">
              <a:buNone/>
            </a:pPr>
            <a:r>
              <a:rPr lang="en-US" sz="2000" dirty="0">
                <a:solidFill>
                  <a:schemeClr val="accent6"/>
                </a:solidFill>
              </a:rPr>
              <a:t>First post Friday, replies Monday</a:t>
            </a:r>
            <a:endParaRPr lang="en-US" sz="24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MILE MARKER #5</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Understanding My Money</a:t>
            </a:r>
            <a:endParaRPr lang="en-US" sz="4000" dirty="0"/>
          </a:p>
        </p:txBody>
      </p:sp>
      <p:sp>
        <p:nvSpPr>
          <p:cNvPr id="4" name="Decorative: number circle">
            <a:extLst>
              <a:ext uri="{C183D7F6-B498-43B3-948B-1728B52AA6E4}">
                <adec:decorative xmlns:adec="http://schemas.microsoft.com/office/drawing/2017/decorative" val="1"/>
              </a:ext>
            </a:extLst>
          </p:cNvPr>
          <p:cNvSpPr/>
          <p:nvPr/>
        </p:nvSpPr>
        <p:spPr>
          <a:xfrm>
            <a:off x="548640" y="1874520"/>
            <a:ext cx="566928" cy="566928"/>
          </a:xfrm>
          <a:prstGeom prst="ellipse">
            <a:avLst/>
          </a:prstGeom>
          <a:solidFill>
            <a:srgbClr val="E7A614"/>
          </a:solidFill>
          <a:ln w="12700">
            <a:solidFill>
              <a:srgbClr val="E7A614"/>
            </a:solidFill>
            <a:prstDash val="solid"/>
          </a:ln>
        </p:spPr>
      </p:sp>
      <p:sp>
        <p:nvSpPr>
          <p:cNvPr id="5" name="Question 1 number"/>
          <p:cNvSpPr txBox="1"/>
          <p:nvPr/>
        </p:nvSpPr>
        <p:spPr>
          <a:xfrm>
            <a:off x="548640" y="1874520"/>
            <a:ext cx="566928" cy="566928"/>
          </a:xfrm>
          <a:prstGeom prst="rect">
            <a:avLst/>
          </a:prstGeom>
          <a:noFill/>
          <a:ln/>
        </p:spPr>
        <p:txBody>
          <a:bodyPr wrap="square" lIns="0" tIns="0" rIns="0" bIns="0" rtlCol="0" anchor="ctr"/>
          <a:lstStyle/>
          <a:p>
            <a:pPr algn="ctr" indent="0" marL="0">
              <a:buNone/>
            </a:pPr>
            <a:r>
              <a:rPr lang="en-US" sz="2400" b="1" dirty="0">
                <a:solidFill>
                  <a:schemeClr val="tx2"/>
                </a:solidFill>
              </a:rPr>
              <a:t>1</a:t>
            </a:r>
            <a:endParaRPr lang="en-US" sz="2400" dirty="0"/>
          </a:p>
        </p:txBody>
      </p:sp>
      <p:sp>
        <p:nvSpPr>
          <p:cNvPr id="6" name="Text 4"/>
          <p:cNvSpPr txBox="1"/>
          <p:nvPr/>
        </p:nvSpPr>
        <p:spPr>
          <a:xfrm>
            <a:off x="1389888" y="1874520"/>
            <a:ext cx="6839712" cy="566928"/>
          </a:xfrm>
          <a:prstGeom prst="rect">
            <a:avLst/>
          </a:prstGeom>
          <a:noFill/>
          <a:ln/>
        </p:spPr>
        <p:txBody>
          <a:bodyPr wrap="square" lIns="0" tIns="0" rIns="0" bIns="0" rtlCol="0" anchor="ctr"/>
          <a:lstStyle/>
          <a:p>
            <a:pPr indent="0" marL="0">
              <a:buNone/>
            </a:pPr>
            <a:r>
              <a:rPr lang="en-US" sz="2400" b="1" dirty="0">
                <a:solidFill>
                  <a:schemeClr val="tx2"/>
                </a:solidFill>
              </a:rPr>
              <a:t>What you noticed from your Dollar Tracker</a:t>
            </a:r>
            <a:endParaRPr lang="en-US" sz="2400" dirty="0"/>
          </a:p>
        </p:txBody>
      </p:sp>
      <p:sp>
        <p:nvSpPr>
          <p:cNvPr id="7" name="Decorative: number circle">
            <a:extLst>
              <a:ext uri="{C183D7F6-B498-43B3-948B-1728B52AA6E4}">
                <adec:decorative xmlns:adec="http://schemas.microsoft.com/office/drawing/2017/decorative" val="1"/>
              </a:ext>
            </a:extLst>
          </p:cNvPr>
          <p:cNvSpPr/>
          <p:nvPr/>
        </p:nvSpPr>
        <p:spPr>
          <a:xfrm>
            <a:off x="548640" y="2715768"/>
            <a:ext cx="566928" cy="566928"/>
          </a:xfrm>
          <a:prstGeom prst="ellipse">
            <a:avLst/>
          </a:prstGeom>
          <a:solidFill>
            <a:srgbClr val="E7A614"/>
          </a:solidFill>
          <a:ln w="12700">
            <a:solidFill>
              <a:srgbClr val="E7A614"/>
            </a:solidFill>
            <a:prstDash val="solid"/>
          </a:ln>
        </p:spPr>
      </p:sp>
      <p:sp>
        <p:nvSpPr>
          <p:cNvPr id="8" name="Question 2 number"/>
          <p:cNvSpPr txBox="1"/>
          <p:nvPr/>
        </p:nvSpPr>
        <p:spPr>
          <a:xfrm>
            <a:off x="548640" y="2715768"/>
            <a:ext cx="566928" cy="566928"/>
          </a:xfrm>
          <a:prstGeom prst="rect">
            <a:avLst/>
          </a:prstGeom>
          <a:noFill/>
          <a:ln/>
        </p:spPr>
        <p:txBody>
          <a:bodyPr wrap="square" lIns="0" tIns="0" rIns="0" bIns="0" rtlCol="0" anchor="ctr"/>
          <a:lstStyle/>
          <a:p>
            <a:pPr algn="ctr" indent="0" marL="0">
              <a:buNone/>
            </a:pPr>
            <a:r>
              <a:rPr lang="en-US" sz="2400" b="1" dirty="0">
                <a:solidFill>
                  <a:schemeClr val="tx2"/>
                </a:solidFill>
              </a:rPr>
              <a:t>2</a:t>
            </a:r>
            <a:endParaRPr lang="en-US" sz="2400" dirty="0"/>
          </a:p>
        </p:txBody>
      </p:sp>
      <p:sp>
        <p:nvSpPr>
          <p:cNvPr id="9" name="Text 7"/>
          <p:cNvSpPr txBox="1"/>
          <p:nvPr/>
        </p:nvSpPr>
        <p:spPr>
          <a:xfrm>
            <a:off x="1389888" y="2715768"/>
            <a:ext cx="6839712" cy="566928"/>
          </a:xfrm>
          <a:prstGeom prst="rect">
            <a:avLst/>
          </a:prstGeom>
          <a:noFill/>
          <a:ln/>
        </p:spPr>
        <p:txBody>
          <a:bodyPr wrap="square" lIns="0" tIns="0" rIns="0" bIns="0" rtlCol="0" anchor="ctr"/>
          <a:lstStyle/>
          <a:p>
            <a:pPr indent="0" marL="0">
              <a:buNone/>
            </a:pPr>
            <a:r>
              <a:rPr lang="en-US" sz="2400" b="1" dirty="0">
                <a:solidFill>
                  <a:schemeClr val="tx2"/>
                </a:solidFill>
              </a:rPr>
              <a:t>Your financial reality, described honestly</a:t>
            </a:r>
            <a:endParaRPr lang="en-US" sz="2400" dirty="0"/>
          </a:p>
        </p:txBody>
      </p:sp>
      <p:sp>
        <p:nvSpPr>
          <p:cNvPr id="10" name="Decorative: number circle">
            <a:extLst>
              <a:ext uri="{C183D7F6-B498-43B3-948B-1728B52AA6E4}">
                <adec:decorative xmlns:adec="http://schemas.microsoft.com/office/drawing/2017/decorative" val="1"/>
              </a:ext>
            </a:extLst>
          </p:cNvPr>
          <p:cNvSpPr/>
          <p:nvPr/>
        </p:nvSpPr>
        <p:spPr>
          <a:xfrm>
            <a:off x="548640" y="3557016"/>
            <a:ext cx="566928" cy="566928"/>
          </a:xfrm>
          <a:prstGeom prst="ellipse">
            <a:avLst/>
          </a:prstGeom>
          <a:solidFill>
            <a:srgbClr val="E7A614"/>
          </a:solidFill>
          <a:ln w="12700">
            <a:solidFill>
              <a:srgbClr val="E7A614"/>
            </a:solidFill>
            <a:prstDash val="solid"/>
          </a:ln>
        </p:spPr>
      </p:sp>
      <p:sp>
        <p:nvSpPr>
          <p:cNvPr id="11" name="Question 3 number"/>
          <p:cNvSpPr txBox="1"/>
          <p:nvPr/>
        </p:nvSpPr>
        <p:spPr>
          <a:xfrm>
            <a:off x="548640" y="3557016"/>
            <a:ext cx="566928" cy="566928"/>
          </a:xfrm>
          <a:prstGeom prst="rect">
            <a:avLst/>
          </a:prstGeom>
          <a:noFill/>
          <a:ln/>
        </p:spPr>
        <p:txBody>
          <a:bodyPr wrap="square" lIns="0" tIns="0" rIns="0" bIns="0" rtlCol="0" anchor="ctr"/>
          <a:lstStyle/>
          <a:p>
            <a:pPr algn="ctr" indent="0" marL="0">
              <a:buNone/>
            </a:pPr>
            <a:r>
              <a:rPr lang="en-US" sz="2400" b="1" dirty="0">
                <a:solidFill>
                  <a:schemeClr val="tx2"/>
                </a:solidFill>
              </a:rPr>
              <a:t>3</a:t>
            </a:r>
            <a:endParaRPr lang="en-US" sz="2400" dirty="0"/>
          </a:p>
        </p:txBody>
      </p:sp>
      <p:sp>
        <p:nvSpPr>
          <p:cNvPr id="12" name="Text 10"/>
          <p:cNvSpPr txBox="1"/>
          <p:nvPr/>
        </p:nvSpPr>
        <p:spPr>
          <a:xfrm>
            <a:off x="1389888" y="3557016"/>
            <a:ext cx="6839712" cy="566928"/>
          </a:xfrm>
          <a:prstGeom prst="rect">
            <a:avLst/>
          </a:prstGeom>
          <a:noFill/>
          <a:ln/>
        </p:spPr>
        <p:txBody>
          <a:bodyPr wrap="square" lIns="0" tIns="0" rIns="0" bIns="0" rtlCol="0" anchor="ctr"/>
          <a:lstStyle/>
          <a:p>
            <a:pPr indent="0" marL="0">
              <a:buNone/>
            </a:pPr>
            <a:r>
              <a:rPr lang="en-US" sz="2400" b="1" dirty="0">
                <a:solidFill>
                  <a:schemeClr val="tx2"/>
                </a:solidFill>
              </a:rPr>
              <a:t>One small, realistic next step</a:t>
            </a:r>
            <a:endParaRPr lang="en-US" sz="2400" dirty="0"/>
          </a:p>
        </p:txBody>
      </p:sp>
      <p:sp>
        <p:nvSpPr>
          <p:cNvPr id="13" name="Decorative: number circle">
            <a:extLst>
              <a:ext uri="{C183D7F6-B498-43B3-948B-1728B52AA6E4}">
                <adec:decorative xmlns:adec="http://schemas.microsoft.com/office/drawing/2017/decorative" val="1"/>
              </a:ext>
            </a:extLst>
          </p:cNvPr>
          <p:cNvSpPr/>
          <p:nvPr/>
        </p:nvSpPr>
        <p:spPr>
          <a:xfrm>
            <a:off x="548640" y="4398264"/>
            <a:ext cx="566928" cy="566928"/>
          </a:xfrm>
          <a:prstGeom prst="ellipse">
            <a:avLst/>
          </a:prstGeom>
          <a:solidFill>
            <a:srgbClr val="E7A614"/>
          </a:solidFill>
          <a:ln w="12700">
            <a:solidFill>
              <a:srgbClr val="E7A614"/>
            </a:solidFill>
            <a:prstDash val="solid"/>
          </a:ln>
        </p:spPr>
      </p:sp>
      <p:sp>
        <p:nvSpPr>
          <p:cNvPr id="14" name="Question 4 number"/>
          <p:cNvSpPr txBox="1"/>
          <p:nvPr/>
        </p:nvSpPr>
        <p:spPr>
          <a:xfrm>
            <a:off x="548640" y="4398264"/>
            <a:ext cx="566928" cy="566928"/>
          </a:xfrm>
          <a:prstGeom prst="rect">
            <a:avLst/>
          </a:prstGeom>
          <a:noFill/>
          <a:ln/>
        </p:spPr>
        <p:txBody>
          <a:bodyPr wrap="square" lIns="0" tIns="0" rIns="0" bIns="0" rtlCol="0" anchor="ctr"/>
          <a:lstStyle/>
          <a:p>
            <a:pPr algn="ctr" indent="0" marL="0">
              <a:buNone/>
            </a:pPr>
            <a:r>
              <a:rPr lang="en-US" sz="2400" b="1" dirty="0">
                <a:solidFill>
                  <a:schemeClr val="tx2"/>
                </a:solidFill>
              </a:rPr>
              <a:t>4</a:t>
            </a:r>
            <a:endParaRPr lang="en-US" sz="2400" dirty="0"/>
          </a:p>
        </p:txBody>
      </p:sp>
      <p:sp>
        <p:nvSpPr>
          <p:cNvPr id="15" name="Text 13"/>
          <p:cNvSpPr txBox="1"/>
          <p:nvPr/>
        </p:nvSpPr>
        <p:spPr>
          <a:xfrm>
            <a:off x="1389888" y="4398264"/>
            <a:ext cx="6839712" cy="566928"/>
          </a:xfrm>
          <a:prstGeom prst="rect">
            <a:avLst/>
          </a:prstGeom>
          <a:noFill/>
          <a:ln/>
        </p:spPr>
        <p:txBody>
          <a:bodyPr wrap="square" lIns="0" tIns="0" rIns="0" bIns="0" rtlCol="0" anchor="ctr"/>
          <a:lstStyle/>
          <a:p>
            <a:pPr indent="0" marL="0">
              <a:buNone/>
            </a:pPr>
            <a:r>
              <a:rPr lang="en-US" sz="2400" b="1" dirty="0">
                <a:solidFill>
                  <a:schemeClr val="tx2"/>
                </a:solidFill>
              </a:rPr>
              <a:t>Your zero-based budget, without dollar amounts</a:t>
            </a:r>
            <a:endParaRPr lang="en-US" sz="2400" dirty="0"/>
          </a:p>
        </p:txBody>
      </p:sp>
      <p:sp>
        <p:nvSpPr>
          <p:cNvPr id="16" name="Decorative: number circle">
            <a:extLst>
              <a:ext uri="{C183D7F6-B498-43B3-948B-1728B52AA6E4}">
                <adec:decorative xmlns:adec="http://schemas.microsoft.com/office/drawing/2017/decorative" val="1"/>
              </a:ext>
            </a:extLst>
          </p:cNvPr>
          <p:cNvSpPr/>
          <p:nvPr/>
        </p:nvSpPr>
        <p:spPr>
          <a:xfrm>
            <a:off x="548640" y="5239512"/>
            <a:ext cx="566928" cy="566928"/>
          </a:xfrm>
          <a:prstGeom prst="ellipse">
            <a:avLst/>
          </a:prstGeom>
          <a:solidFill>
            <a:srgbClr val="E7A614"/>
          </a:solidFill>
          <a:ln w="12700">
            <a:solidFill>
              <a:srgbClr val="E7A614"/>
            </a:solidFill>
            <a:prstDash val="solid"/>
          </a:ln>
        </p:spPr>
      </p:sp>
      <p:sp>
        <p:nvSpPr>
          <p:cNvPr id="17" name="Question 5 number"/>
          <p:cNvSpPr txBox="1"/>
          <p:nvPr/>
        </p:nvSpPr>
        <p:spPr>
          <a:xfrm>
            <a:off x="548640" y="5239512"/>
            <a:ext cx="566928" cy="566928"/>
          </a:xfrm>
          <a:prstGeom prst="rect">
            <a:avLst/>
          </a:prstGeom>
          <a:noFill/>
          <a:ln/>
        </p:spPr>
        <p:txBody>
          <a:bodyPr wrap="square" lIns="0" tIns="0" rIns="0" bIns="0" rtlCol="0" anchor="ctr"/>
          <a:lstStyle/>
          <a:p>
            <a:pPr algn="ctr" indent="0" marL="0">
              <a:buNone/>
            </a:pPr>
            <a:r>
              <a:rPr lang="en-US" sz="2400" b="1" dirty="0">
                <a:solidFill>
                  <a:schemeClr val="tx2"/>
                </a:solidFill>
              </a:rPr>
              <a:t>5</a:t>
            </a:r>
            <a:endParaRPr lang="en-US" sz="2400" dirty="0"/>
          </a:p>
        </p:txBody>
      </p:sp>
      <p:sp>
        <p:nvSpPr>
          <p:cNvPr id="18" name="Text 16"/>
          <p:cNvSpPr txBox="1"/>
          <p:nvPr/>
        </p:nvSpPr>
        <p:spPr>
          <a:xfrm>
            <a:off x="1389888" y="5239512"/>
            <a:ext cx="6839712" cy="566928"/>
          </a:xfrm>
          <a:prstGeom prst="rect">
            <a:avLst/>
          </a:prstGeom>
          <a:noFill/>
          <a:ln/>
        </p:spPr>
        <p:txBody>
          <a:bodyPr wrap="square" lIns="0" tIns="0" rIns="0" bIns="0" rtlCol="0" anchor="ctr"/>
          <a:lstStyle/>
          <a:p>
            <a:pPr indent="0" marL="0">
              <a:buNone/>
            </a:pPr>
            <a:r>
              <a:rPr lang="en-US" sz="2400" b="1" dirty="0">
                <a:solidFill>
                  <a:schemeClr val="tx2"/>
                </a:solidFill>
              </a:rPr>
              <a:t>Keeping it private: what you left out of AI</a:t>
            </a:r>
            <a:endParaRPr lang="en-US" sz="2400" dirty="0"/>
          </a:p>
        </p:txBody>
      </p:sp>
      <p:sp>
        <p:nvSpPr>
          <p:cNvPr id="19" name="Decorative: mile marker details panel">
            <a:extLst>
              <a:ext uri="{C183D7F6-B498-43B3-948B-1728B52AA6E4}">
                <adec:decorative xmlns:adec="http://schemas.microsoft.com/office/drawing/2017/decorative" val="1"/>
              </a:ext>
            </a:extLst>
          </p:cNvPr>
          <p:cNvSpPr/>
          <p:nvPr/>
        </p:nvSpPr>
        <p:spPr>
          <a:xfrm>
            <a:off x="8229600" y="1874520"/>
            <a:ext cx="3413455" cy="3794760"/>
          </a:xfrm>
          <a:prstGeom prst="roundRect">
            <a:avLst>
              <a:gd name="adj" fmla="val 3215"/>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20" name="Text 18"/>
          <p:cNvSpPr txBox="1"/>
          <p:nvPr/>
        </p:nvSpPr>
        <p:spPr>
          <a:xfrm>
            <a:off x="8503920" y="2103120"/>
            <a:ext cx="2864815" cy="3383280"/>
          </a:xfrm>
          <a:prstGeom prst="rect">
            <a:avLst/>
          </a:prstGeom>
          <a:noFill/>
          <a:ln/>
        </p:spPr>
        <p:txBody>
          <a:bodyPr wrap="square" lIns="0" tIns="0" rIns="0" bIns="0" rtlCol="0" anchor="t"/>
          <a:lstStyle/>
          <a:p>
            <a:pPr indent="0" marL="0">
              <a:spcAft>
                <a:spcPts val="1000"/>
              </a:spcAft>
              <a:buNone/>
            </a:pPr>
            <a:r>
              <a:rPr lang="en-US" sz="2200" b="1" dirty="0">
                <a:solidFill>
                  <a:srgbClr val="7A5500"/>
                </a:solidFill>
              </a:rPr>
              <a:t>AI use: AI-supported</a:t>
            </a:r>
            <a:endParaRPr lang="en-US" sz="2200" dirty="0"/>
          </a:p>
          <a:p>
            <a:pPr indent="0" marL="0">
              <a:spcAft>
                <a:spcPts val="1000"/>
              </a:spcAft>
              <a:buNone/>
            </a:pPr>
            <a:r>
              <a:rPr lang="en-US" sz="2200" dirty="0">
                <a:solidFill>
                  <a:schemeClr val="tx1"/>
                </a:solidFill>
              </a:rPr>
              <a:t>Never share real account numbers, income, or debt with an AI tool.</a:t>
            </a:r>
            <a:endParaRPr lang="en-US" sz="2200" dirty="0"/>
          </a:p>
          <a:p>
            <a:pPr indent="0" marL="0">
              <a:spcAft>
                <a:spcPts val="1000"/>
              </a:spcAft>
              <a:buNone/>
            </a:pPr>
            <a:r>
              <a:rPr lang="en-US" sz="1000" dirty="0">
                <a:solidFill>
                  <a:schemeClr val="tx1"/>
                </a:solidFill>
              </a:rPr>
              <a:t> </a:t>
            </a:r>
            <a:endParaRPr lang="en-US" sz="2200" dirty="0"/>
          </a:p>
          <a:p>
            <a:pPr indent="0" marL="0">
              <a:spcAft>
                <a:spcPts val="1000"/>
              </a:spcAft>
              <a:buNone/>
            </a:pPr>
            <a:r>
              <a:rPr lang="en-US" sz="2200" b="1" dirty="0">
                <a:solidFill>
                  <a:srgbClr val="7A5500"/>
                </a:solidFill>
              </a:rPr>
              <a:t>No numbers required.</a:t>
            </a:r>
            <a:endParaRPr lang="en-US" sz="2200" dirty="0"/>
          </a:p>
          <a:p>
            <a:pPr indent="0" marL="0">
              <a:spcAft>
                <a:spcPts val="1000"/>
              </a:spcAft>
              <a:buNone/>
            </a:pPr>
            <a:r>
              <a:rPr lang="en-US" sz="2200" dirty="0">
                <a:solidFill>
                  <a:schemeClr val="tx1"/>
                </a:solidFill>
              </a:rPr>
              <a:t>Describe, don't disclose.</a:t>
            </a:r>
            <a:endParaRPr lang="en-US" sz="22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Decorative: module cover art">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0" type="body" hasCustomPrompt="1"/>
          </p:nvPr>
        </p:nvSpPr>
        <p:spPr>
          <a:xfrm>
            <a:off x="3931920" y="640080"/>
            <a:ext cx="7680960" cy="411480"/>
          </a:xfrm>
          <a:prstGeom prst="rect">
            <a:avLst/>
          </a:prstGeom>
          <a:noFill/>
          <a:ln/>
        </p:spPr>
        <p:txBody>
          <a:bodyPr wrap="square" lIns="0" tIns="0" rIns="0" bIns="0" rtlCol="0"/>
          <a:lstStyle/>
          <a:p>
            <a:pPr algn="l" indent="0" marL="0">
              <a:buNone/>
            </a:pPr>
            <a:r>
              <a:rPr lang="en-US" sz="2000" b="1" spc="300" kern="0" dirty="0">
                <a:solidFill>
                  <a:schemeClr val="accent2"/>
                </a:solidFill>
              </a:rPr>
              <a:t>TALK IT THROUGH · IN CLASS</a:t>
            </a:r>
            <a:endParaRPr lang="en-US" sz="2000" dirty="0"/>
          </a:p>
        </p:txBody>
      </p:sp>
      <p:sp>
        <p:nvSpPr>
          <p:cNvPr id="4" name="Text 0"/>
          <p:cNvSpPr/>
          <p:nvPr>
            <p:ph idx="101" type="title" hasCustomPrompt="1"/>
          </p:nvPr>
        </p:nvSpPr>
        <p:spPr>
          <a:xfrm>
            <a:off x="3931920" y="1097280"/>
            <a:ext cx="7680960" cy="1371600"/>
          </a:xfrm>
          <a:prstGeom prst="rect">
            <a:avLst/>
          </a:prstGeom>
          <a:noFill/>
          <a:ln/>
        </p:spPr>
        <p:txBody>
          <a:bodyPr wrap="square" lIns="0" tIns="0" rIns="0" bIns="0" rtlCol="0" anchor="t"/>
          <a:lstStyle/>
          <a:p>
            <a:pPr algn="l" indent="0" marL="0">
              <a:buNone/>
            </a:pPr>
            <a:r>
              <a:rPr lang="en-US" sz="4000" b="1" dirty="0">
                <a:solidFill>
                  <a:schemeClr val="bg1"/>
                </a:solidFill>
              </a:rPr>
              <a:t>The money tip you wish you'd known</a:t>
            </a:r>
            <a:endParaRPr lang="en-US" sz="4000" dirty="0"/>
          </a:p>
        </p:txBody>
      </p:sp>
      <p:sp>
        <p:nvSpPr>
          <p:cNvPr id="5" name="Discussion questions"/>
          <p:cNvSpPr txBox="1"/>
          <p:nvPr/>
        </p:nvSpPr>
        <p:spPr>
          <a:xfrm>
            <a:off x="3931920" y="2697480"/>
            <a:ext cx="7589520" cy="1828800"/>
          </a:xfrm>
          <a:prstGeom prst="rect">
            <a:avLst/>
          </a:prstGeom>
          <a:noFill/>
          <a:ln/>
        </p:spPr>
        <p:txBody>
          <a:bodyPr wrap="square" lIns="0" tIns="0" rIns="0" bIns="0" rtlCol="0" anchor="t"/>
          <a:lstStyle/>
          <a:p>
            <a:pPr marL="342900" indent="-342900">
              <a:spcAft>
                <a:spcPts val="1200"/>
              </a:spcAft>
              <a:buSzPct val="100000"/>
              <a:buFont typeface="+mj-lt"/>
              <a:buAutoNum type="arabicPeriod" startAt="1"/>
            </a:pPr>
            <a:r>
              <a:rPr lang="en-US" sz="2400" dirty="0">
                <a:solidFill>
                  <a:schemeClr val="bg1"/>
                </a:solidFill>
              </a:rPr>
              <a:t>What's one money tip you wish you'd learned sooner?</a:t>
            </a:r>
            <a:endParaRPr lang="en-US" sz="2400" dirty="0"/>
          </a:p>
          <a:p>
            <a:pPr marL="342900" indent="-342900">
              <a:spcAft>
                <a:spcPts val="1200"/>
              </a:spcAft>
              <a:buSzPct val="100000"/>
              <a:buFont typeface="+mj-lt"/>
              <a:buAutoNum type="arabicPeriod" startAt="1"/>
            </a:pPr>
            <a:r>
              <a:rPr lang="en-US" sz="2400" dirty="0">
                <a:solidFill>
                  <a:schemeClr val="bg1"/>
                </a:solidFill>
              </a:rPr>
              <a:t>Did someone teach you, or did you learn it the hard way?</a:t>
            </a:r>
            <a:endParaRPr lang="en-US" sz="2400" dirty="0"/>
          </a:p>
        </p:txBody>
      </p:sp>
      <p:sp>
        <p:nvSpPr>
          <p:cNvPr id="6" name="Text 3"/>
          <p:cNvSpPr txBox="1"/>
          <p:nvPr/>
        </p:nvSpPr>
        <p:spPr>
          <a:xfrm>
            <a:off x="3931920" y="4617720"/>
            <a:ext cx="5120640" cy="731520"/>
          </a:xfrm>
          <a:prstGeom prst="rect">
            <a:avLst/>
          </a:prstGeom>
          <a:noFill/>
          <a:ln/>
        </p:spPr>
        <p:txBody>
          <a:bodyPr wrap="square" lIns="0" tIns="0" rIns="0" bIns="0" rtlCol="0" anchor="t"/>
          <a:lstStyle/>
          <a:p>
            <a:pPr indent="0" marL="0">
              <a:buNone/>
            </a:pPr>
            <a:r>
              <a:rPr lang="en-US" sz="2200" i="1" dirty="0">
                <a:solidFill>
                  <a:srgbClr val="D6EEFA"/>
                </a:solidFill>
              </a:rPr>
              <a:t>Talk with a partner for 3 minutes, then we'll build a class top-ten list.</a:t>
            </a:r>
            <a:endParaRPr lang="en-US" sz="2200" dirty="0"/>
          </a:p>
        </p:txBody>
      </p:sp>
    </p:spTree>
  </p:cSld>
  <p:clrMapOvr>
    <a:masterClrMapping/>
  </p:clrMapOvr>
</p:sld>
</file>

<file path=ppt/theme/theme1.xml><?xml version="1.0" encoding="utf-8"?>
<a:theme xmlns:a="http://schemas.openxmlformats.org/drawingml/2006/main" name="FYE 100 Pathfinder">
  <a:themeElements>
    <a:clrScheme name="FYE 100 Pathfinder">
      <a:dk1>
        <a:srgbClr val="17212B"/>
      </a:dk1>
      <a:lt1>
        <a:srgbClr val="FFFFFF"/>
      </a:lt1>
      <a:dk2>
        <a:srgbClr val="011D41"/>
      </a:dk2>
      <a:lt2>
        <a:srgbClr val="EAF4FB"/>
      </a:lt2>
      <a:accent1>
        <a:srgbClr val="00467F"/>
      </a:accent1>
      <a:accent2>
        <a:srgbClr val="E7A614"/>
      </a:accent2>
      <a:accent3>
        <a:srgbClr val="3BB3E5"/>
      </a:accent3>
      <a:accent4>
        <a:srgbClr val="0B5F86"/>
      </a:accent4>
      <a:accent5>
        <a:srgbClr val="FFF5DC"/>
      </a:accent5>
      <a:accent6>
        <a:srgbClr val="52606D"/>
      </a:accent6>
      <a:hlink>
        <a:srgbClr val="00467F"/>
      </a:hlink>
      <a:folHlink>
        <a:srgbClr val="0B5F86"/>
      </a:folHlink>
    </a:clrScheme>
    <a:fontScheme name="FYE 100 Pathfinder">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Owensboro Community &amp; Technical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FYE 100 Module 5: Financial Planning with Purpose</dc:title>
  <dc:subject>FYE 100 instructor slides</dc:subject>
  <dc:creator>OCTC FYE 100</dc:creator>
  <cp:lastModifiedBy>OCTC FYE 100</cp:lastModifiedBy>
  <cp:revision>1</cp:revision>
  <dcterms:created xsi:type="dcterms:W3CDTF">2026-10-19T20:23:29Z</dcterms:created>
  <dcterms:modified xsi:type="dcterms:W3CDTF">2026-10-19T20:23:29Z</dcterms:modified>
</cp:coreProperties>
</file>